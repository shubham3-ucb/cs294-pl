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Same 3 teams as Tuesday.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everyone vote, then reveal.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 5 by average views: revert, reflog, stash, clean, reset. You felt this on Tuesday with the mustache.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They kept every git-tagged question that contains a real Git command. Then they surveyed 92 developers on how they learned Git.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Recovery commands get the most views. By 2020, 40% of askers had been on Stack Overflow 5+ years. 81.7% of survey picks were self-learning.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Sarah's three axes: research question, data collection, analysis. Traces from real use (like Stack Overflow) beat self-report (like surveys).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 1: "even experienced developers struggle". Team 2: "most developers learn Git alone". Team 3: "recovery commands are the most popular". Each team: what was actually measured, one other explanation, verdict.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team presents in 2 minutes, then the room votes.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claims are bigger than the measurements. Experience was measured as account age. Difficulty rankings were topped by commands with 1 to 3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 out one finding card per team.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team picks one finding and sketches one tool change on a single card, plus how they would measure it (logged or observed, not a survey). 1-minute pitch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example: in 2019 (Git 2.23) Git split checkout into two clearer commands, because one verb did too many things.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Everyone writes one sentence. Read a few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Thanks. That is Git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12801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110000"/>
              </a:lnSpc>
            </a:pPr>
            <a:r>
              <a:rPr sz="6400" b="1">
                <a:solidFill>
                  <a:srgbClr val="111111"/>
                </a:solidFill>
                <a:latin typeface="Inter"/>
              </a:rPr>
              <a:t>Git, Part 2: The Humans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520440"/>
            <a:ext cx="10545775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707078"/>
                </a:solidFill>
                <a:latin typeface="Inter"/>
              </a:rPr>
              <a:t>Yang et al., "Do Developers Really Know How to Use Git Commands?" TOSEM 2022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8B3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309360"/>
            <a:ext cx="10545775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FFFFFF"/>
                </a:solidFill>
                <a:latin typeface="Inter"/>
              </a:rPr>
              <a:t>CS294 · Git Week · Thursday · Shubham &amp; Ananya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2121408" cy="457200"/>
          </a:xfrm>
          <a:prstGeom prst="roundRect">
            <a:avLst>
              <a:gd name="adj" fmla="val 50000"/>
            </a:avLst>
          </a:prstGeom>
          <a:solidFill>
            <a:srgbClr val="8B3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Inter"/>
              </a:rPr>
              <a:t>📊 Live poll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7863840" cy="2194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5200" b="1">
                <a:solidFill>
                  <a:srgbClr val="111111"/>
                </a:solidFill>
                <a:latin typeface="Inter"/>
              </a:rPr>
              <a:t>Guess: the #1 Git question on Stack Overflow?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4572000"/>
            <a:ext cx="1463040" cy="6858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D9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>
                <a:solidFill>
                  <a:srgbClr val="111111"/>
                </a:solidFill>
                <a:latin typeface="Noto Sans Mono"/>
              </a:rPr>
              <a:t>merge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14600" y="4572000"/>
            <a:ext cx="1645920" cy="6858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D9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>
                <a:solidFill>
                  <a:srgbClr val="111111"/>
                </a:solidFill>
                <a:latin typeface="Noto Sans Mono"/>
              </a:rPr>
              <a:t>rebase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4572000"/>
            <a:ext cx="1645920" cy="6858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D9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>
                <a:solidFill>
                  <a:srgbClr val="111111"/>
                </a:solidFill>
                <a:latin typeface="Noto Sans Mono"/>
              </a:rPr>
              <a:t>revert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4572000"/>
            <a:ext cx="1280160" cy="6858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D9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>
                <a:solidFill>
                  <a:srgbClr val="111111"/>
                </a:solidFill>
                <a:latin typeface="Noto Sans Mono"/>
              </a:rPr>
              <a:t>push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91295" y="1645920"/>
            <a:ext cx="2377440" cy="2377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91295" y="1645920"/>
            <a:ext cx="2377440" cy="23774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707078"/>
                </a:solidFill>
                <a:latin typeface="Inter"/>
              </a:rPr>
              <a:t>QR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91295" y="420624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Inter"/>
              </a:rPr>
              <a:t>menti.com · ____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4577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3000" b="0">
                <a:solidFill>
                  <a:srgbClr val="707078"/>
                </a:solidFill>
                <a:latin typeface="Inter"/>
              </a:rPr>
              <a:t>The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291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</a:pPr>
            <a:r>
              <a:rPr sz="6000" b="1">
                <a:solidFill>
                  <a:srgbClr val="111111"/>
                </a:solidFill>
                <a:latin typeface="Inter"/>
              </a:rPr>
              <a:t>#1 is git revert.</a:t>
            </a:r>
          </a:p>
          <a:p>
            <a:pPr algn="l">
              <a:lnSpc>
                <a:spcPct val="115000"/>
              </a:lnSpc>
            </a:pPr>
            <a:r>
              <a:rPr sz="6000" b="1">
                <a:solidFill>
                  <a:srgbClr val="111111"/>
                </a:solidFill>
                <a:latin typeface="Inter"/>
              </a:rPr>
              <a:t>4 of the top 5 are about going back.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4577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3000" b="0">
                <a:solidFill>
                  <a:srgbClr val="707078"/>
                </a:solidFill>
                <a:latin typeface="Inter"/>
              </a:rPr>
              <a:t>The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291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</a:pPr>
            <a:r>
              <a:rPr sz="6000" b="1">
                <a:solidFill>
                  <a:srgbClr val="111111"/>
                </a:solidFill>
                <a:latin typeface="Inter"/>
              </a:rPr>
              <a:t>80,370 Stack Overflow questions.</a:t>
            </a:r>
          </a:p>
          <a:p>
            <a:pPr algn="l">
              <a:lnSpc>
                <a:spcPct val="115000"/>
              </a:lnSpc>
            </a:pPr>
            <a:r>
              <a:rPr sz="6000" b="1">
                <a:solidFill>
                  <a:srgbClr val="111111"/>
                </a:solidFill>
                <a:latin typeface="Inter"/>
              </a:rPr>
              <a:t>+ a survey of 92 developers.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4800" b="1">
                <a:solidFill>
                  <a:srgbClr val="111111"/>
                </a:solidFill>
                <a:latin typeface="Inter"/>
              </a:rPr>
              <a:t>What they found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8B3DFF"/>
                </a:solidFill>
                <a:latin typeface="Inter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2286000"/>
            <a:ext cx="9814255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4000" b="0">
                <a:solidFill>
                  <a:srgbClr val="111111"/>
                </a:solidFill>
                <a:latin typeface="Inter"/>
              </a:rPr>
              <a:t>Going back is the #1 pain.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8B3DFF"/>
                </a:solidFill>
                <a:latin typeface="Inter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3429000"/>
            <a:ext cx="9814255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4000" b="0">
                <a:solidFill>
                  <a:srgbClr val="111111"/>
                </a:solidFill>
                <a:latin typeface="Inter"/>
              </a:rPr>
              <a:t>Even 5-year veterans ask.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72000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8B3DFF"/>
                </a:solidFill>
                <a:latin typeface="Inter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4572000"/>
            <a:ext cx="9814255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4000" b="0">
                <a:solidFill>
                  <a:srgbClr val="111111"/>
                </a:solidFill>
                <a:latin typeface="Inter"/>
              </a:rPr>
              <a:t>Most people learn Git alone.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4800" b="1">
                <a:solidFill>
                  <a:srgbClr val="111111"/>
                </a:solidFill>
                <a:latin typeface="Inter"/>
              </a:rPr>
              <a:t>Three questions for any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8B3DFF"/>
                </a:solidFill>
                <a:latin typeface="Inter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2286000"/>
            <a:ext cx="9814255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4000" b="0">
                <a:solidFill>
                  <a:srgbClr val="111111"/>
                </a:solidFill>
                <a:latin typeface="Inter"/>
              </a:rPr>
              <a:t>Is the question interesting?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8B3DFF"/>
                </a:solidFill>
                <a:latin typeface="Inter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3429000"/>
            <a:ext cx="9814255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4000" b="0">
                <a:solidFill>
                  <a:srgbClr val="111111"/>
                </a:solidFill>
                <a:latin typeface="Inter"/>
              </a:rPr>
              <a:t>Can the data answer it?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72000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8B3DFF"/>
                </a:solidFill>
                <a:latin typeface="Inter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4572000"/>
            <a:ext cx="9814255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4000" b="0">
                <a:solidFill>
                  <a:srgbClr val="111111"/>
                </a:solidFill>
                <a:latin typeface="Inter"/>
              </a:rPr>
              <a:t>Do we believe the answer?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Inter"/>
              </a:rPr>
              <a:t>TEAMS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5695" y="6400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11111"/>
                </a:solidFill>
                <a:latin typeface="Inter"/>
              </a:rPr>
              <a:t>⏱ 12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45775" cy="201168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110000"/>
              </a:lnSpc>
            </a:pPr>
            <a:r>
              <a:rPr sz="6000" b="1">
                <a:solidFill>
                  <a:srgbClr val="111111"/>
                </a:solidFill>
                <a:latin typeface="Inter"/>
              </a:rPr>
              <a:t>Claim Court.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89120"/>
            <a:ext cx="10545775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707078"/>
                </a:solidFill>
                <a:latin typeface="Inter"/>
              </a:rPr>
              <a:t>One claim per team. What did they really measure? Believe it?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2121408" cy="457200"/>
          </a:xfrm>
          <a:prstGeom prst="roundRect">
            <a:avLst>
              <a:gd name="adj" fmla="val 50000"/>
            </a:avLst>
          </a:prstGeom>
          <a:solidFill>
            <a:srgbClr val="8B3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Inter"/>
              </a:rPr>
              <a:t>📊 Jury vote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7863840" cy="2194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5200" b="1">
                <a:solidFill>
                  <a:srgbClr val="111111"/>
                </a:solidFill>
                <a:latin typeface="Inter"/>
              </a:rPr>
              <a:t>Do you believe it?  1–5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4572000"/>
            <a:ext cx="731520" cy="6858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D9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>
                <a:solidFill>
                  <a:srgbClr val="111111"/>
                </a:solidFill>
                <a:latin typeface="Noto Sans Mono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83080" y="4572000"/>
            <a:ext cx="731520" cy="6858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D9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>
                <a:solidFill>
                  <a:srgbClr val="111111"/>
                </a:solidFill>
                <a:latin typeface="Noto Sans Mono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4572000"/>
            <a:ext cx="731520" cy="6858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D9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>
                <a:solidFill>
                  <a:srgbClr val="111111"/>
                </a:solidFill>
                <a:latin typeface="Noto Sans Mono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03320" y="4572000"/>
            <a:ext cx="731520" cy="6858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D9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>
                <a:solidFill>
                  <a:srgbClr val="111111"/>
                </a:solidFill>
                <a:latin typeface="Noto Sans Mono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4572000"/>
            <a:ext cx="731520" cy="6858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D9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>
                <a:solidFill>
                  <a:srgbClr val="111111"/>
                </a:solidFill>
                <a:latin typeface="Noto Sans Mono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91295" y="1645920"/>
            <a:ext cx="2377440" cy="2377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991295" y="1645920"/>
            <a:ext cx="2377440" cy="23774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707078"/>
                </a:solidFill>
                <a:latin typeface="Inter"/>
              </a:rPr>
              <a:t>QR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1295" y="420624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Inter"/>
              </a:rPr>
              <a:t>menti.com · ____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4577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3000" b="0">
                <a:solidFill>
                  <a:srgbClr val="707078"/>
                </a:solidFill>
                <a:latin typeface="Inter"/>
              </a:rPr>
              <a:t>Claimed ≠ measured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291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</a:pPr>
            <a:r>
              <a:rPr sz="4800" b="1">
                <a:solidFill>
                  <a:srgbClr val="111111"/>
                </a:solidFill>
                <a:latin typeface="Inter"/>
              </a:rPr>
              <a:t>"Experienced" = years on Stack Overflow.</a:t>
            </a:r>
          </a:p>
          <a:p>
            <a:pPr algn="l">
              <a:lnSpc>
                <a:spcPct val="115000"/>
              </a:lnSpc>
            </a:pPr>
            <a:r>
              <a:rPr sz="4800" b="1">
                <a:solidFill>
                  <a:srgbClr val="111111"/>
                </a:solidFill>
                <a:latin typeface="Inter"/>
              </a:rPr>
              <a:t>"Difficult" = no accepted answer.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0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45775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0000"/>
              </a:lnSpc>
            </a:pPr>
            <a:r>
              <a:rPr sz="6600" b="1">
                <a:solidFill>
                  <a:srgbClr val="111111"/>
                </a:solidFill>
                <a:latin typeface="Inter"/>
              </a:rPr>
              <a:t>☕  4-minute 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657600"/>
            <a:ext cx="1054577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0000"/>
              </a:lnSpc>
            </a:pPr>
            <a:r>
              <a:rPr sz="3200" b="0">
                <a:solidFill>
                  <a:srgbClr val="111111"/>
                </a:solidFill>
                <a:latin typeface="Inter"/>
              </a:rPr>
              <a:t>Back at __:__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Inter"/>
              </a:rPr>
              <a:t>TEAMS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5695" y="6400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11111"/>
                </a:solidFill>
                <a:latin typeface="Inter"/>
              </a:rPr>
              <a:t>⏱ 7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45775" cy="201168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110000"/>
              </a:lnSpc>
            </a:pPr>
            <a:r>
              <a:rPr sz="6000" b="1">
                <a:solidFill>
                  <a:srgbClr val="111111"/>
                </a:solidFill>
                <a:latin typeface="Inter"/>
              </a:rPr>
              <a:t>Design sprint.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89120"/>
            <a:ext cx="10545775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707078"/>
                </a:solidFill>
                <a:latin typeface="Inter"/>
              </a:rPr>
              <a:t>Fix one finding. How would you know it worked?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4577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3000" b="0">
                <a:solidFill>
                  <a:srgbClr val="707078"/>
                </a:solidFill>
                <a:latin typeface="Inter"/>
              </a:rPr>
              <a:t>Git listened (2019)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291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</a:pPr>
            <a:r>
              <a:rPr sz="5600" b="1">
                <a:solidFill>
                  <a:srgbClr val="111111"/>
                </a:solidFill>
                <a:latin typeface="Inter"/>
              </a:rPr>
              <a:t>git checkout</a:t>
            </a:r>
          </a:p>
          <a:p>
            <a:pPr algn="l">
              <a:lnSpc>
                <a:spcPct val="115000"/>
              </a:lnSpc>
            </a:pPr>
            <a:r>
              <a:rPr sz="5600" b="1">
                <a:solidFill>
                  <a:srgbClr val="111111"/>
                </a:solidFill>
                <a:latin typeface="Inter"/>
              </a:rPr>
              <a:t>→  git switch  +  git restore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1344168" cy="457200"/>
          </a:xfrm>
          <a:prstGeom prst="roundRect">
            <a:avLst>
              <a:gd name="adj" fmla="val 50000"/>
            </a:avLst>
          </a:prstGeom>
          <a:solidFill>
            <a:srgbClr val="8B3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Inter"/>
              </a:rPr>
              <a:t>📊 Exit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7863840" cy="2194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5200" b="1">
                <a:solidFill>
                  <a:srgbClr val="111111"/>
                </a:solidFill>
                <a:latin typeface="Inter"/>
              </a:rPr>
              <a:t>One lesson for designing programming tools?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91295" y="1645920"/>
            <a:ext cx="2377440" cy="2377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991295" y="1645920"/>
            <a:ext cx="2377440" cy="23774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707078"/>
                </a:solidFill>
                <a:latin typeface="Inter"/>
              </a:rPr>
              <a:t>QR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91295" y="420624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Inter"/>
              </a:rPr>
              <a:t>menti.com · ____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6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7280" y="731520"/>
            <a:ext cx="45720" cy="45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108960" y="1463040"/>
            <a:ext cx="36576" cy="3657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394960" y="548640"/>
            <a:ext cx="54864" cy="5486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589520" y="1188720"/>
            <a:ext cx="36576" cy="3657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92640" y="640080"/>
            <a:ext cx="45720" cy="45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064240" y="1737360"/>
            <a:ext cx="36576" cy="3657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011680" y="5852160"/>
            <a:ext cx="36576" cy="3657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424160" y="5577840"/>
            <a:ext cx="45720" cy="45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0" y="6126480"/>
            <a:ext cx="36576" cy="3657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3566160"/>
            <a:ext cx="27432" cy="274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21440" y="3840480"/>
            <a:ext cx="27432" cy="274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371600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0000"/>
              </a:lnSpc>
            </a:pPr>
            <a:r>
              <a:rPr sz="3000" b="0">
                <a:solidFill>
                  <a:srgbClr val="B8C0D8"/>
                </a:solidFill>
                <a:latin typeface="Inter"/>
              </a:rPr>
              <a:t>If you remember one thing…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286000"/>
            <a:ext cx="10545775" cy="3200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20000"/>
              </a:lnSpc>
            </a:pPr>
            <a:r>
              <a:rPr sz="6000" b="1">
                <a:solidFill>
                  <a:srgbClr val="FFFFFF"/>
                </a:solidFill>
                <a:latin typeface="Inter"/>
              </a:rPr>
              <a:t>Question the proxy.</a:t>
            </a:r>
          </a:p>
          <a:p>
            <a:pPr algn="ctr">
              <a:lnSpc>
                <a:spcPct val="120000"/>
              </a:lnSpc>
            </a:pPr>
            <a:r>
              <a:rPr sz="6000" b="1">
                <a:solidFill>
                  <a:srgbClr val="FFFFFF"/>
                </a:solidFill>
                <a:latin typeface="Inter"/>
              </a:rPr>
              <a:t>Design the way back.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