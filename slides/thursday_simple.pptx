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Same 3 teams as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everyone vote, then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5 by average views: revert, reflog, stash, clean, reset. You felt this on Tuesday with the Intern's 🥸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kept every git-tagged question that contains a real Git command. Then they surveyed 92 developers on how they learned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Recovery commands get the most views. By 2020, 40% of askers had been on Stack Overflow 5+ years. 81.7% of survey picks were self-learning.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three axes: research question, data collection, analysis. Traces from real use (like Stack Overflow) beat self-report (like surveys).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1: "even experienced developers struggle". Team 2: "most developers learn Git alone". Team 3: "recovery commands are the most popular". Each team: what was actually measured, one other explanation,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team presents in 2 minutes, then the room votes.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claims are bigger than the measurements. Experience was measured as account age. Difficulty rankings were topped by commands with 1 to 3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 out one finding card per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team picks one finding and sketches one tool change on a single card, plus how they would measure it (logged or observed, not a survey). 1-minute pitch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example: in 2019 (Git 2.23) Git split checkout into two clearer commands, because one verb did too many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writes one sentence. Read a few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Thanks. That is Git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12801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111111"/>
                </a:solidFill>
                <a:latin typeface="Inter"/>
              </a:rPr>
              <a:t>Git, Part 2: The Humans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2044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707078"/>
                </a:solidFill>
                <a:latin typeface="Inter"/>
              </a:rPr>
              <a:t>Yang et al., "Do Developers Really Know How to Use Git Commands?" TOSEM 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8B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CS294 · Git Week · Thursday · Shubham &amp; Ananya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📊 Live poll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5200" b="1">
                <a:solidFill>
                  <a:srgbClr val="111111"/>
                </a:solidFill>
                <a:latin typeface="Inter"/>
              </a:rPr>
              <a:t>Guess: the #1 Git question on Stack Overflow?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572000"/>
            <a:ext cx="146304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4572000"/>
            <a:ext cx="16459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rebase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572000"/>
            <a:ext cx="16459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revert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4572000"/>
            <a:ext cx="128016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push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91295" y="1645920"/>
            <a:ext cx="237744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91295" y="1645920"/>
            <a:ext cx="2377440" cy="23774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707078"/>
                </a:solidFill>
                <a:latin typeface="Inter"/>
              </a:rPr>
              <a:t>QR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1295" y="42062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menti.com · 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291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#1 is git revert.</a:t>
            </a:r>
          </a:p>
          <a:p>
            <a:pPr algn="l">
              <a:lnSpc>
                <a:spcPct val="115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4 of the top 5 are about going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291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80,370 Stack Overflow questions.</a:t>
            </a:r>
          </a:p>
          <a:p>
            <a:pPr algn="l">
              <a:lnSpc>
                <a:spcPct val="115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+ a survey of 92 developers.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111111"/>
                </a:solidFill>
                <a:latin typeface="Inter"/>
              </a:rPr>
              <a:t>What they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8B3DFF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81425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Going back is the #1 pain.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8B3DFF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429000"/>
            <a:ext cx="981425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Even 5-year veterans 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8B3DFF"/>
                </a:solidFill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572000"/>
            <a:ext cx="981425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Most people learn Git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111111"/>
                </a:solidFill>
                <a:latin typeface="Inter"/>
              </a:rPr>
              <a:t>Three questions for any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8B3DFF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81425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Is the question interesting?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8B3DFF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429000"/>
            <a:ext cx="981425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Can the data answer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8B3DFF"/>
                </a:solidFill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572000"/>
            <a:ext cx="981425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Do we believe the answer?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11111"/>
                </a:solidFill>
                <a:latin typeface="Inter"/>
              </a:rPr>
              <a:t>⏱ 12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Claim Court.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One claim per team. What did they really measure? Believe it?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📊 Jury vote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5200" b="1">
                <a:solidFill>
                  <a:srgbClr val="111111"/>
                </a:solidFill>
                <a:latin typeface="Inter"/>
              </a:rPr>
              <a:t>Do you believe it?  1–5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572000"/>
            <a:ext cx="7315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4572000"/>
            <a:ext cx="7315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572000"/>
            <a:ext cx="7315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4572000"/>
            <a:ext cx="7315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572000"/>
            <a:ext cx="7315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11111"/>
                </a:solidFill>
                <a:latin typeface="Noto Sans Mon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1295" y="1645920"/>
            <a:ext cx="237744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91295" y="1645920"/>
            <a:ext cx="2377440" cy="23774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707078"/>
                </a:solidFill>
                <a:latin typeface="Inter"/>
              </a:rPr>
              <a:t>QR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295" y="42062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menti.com · 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Claimed ≠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291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111111"/>
                </a:solidFill>
                <a:latin typeface="Inter"/>
              </a:rPr>
              <a:t>"Experienced" = years on Stack Overflow.</a:t>
            </a:r>
          </a:p>
          <a:p>
            <a:pPr algn="l">
              <a:lnSpc>
                <a:spcPct val="115000"/>
              </a:lnSpc>
            </a:pPr>
            <a:r>
              <a:rPr sz="4800" b="1">
                <a:solidFill>
                  <a:srgbClr val="111111"/>
                </a:solidFill>
                <a:latin typeface="Inter"/>
              </a:rPr>
              <a:t>"Difficult" = no accepted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6600" b="1">
                <a:solidFill>
                  <a:srgbClr val="111111"/>
                </a:solidFill>
                <a:latin typeface="Inter"/>
              </a:rPr>
              <a:t>☕  4-minute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3200" b="0">
                <a:solidFill>
                  <a:srgbClr val="111111"/>
                </a:solidFill>
                <a:latin typeface="Inter"/>
              </a:rPr>
              <a:t>Back at __:__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11111"/>
                </a:solidFill>
                <a:latin typeface="Inter"/>
              </a:rPr>
              <a:t>⏱ 7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Design sprint.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Fix one finding. How would you know it worked?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Git listened (2019)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291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111111"/>
                </a:solidFill>
                <a:latin typeface="Inter"/>
              </a:rPr>
              <a:t>git checkout</a:t>
            </a:r>
          </a:p>
          <a:p>
            <a:pPr algn="l">
              <a:lnSpc>
                <a:spcPct val="115000"/>
              </a:lnSpc>
            </a:pPr>
            <a:r>
              <a:rPr sz="5600" b="1">
                <a:solidFill>
                  <a:srgbClr val="111111"/>
                </a:solidFill>
                <a:latin typeface="Inter"/>
              </a:rPr>
              <a:t>→  git switch  +  git restore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📊 Exit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5200" b="1">
                <a:solidFill>
                  <a:srgbClr val="111111"/>
                </a:solidFill>
                <a:latin typeface="Inter"/>
              </a:rPr>
              <a:t>One lesson for designing programming tools?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1645920"/>
            <a:ext cx="237744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91295" y="1645920"/>
            <a:ext cx="2377440" cy="23774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707078"/>
                </a:solidFill>
                <a:latin typeface="Inter"/>
              </a:rPr>
              <a:t>QR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91295" y="42062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menti.com · 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" y="731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146304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54864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0" y="118872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640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73736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585216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0" y="557784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612648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35661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38404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37160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3000" b="0">
                <a:solidFill>
                  <a:srgbClr val="B8C0D8"/>
                </a:solidFill>
                <a:latin typeface="Inter"/>
              </a:rPr>
              <a:t>If you remember one thing…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10545775" cy="3200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Question the proxy.</a:t>
            </a:r>
          </a:p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Design the way 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