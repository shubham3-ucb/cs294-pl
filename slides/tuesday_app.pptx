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class the projector page runs the lesson, and the console's Next button moves through it. This deck is the record: one technical card per Git tool, the same text as the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 is no Git lecture today. You will meet seven problems in turn, and your lab works out a fix for each one. Every save, merge, send and undo runs real Git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git commit stores the whole outfit, the card before it, your name, the time and a message. The ID is computed from all of that, so any change makes a new card. The name and the time are whatever your laptop says.</a:t>
            </a:r>
          </a:p>
          <a:p/>
          <a:p>
            <a:r>
              <a:t>Ask: Why do the arrows point back, never forward?</a:t>
            </a:r>
          </a:p>
          <a:p/>
          <a:p>
            <a:r>
              <a:t>Hope to hear: The next card does not exist yet, and cards never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branch is a tiny file holding one card's ID. Your pin (HEAD) says which branch you are on. Saving moves only that branch.</a:t>
            </a:r>
          </a:p>
          <a:p/>
          <a:p>
            <a:r>
              <a:t>Ask: Where is the original outfit now? Did anything get copied?</a:t>
            </a:r>
          </a:p>
          <a:p/>
          <a:p>
            <a:r>
              <a:t>Hope to hear: Still on main's card. Nothing was copied.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merge only moved the branch forward: a fast-forward, with no new card. Then Git compared each side with the card where they split. Only TOP changed on both sides, so only TOP needed you.</a:t>
            </a:r>
          </a:p>
          <a:p/>
          <a:p>
            <a:r>
              <a:t>Ask: Which cards were made on fancy?</a:t>
            </a:r>
          </a:p>
          <a:p/>
          <a:p>
            <a:r>
              <a:t>Hope to hear: There is no way to tell. Git does not record the branch a commit was made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Wall is the class's shared copy, like GitHub. Your lab already holds a full copy of it, which is what git clone makes. It started from the first lab's outfit. Put your lab's change on the Wall. Before each send, predict whether the Wall will accept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Wall only moves forward, so a refused lab gets the Wall's cards first. Combine makes a merge card with two parents, as Step 3 did. Replay on top makes a straight line: a copy of the card with the same change, author and author time, but a new parent, snapshot, committer time and ID.</a:t>
            </a:r>
          </a:p>
          <a:p/>
          <a:p>
            <a:r>
              <a:t>Ask: The replayed card has the same change, author and author time. Why does it have a new ID?</a:t>
            </a:r>
          </a:p>
          <a:p/>
          <a:p>
            <a:r>
              <a:t>Hope to hear: Its parent is new, so its snapshot is too: it now includes the Wall's change. Its committer time is new. The ID is a hash of all of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git revert adds a card that undoes the old one, so it is sent like any other card. git reset moves your branch back, but the Wall still has the card.</a:t>
            </a:r>
          </a:p>
          <a:p/>
          <a:p>
            <a:r>
              <a:t>Ask: Why is adding a fix card safe, but moving back is not?</a:t>
            </a:r>
          </a:p>
          <a:p/>
          <a:p>
            <a:r>
              <a:t>Hope to hear: A fix card only adds. Moving back drops a card other people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Wall no longer knows who added the boots. The other labs still do. The old cards wait in the Wall's bin until gc removes them.</a:t>
            </a:r>
          </a:p>
          <a:p/>
          <a:p>
            <a:r>
              <a:t>Ask: Who added the boots? Where does that answer still exist?</a:t>
            </a:r>
          </a:p>
          <a:p/>
          <a:p>
            <a:r>
              <a:t>Hope to hear: Not on the Wall. Only in the labs that kept the old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have just lived this paper. Teams at Microsoft moved to Git. Microsoft tracks code velocity: how long a change takes to reach main, along its integration path. After the squash, the Wall has no path left. The paper's claim: for analysts, flat history is data loss. For developers it helps: a bad change is quick to find and revert.</a:t>
            </a:r>
          </a:p>
          <a:p/>
          <a:p>
            <a:r>
              <a:t>Ask: Your team squash-merges every feature branch and deletes it. What do you gain, and what can an auditor no longer answer?</a:t>
            </a:r>
          </a:p>
          <a:p/>
          <a:p>
            <a:r>
              <a:t>Hope to hear: Gain: one revertable card per feature, easy bisect. Lose: who wrote which part and when, once the branch is deleted.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have just lived this paper. Teams at Microsoft moved to Git. Microsoft tracks code velocity: how long a change takes to reach main, along its integration path. After the squash, the Wall has no path left. The paper's claim: for analysts, flat history is data loss. For developers it helps: a bad change is quick to find and revert.</a:t>
            </a:r>
          </a:p>
          <a:p/>
          <a:p>
            <a:r>
              <a:t>Ask: Your team squash-merges every feature branch and deletes it. What do you gain, and what can an auditor no longer answer?</a:t>
            </a:r>
          </a:p>
          <a:p/>
          <a:p>
            <a:r>
              <a:t>Hope to hear: Gain: one revertable card per feature, easy bisect. Lose: who wrote which part and when, once the branch is deleted.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commit never changes, a branch is a pointer that moves, and the Wall holds copies of those commits. That is the whole model. Homework: Yang et al., Sections 3.2 to 3.5. For one finding, write down what they measured.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011680"/>
            <a:ext cx="10545775" cy="1280160"/>
          </a:xfrm>
          <a:prstGeom prst="rect">
            <a:avLst/>
          </a:prstGeom>
          <a:noFill/>
        </p:spPr>
        <p:txBody>
          <a:bodyPr wrap="square" anchor="b" lIns="0" rIns="0" tIns="0" bIns="0"/>
          <a:lstStyle/>
          <a:p>
            <a:pPr algn="l">
              <a:lnSpc>
                <a:spcPct val="110000"/>
              </a:lnSpc>
            </a:pPr>
            <a:r>
              <a:rPr sz="6400" b="1">
                <a:solidFill>
                  <a:srgbClr val="111111"/>
                </a:solidFill>
                <a:latin typeface="Inter"/>
              </a:rPr>
              <a:t>Outfit Lab</a:t>
            </a:r>
          </a:p>
        </p:txBody>
      </p:sp>
      <p:sp>
        <p:nvSpPr>
          <p:cNvPr id="3" name="TextBox 2"/>
          <p:cNvSpPr txBox="1"/>
          <p:nvPr/>
        </p:nvSpPr>
        <p:spPr>
          <a:xfrm>
            <a:off x="822960" y="3520440"/>
            <a:ext cx="8442655" cy="1097280"/>
          </a:xfrm>
          <a:prstGeom prst="rect">
            <a:avLst/>
          </a:prstGeom>
          <a:noFill/>
        </p:spPr>
        <p:txBody>
          <a:bodyPr wrap="square" anchor="t" lIns="0" rIns="0" tIns="0" bIns="0"/>
          <a:lstStyle/>
          <a:p>
            <a:pPr algn="l">
              <a:lnSpc>
                <a:spcPct val="110000"/>
              </a:lnSpc>
            </a:pPr>
            <a:r>
              <a:rPr sz="3200" b="0">
                <a:solidFill>
                  <a:srgbClr val="707078"/>
                </a:solidFill>
                <a:latin typeface="Inter"/>
              </a:rPr>
              <a:t>Dress one character together.</a:t>
            </a:r>
          </a:p>
          <a:p>
            <a:pPr algn="l">
              <a:lnSpc>
                <a:spcPct val="110000"/>
              </a:lnSpc>
            </a:pPr>
            <a:r>
              <a:rPr sz="3200" b="0">
                <a:solidFill>
                  <a:srgbClr val="707078"/>
                </a:solidFill>
                <a:latin typeface="Inter"/>
              </a:rPr>
              <a:t>Every save, merge, send and undo runs real Git.</a:t>
            </a:r>
          </a:p>
        </p:txBody>
      </p:sp>
      <p:sp>
        <p:nvSpPr>
          <p:cNvPr id="4" name="Rectangle 3"/>
          <p:cNvSpPr/>
          <p:nvPr/>
        </p:nvSpPr>
        <p:spPr>
          <a:xfrm>
            <a:off x="0" y="6309360"/>
            <a:ext cx="12191695" cy="548640"/>
          </a:xfrm>
          <a:prstGeom prst="rect">
            <a:avLst/>
          </a:prstGeom>
          <a:solidFill>
            <a:srgbClr val="8B3DFF"/>
          </a:solidFill>
          <a:ln>
            <a:noFill/>
          </a:ln>
        </p:spPr>
        <p:txBody>
          <a:bodyPr rtlCol="0" anchor="ctr"/>
          <a:lstStyle/>
          <a:p>
            <a:pPr algn="ctr"/>
          </a:p>
        </p:txBody>
      </p:sp>
      <p:sp>
        <p:nvSpPr>
          <p:cNvPr id="5" name="TextBox 4"/>
          <p:cNvSpPr txBox="1"/>
          <p:nvPr/>
        </p:nvSpPr>
        <p:spPr>
          <a:xfrm>
            <a:off x="822960" y="6309360"/>
            <a:ext cx="10545775" cy="548640"/>
          </a:xfrm>
          <a:prstGeom prst="rect">
            <a:avLst/>
          </a:prstGeom>
          <a:noFill/>
        </p:spPr>
        <p:txBody>
          <a:bodyPr wrap="square" anchor="ctr" lIns="0" rIns="0" tIns="0" bIns="0"/>
          <a:lstStyle/>
          <a:p>
            <a:pPr algn="l">
              <a:lnSpc>
                <a:spcPct val="110000"/>
              </a:lnSpc>
            </a:pPr>
            <a:r>
              <a:rPr sz="1800" b="0">
                <a:solidFill>
                  <a:srgbClr val="FFFFFF"/>
                </a:solidFill>
                <a:latin typeface="Inter"/>
              </a:rPr>
              <a:t>CS294 · Git Week · Tuesday · Shubham &amp; Ananya</a:t>
            </a:r>
          </a:p>
        </p:txBody>
      </p:sp>
      <p:sp>
        <p:nvSpPr>
          <p:cNvPr id="6" name="Rounded Rectangle 5"/>
          <p:cNvSpPr/>
          <p:nvPr/>
        </p:nvSpPr>
        <p:spPr>
          <a:xfrm>
            <a:off x="9631375" y="1252728"/>
            <a:ext cx="1737360" cy="868680"/>
          </a:xfrm>
          <a:prstGeom prst="roundRect">
            <a:avLst>
              <a:gd name="adj" fmla="val 14000"/>
            </a:avLst>
          </a:prstGeom>
          <a:solidFill>
            <a:srgbClr val="F6F6F8"/>
          </a:solidFill>
          <a:ln>
            <a:noFill/>
          </a:ln>
          <a:effectLst/>
        </p:spPr>
        <p:txBody>
          <a:bodyPr rtlCol="0" anchor="ctr"/>
          <a:lstStyle/>
          <a:p/>
        </p:txBody>
      </p:sp>
      <p:sp>
        <p:nvSpPr>
          <p:cNvPr id="7" name="TextBox 6"/>
          <p:cNvSpPr txBox="1"/>
          <p:nvPr/>
        </p:nvSpPr>
        <p:spPr>
          <a:xfrm>
            <a:off x="9631375" y="1252728"/>
            <a:ext cx="1737360" cy="868680"/>
          </a:xfrm>
          <a:prstGeom prst="rect">
            <a:avLst/>
          </a:prstGeom>
          <a:noFill/>
        </p:spPr>
        <p:txBody>
          <a:bodyPr wrap="square" anchor="ctr" lIns="0" rIns="0" tIns="0" bIns="0"/>
          <a:lstStyle/>
          <a:p>
            <a:pPr algn="ctr">
              <a:lnSpc>
                <a:spcPct val="110000"/>
              </a:lnSpc>
            </a:pPr>
            <a:r>
              <a:rPr sz="4400" b="0">
                <a:solidFill>
                  <a:srgbClr val="111111"/>
                </a:solidFill>
                <a:latin typeface="Inter"/>
              </a:rPr>
              <a:t>🧢</a:t>
            </a:r>
          </a:p>
        </p:txBody>
      </p:sp>
      <p:sp>
        <p:nvSpPr>
          <p:cNvPr id="8" name="Rounded Rectangle 7"/>
          <p:cNvSpPr/>
          <p:nvPr/>
        </p:nvSpPr>
        <p:spPr>
          <a:xfrm>
            <a:off x="9631375" y="2231136"/>
            <a:ext cx="1737360" cy="868680"/>
          </a:xfrm>
          <a:prstGeom prst="roundRect">
            <a:avLst>
              <a:gd name="adj" fmla="val 14000"/>
            </a:avLst>
          </a:prstGeom>
          <a:solidFill>
            <a:srgbClr val="F6F6F8"/>
          </a:solidFill>
          <a:ln>
            <a:noFill/>
          </a:ln>
          <a:effectLst/>
        </p:spPr>
        <p:txBody>
          <a:bodyPr rtlCol="0" anchor="ctr"/>
          <a:lstStyle/>
          <a:p/>
        </p:txBody>
      </p:sp>
      <p:sp>
        <p:nvSpPr>
          <p:cNvPr id="9" name="TextBox 8"/>
          <p:cNvSpPr txBox="1"/>
          <p:nvPr/>
        </p:nvSpPr>
        <p:spPr>
          <a:xfrm>
            <a:off x="9631375" y="2231136"/>
            <a:ext cx="1737360" cy="868680"/>
          </a:xfrm>
          <a:prstGeom prst="rect">
            <a:avLst/>
          </a:prstGeom>
          <a:noFill/>
        </p:spPr>
        <p:txBody>
          <a:bodyPr wrap="square" anchor="ctr" lIns="0" rIns="0" tIns="0" bIns="0"/>
          <a:lstStyle/>
          <a:p>
            <a:pPr algn="ctr">
              <a:lnSpc>
                <a:spcPct val="110000"/>
              </a:lnSpc>
            </a:pPr>
            <a:r>
              <a:rPr sz="4400" b="0">
                <a:solidFill>
                  <a:srgbClr val="111111"/>
                </a:solidFill>
                <a:latin typeface="Inter"/>
              </a:rPr>
              <a:t>👓</a:t>
            </a:r>
          </a:p>
        </p:txBody>
      </p:sp>
      <p:sp>
        <p:nvSpPr>
          <p:cNvPr id="10" name="Rounded Rectangle 9"/>
          <p:cNvSpPr/>
          <p:nvPr/>
        </p:nvSpPr>
        <p:spPr>
          <a:xfrm>
            <a:off x="9631375" y="3209544"/>
            <a:ext cx="1737360" cy="868680"/>
          </a:xfrm>
          <a:prstGeom prst="roundRect">
            <a:avLst>
              <a:gd name="adj" fmla="val 14000"/>
            </a:avLst>
          </a:prstGeom>
          <a:solidFill>
            <a:srgbClr val="F6F6F8"/>
          </a:solidFill>
          <a:ln>
            <a:noFill/>
          </a:ln>
          <a:effectLst/>
        </p:spPr>
        <p:txBody>
          <a:bodyPr rtlCol="0" anchor="ctr"/>
          <a:lstStyle/>
          <a:p/>
        </p:txBody>
      </p:sp>
      <p:sp>
        <p:nvSpPr>
          <p:cNvPr id="11" name="TextBox 10"/>
          <p:cNvSpPr txBox="1"/>
          <p:nvPr/>
        </p:nvSpPr>
        <p:spPr>
          <a:xfrm>
            <a:off x="9631375" y="3209544"/>
            <a:ext cx="1737360" cy="868680"/>
          </a:xfrm>
          <a:prstGeom prst="rect">
            <a:avLst/>
          </a:prstGeom>
          <a:noFill/>
        </p:spPr>
        <p:txBody>
          <a:bodyPr wrap="square" anchor="ctr" lIns="0" rIns="0" tIns="0" bIns="0"/>
          <a:lstStyle/>
          <a:p>
            <a:pPr algn="ctr">
              <a:lnSpc>
                <a:spcPct val="110000"/>
              </a:lnSpc>
            </a:pPr>
            <a:r>
              <a:rPr sz="4400" b="0">
                <a:solidFill>
                  <a:srgbClr val="111111"/>
                </a:solidFill>
                <a:latin typeface="Inter"/>
              </a:rPr>
              <a:t>👕</a:t>
            </a:r>
          </a:p>
        </p:txBody>
      </p:sp>
      <p:sp>
        <p:nvSpPr>
          <p:cNvPr id="12" name="Rounded Rectangle 11"/>
          <p:cNvSpPr/>
          <p:nvPr/>
        </p:nvSpPr>
        <p:spPr>
          <a:xfrm>
            <a:off x="9631375" y="4187952"/>
            <a:ext cx="1737360" cy="868680"/>
          </a:xfrm>
          <a:prstGeom prst="roundRect">
            <a:avLst>
              <a:gd name="adj" fmla="val 14000"/>
            </a:avLst>
          </a:prstGeom>
          <a:solidFill>
            <a:srgbClr val="F6F6F8"/>
          </a:solidFill>
          <a:ln>
            <a:noFill/>
          </a:ln>
          <a:effectLst/>
        </p:spPr>
        <p:txBody>
          <a:bodyPr rtlCol="0" anchor="ctr"/>
          <a:lstStyle/>
          <a:p/>
        </p:txBody>
      </p:sp>
      <p:sp>
        <p:nvSpPr>
          <p:cNvPr id="13" name="TextBox 12"/>
          <p:cNvSpPr txBox="1"/>
          <p:nvPr/>
        </p:nvSpPr>
        <p:spPr>
          <a:xfrm>
            <a:off x="9631375" y="4187952"/>
            <a:ext cx="1737360" cy="868680"/>
          </a:xfrm>
          <a:prstGeom prst="rect">
            <a:avLst/>
          </a:prstGeom>
          <a:noFill/>
        </p:spPr>
        <p:txBody>
          <a:bodyPr wrap="square" anchor="ctr" lIns="0" rIns="0" tIns="0" bIns="0"/>
          <a:lstStyle/>
          <a:p>
            <a:pPr algn="ctr">
              <a:lnSpc>
                <a:spcPct val="110000"/>
              </a:lnSpc>
            </a:pPr>
            <a:r>
              <a:rPr sz="4400" b="0">
                <a:solidFill>
                  <a:srgbClr val="111111"/>
                </a:solidFill>
                <a:latin typeface="Inter"/>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45375" y="1417320"/>
            <a:ext cx="4023360" cy="4023360"/>
          </a:xfrm>
          <a:prstGeom prst="roundRect">
            <a:avLst>
              <a:gd name="adj" fmla="val 6000"/>
            </a:avLst>
          </a:prstGeom>
          <a:solidFill>
            <a:srgbClr val="FFFFFF"/>
          </a:solidFill>
          <a:ln w="19050">
            <a:solidFill>
              <a:srgbClr val="D9D9DE"/>
            </a:solidFill>
            <a:prstDash val="dash"/>
          </a:ln>
          <a:effectLst/>
        </p:spPr>
        <p:txBody>
          <a:bodyPr rtlCol="0" anchor="ctr"/>
          <a:lstStyle/>
          <a:p/>
        </p:txBody>
      </p:sp>
      <p:sp>
        <p:nvSpPr>
          <p:cNvPr id="3" name="TextBox 2"/>
          <p:cNvSpPr txBox="1"/>
          <p:nvPr/>
        </p:nvSpPr>
        <p:spPr>
          <a:xfrm>
            <a:off x="7345375" y="1417320"/>
            <a:ext cx="4023360" cy="4023360"/>
          </a:xfrm>
          <a:prstGeom prst="rect">
            <a:avLst/>
          </a:prstGeom>
          <a:noFill/>
        </p:spPr>
        <p:txBody>
          <a:bodyPr wrap="square" anchor="ctr" lIns="0" rIns="0" tIns="0" bIns="0"/>
          <a:lstStyle/>
          <a:p>
            <a:pPr algn="ctr">
              <a:lnSpc>
                <a:spcPct val="110000"/>
              </a:lnSpc>
            </a:pPr>
            <a:r>
              <a:rPr sz="3200" b="0">
                <a:solidFill>
                  <a:srgbClr val="707078"/>
                </a:solidFill>
                <a:latin typeface="Inter"/>
              </a:rPr>
              <a:t>QR</a:t>
            </a:r>
          </a:p>
        </p:txBody>
      </p:sp>
      <p:sp>
        <p:nvSpPr>
          <p:cNvPr id="4" name="TextBox 3"/>
          <p:cNvSpPr txBox="1"/>
          <p:nvPr/>
        </p:nvSpPr>
        <p:spPr>
          <a:xfrm>
            <a:off x="822960" y="1737360"/>
            <a:ext cx="6156655" cy="457200"/>
          </a:xfrm>
          <a:prstGeom prst="rect">
            <a:avLst/>
          </a:prstGeom>
          <a:noFill/>
        </p:spPr>
        <p:txBody>
          <a:bodyPr wrap="square" anchor="t" lIns="0" rIns="0" tIns="0" bIns="0"/>
          <a:lstStyle/>
          <a:p>
            <a:pPr algn="l">
              <a:lnSpc>
                <a:spcPct val="110000"/>
              </a:lnSpc>
            </a:pPr>
            <a:r>
              <a:rPr sz="2200" b="1">
                <a:solidFill>
                  <a:srgbClr val="8B3DFF"/>
                </a:solidFill>
                <a:latin typeface="Inter"/>
              </a:rPr>
              <a:t>Outfit Lab</a:t>
            </a:r>
          </a:p>
        </p:txBody>
      </p:sp>
      <p:sp>
        <p:nvSpPr>
          <p:cNvPr id="5" name="TextBox 4"/>
          <p:cNvSpPr txBox="1"/>
          <p:nvPr/>
        </p:nvSpPr>
        <p:spPr>
          <a:xfrm>
            <a:off x="822960" y="2286000"/>
            <a:ext cx="6156655" cy="822960"/>
          </a:xfrm>
          <a:prstGeom prst="rect">
            <a:avLst/>
          </a:prstGeom>
          <a:noFill/>
        </p:spPr>
        <p:txBody>
          <a:bodyPr wrap="square" anchor="t" lIns="0" rIns="0" tIns="0" bIns="0"/>
          <a:lstStyle/>
          <a:p>
            <a:pPr algn="l">
              <a:lnSpc>
                <a:spcPct val="110000"/>
              </a:lnSpc>
            </a:pPr>
            <a:r>
              <a:rPr sz="4800" b="1">
                <a:solidFill>
                  <a:srgbClr val="111111"/>
                </a:solidFill>
                <a:latin typeface="Inter"/>
              </a:rPr>
              <a:t>Open: ________</a:t>
            </a:r>
          </a:p>
        </p:txBody>
      </p:sp>
      <p:sp>
        <p:nvSpPr>
          <p:cNvPr id="6" name="TextBox 5"/>
          <p:cNvSpPr txBox="1"/>
          <p:nvPr/>
        </p:nvSpPr>
        <p:spPr>
          <a:xfrm>
            <a:off x="822960" y="3383280"/>
            <a:ext cx="6156655" cy="1463040"/>
          </a:xfrm>
          <a:prstGeom prst="rect">
            <a:avLst/>
          </a:prstGeom>
          <a:noFill/>
        </p:spPr>
        <p:txBody>
          <a:bodyPr wrap="square" anchor="t" lIns="0" rIns="0" tIns="0" bIns="0"/>
          <a:lstStyle/>
          <a:p>
            <a:pPr algn="l">
              <a:lnSpc>
                <a:spcPct val="125000"/>
              </a:lnSpc>
            </a:pPr>
            <a:r>
              <a:rPr sz="2800" b="0">
                <a:solidFill>
                  <a:srgbClr val="707078"/>
                </a:solidFill>
                <a:latin typeface="Inter"/>
              </a:rPr>
              <a:t>Open the link and type your name.</a:t>
            </a:r>
          </a:p>
          <a:p>
            <a:pPr algn="l">
              <a:lnSpc>
                <a:spcPct val="125000"/>
              </a:lnSpc>
            </a:pPr>
            <a:r>
              <a:rPr sz="2800" b="0">
                <a:solidFill>
                  <a:srgbClr val="707078"/>
                </a:solidFill>
                <a:latin typeface="Inter"/>
              </a:rPr>
              <a:t>The app puts you in a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1</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Save every version</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600" b="1">
                <a:solidFill>
                  <a:srgbClr val="8B3DFF"/>
                </a:solidFill>
                <a:latin typeface="Noto Sans Mono"/>
              </a:rPr>
              <a:t>git commit</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A saved snapshot of the whole project.</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757285"/>
          </a:xfrm>
          <a:prstGeom prst="rect">
            <a:avLst/>
          </a:prstGeom>
          <a:noFill/>
        </p:spPr>
        <p:txBody>
          <a:bodyPr wrap="square" anchor="t" lIns="0" rIns="0" tIns="0" bIns="0"/>
          <a:lstStyle/>
          <a:p>
            <a:pPr algn="l">
              <a:lnSpc>
                <a:spcPct val="112000"/>
              </a:lnSpc>
            </a:pPr>
            <a:r>
              <a:rPr sz="2200" b="0">
                <a:solidFill>
                  <a:srgbClr val="111111"/>
                </a:solidFill>
                <a:latin typeface="Inter"/>
              </a:rPr>
              <a:t>Records the exact state, who saved it, when, and the commit before it.</a:t>
            </a:r>
          </a:p>
        </p:txBody>
      </p:sp>
      <p:sp>
        <p:nvSpPr>
          <p:cNvPr id="11" name="Rounded Rectangle 10"/>
          <p:cNvSpPr/>
          <p:nvPr/>
        </p:nvSpPr>
        <p:spPr>
          <a:xfrm>
            <a:off x="822960" y="4043719"/>
            <a:ext cx="10545775" cy="1779219"/>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4318801"/>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4244887"/>
            <a:ext cx="8122615" cy="1376883"/>
          </a:xfrm>
          <a:prstGeom prst="rect">
            <a:avLst/>
          </a:prstGeom>
          <a:noFill/>
        </p:spPr>
        <p:txBody>
          <a:bodyPr wrap="square" anchor="t" lIns="0" rIns="0" tIns="0" bIns="0"/>
          <a:lstStyle/>
          <a:p>
            <a:pPr algn="l">
              <a:lnSpc>
                <a:spcPct val="112000"/>
              </a:lnSpc>
            </a:pPr>
            <a:r>
              <a:rPr sz="2000" b="0">
                <a:solidFill>
                  <a:srgbClr val="111111"/>
                </a:solidFill>
                <a:latin typeface="Inter"/>
              </a:rPr>
              <a:t>Each file is stored as a blob, the folder as a tree. A commit holds the tree ID, parent ID(s), author, committer and message. Its ID is the SHA-1 of all that, so any change gives a new ID. Nothing is edited in place.</a:t>
            </a:r>
          </a:p>
        </p:txBody>
      </p:sp>
      <p:sp>
        <p:nvSpPr>
          <p:cNvPr id="14" name="Rectangle 13"/>
          <p:cNvSpPr/>
          <p:nvPr/>
        </p:nvSpPr>
        <p:spPr>
          <a:xfrm>
            <a:off x="822960" y="6024106"/>
            <a:ext cx="73152" cy="378642"/>
          </a:xfrm>
          <a:prstGeom prst="rect">
            <a:avLst/>
          </a:prstGeom>
          <a:solidFill>
            <a:srgbClr val="F5A524"/>
          </a:solidFill>
          <a:ln>
            <a:noFill/>
          </a:ln>
        </p:spPr>
        <p:txBody>
          <a:bodyPr rtlCol="0" anchor="ctr"/>
          <a:lstStyle/>
          <a:p>
            <a:pPr algn="ctr"/>
          </a:p>
        </p:txBody>
      </p:sp>
      <p:sp>
        <p:nvSpPr>
          <p:cNvPr id="15" name="TextBox 14"/>
          <p:cNvSpPr txBox="1"/>
          <p:nvPr/>
        </p:nvSpPr>
        <p:spPr>
          <a:xfrm>
            <a:off x="1188720" y="6024106"/>
            <a:ext cx="10180015" cy="378642"/>
          </a:xfrm>
          <a:prstGeom prst="rect">
            <a:avLst/>
          </a:prstGeom>
          <a:noFill/>
        </p:spPr>
        <p:txBody>
          <a:bodyPr wrap="square" anchor="t" lIns="0" rIns="0" tIns="0" bIns="0"/>
          <a:lstStyle/>
          <a:p>
            <a:pPr algn="l">
              <a:lnSpc>
                <a:spcPct val="112000"/>
              </a:lnSpc>
            </a:pPr>
            <a:r>
              <a:rPr sz="2200" b="1">
                <a:solidFill>
                  <a:srgbClr val="111111"/>
                </a:solidFill>
                <a:latin typeface="Inter"/>
              </a:rPr>
              <a:t>Git records the name and clock your laptop gives it, and checks neither.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2</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Give each idea its own branch</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600" b="1">
                <a:solidFill>
                  <a:srgbClr val="8B3DFF"/>
                </a:solidFill>
                <a:latin typeface="Noto Sans Mono"/>
              </a:rPr>
              <a:t>git branch</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A movable label on one commit.</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Lets you work on an idea without touching main.</a:t>
            </a:r>
          </a:p>
        </p:txBody>
      </p:sp>
      <p:sp>
        <p:nvSpPr>
          <p:cNvPr id="11" name="Rounded Rectangle 10"/>
          <p:cNvSpPr/>
          <p:nvPr/>
        </p:nvSpPr>
        <p:spPr>
          <a:xfrm>
            <a:off x="822960" y="3665076"/>
            <a:ext cx="10545775" cy="1434998"/>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3940158"/>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3866244"/>
            <a:ext cx="8122615" cy="1032662"/>
          </a:xfrm>
          <a:prstGeom prst="rect">
            <a:avLst/>
          </a:prstGeom>
          <a:noFill/>
        </p:spPr>
        <p:txBody>
          <a:bodyPr wrap="square" anchor="t" lIns="0" rIns="0" tIns="0" bIns="0"/>
          <a:lstStyle/>
          <a:p>
            <a:pPr algn="l">
              <a:lnSpc>
                <a:spcPct val="112000"/>
              </a:lnSpc>
            </a:pPr>
            <a:r>
              <a:rPr sz="2000" b="0">
                <a:solidFill>
                  <a:srgbClr val="111111"/>
                </a:solidFill>
                <a:latin typeface="Inter"/>
              </a:rPr>
              <a:t>A branch is a tiny file (</a:t>
            </a:r>
            <a:r>
              <a:rPr sz="2000" b="0">
                <a:solidFill>
                  <a:srgbClr val="111111"/>
                </a:solidFill>
                <a:latin typeface="Noto Sans Mono"/>
              </a:rPr>
              <a:t>.git/⁠refs/⁠heads/⁠&lt;name&gt;</a:t>
            </a:r>
            <a:r>
              <a:rPr sz="2000" b="0">
                <a:solidFill>
                  <a:srgbClr val="111111"/>
                </a:solidFill>
                <a:latin typeface="Inter"/>
              </a:rPr>
              <a:t>) holding one commit ID. Committing moves it forward. HEAD records which branch you are on. Creating a branch copies nothing.</a:t>
            </a:r>
          </a:p>
        </p:txBody>
      </p:sp>
      <p:sp>
        <p:nvSpPr>
          <p:cNvPr id="14" name="Rectangle 13"/>
          <p:cNvSpPr/>
          <p:nvPr/>
        </p:nvSpPr>
        <p:spPr>
          <a:xfrm>
            <a:off x="822960" y="5301242"/>
            <a:ext cx="73152" cy="757285"/>
          </a:xfrm>
          <a:prstGeom prst="rect">
            <a:avLst/>
          </a:prstGeom>
          <a:solidFill>
            <a:srgbClr val="F5A524"/>
          </a:solidFill>
          <a:ln>
            <a:noFill/>
          </a:ln>
        </p:spPr>
        <p:txBody>
          <a:bodyPr rtlCol="0" anchor="ctr"/>
          <a:lstStyle/>
          <a:p>
            <a:pPr algn="ctr"/>
          </a:p>
        </p:txBody>
      </p:sp>
      <p:sp>
        <p:nvSpPr>
          <p:cNvPr id="15" name="TextBox 14"/>
          <p:cNvSpPr txBox="1"/>
          <p:nvPr/>
        </p:nvSpPr>
        <p:spPr>
          <a:xfrm>
            <a:off x="1188720" y="5301242"/>
            <a:ext cx="10180015" cy="757285"/>
          </a:xfrm>
          <a:prstGeom prst="rect">
            <a:avLst/>
          </a:prstGeom>
          <a:noFill/>
        </p:spPr>
        <p:txBody>
          <a:bodyPr wrap="square" anchor="t" lIns="0" rIns="0" tIns="0" bIns="0"/>
          <a:lstStyle/>
          <a:p>
            <a:pPr algn="l">
              <a:lnSpc>
                <a:spcPct val="112000"/>
              </a:lnSpc>
            </a:pPr>
            <a:r>
              <a:rPr sz="2200" b="1">
                <a:solidFill>
                  <a:srgbClr val="111111"/>
                </a:solidFill>
                <a:latin typeface="Inter"/>
              </a:rPr>
              <a:t>In real Git, each of you would have your own clone with one working directory. Here your lab shares one repository.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3</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Combine two branches</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600" b="1">
                <a:solidFill>
                  <a:srgbClr val="8B3DFF"/>
                </a:solidFill>
                <a:latin typeface="Noto Sans Mono"/>
              </a:rPr>
              <a:t>git merge</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Combining two lines of work into one.</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757285"/>
          </a:xfrm>
          <a:prstGeom prst="rect">
            <a:avLst/>
          </a:prstGeom>
          <a:noFill/>
        </p:spPr>
        <p:txBody>
          <a:bodyPr wrap="square" anchor="t" lIns="0" rIns="0" tIns="0" bIns="0"/>
          <a:lstStyle/>
          <a:p>
            <a:pPr algn="l">
              <a:lnSpc>
                <a:spcPct val="112000"/>
              </a:lnSpc>
            </a:pPr>
            <a:r>
              <a:rPr sz="2200" b="0">
                <a:solidFill>
                  <a:srgbClr val="111111"/>
                </a:solidFill>
                <a:latin typeface="Inter"/>
              </a:rPr>
              <a:t>Keeps a change made on one side. It stops for a person when both sides changed the same or neighbouring lines.</a:t>
            </a:r>
          </a:p>
        </p:txBody>
      </p:sp>
      <p:sp>
        <p:nvSpPr>
          <p:cNvPr id="11" name="Rounded Rectangle 10"/>
          <p:cNvSpPr/>
          <p:nvPr/>
        </p:nvSpPr>
        <p:spPr>
          <a:xfrm>
            <a:off x="822960" y="4043719"/>
            <a:ext cx="10545775" cy="2123440"/>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4318801"/>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4244887"/>
            <a:ext cx="8122615" cy="1721104"/>
          </a:xfrm>
          <a:prstGeom prst="rect">
            <a:avLst/>
          </a:prstGeom>
          <a:noFill/>
        </p:spPr>
        <p:txBody>
          <a:bodyPr wrap="square" anchor="t" lIns="0" rIns="0" tIns="0" bIns="0"/>
          <a:lstStyle/>
          <a:p>
            <a:pPr algn="l">
              <a:lnSpc>
                <a:spcPct val="112000"/>
              </a:lnSpc>
            </a:pPr>
            <a:r>
              <a:rPr sz="2000" b="0">
                <a:solidFill>
                  <a:srgbClr val="111111"/>
                </a:solidFill>
                <a:latin typeface="Inter"/>
              </a:rPr>
              <a:t>Git finds the merge base (the last commit both sides share), compares each side with it (a 3-way merge), and writes a merge commit with two parents. If your branch has nothing new, Git fast-forwards: only the label moves, and no merge commit is made.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4</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Share your work through the Wall</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600" b="1">
                <a:solidFill>
                  <a:srgbClr val="8B3DFF"/>
                </a:solidFill>
                <a:latin typeface="Noto Sans Mono"/>
              </a:rPr>
              <a:t>git push / git pull</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Sharing commits with a copy elsewhere, here the Wall.</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757285"/>
          </a:xfrm>
          <a:prstGeom prst="rect">
            <a:avLst/>
          </a:prstGeom>
          <a:noFill/>
        </p:spPr>
        <p:txBody>
          <a:bodyPr wrap="square" anchor="t" lIns="0" rIns="0" tIns="0" bIns="0"/>
          <a:lstStyle/>
          <a:p>
            <a:pPr algn="l">
              <a:lnSpc>
                <a:spcPct val="112000"/>
              </a:lnSpc>
            </a:pPr>
            <a:r>
              <a:rPr sz="2200" b="0">
                <a:solidFill>
                  <a:srgbClr val="111111"/>
                </a:solidFill>
                <a:latin typeface="Inter"/>
              </a:rPr>
              <a:t>push sends your new commits and moves the remote branch. pull brings the remote's new commits into yours.</a:t>
            </a:r>
          </a:p>
        </p:txBody>
      </p:sp>
      <p:sp>
        <p:nvSpPr>
          <p:cNvPr id="11" name="Rounded Rectangle 10"/>
          <p:cNvSpPr/>
          <p:nvPr/>
        </p:nvSpPr>
        <p:spPr>
          <a:xfrm>
            <a:off x="822960" y="4043719"/>
            <a:ext cx="10545775" cy="1779219"/>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4318801"/>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4244887"/>
            <a:ext cx="8122615" cy="1376883"/>
          </a:xfrm>
          <a:prstGeom prst="rect">
            <a:avLst/>
          </a:prstGeom>
          <a:noFill/>
        </p:spPr>
        <p:txBody>
          <a:bodyPr wrap="square" anchor="t" lIns="0" rIns="0" tIns="0" bIns="0"/>
          <a:lstStyle/>
          <a:p>
            <a:pPr algn="l">
              <a:lnSpc>
                <a:spcPct val="112000"/>
              </a:lnSpc>
            </a:pPr>
            <a:r>
              <a:rPr sz="2000" b="0">
                <a:solidFill>
                  <a:srgbClr val="111111"/>
                </a:solidFill>
                <a:latin typeface="Inter"/>
              </a:rPr>
              <a:t>Copies exchange only the objects the other side lacks; IDs come from content, so copies agree without coordination. A push is accepted only if it is a fast-forward of the remote branch. Otherwise you fetch first, then merge or rebase.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4</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Share your work through the Wall</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600" b="1">
                <a:solidFill>
                  <a:srgbClr val="8B3DFF"/>
                </a:solidFill>
                <a:latin typeface="Noto Sans Mono"/>
              </a:rPr>
              <a:t>git rebase</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Replaying your commits on top of another branch.</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Gives a straight history with no merge commit.</a:t>
            </a:r>
          </a:p>
        </p:txBody>
      </p:sp>
      <p:sp>
        <p:nvSpPr>
          <p:cNvPr id="11" name="Rounded Rectangle 10"/>
          <p:cNvSpPr/>
          <p:nvPr/>
        </p:nvSpPr>
        <p:spPr>
          <a:xfrm>
            <a:off x="822960" y="3665076"/>
            <a:ext cx="10545775" cy="1779219"/>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3940158"/>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3866244"/>
            <a:ext cx="8122615" cy="1376883"/>
          </a:xfrm>
          <a:prstGeom prst="rect">
            <a:avLst/>
          </a:prstGeom>
          <a:noFill/>
        </p:spPr>
        <p:txBody>
          <a:bodyPr wrap="square" anchor="t" lIns="0" rIns="0" tIns="0" bIns="0"/>
          <a:lstStyle/>
          <a:p>
            <a:pPr algn="l">
              <a:lnSpc>
                <a:spcPct val="112000"/>
              </a:lnSpc>
            </a:pPr>
            <a:r>
              <a:rPr sz="2000" b="0">
                <a:solidFill>
                  <a:srgbClr val="111111"/>
                </a:solidFill>
                <a:latin typeface="Inter"/>
              </a:rPr>
              <a:t>For each of your commits, Git applies its change to the new base and writes a new commit. The new parent gives it a new ID. The author and author date are kept; the committer date is new. The originals become unreachable and stay in your reflog for a while.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5</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Undo a change everyone already has</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6100" b="1">
                <a:solidFill>
                  <a:srgbClr val="8B3DFF"/>
                </a:solidFill>
                <a:latin typeface="Noto Sans Mono"/>
              </a:rPr>
              <a:t>git revert / git reset</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Two kinds of undo.</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1135928"/>
          </a:xfrm>
          <a:prstGeom prst="rect">
            <a:avLst/>
          </a:prstGeom>
          <a:noFill/>
        </p:spPr>
        <p:txBody>
          <a:bodyPr wrap="square" anchor="t" lIns="0" rIns="0" tIns="0" bIns="0"/>
          <a:lstStyle/>
          <a:p>
            <a:pPr algn="l">
              <a:lnSpc>
                <a:spcPct val="112000"/>
              </a:lnSpc>
            </a:pPr>
            <a:r>
              <a:rPr sz="2200" b="0">
                <a:solidFill>
                  <a:srgbClr val="111111"/>
                </a:solidFill>
                <a:latin typeface="Inter"/>
              </a:rPr>
              <a:t>revert adds a commit that undoes an old one, and is safe on shared history. reset moves your branch label back, and is safe only if nobody else has the commits you leave behind.</a:t>
            </a:r>
          </a:p>
        </p:txBody>
      </p:sp>
      <p:sp>
        <p:nvSpPr>
          <p:cNvPr id="11" name="Rounded Rectangle 10"/>
          <p:cNvSpPr/>
          <p:nvPr/>
        </p:nvSpPr>
        <p:spPr>
          <a:xfrm>
            <a:off x="822960" y="4422362"/>
            <a:ext cx="10545775" cy="1779219"/>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4697444"/>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4623530"/>
            <a:ext cx="8122615" cy="1376883"/>
          </a:xfrm>
          <a:prstGeom prst="rect">
            <a:avLst/>
          </a:prstGeom>
          <a:noFill/>
        </p:spPr>
        <p:txBody>
          <a:bodyPr wrap="square" anchor="t" lIns="0" rIns="0" tIns="0" bIns="0"/>
          <a:lstStyle/>
          <a:p>
            <a:pPr algn="l">
              <a:lnSpc>
                <a:spcPct val="112000"/>
              </a:lnSpc>
            </a:pPr>
            <a:r>
              <a:rPr sz="2000" b="0">
                <a:solidFill>
                  <a:srgbClr val="111111"/>
                </a:solidFill>
                <a:latin typeface="Inter"/>
              </a:rPr>
              <a:t>revert applies the opposite of the commit's change and commits it on top, so history only grows. reset rewrites the branch file. The commits left behind are still listed in the reflog (a local log of where each label pointed) until they expire and gc removes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344168"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STEP 6</a:t>
            </a:r>
          </a:p>
        </p:txBody>
      </p:sp>
      <p:sp>
        <p:nvSpPr>
          <p:cNvPr id="3" name="TextBox 2"/>
          <p:cNvSpPr txBox="1"/>
          <p:nvPr/>
        </p:nvSpPr>
        <p:spPr>
          <a:xfrm>
            <a:off x="2441448"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Rewrite the shared history</a:t>
            </a:r>
          </a:p>
        </p:txBody>
      </p:sp>
      <p:sp>
        <p:nvSpPr>
          <p:cNvPr id="4" name="TextBox 3"/>
          <p:cNvSpPr txBox="1"/>
          <p:nvPr/>
        </p:nvSpPr>
        <p:spPr>
          <a:xfrm>
            <a:off x="822960" y="1143000"/>
            <a:ext cx="10545775" cy="914400"/>
          </a:xfrm>
          <a:prstGeom prst="rect">
            <a:avLst/>
          </a:prstGeom>
          <a:noFill/>
        </p:spPr>
        <p:txBody>
          <a:bodyPr wrap="square" anchor="b" lIns="0" rIns="0" tIns="0" bIns="0"/>
          <a:lstStyle/>
          <a:p>
            <a:pPr algn="l">
              <a:lnSpc>
                <a:spcPct val="100000"/>
              </a:lnSpc>
            </a:pPr>
            <a:r>
              <a:rPr sz="5300" b="1">
                <a:solidFill>
                  <a:srgbClr val="8B3DFF"/>
                </a:solidFill>
                <a:latin typeface="Noto Sans Mono"/>
              </a:rPr>
              <a:t>Squash + git push --force</a:t>
            </a:r>
          </a:p>
        </p:txBody>
      </p:sp>
      <p:sp>
        <p:nvSpPr>
          <p:cNvPr id="5" name="Rectangle 4"/>
          <p:cNvSpPr/>
          <p:nvPr/>
        </p:nvSpPr>
        <p:spPr>
          <a:xfrm>
            <a:off x="822960" y="2286000"/>
            <a:ext cx="10545775" cy="12700"/>
          </a:xfrm>
          <a:prstGeom prst="rect">
            <a:avLst/>
          </a:prstGeom>
          <a:solidFill>
            <a:srgbClr val="D9D9DE"/>
          </a:solidFill>
          <a:ln>
            <a:noFill/>
          </a:ln>
        </p:spPr>
        <p:txBody>
          <a:bodyPr rtlCol="0" anchor="ctr"/>
          <a:lstStyle/>
          <a:p>
            <a:pPr algn="ctr"/>
          </a:p>
        </p:txBody>
      </p:sp>
      <p:sp>
        <p:nvSpPr>
          <p:cNvPr id="6" name="TextBox 5"/>
          <p:cNvSpPr txBox="1"/>
          <p:nvPr/>
        </p:nvSpPr>
        <p:spPr>
          <a:xfrm>
            <a:off x="1051560" y="2521712"/>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IS</a:t>
            </a:r>
          </a:p>
        </p:txBody>
      </p:sp>
      <p:sp>
        <p:nvSpPr>
          <p:cNvPr id="7" name="TextBox 6"/>
          <p:cNvSpPr txBox="1"/>
          <p:nvPr/>
        </p:nvSpPr>
        <p:spPr>
          <a:xfrm>
            <a:off x="3017520" y="2423160"/>
            <a:ext cx="8122615" cy="378642"/>
          </a:xfrm>
          <a:prstGeom prst="rect">
            <a:avLst/>
          </a:prstGeom>
          <a:noFill/>
        </p:spPr>
        <p:txBody>
          <a:bodyPr wrap="square" anchor="t" lIns="0" rIns="0" tIns="0" bIns="0"/>
          <a:lstStyle/>
          <a:p>
            <a:pPr algn="l">
              <a:lnSpc>
                <a:spcPct val="112000"/>
              </a:lnSpc>
            </a:pPr>
            <a:r>
              <a:rPr sz="2200" b="0">
                <a:solidFill>
                  <a:srgbClr val="111111"/>
                </a:solidFill>
                <a:latin typeface="Inter"/>
              </a:rPr>
              <a:t>Cleaning up history by rewriting it.</a:t>
            </a:r>
          </a:p>
        </p:txBody>
      </p:sp>
      <p:sp>
        <p:nvSpPr>
          <p:cNvPr id="8" name="Rectangle 7"/>
          <p:cNvSpPr/>
          <p:nvPr/>
        </p:nvSpPr>
        <p:spPr>
          <a:xfrm>
            <a:off x="822960" y="2938962"/>
            <a:ext cx="10545775" cy="12700"/>
          </a:xfrm>
          <a:prstGeom prst="rect">
            <a:avLst/>
          </a:prstGeom>
          <a:solidFill>
            <a:srgbClr val="D9D9DE"/>
          </a:solidFill>
          <a:ln>
            <a:noFill/>
          </a:ln>
        </p:spPr>
        <p:txBody>
          <a:bodyPr rtlCol="0" anchor="ctr"/>
          <a:lstStyle/>
          <a:p>
            <a:pPr algn="ctr"/>
          </a:p>
        </p:txBody>
      </p:sp>
      <p:sp>
        <p:nvSpPr>
          <p:cNvPr id="9" name="TextBox 8"/>
          <p:cNvSpPr txBox="1"/>
          <p:nvPr/>
        </p:nvSpPr>
        <p:spPr>
          <a:xfrm>
            <a:off x="1051560" y="3174674"/>
            <a:ext cx="1645920" cy="274320"/>
          </a:xfrm>
          <a:prstGeom prst="rect">
            <a:avLst/>
          </a:prstGeom>
          <a:noFill/>
        </p:spPr>
        <p:txBody>
          <a:bodyPr wrap="square" anchor="t" lIns="0" rIns="0" tIns="0" bIns="0"/>
          <a:lstStyle/>
          <a:p>
            <a:pPr algn="l">
              <a:lnSpc>
                <a:spcPct val="110000"/>
              </a:lnSpc>
            </a:pPr>
            <a:r>
              <a:rPr sz="1400" b="1">
                <a:solidFill>
                  <a:srgbClr val="707078"/>
                </a:solidFill>
                <a:latin typeface="Inter"/>
              </a:rPr>
              <a:t>WHAT IT DOES</a:t>
            </a:r>
          </a:p>
        </p:txBody>
      </p:sp>
      <p:sp>
        <p:nvSpPr>
          <p:cNvPr id="10" name="TextBox 9"/>
          <p:cNvSpPr txBox="1"/>
          <p:nvPr/>
        </p:nvSpPr>
        <p:spPr>
          <a:xfrm>
            <a:off x="3017520" y="3076122"/>
            <a:ext cx="8122615" cy="757285"/>
          </a:xfrm>
          <a:prstGeom prst="rect">
            <a:avLst/>
          </a:prstGeom>
          <a:noFill/>
        </p:spPr>
        <p:txBody>
          <a:bodyPr wrap="square" anchor="t" lIns="0" rIns="0" tIns="0" bIns="0"/>
          <a:lstStyle/>
          <a:p>
            <a:pPr algn="l">
              <a:lnSpc>
                <a:spcPct val="112000"/>
              </a:lnSpc>
            </a:pPr>
            <a:r>
              <a:rPr sz="2200" b="0">
                <a:solidFill>
                  <a:srgbClr val="111111"/>
                </a:solidFill>
                <a:latin typeface="Inter"/>
              </a:rPr>
              <a:t>Squash turns several commits into one. A force push makes the Wall accept the rewritten branch.</a:t>
            </a:r>
          </a:p>
        </p:txBody>
      </p:sp>
      <p:sp>
        <p:nvSpPr>
          <p:cNvPr id="11" name="Rounded Rectangle 10"/>
          <p:cNvSpPr/>
          <p:nvPr/>
        </p:nvSpPr>
        <p:spPr>
          <a:xfrm>
            <a:off x="822960" y="4043719"/>
            <a:ext cx="10545775" cy="1779219"/>
          </a:xfrm>
          <a:prstGeom prst="roundRect">
            <a:avLst>
              <a:gd name="adj" fmla="val 12000"/>
            </a:avLst>
          </a:prstGeom>
          <a:solidFill>
            <a:srgbClr val="F4ECFB"/>
          </a:solidFill>
          <a:ln>
            <a:noFill/>
          </a:ln>
          <a:effectLst/>
        </p:spPr>
        <p:txBody>
          <a:bodyPr rtlCol="0" anchor="ctr"/>
          <a:lstStyle/>
          <a:p/>
        </p:txBody>
      </p:sp>
      <p:sp>
        <p:nvSpPr>
          <p:cNvPr id="12" name="TextBox 11"/>
          <p:cNvSpPr txBox="1"/>
          <p:nvPr/>
        </p:nvSpPr>
        <p:spPr>
          <a:xfrm>
            <a:off x="1051560" y="4318801"/>
            <a:ext cx="1645920" cy="274320"/>
          </a:xfrm>
          <a:prstGeom prst="rect">
            <a:avLst/>
          </a:prstGeom>
          <a:noFill/>
        </p:spPr>
        <p:txBody>
          <a:bodyPr wrap="square" anchor="t" lIns="0" rIns="0" tIns="0" bIns="0"/>
          <a:lstStyle/>
          <a:p>
            <a:pPr algn="l">
              <a:lnSpc>
                <a:spcPct val="110000"/>
              </a:lnSpc>
            </a:pPr>
            <a:r>
              <a:rPr sz="1400" b="1">
                <a:solidFill>
                  <a:srgbClr val="8B3DFF"/>
                </a:solidFill>
                <a:latin typeface="Inter"/>
              </a:rPr>
              <a:t>HOW GIT DOES IT</a:t>
            </a:r>
          </a:p>
        </p:txBody>
      </p:sp>
      <p:sp>
        <p:nvSpPr>
          <p:cNvPr id="13" name="TextBox 12"/>
          <p:cNvSpPr txBox="1"/>
          <p:nvPr/>
        </p:nvSpPr>
        <p:spPr>
          <a:xfrm>
            <a:off x="3017520" y="4244887"/>
            <a:ext cx="8122615" cy="1376883"/>
          </a:xfrm>
          <a:prstGeom prst="rect">
            <a:avLst/>
          </a:prstGeom>
          <a:noFill/>
        </p:spPr>
        <p:txBody>
          <a:bodyPr wrap="square" anchor="t" lIns="0" rIns="0" tIns="0" bIns="0"/>
          <a:lstStyle/>
          <a:p>
            <a:pPr algn="l">
              <a:lnSpc>
                <a:spcPct val="112000"/>
              </a:lnSpc>
            </a:pPr>
            <a:r>
              <a:rPr sz="2000" b="0">
                <a:solidFill>
                  <a:srgbClr val="111111"/>
                </a:solidFill>
                <a:latin typeface="Inter"/>
              </a:rPr>
              <a:t>Squash writes one new commit whose tree is the final state. The originals, with their authors and times, become unreachable. </a:t>
            </a:r>
            <a:r>
              <a:rPr sz="2000" b="0">
                <a:solidFill>
                  <a:srgbClr val="111111"/>
                </a:solidFill>
                <a:latin typeface="Noto Sans Mono"/>
              </a:rPr>
              <a:t>-⁠-⁠force</a:t>
            </a:r>
            <a:r>
              <a:rPr sz="2000" b="0">
                <a:solidFill>
                  <a:srgbClr val="111111"/>
                </a:solidFill>
                <a:latin typeface="Inter"/>
              </a:rPr>
              <a:t> skips the fast-forward check and moves the remote branch. </a:t>
            </a:r>
            <a:r>
              <a:rPr sz="2000" b="0">
                <a:solidFill>
                  <a:srgbClr val="111111"/>
                </a:solidFill>
                <a:latin typeface="Noto Sans Mono"/>
              </a:rPr>
              <a:t>git gc</a:t>
            </a:r>
            <a:r>
              <a:rPr sz="2000" b="0">
                <a:solidFill>
                  <a:srgbClr val="111111"/>
                </a:solidFill>
                <a:latin typeface="Inter"/>
              </a:rPr>
              <a:t> later deletes unreachable objects.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11480"/>
            <a:ext cx="10545775" cy="365760"/>
          </a:xfrm>
          <a:prstGeom prst="rect">
            <a:avLst/>
          </a:prstGeom>
          <a:noFill/>
        </p:spPr>
        <p:txBody>
          <a:bodyPr wrap="square" anchor="t" lIns="0" rIns="0" tIns="0" bIns="0"/>
          <a:lstStyle/>
          <a:p>
            <a:pPr algn="l">
              <a:lnSpc>
                <a:spcPct val="110000"/>
              </a:lnSpc>
            </a:pPr>
            <a:r>
              <a:rPr sz="1800" b="0">
                <a:solidFill>
                  <a:srgbClr val="707078"/>
                </a:solidFill>
                <a:latin typeface="Inter"/>
              </a:rPr>
              <a:t>Tuesday's paper · Just, Herzig, Czerwonka, Murphy · ISSRE 2016</a:t>
            </a:r>
          </a:p>
        </p:txBody>
      </p:sp>
      <p:sp>
        <p:nvSpPr>
          <p:cNvPr id="3" name="TextBox 2"/>
          <p:cNvSpPr txBox="1"/>
          <p:nvPr/>
        </p:nvSpPr>
        <p:spPr>
          <a:xfrm>
            <a:off x="822960" y="731520"/>
            <a:ext cx="10545775" cy="548640"/>
          </a:xfrm>
          <a:prstGeom prst="rect">
            <a:avLst/>
          </a:prstGeom>
          <a:noFill/>
        </p:spPr>
        <p:txBody>
          <a:bodyPr wrap="square" anchor="t" lIns="0" rIns="0" tIns="0" bIns="0"/>
          <a:lstStyle/>
          <a:p>
            <a:pPr algn="l">
              <a:lnSpc>
                <a:spcPct val="110000"/>
              </a:lnSpc>
            </a:pPr>
            <a:r>
              <a:rPr sz="3200" b="1">
                <a:solidFill>
                  <a:srgbClr val="111111"/>
                </a:solidFill>
                <a:latin typeface="Inter"/>
              </a:rPr>
              <a:t>Switching to Git: the Good, the Bad, and the Ugly</a:t>
            </a:r>
          </a:p>
        </p:txBody>
      </p:sp>
      <p:sp>
        <p:nvSpPr>
          <p:cNvPr id="4" name="Rectangle 3"/>
          <p:cNvSpPr/>
          <p:nvPr/>
        </p:nvSpPr>
        <p:spPr>
          <a:xfrm>
            <a:off x="822960" y="1463040"/>
            <a:ext cx="3271418" cy="54864"/>
          </a:xfrm>
          <a:prstGeom prst="rect">
            <a:avLst/>
          </a:prstGeom>
          <a:solidFill>
            <a:srgbClr val="16A34A"/>
          </a:solidFill>
          <a:ln>
            <a:noFill/>
          </a:ln>
        </p:spPr>
        <p:txBody>
          <a:bodyPr rtlCol="0" anchor="ctr"/>
          <a:lstStyle/>
          <a:p>
            <a:pPr algn="ctr"/>
          </a:p>
        </p:txBody>
      </p:sp>
      <p:sp>
        <p:nvSpPr>
          <p:cNvPr id="5" name="TextBox 4"/>
          <p:cNvSpPr txBox="1"/>
          <p:nvPr/>
        </p:nvSpPr>
        <p:spPr>
          <a:xfrm>
            <a:off x="822960" y="1600200"/>
            <a:ext cx="3271418" cy="274320"/>
          </a:xfrm>
          <a:prstGeom prst="rect">
            <a:avLst/>
          </a:prstGeom>
          <a:noFill/>
        </p:spPr>
        <p:txBody>
          <a:bodyPr wrap="square" anchor="t" lIns="0" rIns="0" tIns="0" bIns="0"/>
          <a:lstStyle/>
          <a:p>
            <a:pPr algn="l">
              <a:lnSpc>
                <a:spcPct val="110000"/>
              </a:lnSpc>
            </a:pPr>
            <a:r>
              <a:rPr sz="1800" b="1">
                <a:solidFill>
                  <a:srgbClr val="16A34A"/>
                </a:solidFill>
                <a:latin typeface="Inter"/>
              </a:rPr>
              <a:t>GOOD</a:t>
            </a:r>
          </a:p>
        </p:txBody>
      </p:sp>
      <p:sp>
        <p:nvSpPr>
          <p:cNvPr id="6" name="TextBox 5"/>
          <p:cNvSpPr txBox="1"/>
          <p:nvPr/>
        </p:nvSpPr>
        <p:spPr>
          <a:xfrm>
            <a:off x="822960" y="1965960"/>
            <a:ext cx="3271418" cy="1752192"/>
          </a:xfrm>
          <a:prstGeom prst="rect">
            <a:avLst/>
          </a:prstGeom>
          <a:noFill/>
        </p:spPr>
        <p:txBody>
          <a:bodyPr wrap="square" anchor="t" lIns="0" rIns="0" tIns="0" bIns="0"/>
          <a:lstStyle/>
          <a:p>
            <a:pPr algn="l">
              <a:lnSpc>
                <a:spcPct val="112000"/>
              </a:lnSpc>
              <a:spcBef>
                <a:spcPts val="0"/>
              </a:spcBef>
            </a:pPr>
            <a:r>
              <a:rPr sz="1800" b="0">
                <a:solidFill>
                  <a:srgbClr val="111111"/>
                </a:solidFill>
                <a:latin typeface="Inter"/>
              </a:rPr>
              <a:t>Branches are cheap.</a:t>
            </a:r>
          </a:p>
          <a:p>
            <a:pPr algn="l">
              <a:lnSpc>
                <a:spcPct val="112000"/>
              </a:lnSpc>
              <a:spcBef>
                <a:spcPts val="800"/>
              </a:spcBef>
            </a:pPr>
            <a:r>
              <a:rPr sz="1800" b="0">
                <a:solidFill>
                  <a:srgbClr val="111111"/>
                </a:solidFill>
                <a:latin typeface="Inter"/>
              </a:rPr>
              <a:t>Commits and reverts are local.</a:t>
            </a:r>
          </a:p>
          <a:p>
            <a:pPr algn="l">
              <a:lnSpc>
                <a:spcPct val="112000"/>
              </a:lnSpc>
              <a:spcBef>
                <a:spcPts val="800"/>
              </a:spcBef>
            </a:pPr>
            <a:r>
              <a:rPr sz="1800" b="0">
                <a:solidFill>
                  <a:srgbClr val="111111"/>
                </a:solidFill>
                <a:latin typeface="Inter"/>
              </a:rPr>
              <a:t>Developers prefer a flat history.</a:t>
            </a:r>
          </a:p>
        </p:txBody>
      </p:sp>
      <p:sp>
        <p:nvSpPr>
          <p:cNvPr id="7" name="Rectangle 6"/>
          <p:cNvSpPr/>
          <p:nvPr/>
        </p:nvSpPr>
        <p:spPr>
          <a:xfrm>
            <a:off x="4460138" y="1463040"/>
            <a:ext cx="3271418" cy="54864"/>
          </a:xfrm>
          <a:prstGeom prst="rect">
            <a:avLst/>
          </a:prstGeom>
          <a:solidFill>
            <a:srgbClr val="E08A00"/>
          </a:solidFill>
          <a:ln>
            <a:noFill/>
          </a:ln>
        </p:spPr>
        <p:txBody>
          <a:bodyPr rtlCol="0" anchor="ctr"/>
          <a:lstStyle/>
          <a:p>
            <a:pPr algn="ctr"/>
          </a:p>
        </p:txBody>
      </p:sp>
      <p:sp>
        <p:nvSpPr>
          <p:cNvPr id="8" name="TextBox 7"/>
          <p:cNvSpPr txBox="1"/>
          <p:nvPr/>
        </p:nvSpPr>
        <p:spPr>
          <a:xfrm>
            <a:off x="4460138" y="1600200"/>
            <a:ext cx="3271418" cy="274320"/>
          </a:xfrm>
          <a:prstGeom prst="rect">
            <a:avLst/>
          </a:prstGeom>
          <a:noFill/>
        </p:spPr>
        <p:txBody>
          <a:bodyPr wrap="square" anchor="t" lIns="0" rIns="0" tIns="0" bIns="0"/>
          <a:lstStyle/>
          <a:p>
            <a:pPr algn="l">
              <a:lnSpc>
                <a:spcPct val="110000"/>
              </a:lnSpc>
            </a:pPr>
            <a:r>
              <a:rPr sz="1800" b="1">
                <a:solidFill>
                  <a:srgbClr val="E08A00"/>
                </a:solidFill>
                <a:latin typeface="Inter"/>
              </a:rPr>
              <a:t>BAD</a:t>
            </a:r>
          </a:p>
        </p:txBody>
      </p:sp>
      <p:sp>
        <p:nvSpPr>
          <p:cNvPr id="9" name="TextBox 8"/>
          <p:cNvSpPr txBox="1"/>
          <p:nvPr/>
        </p:nvSpPr>
        <p:spPr>
          <a:xfrm>
            <a:off x="4460138" y="1965960"/>
            <a:ext cx="3271418" cy="2681588"/>
          </a:xfrm>
          <a:prstGeom prst="rect">
            <a:avLst/>
          </a:prstGeom>
          <a:noFill/>
        </p:spPr>
        <p:txBody>
          <a:bodyPr wrap="square" anchor="t" lIns="0" rIns="0" tIns="0" bIns="0"/>
          <a:lstStyle/>
          <a:p>
            <a:pPr algn="l">
              <a:lnSpc>
                <a:spcPct val="112000"/>
              </a:lnSpc>
              <a:spcBef>
                <a:spcPts val="0"/>
              </a:spcBef>
            </a:pPr>
            <a:r>
              <a:rPr sz="1800" b="0">
                <a:solidFill>
                  <a:srgbClr val="111111"/>
                </a:solidFill>
                <a:latin typeface="Inter"/>
              </a:rPr>
              <a:t>Fast-forward forgets which branch a change came from.</a:t>
            </a:r>
          </a:p>
          <a:p>
            <a:pPr algn="l">
              <a:lnSpc>
                <a:spcPct val="112000"/>
              </a:lnSpc>
              <a:spcBef>
                <a:spcPts val="800"/>
              </a:spcBef>
            </a:pPr>
            <a:r>
              <a:rPr sz="1800" b="0">
                <a:solidFill>
                  <a:srgbClr val="111111"/>
                </a:solidFill>
                <a:latin typeface="Inter"/>
              </a:rPr>
              <a:t>Rebase rewrites the commit; the patch can change too.</a:t>
            </a:r>
          </a:p>
          <a:p>
            <a:pPr algn="l">
              <a:lnSpc>
                <a:spcPct val="112000"/>
              </a:lnSpc>
              <a:spcBef>
                <a:spcPts val="800"/>
              </a:spcBef>
            </a:pPr>
            <a:r>
              <a:rPr sz="1800" b="0">
                <a:solidFill>
                  <a:srgbClr val="111111"/>
                </a:solidFill>
                <a:latin typeface="Inter"/>
              </a:rPr>
              <a:t>Squash drops the individual commits. Once the branch is deleted, it drops who made them and when.</a:t>
            </a:r>
          </a:p>
        </p:txBody>
      </p:sp>
      <p:sp>
        <p:nvSpPr>
          <p:cNvPr id="10" name="Rectangle 9"/>
          <p:cNvSpPr/>
          <p:nvPr/>
        </p:nvSpPr>
        <p:spPr>
          <a:xfrm>
            <a:off x="8097316" y="1463040"/>
            <a:ext cx="3271418" cy="54864"/>
          </a:xfrm>
          <a:prstGeom prst="rect">
            <a:avLst/>
          </a:prstGeom>
          <a:solidFill>
            <a:srgbClr val="DC2626"/>
          </a:solidFill>
          <a:ln>
            <a:noFill/>
          </a:ln>
        </p:spPr>
        <p:txBody>
          <a:bodyPr rtlCol="0" anchor="ctr"/>
          <a:lstStyle/>
          <a:p>
            <a:pPr algn="ctr"/>
          </a:p>
        </p:txBody>
      </p:sp>
      <p:sp>
        <p:nvSpPr>
          <p:cNvPr id="11" name="TextBox 10"/>
          <p:cNvSpPr txBox="1"/>
          <p:nvPr/>
        </p:nvSpPr>
        <p:spPr>
          <a:xfrm>
            <a:off x="8097316" y="1600200"/>
            <a:ext cx="3271418" cy="274320"/>
          </a:xfrm>
          <a:prstGeom prst="rect">
            <a:avLst/>
          </a:prstGeom>
          <a:noFill/>
        </p:spPr>
        <p:txBody>
          <a:bodyPr wrap="square" anchor="t" lIns="0" rIns="0" tIns="0" bIns="0"/>
          <a:lstStyle/>
          <a:p>
            <a:pPr algn="l">
              <a:lnSpc>
                <a:spcPct val="110000"/>
              </a:lnSpc>
            </a:pPr>
            <a:r>
              <a:rPr sz="1800" b="1">
                <a:solidFill>
                  <a:srgbClr val="DC2626"/>
                </a:solidFill>
                <a:latin typeface="Inter"/>
              </a:rPr>
              <a:t>UGLY</a:t>
            </a:r>
          </a:p>
        </p:txBody>
      </p:sp>
      <p:sp>
        <p:nvSpPr>
          <p:cNvPr id="12" name="TextBox 11"/>
          <p:cNvSpPr txBox="1"/>
          <p:nvPr/>
        </p:nvSpPr>
        <p:spPr>
          <a:xfrm>
            <a:off x="8097316" y="1965960"/>
            <a:ext cx="3271418" cy="2371790"/>
          </a:xfrm>
          <a:prstGeom prst="rect">
            <a:avLst/>
          </a:prstGeom>
          <a:noFill/>
        </p:spPr>
        <p:txBody>
          <a:bodyPr wrap="square" anchor="t" lIns="0" rIns="0" tIns="0" bIns="0"/>
          <a:lstStyle/>
          <a:p>
            <a:pPr algn="l">
              <a:lnSpc>
                <a:spcPct val="112000"/>
              </a:lnSpc>
              <a:spcBef>
                <a:spcPts val="0"/>
              </a:spcBef>
            </a:pPr>
            <a:r>
              <a:rPr sz="1800" b="0">
                <a:solidFill>
                  <a:srgbClr val="111111"/>
                </a:solidFill>
                <a:latin typeface="Inter"/>
              </a:rPr>
              <a:t>Microsoft traces each change's route to main: its integration path.</a:t>
            </a:r>
          </a:p>
          <a:p>
            <a:pPr algn="l">
              <a:lnSpc>
                <a:spcPct val="112000"/>
              </a:lnSpc>
              <a:spcBef>
                <a:spcPts val="800"/>
              </a:spcBef>
            </a:pPr>
            <a:r>
              <a:rPr sz="1800" b="0">
                <a:solidFill>
                  <a:srgbClr val="111111"/>
                </a:solidFill>
                <a:latin typeface="Inter"/>
              </a:rPr>
              <a:t>For Git, that tracing had to be redesigned from scratch.</a:t>
            </a:r>
          </a:p>
          <a:p>
            <a:pPr algn="l">
              <a:lnSpc>
                <a:spcPct val="112000"/>
              </a:lnSpc>
              <a:spcBef>
                <a:spcPts val="800"/>
              </a:spcBef>
            </a:pPr>
            <a:r>
              <a:rPr sz="1800" b="0">
                <a:solidFill>
                  <a:srgbClr val="111111"/>
                </a:solidFill>
                <a:latin typeface="Inter"/>
              </a:rPr>
              <a:t>Some of the loss cannot be recovered.</a:t>
            </a:r>
          </a:p>
        </p:txBody>
      </p:sp>
      <p:sp>
        <p:nvSpPr>
          <p:cNvPr id="13" name="TextBox 12"/>
          <p:cNvSpPr txBox="1"/>
          <p:nvPr/>
        </p:nvSpPr>
        <p:spPr>
          <a:xfrm>
            <a:off x="822960" y="4967588"/>
            <a:ext cx="10545775" cy="619597"/>
          </a:xfrm>
          <a:prstGeom prst="rect">
            <a:avLst/>
          </a:prstGeom>
          <a:noFill/>
        </p:spPr>
        <p:txBody>
          <a:bodyPr wrap="square" anchor="t" lIns="0" rIns="0" tIns="0" bIns="0"/>
          <a:lstStyle/>
          <a:p>
            <a:pPr algn="l">
              <a:lnSpc>
                <a:spcPct val="110000"/>
              </a:lnSpc>
            </a:pPr>
            <a:r>
              <a:rPr sz="3600" b="1">
                <a:solidFill>
                  <a:srgbClr val="8B3DFF"/>
                </a:solidFill>
                <a:latin typeface="Inter"/>
              </a:rPr>
              <a:t>For analysts, flat history is data loss.</a:t>
            </a:r>
          </a:p>
        </p:txBody>
      </p:sp>
      <p:sp>
        <p:nvSpPr>
          <p:cNvPr id="14" name="TextBox 13"/>
          <p:cNvSpPr txBox="1"/>
          <p:nvPr/>
        </p:nvSpPr>
        <p:spPr>
          <a:xfrm>
            <a:off x="822960" y="5678625"/>
            <a:ext cx="10545775" cy="688441"/>
          </a:xfrm>
          <a:prstGeom prst="rect">
            <a:avLst/>
          </a:prstGeom>
          <a:noFill/>
        </p:spPr>
        <p:txBody>
          <a:bodyPr wrap="square" anchor="t" lIns="0" rIns="0" tIns="0" bIns="0"/>
          <a:lstStyle/>
          <a:p>
            <a:pPr algn="l">
              <a:lnSpc>
                <a:spcPct val="112000"/>
              </a:lnSpc>
            </a:pPr>
            <a:r>
              <a:rPr sz="2000" b="0">
                <a:solidFill>
                  <a:srgbClr val="111111"/>
                </a:solidFill>
                <a:latin typeface="Inter"/>
              </a:rPr>
              <a:t>Flat history helps developers find and revert a bad change (bisect, revert). It loses where a change came from and who made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502920"/>
            <a:ext cx="1810512" cy="457200"/>
          </a:xfrm>
          <a:prstGeom prst="roundRect">
            <a:avLst>
              <a:gd name="adj" fmla="val 50000"/>
            </a:avLst>
          </a:prstGeom>
          <a:solidFill>
            <a:srgbClr val="111111"/>
          </a:solidFill>
          <a:ln>
            <a:noFill/>
          </a:ln>
          <a:effectLst/>
        </p:spPr>
        <p:txBody>
          <a:bodyPr rtlCol="0" anchor="ctr" lIns="0" rIns="0" tIns="0" bIns="0"/>
          <a:lstStyle/>
          <a:p>
            <a:pPr algn="ctr"/>
            <a:r>
              <a:rPr sz="1800" b="1">
                <a:solidFill>
                  <a:srgbClr val="FFFFFF"/>
                </a:solidFill>
                <a:latin typeface="Inter"/>
              </a:rPr>
              <a:t>THE PAPER</a:t>
            </a:r>
          </a:p>
        </p:txBody>
      </p:sp>
      <p:sp>
        <p:nvSpPr>
          <p:cNvPr id="3" name="TextBox 2"/>
          <p:cNvSpPr txBox="1"/>
          <p:nvPr/>
        </p:nvSpPr>
        <p:spPr>
          <a:xfrm>
            <a:off x="2907792" y="502920"/>
            <a:ext cx="8229600" cy="457200"/>
          </a:xfrm>
          <a:prstGeom prst="rect">
            <a:avLst/>
          </a:prstGeom>
          <a:noFill/>
        </p:spPr>
        <p:txBody>
          <a:bodyPr wrap="square" anchor="ctr" lIns="0" rIns="0" tIns="0" bIns="0"/>
          <a:lstStyle/>
          <a:p>
            <a:pPr algn="l">
              <a:lnSpc>
                <a:spcPct val="110000"/>
              </a:lnSpc>
            </a:pPr>
            <a:r>
              <a:rPr sz="2400" b="1">
                <a:solidFill>
                  <a:srgbClr val="111111"/>
                </a:solidFill>
                <a:latin typeface="Inter"/>
              </a:rPr>
              <a:t>What you lived</a:t>
            </a:r>
          </a:p>
        </p:txBody>
      </p:sp>
      <p:sp>
        <p:nvSpPr>
          <p:cNvPr id="4" name="TextBox 3"/>
          <p:cNvSpPr txBox="1"/>
          <p:nvPr/>
        </p:nvSpPr>
        <p:spPr>
          <a:xfrm>
            <a:off x="822960" y="1371600"/>
            <a:ext cx="10545775" cy="3031497"/>
          </a:xfrm>
          <a:prstGeom prst="rect">
            <a:avLst/>
          </a:prstGeom>
          <a:noFill/>
        </p:spPr>
        <p:txBody>
          <a:bodyPr wrap="square" anchor="t" lIns="0" rIns="0" tIns="0" bIns="0"/>
          <a:lstStyle/>
          <a:p>
            <a:pPr algn="l">
              <a:lnSpc>
                <a:spcPct val="112000"/>
              </a:lnSpc>
              <a:spcBef>
                <a:spcPts val="0"/>
              </a:spcBef>
            </a:pPr>
            <a:r>
              <a:rPr sz="2200" b="0">
                <a:solidFill>
                  <a:srgbClr val="111111"/>
                </a:solidFill>
                <a:latin typeface="Inter"/>
              </a:rPr>
              <a:t>Step 3: after the fast-forward, you deleted the fancy branch. No card records which cards were made on it.</a:t>
            </a:r>
          </a:p>
          <a:p>
            <a:pPr algn="l">
              <a:lnSpc>
                <a:spcPct val="112000"/>
              </a:lnSpc>
              <a:spcBef>
                <a:spcPts val="1000"/>
              </a:spcBef>
            </a:pPr>
            <a:r>
              <a:rPr sz="2200" b="0">
                <a:solidFill>
                  <a:srgbClr val="111111"/>
                </a:solidFill>
                <a:latin typeface="Inter"/>
              </a:rPr>
              <a:t>Step 4: Replay on top made a copy with a new ID. The original card is not on the Wall.</a:t>
            </a:r>
          </a:p>
          <a:p>
            <a:pPr algn="l">
              <a:lnSpc>
                <a:spcPct val="112000"/>
              </a:lnSpc>
              <a:spcBef>
                <a:spcPts val="1000"/>
              </a:spcBef>
            </a:pPr>
            <a:r>
              <a:rPr sz="2200" b="0">
                <a:solidFill>
                  <a:srgbClr val="111111"/>
                </a:solidFill>
                <a:latin typeface="Inter"/>
              </a:rPr>
              <a:t>Step 6: the squash dropped the individual cards, and with them who made each one.</a:t>
            </a:r>
          </a:p>
          <a:p>
            <a:pPr algn="l">
              <a:lnSpc>
                <a:spcPct val="112000"/>
              </a:lnSpc>
              <a:spcBef>
                <a:spcPts val="1000"/>
              </a:spcBef>
            </a:pPr>
            <a:r>
              <a:rPr sz="2200" b="0">
                <a:solidFill>
                  <a:srgbClr val="111111"/>
                </a:solidFill>
                <a:latin typeface="Inter"/>
              </a:rPr>
              <a:t>Step 6: the 🥾 audit failed. The Wall no longer knows who added the boots.</a:t>
            </a:r>
          </a:p>
        </p:txBody>
      </p:sp>
      <p:sp>
        <p:nvSpPr>
          <p:cNvPr id="5" name="TextBox 4"/>
          <p:cNvSpPr txBox="1"/>
          <p:nvPr/>
        </p:nvSpPr>
        <p:spPr>
          <a:xfrm>
            <a:off x="822960" y="4860297"/>
            <a:ext cx="10545775" cy="274320"/>
          </a:xfrm>
          <a:prstGeom prst="rect">
            <a:avLst/>
          </a:prstGeom>
          <a:noFill/>
        </p:spPr>
        <p:txBody>
          <a:bodyPr wrap="square" anchor="t" lIns="0" rIns="0" tIns="0" bIns="0"/>
          <a:lstStyle/>
          <a:p>
            <a:pPr algn="l">
              <a:lnSpc>
                <a:spcPct val="110000"/>
              </a:lnSpc>
            </a:pPr>
            <a:r>
              <a:rPr sz="1400" b="1">
                <a:solidFill>
                  <a:srgbClr val="707078"/>
                </a:solidFill>
                <a:latin typeface="Inter"/>
              </a:rPr>
              <a:t>PAIRS, IN THE APP</a:t>
            </a:r>
          </a:p>
        </p:txBody>
      </p:sp>
      <p:sp>
        <p:nvSpPr>
          <p:cNvPr id="6" name="TextBox 5"/>
          <p:cNvSpPr txBox="1"/>
          <p:nvPr/>
        </p:nvSpPr>
        <p:spPr>
          <a:xfrm>
            <a:off x="822960" y="5180337"/>
            <a:ext cx="10545775" cy="826129"/>
          </a:xfrm>
          <a:prstGeom prst="rect">
            <a:avLst/>
          </a:prstGeom>
          <a:noFill/>
        </p:spPr>
        <p:txBody>
          <a:bodyPr wrap="square" anchor="t" lIns="0" rIns="0" tIns="0" bIns="0"/>
          <a:lstStyle/>
          <a:p>
            <a:pPr algn="l">
              <a:lnSpc>
                <a:spcPct val="112000"/>
              </a:lnSpc>
            </a:pPr>
            <a:r>
              <a:rPr sz="2400" b="1">
                <a:solidFill>
                  <a:srgbClr val="8B3DFF"/>
                </a:solidFill>
                <a:latin typeface="Inter"/>
              </a:rPr>
              <a:t>Your team squash-merges every feature branch and deletes it. What do you gain, and what can an auditor no longer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630"/>
        </a:solidFill>
        <a:effectLst/>
      </p:bgPr>
    </p:bg>
    <p:spTree>
      <p:nvGrpSpPr>
        <p:cNvPr id="1" name=""/>
        <p:cNvGrpSpPr/>
        <p:nvPr/>
      </p:nvGrpSpPr>
      <p:grpSpPr/>
      <p:sp>
        <p:nvSpPr>
          <p:cNvPr id="2" name="Oval 1"/>
          <p:cNvSpPr/>
          <p:nvPr/>
        </p:nvSpPr>
        <p:spPr>
          <a:xfrm>
            <a:off x="1097280" y="731520"/>
            <a:ext cx="45720" cy="45720"/>
          </a:xfrm>
          <a:prstGeom prst="ellipse">
            <a:avLst/>
          </a:prstGeom>
          <a:solidFill>
            <a:srgbClr val="FFFFFF"/>
          </a:solidFill>
          <a:ln>
            <a:noFill/>
          </a:ln>
        </p:spPr>
        <p:txBody>
          <a:bodyPr rtlCol="0" anchor="ctr"/>
          <a:lstStyle/>
          <a:p>
            <a:pPr algn="ctr"/>
          </a:p>
        </p:txBody>
      </p:sp>
      <p:sp>
        <p:nvSpPr>
          <p:cNvPr id="3" name="Oval 2"/>
          <p:cNvSpPr/>
          <p:nvPr/>
        </p:nvSpPr>
        <p:spPr>
          <a:xfrm>
            <a:off x="3108960" y="1463040"/>
            <a:ext cx="36576" cy="36576"/>
          </a:xfrm>
          <a:prstGeom prst="ellipse">
            <a:avLst/>
          </a:prstGeom>
          <a:solidFill>
            <a:srgbClr val="FFFFFF"/>
          </a:solidFill>
          <a:ln>
            <a:noFill/>
          </a:ln>
        </p:spPr>
        <p:txBody>
          <a:bodyPr rtlCol="0" anchor="ctr"/>
          <a:lstStyle/>
          <a:p>
            <a:pPr algn="ctr"/>
          </a:p>
        </p:txBody>
      </p:sp>
      <p:sp>
        <p:nvSpPr>
          <p:cNvPr id="4" name="Oval 3"/>
          <p:cNvSpPr/>
          <p:nvPr/>
        </p:nvSpPr>
        <p:spPr>
          <a:xfrm>
            <a:off x="5394960" y="548640"/>
            <a:ext cx="54864" cy="54864"/>
          </a:xfrm>
          <a:prstGeom prst="ellipse">
            <a:avLst/>
          </a:prstGeom>
          <a:solidFill>
            <a:srgbClr val="FFFFFF"/>
          </a:solidFill>
          <a:ln>
            <a:noFill/>
          </a:ln>
        </p:spPr>
        <p:txBody>
          <a:bodyPr rtlCol="0" anchor="ctr"/>
          <a:lstStyle/>
          <a:p>
            <a:pPr algn="ctr"/>
          </a:p>
        </p:txBody>
      </p:sp>
      <p:sp>
        <p:nvSpPr>
          <p:cNvPr id="5" name="Oval 4"/>
          <p:cNvSpPr/>
          <p:nvPr/>
        </p:nvSpPr>
        <p:spPr>
          <a:xfrm>
            <a:off x="7589520" y="1188720"/>
            <a:ext cx="36576" cy="36576"/>
          </a:xfrm>
          <a:prstGeom prst="ellipse">
            <a:avLst/>
          </a:prstGeom>
          <a:solidFill>
            <a:srgbClr val="FFFFFF"/>
          </a:solidFill>
          <a:ln>
            <a:noFill/>
          </a:ln>
        </p:spPr>
        <p:txBody>
          <a:bodyPr rtlCol="0" anchor="ctr"/>
          <a:lstStyle/>
          <a:p>
            <a:pPr algn="ctr"/>
          </a:p>
        </p:txBody>
      </p:sp>
      <p:sp>
        <p:nvSpPr>
          <p:cNvPr id="6" name="Oval 5"/>
          <p:cNvSpPr/>
          <p:nvPr/>
        </p:nvSpPr>
        <p:spPr>
          <a:xfrm>
            <a:off x="9692640" y="640080"/>
            <a:ext cx="45720" cy="45720"/>
          </a:xfrm>
          <a:prstGeom prst="ellipse">
            <a:avLst/>
          </a:prstGeom>
          <a:solidFill>
            <a:srgbClr val="FFFFFF"/>
          </a:solidFill>
          <a:ln>
            <a:noFill/>
          </a:ln>
        </p:spPr>
        <p:txBody>
          <a:bodyPr rtlCol="0" anchor="ctr"/>
          <a:lstStyle/>
          <a:p>
            <a:pPr algn="ctr"/>
          </a:p>
        </p:txBody>
      </p:sp>
      <p:sp>
        <p:nvSpPr>
          <p:cNvPr id="7" name="Oval 6"/>
          <p:cNvSpPr/>
          <p:nvPr/>
        </p:nvSpPr>
        <p:spPr>
          <a:xfrm>
            <a:off x="11064240" y="1737360"/>
            <a:ext cx="36576" cy="36576"/>
          </a:xfrm>
          <a:prstGeom prst="ellipse">
            <a:avLst/>
          </a:prstGeom>
          <a:solidFill>
            <a:srgbClr val="FFFFFF"/>
          </a:solidFill>
          <a:ln>
            <a:noFill/>
          </a:ln>
        </p:spPr>
        <p:txBody>
          <a:bodyPr rtlCol="0" anchor="ctr"/>
          <a:lstStyle/>
          <a:p>
            <a:pPr algn="ctr"/>
          </a:p>
        </p:txBody>
      </p:sp>
      <p:sp>
        <p:nvSpPr>
          <p:cNvPr id="8" name="Oval 7"/>
          <p:cNvSpPr/>
          <p:nvPr/>
        </p:nvSpPr>
        <p:spPr>
          <a:xfrm>
            <a:off x="2011680" y="5852160"/>
            <a:ext cx="36576" cy="36576"/>
          </a:xfrm>
          <a:prstGeom prst="ellipse">
            <a:avLst/>
          </a:prstGeom>
          <a:solidFill>
            <a:srgbClr val="FFFFFF"/>
          </a:solidFill>
          <a:ln>
            <a:noFill/>
          </a:ln>
        </p:spPr>
        <p:txBody>
          <a:bodyPr rtlCol="0" anchor="ctr"/>
          <a:lstStyle/>
          <a:p>
            <a:pPr algn="ctr"/>
          </a:p>
        </p:txBody>
      </p:sp>
      <p:sp>
        <p:nvSpPr>
          <p:cNvPr id="9" name="Oval 8"/>
          <p:cNvSpPr/>
          <p:nvPr/>
        </p:nvSpPr>
        <p:spPr>
          <a:xfrm>
            <a:off x="10424160" y="5577840"/>
            <a:ext cx="45720" cy="45720"/>
          </a:xfrm>
          <a:prstGeom prst="ellipse">
            <a:avLst/>
          </a:prstGeom>
          <a:solidFill>
            <a:srgbClr val="FFFFFF"/>
          </a:solidFill>
          <a:ln>
            <a:noFill/>
          </a:ln>
        </p:spPr>
        <p:txBody>
          <a:bodyPr rtlCol="0" anchor="ctr"/>
          <a:lstStyle/>
          <a:p>
            <a:pPr algn="ctr"/>
          </a:p>
        </p:txBody>
      </p:sp>
      <p:sp>
        <p:nvSpPr>
          <p:cNvPr id="10" name="Oval 9"/>
          <p:cNvSpPr/>
          <p:nvPr/>
        </p:nvSpPr>
        <p:spPr>
          <a:xfrm>
            <a:off x="6583680" y="6126480"/>
            <a:ext cx="36576" cy="36576"/>
          </a:xfrm>
          <a:prstGeom prst="ellipse">
            <a:avLst/>
          </a:prstGeom>
          <a:solidFill>
            <a:srgbClr val="FFFFFF"/>
          </a:solidFill>
          <a:ln>
            <a:noFill/>
          </a:ln>
        </p:spPr>
        <p:txBody>
          <a:bodyPr rtlCol="0" anchor="ctr"/>
          <a:lstStyle/>
          <a:p>
            <a:pPr algn="ctr"/>
          </a:p>
        </p:txBody>
      </p:sp>
      <p:sp>
        <p:nvSpPr>
          <p:cNvPr id="11" name="Oval 10"/>
          <p:cNvSpPr/>
          <p:nvPr/>
        </p:nvSpPr>
        <p:spPr>
          <a:xfrm>
            <a:off x="640080" y="3566160"/>
            <a:ext cx="27432" cy="27432"/>
          </a:xfrm>
          <a:prstGeom prst="ellipse">
            <a:avLst/>
          </a:prstGeom>
          <a:solidFill>
            <a:srgbClr val="FFFFFF"/>
          </a:solidFill>
          <a:ln>
            <a:noFill/>
          </a:ln>
        </p:spPr>
        <p:txBody>
          <a:bodyPr rtlCol="0" anchor="ctr"/>
          <a:lstStyle/>
          <a:p>
            <a:pPr algn="ctr"/>
          </a:p>
        </p:txBody>
      </p:sp>
      <p:sp>
        <p:nvSpPr>
          <p:cNvPr id="12" name="Oval 11"/>
          <p:cNvSpPr/>
          <p:nvPr/>
        </p:nvSpPr>
        <p:spPr>
          <a:xfrm>
            <a:off x="11521440" y="3840480"/>
            <a:ext cx="27432" cy="27432"/>
          </a:xfrm>
          <a:prstGeom prst="ellipse">
            <a:avLst/>
          </a:prstGeom>
          <a:solidFill>
            <a:srgbClr val="FFFFFF"/>
          </a:solidFill>
          <a:ln>
            <a:noFill/>
          </a:ln>
        </p:spPr>
        <p:txBody>
          <a:bodyPr rtlCol="0" anchor="ctr"/>
          <a:lstStyle/>
          <a:p>
            <a:pPr algn="ctr"/>
          </a:p>
        </p:txBody>
      </p:sp>
      <p:sp>
        <p:nvSpPr>
          <p:cNvPr id="13" name="TextBox 12"/>
          <p:cNvSpPr txBox="1"/>
          <p:nvPr/>
        </p:nvSpPr>
        <p:spPr>
          <a:xfrm>
            <a:off x="822960" y="1920240"/>
            <a:ext cx="10545775" cy="3017520"/>
          </a:xfrm>
          <a:prstGeom prst="rect">
            <a:avLst/>
          </a:prstGeom>
          <a:noFill/>
        </p:spPr>
        <p:txBody>
          <a:bodyPr wrap="square" anchor="ctr" lIns="0" rIns="0" tIns="0" bIns="0"/>
          <a:lstStyle/>
          <a:p>
            <a:pPr algn="ctr">
              <a:lnSpc>
                <a:spcPct val="120000"/>
              </a:lnSpc>
            </a:pPr>
            <a:r>
              <a:rPr sz="4800" b="1">
                <a:solidFill>
                  <a:srgbClr val="FFFFFF"/>
                </a:solidFill>
                <a:latin typeface="Inter"/>
              </a:rPr>
              <a:t>A commit never changes.</a:t>
            </a:r>
          </a:p>
          <a:p>
            <a:pPr algn="ctr">
              <a:lnSpc>
                <a:spcPct val="120000"/>
              </a:lnSpc>
            </a:pPr>
            <a:r>
              <a:rPr sz="4800" b="1">
                <a:solidFill>
                  <a:srgbClr val="FFFFFF"/>
                </a:solidFill>
                <a:latin typeface="Inter"/>
              </a:rPr>
              <a:t>A branch is a pointer that moves.</a:t>
            </a:r>
          </a:p>
          <a:p>
            <a:pPr algn="ctr">
              <a:lnSpc>
                <a:spcPct val="120000"/>
              </a:lnSpc>
            </a:pPr>
            <a:r>
              <a:rPr sz="4800" b="1">
                <a:solidFill>
                  <a:srgbClr val="FFFFFF"/>
                </a:solidFill>
                <a:latin typeface="Inter"/>
              </a:rPr>
              <a:t>The Wall holds copies of commits.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