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Git lecture today. You'll hit seven problems; your lab invents a fix for each, then we show how Git does the same thing. Every button runs real Git.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Scan the QR or type the address, then your name, then Lab 1, 2 or 3. Labs can change only before Step 1, so wait until the count matches the room. Then Step 0: 90 seconds of chaos, then "Hands off."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Ask, then wait 10 seconds. Say: git commit saves the whole monster, the card before, your name and the time; the ID is a hash of all of it, so any change makes a new card, and git log follows the parents back. Board: "1. Card (commit): a full snapshot + its parent. Never changes."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Ask, then wait 10 seconds. Say: a branch is a tiny file holding one card's ID; your pin (HEAD) says which note you're on, and saving moves only that note. Board: "2. Sticky note (branch): a label on one card. Saving moves it."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First ask why the first merge only moved the note: main had nothing new, so it was a fast-forward, no new card. Say: otherwise Git compares each side with the newest card both share; changed on both, differently, is a conflict, and the merge card has two parents. Board: "3. Merge: compare both sides with the card they share."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git clone copies every card, and a card's ID is a hash of everything on it, parent included, so the same card has the same ID on every laptop. Blue wall/main is the Wall's main at your last check. Board: "4. The Wall (remote): a full copy. Same card, same ID everywhere."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git push asks the Wall to move its main to yours, and it allows only a fast-forward: the Wall's newest card must already be in your history. git pull is git fetch + git merge; a push never merges, so you combine on your laptop and send again. Board: "5. Send (push) only moves the Wall forward. Behind? Get &amp; combine (pull) first."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git revert adds a card that undoes the old one, so history only grows and it sends like any card. git reset --hard moves your note back, so the Wall's newest card leaves your history and the send is refused; git reflog lists every card your note was on. Board: "6. Shared mistake: add a fix card (revert). Move back (reset) only if nobody has the card."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squash writes one new card with Start as its parent, so it gets a new ID; git push --force skips the fast-forward check, and git gc --prune=now deletes the old cards from the Wall. The labs kept theirs, so they can still name who added the tentacles. Board: "7. Rewrite (squash, rebase): new cards. Force push + gc: the old ones are gone."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you just lived this paper. Microsoft moved its teams to Git, and the paper says flat history is data loss: fast-forward forgets the branch, rebase rewrites the change, squash drops the cards, even who made them, so Microsoft had to rebuild how it traces a change's path to main. Pairs, 2 min: one rule so the boss gets a clean history and the auditor can still say who added the tentacles.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one lab's counts. Point at the seven board lines and say: Cards never change. Sticky notes move. The Wall copies cards. That's Git. Homework: Yang et al., Sections 3.2 to 3.5; for one finding, write down what they measured.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128016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>
              <a:lnSpc>
                <a:spcPct val="110000"/>
              </a:lnSpc>
            </a:pPr>
            <a:r>
              <a:rPr sz="6400" b="1">
                <a:solidFill>
                  <a:srgbClr val="111111"/>
                </a:solidFill>
                <a:latin typeface="Inter"/>
              </a:rPr>
              <a:t>Monster Lab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520440"/>
            <a:ext cx="10545775" cy="10972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3200" b="0">
                <a:solidFill>
                  <a:srgbClr val="707078"/>
                </a:solidFill>
                <a:latin typeface="Inter"/>
              </a:rPr>
              <a:t>Build Git, one problem at a time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8B3D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6309360"/>
            <a:ext cx="10545775" cy="54864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FFFFFF"/>
                </a:solidFill>
                <a:latin typeface="Inter"/>
              </a:rPr>
              <a:t>CS294 · Git Week · Tuesday · Shubham &amp; Ananya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31375" y="1600200"/>
            <a:ext cx="1737360" cy="914400"/>
          </a:xfrm>
          <a:prstGeom prst="roundRect">
            <a:avLst>
              <a:gd name="adj" fmla="val 14000"/>
            </a:avLst>
          </a:prstGeom>
          <a:solidFill>
            <a:srgbClr val="F6F6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631375" y="1600200"/>
            <a:ext cx="1737360" cy="9144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10000"/>
              </a:lnSpc>
            </a:pPr>
            <a:r>
              <a:rPr sz="4800" b="0">
                <a:solidFill>
                  <a:srgbClr val="111111"/>
                </a:solidFill>
                <a:latin typeface="Inter"/>
              </a:rPr>
              <a:t>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631375" y="2642616"/>
            <a:ext cx="1737360" cy="914400"/>
          </a:xfrm>
          <a:prstGeom prst="roundRect">
            <a:avLst>
              <a:gd name="adj" fmla="val 14000"/>
            </a:avLst>
          </a:prstGeom>
          <a:solidFill>
            <a:srgbClr val="F6F6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31375" y="2642616"/>
            <a:ext cx="1737360" cy="9144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10000"/>
              </a:lnSpc>
            </a:pPr>
            <a:r>
              <a:rPr sz="4800" b="0">
                <a:solidFill>
                  <a:srgbClr val="111111"/>
                </a:solidFill>
                <a:latin typeface="Inter"/>
              </a:rPr>
              <a:t>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631375" y="3685032"/>
            <a:ext cx="1737360" cy="914400"/>
          </a:xfrm>
          <a:prstGeom prst="roundRect">
            <a:avLst>
              <a:gd name="adj" fmla="val 14000"/>
            </a:avLst>
          </a:prstGeom>
          <a:solidFill>
            <a:srgbClr val="F6F6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631375" y="3685032"/>
            <a:ext cx="1737360" cy="9144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10000"/>
              </a:lnSpc>
            </a:pPr>
            <a:r>
              <a:rPr sz="4800" b="0">
                <a:solidFill>
                  <a:srgbClr val="111111"/>
                </a:solidFill>
                <a:latin typeface="Inter"/>
              </a:rPr>
              <a:t>🦵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45375" y="1417320"/>
            <a:ext cx="4023360" cy="4023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D9D9DE"/>
            </a:solidFill>
            <a:prstDash val="dash"/>
          </a:ln>
          <a:effectLst/>
        </p:spPr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345375" y="1417320"/>
            <a:ext cx="4023360" cy="40233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10000"/>
              </a:lnSpc>
            </a:pPr>
            <a:r>
              <a:rPr sz="3200" b="0">
                <a:solidFill>
                  <a:srgbClr val="707078"/>
                </a:solidFill>
                <a:latin typeface="Inter"/>
              </a:rPr>
              <a:t>QR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6156655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4800" b="1">
                <a:solidFill>
                  <a:srgbClr val="111111"/>
                </a:solidFill>
                <a:latin typeface="Inter"/>
              </a:rPr>
              <a:t>Open: ________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6156655" cy="12801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</a:pPr>
            <a:r>
              <a:rPr sz="3600" b="0">
                <a:solidFill>
                  <a:srgbClr val="707078"/>
                </a:solidFill>
                <a:latin typeface="Inter"/>
              </a:rPr>
              <a:t>Type your name.</a:t>
            </a:r>
          </a:p>
          <a:p>
            <a:pPr algn="l">
              <a:lnSpc>
                <a:spcPct val="125000"/>
              </a:lnSpc>
            </a:pPr>
            <a:r>
              <a:rPr sz="3600" b="0">
                <a:solidFill>
                  <a:srgbClr val="707078"/>
                </a:solidFill>
                <a:latin typeface="Inter"/>
              </a:rPr>
              <a:t>Pick your lab.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4663440"/>
            <a:ext cx="1371600" cy="457200"/>
          </a:xfrm>
          <a:prstGeom prst="roundRect">
            <a:avLst>
              <a:gd name="adj" fmla="val 50000"/>
            </a:avLst>
          </a:prstGeom>
          <a:solidFill>
            <a:srgbClr val="8B3D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Inter"/>
              </a:rPr>
              <a:t>Lab 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423160" y="4663440"/>
            <a:ext cx="1371600" cy="457200"/>
          </a:xfrm>
          <a:prstGeom prst="roundRect">
            <a:avLst>
              <a:gd name="adj" fmla="val 50000"/>
            </a:avLst>
          </a:prstGeom>
          <a:solidFill>
            <a:srgbClr val="0EA5E9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Inter"/>
              </a:rPr>
              <a:t>Lab 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023360" y="4663440"/>
            <a:ext cx="1371600" cy="457200"/>
          </a:xfrm>
          <a:prstGeom prst="roundRect">
            <a:avLst>
              <a:gd name="adj" fmla="val 50000"/>
            </a:avLst>
          </a:prstGeom>
          <a:solidFill>
            <a:srgbClr val="F97316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Inter"/>
              </a:rPr>
              <a:t>Lab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594360"/>
            <a:ext cx="1344168" cy="457200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Inter"/>
              </a:rPr>
              <a:t>STEP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423160" y="594360"/>
            <a:ext cx="822960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111111"/>
                </a:solidFill>
                <a:latin typeface="Inter"/>
              </a:rPr>
              <a:t>Save every version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80160"/>
            <a:ext cx="10545775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2400" b="0" i="1">
                <a:solidFill>
                  <a:srgbClr val="707078"/>
                </a:solidFill>
                <a:latin typeface="Inter"/>
              </a:rPr>
              <a:t>Why do arrows point back, never forward?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011680"/>
            <a:ext cx="10545775" cy="13716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0000"/>
              </a:lnSpc>
            </a:pPr>
            <a:r>
              <a:rPr sz="9600" b="1">
                <a:solidFill>
                  <a:srgbClr val="8B3DFF"/>
                </a:solidFill>
                <a:latin typeface="Noto Sans Mono"/>
              </a:rPr>
              <a:t>git commit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840480"/>
            <a:ext cx="10545775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3400" b="0">
                <a:solidFill>
                  <a:srgbClr val="111111"/>
                </a:solidFill>
                <a:latin typeface="Inter"/>
              </a:rPr>
              <a:t>Each save makes a new card that never changes.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5029200"/>
            <a:ext cx="10545775" cy="1005840"/>
          </a:xfrm>
          <a:prstGeom prst="roundRect">
            <a:avLst>
              <a:gd name="adj" fmla="val 20000"/>
            </a:avLst>
          </a:prstGeom>
          <a:solidFill>
            <a:srgbClr val="F4ECFB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188720" y="5193792"/>
            <a:ext cx="981425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8B3DFF"/>
                </a:solidFill>
                <a:latin typeface="Inter"/>
              </a:rPr>
              <a:t>BEHIND THE DOOR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5486400"/>
            <a:ext cx="9814255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111111"/>
                </a:solidFill>
                <a:latin typeface="Noto Sans Mono"/>
              </a:rPr>
              <a:t>commit = tree + parent + author + time + message -&gt; SHA-1 ID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594360"/>
            <a:ext cx="1344168" cy="457200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Inter"/>
              </a:rPr>
              <a:t>STEP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423160" y="594360"/>
            <a:ext cx="822960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111111"/>
                </a:solidFill>
                <a:latin typeface="Inter"/>
              </a:rPr>
              <a:t>Try two ideas at once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80160"/>
            <a:ext cx="10545775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2400" b="0" i="1">
                <a:solidFill>
                  <a:srgbClr val="707078"/>
                </a:solidFill>
                <a:latin typeface="Inter"/>
              </a:rPr>
              <a:t>Where is the original monster now? Did anything get copied?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011680"/>
            <a:ext cx="10545775" cy="13716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0000"/>
              </a:lnSpc>
            </a:pPr>
            <a:r>
              <a:rPr sz="5800" b="1">
                <a:solidFill>
                  <a:srgbClr val="8B3DFF"/>
                </a:solidFill>
                <a:latin typeface="Noto Sans Mono"/>
              </a:rPr>
              <a:t>git switch -c cat-robot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840480"/>
            <a:ext cx="10545775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3400" b="0">
                <a:solidFill>
                  <a:srgbClr val="111111"/>
                </a:solidFill>
                <a:latin typeface="Inter"/>
              </a:rPr>
              <a:t>A sticky note is a label, not a copy.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5029200"/>
            <a:ext cx="10545775" cy="1005840"/>
          </a:xfrm>
          <a:prstGeom prst="roundRect">
            <a:avLst>
              <a:gd name="adj" fmla="val 20000"/>
            </a:avLst>
          </a:prstGeom>
          <a:solidFill>
            <a:srgbClr val="F4ECFB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188720" y="5193792"/>
            <a:ext cx="981425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8B3DFF"/>
                </a:solidFill>
                <a:latin typeface="Inter"/>
              </a:rPr>
              <a:t>BEHIND THE DOOR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5486400"/>
            <a:ext cx="9814255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111111"/>
                </a:solidFill>
                <a:latin typeface="Noto Sans Mono"/>
              </a:rPr>
              <a:t>.git/refs/heads/cat-robot holds one commit ID · HEAD points to it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594360"/>
            <a:ext cx="1344168" cy="457200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Inter"/>
              </a:rPr>
              <a:t>STEP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423160" y="594360"/>
            <a:ext cx="822960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111111"/>
                </a:solidFill>
                <a:latin typeface="Inter"/>
              </a:rPr>
              <a:t>Make one monster from both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80160"/>
            <a:ext cx="10545775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2400" b="0" i="1">
                <a:solidFill>
                  <a:srgbClr val="707078"/>
                </a:solidFill>
                <a:latin typeface="Inter"/>
              </a:rPr>
              <a:t>Why did FACE and LEGS combine alone, but BODY needed you?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011680"/>
            <a:ext cx="10545775" cy="13716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0000"/>
              </a:lnSpc>
            </a:pPr>
            <a:r>
              <a:rPr sz="7000" b="1">
                <a:solidFill>
                  <a:srgbClr val="8B3DFF"/>
                </a:solidFill>
                <a:latin typeface="Noto Sans Mono"/>
              </a:rPr>
              <a:t>git merge superhero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840480"/>
            <a:ext cx="10545775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3400" b="0">
                <a:solidFill>
                  <a:srgbClr val="111111"/>
                </a:solidFill>
                <a:latin typeface="Inter"/>
              </a:rPr>
              <a:t>Compare both sides with the card they share.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5029200"/>
            <a:ext cx="10545775" cy="1005840"/>
          </a:xfrm>
          <a:prstGeom prst="roundRect">
            <a:avLst>
              <a:gd name="adj" fmla="val 20000"/>
            </a:avLst>
          </a:prstGeom>
          <a:solidFill>
            <a:srgbClr val="F4ECFB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188720" y="5193792"/>
            <a:ext cx="981425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8B3DFF"/>
                </a:solidFill>
                <a:latin typeface="Inter"/>
              </a:rPr>
              <a:t>BEHIND THE DOOR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5486400"/>
            <a:ext cx="9814255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111111"/>
                </a:solidFill>
                <a:latin typeface="Noto Sans Mono"/>
              </a:rPr>
              <a:t>3-way merge vs merge-base · both changed, differently -&gt; CONFLICT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594360"/>
            <a:ext cx="1344168" cy="457200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Inter"/>
              </a:rPr>
              <a:t>STEP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423160" y="594360"/>
            <a:ext cx="822960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111111"/>
                </a:solidFill>
                <a:latin typeface="Inter"/>
              </a:rPr>
              <a:t>Meet the Wall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80160"/>
            <a:ext cx="10545775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2400" b="0" i="1">
                <a:solidFill>
                  <a:srgbClr val="707078"/>
                </a:solidFill>
                <a:latin typeface="Inter"/>
              </a:rPr>
              <a:t>Two labs never made that card. Why does their copy have the same ID?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011680"/>
            <a:ext cx="10545775" cy="13716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0000"/>
              </a:lnSpc>
            </a:pPr>
            <a:r>
              <a:rPr sz="9600" b="1">
                <a:solidFill>
                  <a:srgbClr val="8B3DFF"/>
                </a:solidFill>
                <a:latin typeface="Noto Sans Mono"/>
              </a:rPr>
              <a:t>git clone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840480"/>
            <a:ext cx="10545775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3400" b="0">
                <a:solidFill>
                  <a:srgbClr val="111111"/>
                </a:solidFill>
                <a:latin typeface="Inter"/>
              </a:rPr>
              <a:t>Every lab has a full copy with the same IDs.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5029200"/>
            <a:ext cx="10545775" cy="1005840"/>
          </a:xfrm>
          <a:prstGeom prst="roundRect">
            <a:avLst>
              <a:gd name="adj" fmla="val 20000"/>
            </a:avLst>
          </a:prstGeom>
          <a:solidFill>
            <a:srgbClr val="F4ECFB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188720" y="5193792"/>
            <a:ext cx="981425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8B3DFF"/>
                </a:solidFill>
                <a:latin typeface="Inter"/>
              </a:rPr>
              <a:t>BEHIND THE DOOR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5486400"/>
            <a:ext cx="9814255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111111"/>
                </a:solidFill>
                <a:latin typeface="Noto Sans Mono"/>
              </a:rPr>
              <a:t>ID = SHA-1 of the commit's bytes · same bytes -&gt; same ID everywhere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594360"/>
            <a:ext cx="1344168" cy="457200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Inter"/>
              </a:rPr>
              <a:t>STEP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423160" y="594360"/>
            <a:ext cx="822960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111111"/>
                </a:solidFill>
                <a:latin typeface="Inter"/>
              </a:rPr>
              <a:t>Put your monster on the Wall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80160"/>
            <a:ext cx="10545775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2400" b="0" i="1">
                <a:solidFill>
                  <a:srgbClr val="707078"/>
                </a:solidFill>
                <a:latin typeface="Inter"/>
              </a:rPr>
              <a:t>Why did the Wall refuse your card instead of adding it?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011680"/>
            <a:ext cx="10545775" cy="13716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0000"/>
              </a:lnSpc>
            </a:pPr>
            <a:r>
              <a:rPr sz="7000" b="1">
                <a:solidFill>
                  <a:srgbClr val="8B3DFF"/>
                </a:solidFill>
                <a:latin typeface="Noto Sans Mono"/>
              </a:rPr>
              <a:t>git push · git pull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840480"/>
            <a:ext cx="10545775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3400" b="0">
                <a:solidFill>
                  <a:srgbClr val="111111"/>
                </a:solidFill>
                <a:latin typeface="Inter"/>
              </a:rPr>
              <a:t>The Wall only moves forward, so combine first.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5029200"/>
            <a:ext cx="10545775" cy="1005840"/>
          </a:xfrm>
          <a:prstGeom prst="roundRect">
            <a:avLst>
              <a:gd name="adj" fmla="val 20000"/>
            </a:avLst>
          </a:prstGeom>
          <a:solidFill>
            <a:srgbClr val="F4ECFB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188720" y="5193792"/>
            <a:ext cx="981425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8B3DFF"/>
                </a:solidFill>
                <a:latin typeface="Inter"/>
              </a:rPr>
              <a:t>BEHIND THE DOOR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5486400"/>
            <a:ext cx="9814255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111111"/>
                </a:solidFill>
                <a:latin typeface="Noto Sans Mono"/>
              </a:rPr>
              <a:t>push: fast-forward only, else ! [rejected] · pull = fetch + merge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594360"/>
            <a:ext cx="1344168" cy="457200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Inter"/>
              </a:rPr>
              <a:t>STEP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423160" y="594360"/>
            <a:ext cx="822960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111111"/>
                </a:solidFill>
                <a:latin typeface="Inter"/>
              </a:rPr>
              <a:t>Oops: undo a shared mistake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80160"/>
            <a:ext cx="10545775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2400" b="0" i="1">
                <a:solidFill>
                  <a:srgbClr val="707078"/>
                </a:solidFill>
                <a:latin typeface="Inter"/>
              </a:rPr>
              <a:t>Why is adding a fix card safe, but moving back is not?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011680"/>
            <a:ext cx="10545775" cy="13716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0000"/>
              </a:lnSpc>
            </a:pPr>
            <a:r>
              <a:rPr sz="9600" b="1">
                <a:solidFill>
                  <a:srgbClr val="8B3DFF"/>
                </a:solidFill>
                <a:latin typeface="Noto Sans Mono"/>
              </a:rPr>
              <a:t>git revert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840480"/>
            <a:ext cx="10545775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3400" b="0">
                <a:solidFill>
                  <a:srgbClr val="111111"/>
                </a:solidFill>
                <a:latin typeface="Inter"/>
              </a:rPr>
              <a:t>Don't rip out a shared card; add a fix card.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5029200"/>
            <a:ext cx="10545775" cy="1005840"/>
          </a:xfrm>
          <a:prstGeom prst="roundRect">
            <a:avLst>
              <a:gd name="adj" fmla="val 20000"/>
            </a:avLst>
          </a:prstGeom>
          <a:solidFill>
            <a:srgbClr val="F4ECFB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188720" y="5193792"/>
            <a:ext cx="981425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8B3DFF"/>
                </a:solidFill>
                <a:latin typeface="Inter"/>
              </a:rPr>
              <a:t>BEHIND THE DOOR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5486400"/>
            <a:ext cx="9814255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111111"/>
                </a:solidFill>
                <a:latin typeface="Noto Sans Mono"/>
              </a:rPr>
              <a:t>revert adds an inverse commit · reset moves the branch · reflog logs it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594360"/>
            <a:ext cx="1344168" cy="457200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Inter"/>
              </a:rPr>
              <a:t>STEP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423160" y="594360"/>
            <a:ext cx="822960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111111"/>
                </a:solidFill>
                <a:latin typeface="Inter"/>
              </a:rPr>
              <a:t>The boss wants it clean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80160"/>
            <a:ext cx="10545775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2400" b="0" i="1">
                <a:solidFill>
                  <a:srgbClr val="707078"/>
                </a:solidFill>
                <a:latin typeface="Inter"/>
              </a:rPr>
              <a:t>Who added the tentacles? Where does that answer still exist?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011680"/>
            <a:ext cx="10545775" cy="13716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0000"/>
              </a:lnSpc>
            </a:pPr>
            <a:r>
              <a:rPr sz="8300" b="1">
                <a:solidFill>
                  <a:srgbClr val="8B3DFF"/>
                </a:solidFill>
                <a:latin typeface="Noto Sans Mono"/>
              </a:rPr>
              <a:t>git push --force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840480"/>
            <a:ext cx="10545775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3400" b="0">
                <a:solidFill>
                  <a:srgbClr val="111111"/>
                </a:solidFill>
                <a:latin typeface="Inter"/>
              </a:rPr>
              <a:t>Force the Wall, and it forgets who did what.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5029200"/>
            <a:ext cx="10545775" cy="1005840"/>
          </a:xfrm>
          <a:prstGeom prst="roundRect">
            <a:avLst>
              <a:gd name="adj" fmla="val 20000"/>
            </a:avLst>
          </a:prstGeom>
          <a:solidFill>
            <a:srgbClr val="F4ECFB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188720" y="5193792"/>
            <a:ext cx="981425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8B3DFF"/>
                </a:solidFill>
                <a:latin typeface="Inter"/>
              </a:rPr>
              <a:t>BEHIND THE DOOR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5486400"/>
            <a:ext cx="9814255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111111"/>
                </a:solidFill>
                <a:latin typeface="Noto Sans Mono"/>
              </a:rPr>
              <a:t>squash: new ID · --force: no fast-forward check · gc: old commits gone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707078"/>
                </a:solidFill>
                <a:latin typeface="Inter"/>
              </a:rPr>
              <a:t>Tuesday's paper · Just, Herzig, Czerwonka, Murphy · ISSRE 2016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45775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111111"/>
                </a:solidFill>
                <a:latin typeface="Inter"/>
              </a:rPr>
              <a:t>Switching to Git: Good, Bad, Ugly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828800"/>
            <a:ext cx="3271418" cy="64008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011680"/>
            <a:ext cx="3271418" cy="4114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16A34A"/>
                </a:solidFill>
                <a:latin typeface="Inter"/>
              </a:rPr>
              <a:t>GOOD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60320"/>
            <a:ext cx="3271418" cy="2194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2000" b="0">
                <a:solidFill>
                  <a:srgbClr val="111111"/>
                </a:solidFill>
                <a:latin typeface="Inter"/>
              </a:rPr>
              <a:t>Cheap branches.</a:t>
            </a:r>
          </a:p>
          <a:p>
            <a:pPr>
              <a:lnSpc>
                <a:spcPct val="110000"/>
              </a:lnSpc>
              <a:spcBef>
                <a:spcPts val="1200"/>
              </a:spcBef>
            </a:pPr>
            <a:r>
              <a:rPr sz="2000" b="0">
                <a:solidFill>
                  <a:srgbClr val="111111"/>
                </a:solidFill>
                <a:latin typeface="Inter"/>
              </a:rPr>
              <a:t>Local commits and reverts.</a:t>
            </a:r>
          </a:p>
          <a:p>
            <a:pPr>
              <a:lnSpc>
                <a:spcPct val="110000"/>
              </a:lnSpc>
              <a:spcBef>
                <a:spcPts val="1200"/>
              </a:spcBef>
            </a:pPr>
            <a:r>
              <a:rPr sz="2000" b="0">
                <a:solidFill>
                  <a:srgbClr val="111111"/>
                </a:solidFill>
                <a:latin typeface="Inter"/>
              </a:rPr>
              <a:t>Developers prefer flat history.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460138" y="1828800"/>
            <a:ext cx="3271418" cy="64008"/>
          </a:xfrm>
          <a:prstGeom prst="rect">
            <a:avLst/>
          </a:prstGeom>
          <a:solidFill>
            <a:srgbClr val="E08A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60138" y="2011680"/>
            <a:ext cx="3271418" cy="4114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E08A00"/>
                </a:solidFill>
                <a:latin typeface="Inter"/>
              </a:rPr>
              <a:t>BAD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60138" y="2560320"/>
            <a:ext cx="3271418" cy="2194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2000" b="1">
                <a:solidFill>
                  <a:srgbClr val="111111"/>
                </a:solidFill>
                <a:latin typeface="Inter"/>
              </a:rPr>
              <a:t>Fast-forward: </a:t>
            </a:r>
            <a:r>
              <a:rPr sz="2000" b="0">
                <a:solidFill>
                  <a:srgbClr val="111111"/>
                </a:solidFill>
                <a:latin typeface="Inter"/>
              </a:rPr>
              <a:t>no merge commit, branch forgotten.</a:t>
            </a:r>
          </a:p>
          <a:p>
            <a:pPr>
              <a:lnSpc>
                <a:spcPct val="110000"/>
              </a:lnSpc>
              <a:spcBef>
                <a:spcPts val="1200"/>
              </a:spcBef>
            </a:pPr>
            <a:r>
              <a:rPr sz="2000" b="1">
                <a:solidFill>
                  <a:srgbClr val="111111"/>
                </a:solidFill>
                <a:latin typeface="Inter"/>
              </a:rPr>
              <a:t>Rebase: </a:t>
            </a:r>
            <a:r>
              <a:rPr sz="2000" b="0">
                <a:solidFill>
                  <a:srgbClr val="111111"/>
                </a:solidFill>
                <a:latin typeface="Inter"/>
              </a:rPr>
              <a:t>the change itself is rewritten.</a:t>
            </a:r>
          </a:p>
          <a:p>
            <a:pPr>
              <a:lnSpc>
                <a:spcPct val="110000"/>
              </a:lnSpc>
              <a:spcBef>
                <a:spcPts val="1200"/>
              </a:spcBef>
            </a:pPr>
            <a:r>
              <a:rPr sz="2000" b="1">
                <a:solidFill>
                  <a:srgbClr val="111111"/>
                </a:solidFill>
                <a:latin typeface="Inter"/>
              </a:rPr>
              <a:t>Squash: </a:t>
            </a:r>
            <a:r>
              <a:rPr sz="2000" b="0">
                <a:solidFill>
                  <a:srgbClr val="111111"/>
                </a:solidFill>
                <a:latin typeface="Inter"/>
              </a:rPr>
              <a:t>commits gone, even who made them.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97316" y="1828800"/>
            <a:ext cx="3271418" cy="64008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97316" y="2011680"/>
            <a:ext cx="3271418" cy="4114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DC2626"/>
                </a:solidFill>
                <a:latin typeface="Inter"/>
              </a:rPr>
              <a:t>UGLY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97316" y="2560320"/>
            <a:ext cx="3271418" cy="2194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2000" b="1">
                <a:solidFill>
                  <a:srgbClr val="111111"/>
                </a:solidFill>
                <a:latin typeface="Inter"/>
              </a:rPr>
              <a:t>Integration path: </a:t>
            </a:r>
            <a:r>
              <a:rPr sz="2000" b="0">
                <a:solidFill>
                  <a:srgbClr val="111111"/>
                </a:solidFill>
                <a:latin typeface="Inter"/>
              </a:rPr>
              <a:t>a change's route to main.</a:t>
            </a:r>
          </a:p>
          <a:p>
            <a:pPr>
              <a:lnSpc>
                <a:spcPct val="110000"/>
              </a:lnSpc>
              <a:spcBef>
                <a:spcPts val="1200"/>
              </a:spcBef>
            </a:pPr>
            <a:r>
              <a:rPr sz="2000" b="0">
                <a:solidFill>
                  <a:srgbClr val="111111"/>
                </a:solidFill>
                <a:latin typeface="Inter"/>
              </a:rPr>
              <a:t>Microsoft rebuilt its tracing for Git.</a:t>
            </a:r>
          </a:p>
          <a:p>
            <a:pPr>
              <a:lnSpc>
                <a:spcPct val="110000"/>
              </a:lnSpc>
              <a:spcBef>
                <a:spcPts val="1200"/>
              </a:spcBef>
            </a:pPr>
            <a:r>
              <a:rPr sz="2000" b="0">
                <a:solidFill>
                  <a:srgbClr val="111111"/>
                </a:solidFill>
                <a:latin typeface="Inter"/>
              </a:rPr>
              <a:t>Some loss can't be recovered.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257800"/>
            <a:ext cx="10545775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8B3DFF"/>
                </a:solidFill>
                <a:latin typeface="Inter"/>
              </a:rPr>
              <a:t>Flat history is data loss.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943600"/>
            <a:ext cx="10545775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707078"/>
                </a:solidFill>
                <a:latin typeface="Inter"/>
              </a:rPr>
              <a:t>You saw it in Step 7: squash, then force push. The Wall forgot who added 🐙.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6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7280" y="731520"/>
            <a:ext cx="45720" cy="457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108960" y="1463040"/>
            <a:ext cx="36576" cy="36576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394960" y="548640"/>
            <a:ext cx="54864" cy="5486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589520" y="1188720"/>
            <a:ext cx="36576" cy="36576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692640" y="640080"/>
            <a:ext cx="45720" cy="457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064240" y="1737360"/>
            <a:ext cx="36576" cy="36576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011680" y="5852160"/>
            <a:ext cx="36576" cy="36576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424160" y="5577840"/>
            <a:ext cx="45720" cy="457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83680" y="6126480"/>
            <a:ext cx="36576" cy="36576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0080" y="3566160"/>
            <a:ext cx="27432" cy="2743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21440" y="3840480"/>
            <a:ext cx="27432" cy="2743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920240"/>
            <a:ext cx="10545775" cy="30175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20000"/>
              </a:lnSpc>
            </a:pPr>
            <a:r>
              <a:rPr sz="6000" b="1">
                <a:solidFill>
                  <a:srgbClr val="FFFFFF"/>
                </a:solidFill>
                <a:latin typeface="Inter"/>
              </a:rPr>
              <a:t>Cards never change.</a:t>
            </a:r>
          </a:p>
          <a:p>
            <a:pPr algn="ctr">
              <a:lnSpc>
                <a:spcPct val="120000"/>
              </a:lnSpc>
            </a:pPr>
            <a:r>
              <a:rPr sz="6000" b="1">
                <a:solidFill>
                  <a:srgbClr val="FFFFFF"/>
                </a:solidFill>
                <a:latin typeface="Inter"/>
              </a:rPr>
              <a:t>Sticky notes move.</a:t>
            </a:r>
          </a:p>
          <a:p>
            <a:pPr algn="ctr">
              <a:lnSpc>
                <a:spcPct val="120000"/>
              </a:lnSpc>
            </a:pPr>
            <a:r>
              <a:rPr sz="6000" b="1">
                <a:solidFill>
                  <a:srgbClr val="FFFFFF"/>
                </a:solidFill>
                <a:latin typeface="Inter"/>
              </a:rPr>
              <a:t>The Wall copies cards.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