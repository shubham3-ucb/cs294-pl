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class the projector page runs the lesson, and the console's Next button moves through it. This deck is the record: one technical card per Git tool, the same text as the app.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No Git lecture today. You'll hit seven problems, and your lab invents a fix for each. Every save, merge, send and undo runs real Git.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git commit stores the whole outfit, the card before, your name, the time and a message. The ID is computed from all of it, so any change makes a new card. The name and the time are whatever your laptop says.</a:t>
            </a:r>
          </a:p>
          <a:p/>
          <a:p>
            <a:r>
              <a:t>Ask: Why do arrows point back, never forward?</a:t>
            </a:r>
          </a:p>
          <a:p/>
          <a:p>
            <a:r>
              <a:t>Hope to hear: The next card doesn't exist yet. Cards never change.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 branch is a tiny file holding one card's ID. Your pin (HEAD) says which note you're on. Saving moves only that note.</a:t>
            </a:r>
          </a:p>
          <a:p/>
          <a:p>
            <a:r>
              <a:t>Ask: Where is the original outfit now? Did anything get copied?</a:t>
            </a:r>
          </a:p>
          <a:p/>
          <a:p>
            <a:r>
              <a:t>Hope to hear: Still on main's card. Nothing was copied.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first merge only slid the note: a fast-forward, no new card. Then Git compared each side with the card where you split. Only TOP changed on both sides, so only TOP needed you.</a:t>
            </a:r>
          </a:p>
          <a:p/>
          <a:p>
            <a:r>
              <a:t>Ask: Which cards were made on fancy?</a:t>
            </a:r>
          </a:p>
          <a:p/>
          <a:p>
            <a:r>
              <a:t>Hope to hear: No way to tell. Git does not record the branch a commit was made 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Wall is the class's shared copy, like GitHub. Your lab already has a full copy of it (that is git clone). It starts as the first lab's outfit. Put your outfit on the Wall. Before each send, predict: will the Wall accept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Wall only moves forward, so a refused lab gets the Wall's cards first. Combine makes a merge card with two parents (Step 3 made one too). Replay on top makes a straight line: a copy of the card with the same change, author and author time, but a new parent, snapshot, committer time and ID.</a:t>
            </a:r>
          </a:p>
          <a:p/>
          <a:p>
            <a:r>
              <a:t>Ask: The replayed card has the same change, author and author time. Why does it have a new ID?</a:t>
            </a:r>
          </a:p>
          <a:p/>
          <a:p>
            <a:r>
              <a:t>Hope to hear: Its parent is new, so its snapshot is too: it now includes the Wall's change. Its committer time is new. The ID is a hash of all of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git revert adds a card that undoes the old one, so it sends like any card. git reset moves your note back, but the Wall still has the card.</a:t>
            </a:r>
          </a:p>
          <a:p/>
          <a:p>
            <a:r>
              <a:t>Ask: Why is adding a fix card safe, but moving back is not?</a:t>
            </a:r>
          </a:p>
          <a:p/>
          <a:p>
            <a:r>
              <a:t>Hope to hear: A fix card only adds. Moving back drops a shared card.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Wall no longer knows who added the boots. The other labs still do. The old cards wait in the Wall's bin.</a:t>
            </a:r>
          </a:p>
          <a:p/>
          <a:p>
            <a:r>
              <a:t>Ask: Who added the boots? Where does that answer still exist?</a:t>
            </a:r>
          </a:p>
          <a:p/>
          <a:p>
            <a:r>
              <a:t>Hope to hear: Not on the Wall. Only in the labs that kept the old cards.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You just lived this paper. Teams at Microsoft moved to Git. Microsoft tracks code velocity: how long a change takes to reach main, along its integration path. After the squash, the Wall has no path left. The paper: for analysts, flat history is data loss. For developers it helps: a bad change is quick to find and revert.</a:t>
            </a:r>
          </a:p>
          <a:p/>
          <a:p>
            <a:r>
              <a:t>Ask: Your team squash-merges every feature branch and deletes it. What do you gain, and what can an auditor no longer answer?</a:t>
            </a:r>
          </a:p>
          <a:p/>
          <a:p>
            <a:r>
              <a:t>Hope to hear: Gain: one revertable card per feature, easy bisect. Lose: who wrote which part and when, once the branch is deleted.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You just lived this paper. Teams at Microsoft moved to Git. Microsoft tracks code velocity: how long a change takes to reach main, along its integration path. After the squash, the Wall has no path left. The paper: for analysts, flat history is data loss. For developers it helps: a bad change is quick to find and revert.</a:t>
            </a:r>
          </a:p>
          <a:p/>
          <a:p>
            <a:r>
              <a:t>Ask: Your team squash-merges every feature branch and deletes it. What do you gain, and what can an auditor no longer answer?</a:t>
            </a:r>
          </a:p>
          <a:p/>
          <a:p>
            <a:r>
              <a:t>Hope to hear: Gain: one revertable card per feature, easy bisect. Lose: who wrote which part and when, once the branch is deleted.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Cards never change. Sticky notes move. The Wall copies cards. That's Git. Homework: Yang et al., Sections 3.2 to 3.5. For one finding, write down what they measured.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2011680"/>
            <a:ext cx="10545775" cy="1280160"/>
          </a:xfrm>
          <a:prstGeom prst="rect">
            <a:avLst/>
          </a:prstGeom>
          <a:noFill/>
        </p:spPr>
        <p:txBody>
          <a:bodyPr wrap="square" anchor="b" lIns="0" rIns="0" tIns="0" bIns="0"/>
          <a:lstStyle/>
          <a:p>
            <a:pPr algn="l">
              <a:lnSpc>
                <a:spcPct val="110000"/>
              </a:lnSpc>
            </a:pPr>
            <a:r>
              <a:rPr sz="6400" b="1">
                <a:solidFill>
                  <a:srgbClr val="111111"/>
                </a:solidFill>
                <a:latin typeface="Inter"/>
              </a:rPr>
              <a:t>Outfit Lab</a:t>
            </a:r>
          </a:p>
        </p:txBody>
      </p:sp>
      <p:sp>
        <p:nvSpPr>
          <p:cNvPr id="3" name="TextBox 2"/>
          <p:cNvSpPr txBox="1"/>
          <p:nvPr/>
        </p:nvSpPr>
        <p:spPr>
          <a:xfrm>
            <a:off x="822960" y="3520440"/>
            <a:ext cx="10545775" cy="1097280"/>
          </a:xfrm>
          <a:prstGeom prst="rect">
            <a:avLst/>
          </a:prstGeom>
          <a:noFill/>
        </p:spPr>
        <p:txBody>
          <a:bodyPr wrap="square" anchor="t" lIns="0" rIns="0" tIns="0" bIns="0"/>
          <a:lstStyle/>
          <a:p>
            <a:pPr algn="l">
              <a:lnSpc>
                <a:spcPct val="110000"/>
              </a:lnSpc>
            </a:pPr>
            <a:r>
              <a:rPr sz="3200" b="0">
                <a:solidFill>
                  <a:srgbClr val="707078"/>
                </a:solidFill>
                <a:latin typeface="Inter"/>
              </a:rPr>
              <a:t>Dress one character together.</a:t>
            </a:r>
          </a:p>
          <a:p>
            <a:pPr algn="l">
              <a:lnSpc>
                <a:spcPct val="110000"/>
              </a:lnSpc>
            </a:pPr>
            <a:r>
              <a:rPr sz="3200" b="0">
                <a:solidFill>
                  <a:srgbClr val="707078"/>
                </a:solidFill>
                <a:latin typeface="Inter"/>
              </a:rPr>
              <a:t>Every save, merge, send and undo runs real Git.</a:t>
            </a:r>
          </a:p>
        </p:txBody>
      </p:sp>
      <p:sp>
        <p:nvSpPr>
          <p:cNvPr id="4" name="Rectangle 3"/>
          <p:cNvSpPr/>
          <p:nvPr/>
        </p:nvSpPr>
        <p:spPr>
          <a:xfrm>
            <a:off x="0" y="6309360"/>
            <a:ext cx="12191695" cy="548640"/>
          </a:xfrm>
          <a:prstGeom prst="rect">
            <a:avLst/>
          </a:prstGeom>
          <a:solidFill>
            <a:srgbClr val="8B3DFF"/>
          </a:solidFill>
          <a:ln>
            <a:noFill/>
          </a:ln>
        </p:spPr>
        <p:txBody>
          <a:bodyPr rtlCol="0" anchor="ctr"/>
          <a:lstStyle/>
          <a:p>
            <a:pPr algn="ctr"/>
          </a:p>
        </p:txBody>
      </p:sp>
      <p:sp>
        <p:nvSpPr>
          <p:cNvPr id="5" name="TextBox 4"/>
          <p:cNvSpPr txBox="1"/>
          <p:nvPr/>
        </p:nvSpPr>
        <p:spPr>
          <a:xfrm>
            <a:off x="822960" y="6309360"/>
            <a:ext cx="10545775" cy="548640"/>
          </a:xfrm>
          <a:prstGeom prst="rect">
            <a:avLst/>
          </a:prstGeom>
          <a:noFill/>
        </p:spPr>
        <p:txBody>
          <a:bodyPr wrap="square" anchor="ctr" lIns="0" rIns="0" tIns="0" bIns="0"/>
          <a:lstStyle/>
          <a:p>
            <a:pPr algn="l">
              <a:lnSpc>
                <a:spcPct val="110000"/>
              </a:lnSpc>
            </a:pPr>
            <a:r>
              <a:rPr sz="1800" b="0">
                <a:solidFill>
                  <a:srgbClr val="FFFFFF"/>
                </a:solidFill>
                <a:latin typeface="Inter"/>
              </a:rPr>
              <a:t>CS294 · Git Week · Tuesday · Shubham &amp; Ananya</a:t>
            </a:r>
          </a:p>
        </p:txBody>
      </p:sp>
      <p:sp>
        <p:nvSpPr>
          <p:cNvPr id="6" name="Rounded Rectangle 5"/>
          <p:cNvSpPr/>
          <p:nvPr/>
        </p:nvSpPr>
        <p:spPr>
          <a:xfrm>
            <a:off x="9631375" y="1252728"/>
            <a:ext cx="1737360" cy="868680"/>
          </a:xfrm>
          <a:prstGeom prst="roundRect">
            <a:avLst>
              <a:gd name="adj" fmla="val 14000"/>
            </a:avLst>
          </a:prstGeom>
          <a:solidFill>
            <a:srgbClr val="F6F6F8"/>
          </a:solidFill>
          <a:ln>
            <a:noFill/>
          </a:ln>
          <a:effectLst/>
        </p:spPr>
        <p:txBody>
          <a:bodyPr rtlCol="0" anchor="ctr"/>
          <a:lstStyle/>
          <a:p/>
        </p:txBody>
      </p:sp>
      <p:sp>
        <p:nvSpPr>
          <p:cNvPr id="7" name="TextBox 6"/>
          <p:cNvSpPr txBox="1"/>
          <p:nvPr/>
        </p:nvSpPr>
        <p:spPr>
          <a:xfrm>
            <a:off x="9631375" y="1252728"/>
            <a:ext cx="1737360" cy="868680"/>
          </a:xfrm>
          <a:prstGeom prst="rect">
            <a:avLst/>
          </a:prstGeom>
          <a:noFill/>
        </p:spPr>
        <p:txBody>
          <a:bodyPr wrap="square" anchor="ctr" lIns="0" rIns="0" tIns="0" bIns="0"/>
          <a:lstStyle/>
          <a:p>
            <a:pPr algn="ctr">
              <a:lnSpc>
                <a:spcPct val="110000"/>
              </a:lnSpc>
            </a:pPr>
            <a:r>
              <a:rPr sz="4400" b="0">
                <a:solidFill>
                  <a:srgbClr val="111111"/>
                </a:solidFill>
                <a:latin typeface="Inter"/>
              </a:rPr>
              <a:t>🧢</a:t>
            </a:r>
          </a:p>
        </p:txBody>
      </p:sp>
      <p:sp>
        <p:nvSpPr>
          <p:cNvPr id="8" name="Rounded Rectangle 7"/>
          <p:cNvSpPr/>
          <p:nvPr/>
        </p:nvSpPr>
        <p:spPr>
          <a:xfrm>
            <a:off x="9631375" y="2231136"/>
            <a:ext cx="1737360" cy="868680"/>
          </a:xfrm>
          <a:prstGeom prst="roundRect">
            <a:avLst>
              <a:gd name="adj" fmla="val 14000"/>
            </a:avLst>
          </a:prstGeom>
          <a:solidFill>
            <a:srgbClr val="F6F6F8"/>
          </a:solidFill>
          <a:ln>
            <a:noFill/>
          </a:ln>
          <a:effectLst/>
        </p:spPr>
        <p:txBody>
          <a:bodyPr rtlCol="0" anchor="ctr"/>
          <a:lstStyle/>
          <a:p/>
        </p:txBody>
      </p:sp>
      <p:sp>
        <p:nvSpPr>
          <p:cNvPr id="9" name="TextBox 8"/>
          <p:cNvSpPr txBox="1"/>
          <p:nvPr/>
        </p:nvSpPr>
        <p:spPr>
          <a:xfrm>
            <a:off x="9631375" y="2231136"/>
            <a:ext cx="1737360" cy="868680"/>
          </a:xfrm>
          <a:prstGeom prst="rect">
            <a:avLst/>
          </a:prstGeom>
          <a:noFill/>
        </p:spPr>
        <p:txBody>
          <a:bodyPr wrap="square" anchor="ctr" lIns="0" rIns="0" tIns="0" bIns="0"/>
          <a:lstStyle/>
          <a:p>
            <a:pPr algn="ctr">
              <a:lnSpc>
                <a:spcPct val="110000"/>
              </a:lnSpc>
            </a:pPr>
            <a:r>
              <a:rPr sz="4400" b="0">
                <a:solidFill>
                  <a:srgbClr val="111111"/>
                </a:solidFill>
                <a:latin typeface="Inter"/>
              </a:rPr>
              <a:t>👓</a:t>
            </a:r>
          </a:p>
        </p:txBody>
      </p:sp>
      <p:sp>
        <p:nvSpPr>
          <p:cNvPr id="10" name="Rounded Rectangle 9"/>
          <p:cNvSpPr/>
          <p:nvPr/>
        </p:nvSpPr>
        <p:spPr>
          <a:xfrm>
            <a:off x="9631375" y="3209544"/>
            <a:ext cx="1737360" cy="868680"/>
          </a:xfrm>
          <a:prstGeom prst="roundRect">
            <a:avLst>
              <a:gd name="adj" fmla="val 14000"/>
            </a:avLst>
          </a:prstGeom>
          <a:solidFill>
            <a:srgbClr val="F6F6F8"/>
          </a:solidFill>
          <a:ln>
            <a:noFill/>
          </a:ln>
          <a:effectLst/>
        </p:spPr>
        <p:txBody>
          <a:bodyPr rtlCol="0" anchor="ctr"/>
          <a:lstStyle/>
          <a:p/>
        </p:txBody>
      </p:sp>
      <p:sp>
        <p:nvSpPr>
          <p:cNvPr id="11" name="TextBox 10"/>
          <p:cNvSpPr txBox="1"/>
          <p:nvPr/>
        </p:nvSpPr>
        <p:spPr>
          <a:xfrm>
            <a:off x="9631375" y="3209544"/>
            <a:ext cx="1737360" cy="868680"/>
          </a:xfrm>
          <a:prstGeom prst="rect">
            <a:avLst/>
          </a:prstGeom>
          <a:noFill/>
        </p:spPr>
        <p:txBody>
          <a:bodyPr wrap="square" anchor="ctr" lIns="0" rIns="0" tIns="0" bIns="0"/>
          <a:lstStyle/>
          <a:p>
            <a:pPr algn="ctr">
              <a:lnSpc>
                <a:spcPct val="110000"/>
              </a:lnSpc>
            </a:pPr>
            <a:r>
              <a:rPr sz="4400" b="0">
                <a:solidFill>
                  <a:srgbClr val="111111"/>
                </a:solidFill>
                <a:latin typeface="Inter"/>
              </a:rPr>
              <a:t>👕</a:t>
            </a:r>
          </a:p>
        </p:txBody>
      </p:sp>
      <p:sp>
        <p:nvSpPr>
          <p:cNvPr id="12" name="Rounded Rectangle 11"/>
          <p:cNvSpPr/>
          <p:nvPr/>
        </p:nvSpPr>
        <p:spPr>
          <a:xfrm>
            <a:off x="9631375" y="4187952"/>
            <a:ext cx="1737360" cy="868680"/>
          </a:xfrm>
          <a:prstGeom prst="roundRect">
            <a:avLst>
              <a:gd name="adj" fmla="val 14000"/>
            </a:avLst>
          </a:prstGeom>
          <a:solidFill>
            <a:srgbClr val="F6F6F8"/>
          </a:solidFill>
          <a:ln>
            <a:noFill/>
          </a:ln>
          <a:effectLst/>
        </p:spPr>
        <p:txBody>
          <a:bodyPr rtlCol="0" anchor="ctr"/>
          <a:lstStyle/>
          <a:p/>
        </p:txBody>
      </p:sp>
      <p:sp>
        <p:nvSpPr>
          <p:cNvPr id="13" name="TextBox 12"/>
          <p:cNvSpPr txBox="1"/>
          <p:nvPr/>
        </p:nvSpPr>
        <p:spPr>
          <a:xfrm>
            <a:off x="9631375" y="4187952"/>
            <a:ext cx="1737360" cy="868680"/>
          </a:xfrm>
          <a:prstGeom prst="rect">
            <a:avLst/>
          </a:prstGeom>
          <a:noFill/>
        </p:spPr>
        <p:txBody>
          <a:bodyPr wrap="square" anchor="ctr" lIns="0" rIns="0" tIns="0" bIns="0"/>
          <a:lstStyle/>
          <a:p>
            <a:pPr algn="ctr">
              <a:lnSpc>
                <a:spcPct val="110000"/>
              </a:lnSpc>
            </a:pPr>
            <a:r>
              <a:rPr sz="4400" b="0">
                <a:solidFill>
                  <a:srgbClr val="111111"/>
                </a:solidFill>
                <a:latin typeface="Inter"/>
              </a:rPr>
              <a: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7345375" y="1417320"/>
            <a:ext cx="4023360" cy="4023360"/>
          </a:xfrm>
          <a:prstGeom prst="roundRect">
            <a:avLst>
              <a:gd name="adj" fmla="val 6000"/>
            </a:avLst>
          </a:prstGeom>
          <a:solidFill>
            <a:srgbClr val="FFFFFF"/>
          </a:solidFill>
          <a:ln w="19050">
            <a:solidFill>
              <a:srgbClr val="D9D9DE"/>
            </a:solidFill>
            <a:prstDash val="dash"/>
          </a:ln>
          <a:effectLst/>
        </p:spPr>
        <p:txBody>
          <a:bodyPr rtlCol="0" anchor="ctr"/>
          <a:lstStyle/>
          <a:p/>
        </p:txBody>
      </p:sp>
      <p:sp>
        <p:nvSpPr>
          <p:cNvPr id="3" name="TextBox 2"/>
          <p:cNvSpPr txBox="1"/>
          <p:nvPr/>
        </p:nvSpPr>
        <p:spPr>
          <a:xfrm>
            <a:off x="7345375" y="1417320"/>
            <a:ext cx="4023360" cy="4023360"/>
          </a:xfrm>
          <a:prstGeom prst="rect">
            <a:avLst/>
          </a:prstGeom>
          <a:noFill/>
        </p:spPr>
        <p:txBody>
          <a:bodyPr wrap="square" anchor="ctr" lIns="0" rIns="0" tIns="0" bIns="0"/>
          <a:lstStyle/>
          <a:p>
            <a:pPr algn="ctr">
              <a:lnSpc>
                <a:spcPct val="110000"/>
              </a:lnSpc>
            </a:pPr>
            <a:r>
              <a:rPr sz="3200" b="0">
                <a:solidFill>
                  <a:srgbClr val="707078"/>
                </a:solidFill>
                <a:latin typeface="Inter"/>
              </a:rPr>
              <a:t>QR</a:t>
            </a:r>
          </a:p>
        </p:txBody>
      </p:sp>
      <p:sp>
        <p:nvSpPr>
          <p:cNvPr id="4" name="TextBox 3"/>
          <p:cNvSpPr txBox="1"/>
          <p:nvPr/>
        </p:nvSpPr>
        <p:spPr>
          <a:xfrm>
            <a:off x="822960" y="1737360"/>
            <a:ext cx="6156655" cy="457200"/>
          </a:xfrm>
          <a:prstGeom prst="rect">
            <a:avLst/>
          </a:prstGeom>
          <a:noFill/>
        </p:spPr>
        <p:txBody>
          <a:bodyPr wrap="square" anchor="t" lIns="0" rIns="0" tIns="0" bIns="0"/>
          <a:lstStyle/>
          <a:p>
            <a:pPr algn="l">
              <a:lnSpc>
                <a:spcPct val="110000"/>
              </a:lnSpc>
            </a:pPr>
            <a:r>
              <a:rPr sz="2200" b="1">
                <a:solidFill>
                  <a:srgbClr val="8B3DFF"/>
                </a:solidFill>
                <a:latin typeface="Inter"/>
              </a:rPr>
              <a:t>Outfit Lab</a:t>
            </a:r>
          </a:p>
        </p:txBody>
      </p:sp>
      <p:sp>
        <p:nvSpPr>
          <p:cNvPr id="5" name="TextBox 4"/>
          <p:cNvSpPr txBox="1"/>
          <p:nvPr/>
        </p:nvSpPr>
        <p:spPr>
          <a:xfrm>
            <a:off x="822960" y="2286000"/>
            <a:ext cx="6156655" cy="822960"/>
          </a:xfrm>
          <a:prstGeom prst="rect">
            <a:avLst/>
          </a:prstGeom>
          <a:noFill/>
        </p:spPr>
        <p:txBody>
          <a:bodyPr wrap="square" anchor="t" lIns="0" rIns="0" tIns="0" bIns="0"/>
          <a:lstStyle/>
          <a:p>
            <a:pPr algn="l">
              <a:lnSpc>
                <a:spcPct val="110000"/>
              </a:lnSpc>
            </a:pPr>
            <a:r>
              <a:rPr sz="4800" b="1">
                <a:solidFill>
                  <a:srgbClr val="111111"/>
                </a:solidFill>
                <a:latin typeface="Inter"/>
              </a:rPr>
              <a:t>Open: ________</a:t>
            </a:r>
          </a:p>
        </p:txBody>
      </p:sp>
      <p:sp>
        <p:nvSpPr>
          <p:cNvPr id="6" name="TextBox 5"/>
          <p:cNvSpPr txBox="1"/>
          <p:nvPr/>
        </p:nvSpPr>
        <p:spPr>
          <a:xfrm>
            <a:off x="822960" y="3383280"/>
            <a:ext cx="6156655" cy="1463040"/>
          </a:xfrm>
          <a:prstGeom prst="rect">
            <a:avLst/>
          </a:prstGeom>
          <a:noFill/>
        </p:spPr>
        <p:txBody>
          <a:bodyPr wrap="square" anchor="t" lIns="0" rIns="0" tIns="0" bIns="0"/>
          <a:lstStyle/>
          <a:p>
            <a:pPr algn="l">
              <a:lnSpc>
                <a:spcPct val="125000"/>
              </a:lnSpc>
            </a:pPr>
            <a:r>
              <a:rPr sz="2800" b="0">
                <a:solidFill>
                  <a:srgbClr val="707078"/>
                </a:solidFill>
                <a:latin typeface="Inter"/>
              </a:rPr>
              <a:t>Open the link and type your name.</a:t>
            </a:r>
          </a:p>
          <a:p>
            <a:pPr algn="l">
              <a:lnSpc>
                <a:spcPct val="125000"/>
              </a:lnSpc>
            </a:pPr>
            <a:r>
              <a:rPr sz="2800" b="0">
                <a:solidFill>
                  <a:srgbClr val="707078"/>
                </a:solidFill>
                <a:latin typeface="Inter"/>
              </a:rPr>
              <a:t>The app picks your lab.</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822960" y="502920"/>
            <a:ext cx="1344168" cy="457200"/>
          </a:xfrm>
          <a:prstGeom prst="roundRect">
            <a:avLst>
              <a:gd name="adj" fmla="val 50000"/>
            </a:avLst>
          </a:prstGeom>
          <a:solidFill>
            <a:srgbClr val="111111"/>
          </a:solidFill>
          <a:ln>
            <a:noFill/>
          </a:ln>
          <a:effectLst/>
        </p:spPr>
        <p:txBody>
          <a:bodyPr rtlCol="0" anchor="ctr" lIns="0" rIns="0" tIns="0" bIns="0"/>
          <a:lstStyle/>
          <a:p>
            <a:pPr algn="ctr"/>
            <a:r>
              <a:rPr sz="1800" b="1">
                <a:solidFill>
                  <a:srgbClr val="FFFFFF"/>
                </a:solidFill>
                <a:latin typeface="Inter"/>
              </a:rPr>
              <a:t>STEP 1</a:t>
            </a:r>
          </a:p>
        </p:txBody>
      </p:sp>
      <p:sp>
        <p:nvSpPr>
          <p:cNvPr id="3" name="TextBox 2"/>
          <p:cNvSpPr txBox="1"/>
          <p:nvPr/>
        </p:nvSpPr>
        <p:spPr>
          <a:xfrm>
            <a:off x="2441448" y="502920"/>
            <a:ext cx="8229600" cy="457200"/>
          </a:xfrm>
          <a:prstGeom prst="rect">
            <a:avLst/>
          </a:prstGeom>
          <a:noFill/>
        </p:spPr>
        <p:txBody>
          <a:bodyPr wrap="square" anchor="ctr" lIns="0" rIns="0" tIns="0" bIns="0"/>
          <a:lstStyle/>
          <a:p>
            <a:pPr algn="l">
              <a:lnSpc>
                <a:spcPct val="110000"/>
              </a:lnSpc>
            </a:pPr>
            <a:r>
              <a:rPr sz="2400" b="1">
                <a:solidFill>
                  <a:srgbClr val="111111"/>
                </a:solidFill>
                <a:latin typeface="Inter"/>
              </a:rPr>
              <a:t>Save every version</a:t>
            </a:r>
          </a:p>
        </p:txBody>
      </p:sp>
      <p:sp>
        <p:nvSpPr>
          <p:cNvPr id="4" name="TextBox 3"/>
          <p:cNvSpPr txBox="1"/>
          <p:nvPr/>
        </p:nvSpPr>
        <p:spPr>
          <a:xfrm>
            <a:off x="822960" y="1143000"/>
            <a:ext cx="10545775" cy="914400"/>
          </a:xfrm>
          <a:prstGeom prst="rect">
            <a:avLst/>
          </a:prstGeom>
          <a:noFill/>
        </p:spPr>
        <p:txBody>
          <a:bodyPr wrap="square" anchor="b" lIns="0" rIns="0" tIns="0" bIns="0"/>
          <a:lstStyle/>
          <a:p>
            <a:pPr algn="l">
              <a:lnSpc>
                <a:spcPct val="100000"/>
              </a:lnSpc>
            </a:pPr>
            <a:r>
              <a:rPr sz="6600" b="1">
                <a:solidFill>
                  <a:srgbClr val="8B3DFF"/>
                </a:solidFill>
                <a:latin typeface="Noto Sans Mono"/>
              </a:rPr>
              <a:t>git commit</a:t>
            </a:r>
          </a:p>
        </p:txBody>
      </p:sp>
      <p:sp>
        <p:nvSpPr>
          <p:cNvPr id="5" name="Rectangle 4"/>
          <p:cNvSpPr/>
          <p:nvPr/>
        </p:nvSpPr>
        <p:spPr>
          <a:xfrm>
            <a:off x="822960" y="2286000"/>
            <a:ext cx="10545775" cy="12700"/>
          </a:xfrm>
          <a:prstGeom prst="rect">
            <a:avLst/>
          </a:prstGeom>
          <a:solidFill>
            <a:srgbClr val="D9D9DE"/>
          </a:solidFill>
          <a:ln>
            <a:noFill/>
          </a:ln>
        </p:spPr>
        <p:txBody>
          <a:bodyPr rtlCol="0" anchor="ctr"/>
          <a:lstStyle/>
          <a:p>
            <a:pPr algn="ctr"/>
          </a:p>
        </p:txBody>
      </p:sp>
      <p:sp>
        <p:nvSpPr>
          <p:cNvPr id="6" name="TextBox 5"/>
          <p:cNvSpPr txBox="1"/>
          <p:nvPr/>
        </p:nvSpPr>
        <p:spPr>
          <a:xfrm>
            <a:off x="1051560" y="2521712"/>
            <a:ext cx="1645920" cy="274320"/>
          </a:xfrm>
          <a:prstGeom prst="rect">
            <a:avLst/>
          </a:prstGeom>
          <a:noFill/>
        </p:spPr>
        <p:txBody>
          <a:bodyPr wrap="square" anchor="t" lIns="0" rIns="0" tIns="0" bIns="0"/>
          <a:lstStyle/>
          <a:p>
            <a:pPr algn="l">
              <a:lnSpc>
                <a:spcPct val="110000"/>
              </a:lnSpc>
            </a:pPr>
            <a:r>
              <a:rPr sz="1400" b="1">
                <a:solidFill>
                  <a:srgbClr val="707078"/>
                </a:solidFill>
                <a:latin typeface="Inter"/>
              </a:rPr>
              <a:t>WHAT IT IS</a:t>
            </a:r>
          </a:p>
        </p:txBody>
      </p:sp>
      <p:sp>
        <p:nvSpPr>
          <p:cNvPr id="7" name="TextBox 6"/>
          <p:cNvSpPr txBox="1"/>
          <p:nvPr/>
        </p:nvSpPr>
        <p:spPr>
          <a:xfrm>
            <a:off x="3017520" y="2423160"/>
            <a:ext cx="8122615" cy="378642"/>
          </a:xfrm>
          <a:prstGeom prst="rect">
            <a:avLst/>
          </a:prstGeom>
          <a:noFill/>
        </p:spPr>
        <p:txBody>
          <a:bodyPr wrap="square" anchor="t" lIns="0" rIns="0" tIns="0" bIns="0"/>
          <a:lstStyle/>
          <a:p>
            <a:pPr algn="l">
              <a:lnSpc>
                <a:spcPct val="112000"/>
              </a:lnSpc>
            </a:pPr>
            <a:r>
              <a:rPr sz="2200" b="0">
                <a:solidFill>
                  <a:srgbClr val="111111"/>
                </a:solidFill>
                <a:latin typeface="Inter"/>
              </a:rPr>
              <a:t>a saved snapshot of the whole project.</a:t>
            </a:r>
          </a:p>
        </p:txBody>
      </p:sp>
      <p:sp>
        <p:nvSpPr>
          <p:cNvPr id="8" name="Rectangle 7"/>
          <p:cNvSpPr/>
          <p:nvPr/>
        </p:nvSpPr>
        <p:spPr>
          <a:xfrm>
            <a:off x="822960" y="2938962"/>
            <a:ext cx="10545775" cy="12700"/>
          </a:xfrm>
          <a:prstGeom prst="rect">
            <a:avLst/>
          </a:prstGeom>
          <a:solidFill>
            <a:srgbClr val="D9D9DE"/>
          </a:solidFill>
          <a:ln>
            <a:noFill/>
          </a:ln>
        </p:spPr>
        <p:txBody>
          <a:bodyPr rtlCol="0" anchor="ctr"/>
          <a:lstStyle/>
          <a:p>
            <a:pPr algn="ctr"/>
          </a:p>
        </p:txBody>
      </p:sp>
      <p:sp>
        <p:nvSpPr>
          <p:cNvPr id="9" name="TextBox 8"/>
          <p:cNvSpPr txBox="1"/>
          <p:nvPr/>
        </p:nvSpPr>
        <p:spPr>
          <a:xfrm>
            <a:off x="1051560" y="3174674"/>
            <a:ext cx="1645920" cy="274320"/>
          </a:xfrm>
          <a:prstGeom prst="rect">
            <a:avLst/>
          </a:prstGeom>
          <a:noFill/>
        </p:spPr>
        <p:txBody>
          <a:bodyPr wrap="square" anchor="t" lIns="0" rIns="0" tIns="0" bIns="0"/>
          <a:lstStyle/>
          <a:p>
            <a:pPr algn="l">
              <a:lnSpc>
                <a:spcPct val="110000"/>
              </a:lnSpc>
            </a:pPr>
            <a:r>
              <a:rPr sz="1400" b="1">
                <a:solidFill>
                  <a:srgbClr val="707078"/>
                </a:solidFill>
                <a:latin typeface="Inter"/>
              </a:rPr>
              <a:t>WHAT IT DOES</a:t>
            </a:r>
          </a:p>
        </p:txBody>
      </p:sp>
      <p:sp>
        <p:nvSpPr>
          <p:cNvPr id="10" name="TextBox 9"/>
          <p:cNvSpPr txBox="1"/>
          <p:nvPr/>
        </p:nvSpPr>
        <p:spPr>
          <a:xfrm>
            <a:off x="3017520" y="3076122"/>
            <a:ext cx="8122615" cy="757285"/>
          </a:xfrm>
          <a:prstGeom prst="rect">
            <a:avLst/>
          </a:prstGeom>
          <a:noFill/>
        </p:spPr>
        <p:txBody>
          <a:bodyPr wrap="square" anchor="t" lIns="0" rIns="0" tIns="0" bIns="0"/>
          <a:lstStyle/>
          <a:p>
            <a:pPr algn="l">
              <a:lnSpc>
                <a:spcPct val="112000"/>
              </a:lnSpc>
            </a:pPr>
            <a:r>
              <a:rPr sz="2200" b="0">
                <a:solidFill>
                  <a:srgbClr val="111111"/>
                </a:solidFill>
                <a:latin typeface="Inter"/>
              </a:rPr>
              <a:t>records the exact state, who saved it, when, and the commit before it.</a:t>
            </a:r>
          </a:p>
        </p:txBody>
      </p:sp>
      <p:sp>
        <p:nvSpPr>
          <p:cNvPr id="11" name="Rounded Rectangle 10"/>
          <p:cNvSpPr/>
          <p:nvPr/>
        </p:nvSpPr>
        <p:spPr>
          <a:xfrm>
            <a:off x="822960" y="4043719"/>
            <a:ext cx="10545775" cy="1779219"/>
          </a:xfrm>
          <a:prstGeom prst="roundRect">
            <a:avLst>
              <a:gd name="adj" fmla="val 12000"/>
            </a:avLst>
          </a:prstGeom>
          <a:solidFill>
            <a:srgbClr val="F4ECFB"/>
          </a:solidFill>
          <a:ln>
            <a:noFill/>
          </a:ln>
          <a:effectLst/>
        </p:spPr>
        <p:txBody>
          <a:bodyPr rtlCol="0" anchor="ctr"/>
          <a:lstStyle/>
          <a:p/>
        </p:txBody>
      </p:sp>
      <p:sp>
        <p:nvSpPr>
          <p:cNvPr id="12" name="TextBox 11"/>
          <p:cNvSpPr txBox="1"/>
          <p:nvPr/>
        </p:nvSpPr>
        <p:spPr>
          <a:xfrm>
            <a:off x="1051560" y="4318801"/>
            <a:ext cx="1645920" cy="274320"/>
          </a:xfrm>
          <a:prstGeom prst="rect">
            <a:avLst/>
          </a:prstGeom>
          <a:noFill/>
        </p:spPr>
        <p:txBody>
          <a:bodyPr wrap="square" anchor="t" lIns="0" rIns="0" tIns="0" bIns="0"/>
          <a:lstStyle/>
          <a:p>
            <a:pPr algn="l">
              <a:lnSpc>
                <a:spcPct val="110000"/>
              </a:lnSpc>
            </a:pPr>
            <a:r>
              <a:rPr sz="1400" b="1">
                <a:solidFill>
                  <a:srgbClr val="8B3DFF"/>
                </a:solidFill>
                <a:latin typeface="Inter"/>
              </a:rPr>
              <a:t>HOW GIT DOES IT</a:t>
            </a:r>
          </a:p>
        </p:txBody>
      </p:sp>
      <p:sp>
        <p:nvSpPr>
          <p:cNvPr id="13" name="TextBox 12"/>
          <p:cNvSpPr txBox="1"/>
          <p:nvPr/>
        </p:nvSpPr>
        <p:spPr>
          <a:xfrm>
            <a:off x="3017520" y="4244887"/>
            <a:ext cx="8122615" cy="1376883"/>
          </a:xfrm>
          <a:prstGeom prst="rect">
            <a:avLst/>
          </a:prstGeom>
          <a:noFill/>
        </p:spPr>
        <p:txBody>
          <a:bodyPr wrap="square" anchor="t" lIns="0" rIns="0" tIns="0" bIns="0"/>
          <a:lstStyle/>
          <a:p>
            <a:pPr algn="l">
              <a:lnSpc>
                <a:spcPct val="112000"/>
              </a:lnSpc>
            </a:pPr>
            <a:r>
              <a:rPr sz="2000" b="0">
                <a:solidFill>
                  <a:srgbClr val="111111"/>
                </a:solidFill>
                <a:latin typeface="Inter"/>
              </a:rPr>
              <a:t>each file is stored as a blob, the folder as a tree. A commit object = tree ID + parent ID(s) + author + committer + message. Its ID is the SHA-1 of that object, so any change gives a new ID. Nothing is edited in place.</a:t>
            </a:r>
          </a:p>
        </p:txBody>
      </p:sp>
      <p:sp>
        <p:nvSpPr>
          <p:cNvPr id="14" name="Rectangle 13"/>
          <p:cNvSpPr/>
          <p:nvPr/>
        </p:nvSpPr>
        <p:spPr>
          <a:xfrm>
            <a:off x="822960" y="6024106"/>
            <a:ext cx="73152" cy="378642"/>
          </a:xfrm>
          <a:prstGeom prst="rect">
            <a:avLst/>
          </a:prstGeom>
          <a:solidFill>
            <a:srgbClr val="F5A524"/>
          </a:solidFill>
          <a:ln>
            <a:noFill/>
          </a:ln>
        </p:spPr>
        <p:txBody>
          <a:bodyPr rtlCol="0" anchor="ctr"/>
          <a:lstStyle/>
          <a:p>
            <a:pPr algn="ctr"/>
          </a:p>
        </p:txBody>
      </p:sp>
      <p:sp>
        <p:nvSpPr>
          <p:cNvPr id="15" name="TextBox 14"/>
          <p:cNvSpPr txBox="1"/>
          <p:nvPr/>
        </p:nvSpPr>
        <p:spPr>
          <a:xfrm>
            <a:off x="1188720" y="6024106"/>
            <a:ext cx="10180015" cy="378642"/>
          </a:xfrm>
          <a:prstGeom prst="rect">
            <a:avLst/>
          </a:prstGeom>
          <a:noFill/>
        </p:spPr>
        <p:txBody>
          <a:bodyPr wrap="square" anchor="t" lIns="0" rIns="0" tIns="0" bIns="0"/>
          <a:lstStyle/>
          <a:p>
            <a:pPr algn="l">
              <a:lnSpc>
                <a:spcPct val="112000"/>
              </a:lnSpc>
            </a:pPr>
            <a:r>
              <a:rPr sz="2200" b="1">
                <a:solidFill>
                  <a:srgbClr val="111111"/>
                </a:solidFill>
                <a:latin typeface="Inter"/>
              </a:rPr>
              <a:t>Git stores the name and clock your laptop gives it. It checks neither.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822960" y="502920"/>
            <a:ext cx="1344168" cy="457200"/>
          </a:xfrm>
          <a:prstGeom prst="roundRect">
            <a:avLst>
              <a:gd name="adj" fmla="val 50000"/>
            </a:avLst>
          </a:prstGeom>
          <a:solidFill>
            <a:srgbClr val="111111"/>
          </a:solidFill>
          <a:ln>
            <a:noFill/>
          </a:ln>
          <a:effectLst/>
        </p:spPr>
        <p:txBody>
          <a:bodyPr rtlCol="0" anchor="ctr" lIns="0" rIns="0" tIns="0" bIns="0"/>
          <a:lstStyle/>
          <a:p>
            <a:pPr algn="ctr"/>
            <a:r>
              <a:rPr sz="1800" b="1">
                <a:solidFill>
                  <a:srgbClr val="FFFFFF"/>
                </a:solidFill>
                <a:latin typeface="Inter"/>
              </a:rPr>
              <a:t>STEP 2</a:t>
            </a:r>
          </a:p>
        </p:txBody>
      </p:sp>
      <p:sp>
        <p:nvSpPr>
          <p:cNvPr id="3" name="TextBox 2"/>
          <p:cNvSpPr txBox="1"/>
          <p:nvPr/>
        </p:nvSpPr>
        <p:spPr>
          <a:xfrm>
            <a:off x="2441448" y="502920"/>
            <a:ext cx="8229600" cy="457200"/>
          </a:xfrm>
          <a:prstGeom prst="rect">
            <a:avLst/>
          </a:prstGeom>
          <a:noFill/>
        </p:spPr>
        <p:txBody>
          <a:bodyPr wrap="square" anchor="ctr" lIns="0" rIns="0" tIns="0" bIns="0"/>
          <a:lstStyle/>
          <a:p>
            <a:pPr algn="l">
              <a:lnSpc>
                <a:spcPct val="110000"/>
              </a:lnSpc>
            </a:pPr>
            <a:r>
              <a:rPr sz="2400" b="1">
                <a:solidFill>
                  <a:srgbClr val="111111"/>
                </a:solidFill>
                <a:latin typeface="Inter"/>
              </a:rPr>
              <a:t>Try two ideas at once</a:t>
            </a:r>
          </a:p>
        </p:txBody>
      </p:sp>
      <p:sp>
        <p:nvSpPr>
          <p:cNvPr id="4" name="TextBox 3"/>
          <p:cNvSpPr txBox="1"/>
          <p:nvPr/>
        </p:nvSpPr>
        <p:spPr>
          <a:xfrm>
            <a:off x="822960" y="1143000"/>
            <a:ext cx="10545775" cy="914400"/>
          </a:xfrm>
          <a:prstGeom prst="rect">
            <a:avLst/>
          </a:prstGeom>
          <a:noFill/>
        </p:spPr>
        <p:txBody>
          <a:bodyPr wrap="square" anchor="b" lIns="0" rIns="0" tIns="0" bIns="0"/>
          <a:lstStyle/>
          <a:p>
            <a:pPr algn="l">
              <a:lnSpc>
                <a:spcPct val="100000"/>
              </a:lnSpc>
            </a:pPr>
            <a:r>
              <a:rPr sz="6600" b="1">
                <a:solidFill>
                  <a:srgbClr val="8B3DFF"/>
                </a:solidFill>
                <a:latin typeface="Noto Sans Mono"/>
              </a:rPr>
              <a:t>git branch</a:t>
            </a:r>
          </a:p>
        </p:txBody>
      </p:sp>
      <p:sp>
        <p:nvSpPr>
          <p:cNvPr id="5" name="Rectangle 4"/>
          <p:cNvSpPr/>
          <p:nvPr/>
        </p:nvSpPr>
        <p:spPr>
          <a:xfrm>
            <a:off x="822960" y="2286000"/>
            <a:ext cx="10545775" cy="12700"/>
          </a:xfrm>
          <a:prstGeom prst="rect">
            <a:avLst/>
          </a:prstGeom>
          <a:solidFill>
            <a:srgbClr val="D9D9DE"/>
          </a:solidFill>
          <a:ln>
            <a:noFill/>
          </a:ln>
        </p:spPr>
        <p:txBody>
          <a:bodyPr rtlCol="0" anchor="ctr"/>
          <a:lstStyle/>
          <a:p>
            <a:pPr algn="ctr"/>
          </a:p>
        </p:txBody>
      </p:sp>
      <p:sp>
        <p:nvSpPr>
          <p:cNvPr id="6" name="TextBox 5"/>
          <p:cNvSpPr txBox="1"/>
          <p:nvPr/>
        </p:nvSpPr>
        <p:spPr>
          <a:xfrm>
            <a:off x="1051560" y="2521712"/>
            <a:ext cx="1645920" cy="274320"/>
          </a:xfrm>
          <a:prstGeom prst="rect">
            <a:avLst/>
          </a:prstGeom>
          <a:noFill/>
        </p:spPr>
        <p:txBody>
          <a:bodyPr wrap="square" anchor="t" lIns="0" rIns="0" tIns="0" bIns="0"/>
          <a:lstStyle/>
          <a:p>
            <a:pPr algn="l">
              <a:lnSpc>
                <a:spcPct val="110000"/>
              </a:lnSpc>
            </a:pPr>
            <a:r>
              <a:rPr sz="1400" b="1">
                <a:solidFill>
                  <a:srgbClr val="707078"/>
                </a:solidFill>
                <a:latin typeface="Inter"/>
              </a:rPr>
              <a:t>WHAT IT IS</a:t>
            </a:r>
          </a:p>
        </p:txBody>
      </p:sp>
      <p:sp>
        <p:nvSpPr>
          <p:cNvPr id="7" name="TextBox 6"/>
          <p:cNvSpPr txBox="1"/>
          <p:nvPr/>
        </p:nvSpPr>
        <p:spPr>
          <a:xfrm>
            <a:off x="3017520" y="2423160"/>
            <a:ext cx="8122615" cy="378642"/>
          </a:xfrm>
          <a:prstGeom prst="rect">
            <a:avLst/>
          </a:prstGeom>
          <a:noFill/>
        </p:spPr>
        <p:txBody>
          <a:bodyPr wrap="square" anchor="t" lIns="0" rIns="0" tIns="0" bIns="0"/>
          <a:lstStyle/>
          <a:p>
            <a:pPr algn="l">
              <a:lnSpc>
                <a:spcPct val="112000"/>
              </a:lnSpc>
            </a:pPr>
            <a:r>
              <a:rPr sz="2200" b="0">
                <a:solidFill>
                  <a:srgbClr val="111111"/>
                </a:solidFill>
                <a:latin typeface="Inter"/>
              </a:rPr>
              <a:t>a movable label on one commit.</a:t>
            </a:r>
          </a:p>
        </p:txBody>
      </p:sp>
      <p:sp>
        <p:nvSpPr>
          <p:cNvPr id="8" name="Rectangle 7"/>
          <p:cNvSpPr/>
          <p:nvPr/>
        </p:nvSpPr>
        <p:spPr>
          <a:xfrm>
            <a:off x="822960" y="2938962"/>
            <a:ext cx="10545775" cy="12700"/>
          </a:xfrm>
          <a:prstGeom prst="rect">
            <a:avLst/>
          </a:prstGeom>
          <a:solidFill>
            <a:srgbClr val="D9D9DE"/>
          </a:solidFill>
          <a:ln>
            <a:noFill/>
          </a:ln>
        </p:spPr>
        <p:txBody>
          <a:bodyPr rtlCol="0" anchor="ctr"/>
          <a:lstStyle/>
          <a:p>
            <a:pPr algn="ctr"/>
          </a:p>
        </p:txBody>
      </p:sp>
      <p:sp>
        <p:nvSpPr>
          <p:cNvPr id="9" name="TextBox 8"/>
          <p:cNvSpPr txBox="1"/>
          <p:nvPr/>
        </p:nvSpPr>
        <p:spPr>
          <a:xfrm>
            <a:off x="1051560" y="3174674"/>
            <a:ext cx="1645920" cy="274320"/>
          </a:xfrm>
          <a:prstGeom prst="rect">
            <a:avLst/>
          </a:prstGeom>
          <a:noFill/>
        </p:spPr>
        <p:txBody>
          <a:bodyPr wrap="square" anchor="t" lIns="0" rIns="0" tIns="0" bIns="0"/>
          <a:lstStyle/>
          <a:p>
            <a:pPr algn="l">
              <a:lnSpc>
                <a:spcPct val="110000"/>
              </a:lnSpc>
            </a:pPr>
            <a:r>
              <a:rPr sz="1400" b="1">
                <a:solidFill>
                  <a:srgbClr val="707078"/>
                </a:solidFill>
                <a:latin typeface="Inter"/>
              </a:rPr>
              <a:t>WHAT IT DOES</a:t>
            </a:r>
          </a:p>
        </p:txBody>
      </p:sp>
      <p:sp>
        <p:nvSpPr>
          <p:cNvPr id="10" name="TextBox 9"/>
          <p:cNvSpPr txBox="1"/>
          <p:nvPr/>
        </p:nvSpPr>
        <p:spPr>
          <a:xfrm>
            <a:off x="3017520" y="3076122"/>
            <a:ext cx="8122615" cy="378642"/>
          </a:xfrm>
          <a:prstGeom prst="rect">
            <a:avLst/>
          </a:prstGeom>
          <a:noFill/>
        </p:spPr>
        <p:txBody>
          <a:bodyPr wrap="square" anchor="t" lIns="0" rIns="0" tIns="0" bIns="0"/>
          <a:lstStyle/>
          <a:p>
            <a:pPr algn="l">
              <a:lnSpc>
                <a:spcPct val="112000"/>
              </a:lnSpc>
            </a:pPr>
            <a:r>
              <a:rPr sz="2200" b="0">
                <a:solidFill>
                  <a:srgbClr val="111111"/>
                </a:solidFill>
                <a:latin typeface="Inter"/>
              </a:rPr>
              <a:t>lets you try an idea without touching main.</a:t>
            </a:r>
          </a:p>
        </p:txBody>
      </p:sp>
      <p:sp>
        <p:nvSpPr>
          <p:cNvPr id="11" name="Rounded Rectangle 10"/>
          <p:cNvSpPr/>
          <p:nvPr/>
        </p:nvSpPr>
        <p:spPr>
          <a:xfrm>
            <a:off x="822960" y="3665076"/>
            <a:ext cx="10545775" cy="1434998"/>
          </a:xfrm>
          <a:prstGeom prst="roundRect">
            <a:avLst>
              <a:gd name="adj" fmla="val 12000"/>
            </a:avLst>
          </a:prstGeom>
          <a:solidFill>
            <a:srgbClr val="F4ECFB"/>
          </a:solidFill>
          <a:ln>
            <a:noFill/>
          </a:ln>
          <a:effectLst/>
        </p:spPr>
        <p:txBody>
          <a:bodyPr rtlCol="0" anchor="ctr"/>
          <a:lstStyle/>
          <a:p/>
        </p:txBody>
      </p:sp>
      <p:sp>
        <p:nvSpPr>
          <p:cNvPr id="12" name="TextBox 11"/>
          <p:cNvSpPr txBox="1"/>
          <p:nvPr/>
        </p:nvSpPr>
        <p:spPr>
          <a:xfrm>
            <a:off x="1051560" y="3940158"/>
            <a:ext cx="1645920" cy="274320"/>
          </a:xfrm>
          <a:prstGeom prst="rect">
            <a:avLst/>
          </a:prstGeom>
          <a:noFill/>
        </p:spPr>
        <p:txBody>
          <a:bodyPr wrap="square" anchor="t" lIns="0" rIns="0" tIns="0" bIns="0"/>
          <a:lstStyle/>
          <a:p>
            <a:pPr algn="l">
              <a:lnSpc>
                <a:spcPct val="110000"/>
              </a:lnSpc>
            </a:pPr>
            <a:r>
              <a:rPr sz="1400" b="1">
                <a:solidFill>
                  <a:srgbClr val="8B3DFF"/>
                </a:solidFill>
                <a:latin typeface="Inter"/>
              </a:rPr>
              <a:t>HOW GIT DOES IT</a:t>
            </a:r>
          </a:p>
        </p:txBody>
      </p:sp>
      <p:sp>
        <p:nvSpPr>
          <p:cNvPr id="13" name="TextBox 12"/>
          <p:cNvSpPr txBox="1"/>
          <p:nvPr/>
        </p:nvSpPr>
        <p:spPr>
          <a:xfrm>
            <a:off x="3017520" y="3866244"/>
            <a:ext cx="8122615" cy="1032662"/>
          </a:xfrm>
          <a:prstGeom prst="rect">
            <a:avLst/>
          </a:prstGeom>
          <a:noFill/>
        </p:spPr>
        <p:txBody>
          <a:bodyPr wrap="square" anchor="t" lIns="0" rIns="0" tIns="0" bIns="0"/>
          <a:lstStyle/>
          <a:p>
            <a:pPr algn="l">
              <a:lnSpc>
                <a:spcPct val="112000"/>
              </a:lnSpc>
            </a:pPr>
            <a:r>
              <a:rPr sz="2000" b="0">
                <a:solidFill>
                  <a:srgbClr val="111111"/>
                </a:solidFill>
                <a:latin typeface="Inter"/>
              </a:rPr>
              <a:t>a branch is a tiny file (</a:t>
            </a:r>
            <a:r>
              <a:rPr sz="2000" b="0">
                <a:solidFill>
                  <a:srgbClr val="111111"/>
                </a:solidFill>
                <a:latin typeface="Noto Sans Mono"/>
              </a:rPr>
              <a:t>.git/⁠refs/⁠heads/⁠&lt;name&gt;</a:t>
            </a:r>
            <a:r>
              <a:rPr sz="2000" b="0">
                <a:solidFill>
                  <a:srgbClr val="111111"/>
                </a:solidFill>
                <a:latin typeface="Inter"/>
              </a:rPr>
              <a:t>) holding one commit ID. Committing moves it forward. HEAD records which branch you are on. Creating a branch copies nothing.</a:t>
            </a:r>
          </a:p>
        </p:txBody>
      </p:sp>
      <p:sp>
        <p:nvSpPr>
          <p:cNvPr id="14" name="Rectangle 13"/>
          <p:cNvSpPr/>
          <p:nvPr/>
        </p:nvSpPr>
        <p:spPr>
          <a:xfrm>
            <a:off x="822960" y="5301242"/>
            <a:ext cx="73152" cy="757285"/>
          </a:xfrm>
          <a:prstGeom prst="rect">
            <a:avLst/>
          </a:prstGeom>
          <a:solidFill>
            <a:srgbClr val="F5A524"/>
          </a:solidFill>
          <a:ln>
            <a:noFill/>
          </a:ln>
        </p:spPr>
        <p:txBody>
          <a:bodyPr rtlCol="0" anchor="ctr"/>
          <a:lstStyle/>
          <a:p>
            <a:pPr algn="ctr"/>
          </a:p>
        </p:txBody>
      </p:sp>
      <p:sp>
        <p:nvSpPr>
          <p:cNvPr id="15" name="TextBox 14"/>
          <p:cNvSpPr txBox="1"/>
          <p:nvPr/>
        </p:nvSpPr>
        <p:spPr>
          <a:xfrm>
            <a:off x="1188720" y="5301242"/>
            <a:ext cx="10180015" cy="757285"/>
          </a:xfrm>
          <a:prstGeom prst="rect">
            <a:avLst/>
          </a:prstGeom>
          <a:noFill/>
        </p:spPr>
        <p:txBody>
          <a:bodyPr wrap="square" anchor="t" lIns="0" rIns="0" tIns="0" bIns="0"/>
          <a:lstStyle/>
          <a:p>
            <a:pPr algn="l">
              <a:lnSpc>
                <a:spcPct val="112000"/>
              </a:lnSpc>
            </a:pPr>
            <a:r>
              <a:rPr sz="2200" b="1">
                <a:solidFill>
                  <a:srgbClr val="111111"/>
                </a:solidFill>
                <a:latin typeface="Inter"/>
              </a:rPr>
              <a:t>In real Git, each of you would have your own clone with one working directory. Here your lab shares one repo.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822960" y="502920"/>
            <a:ext cx="1344168" cy="457200"/>
          </a:xfrm>
          <a:prstGeom prst="roundRect">
            <a:avLst>
              <a:gd name="adj" fmla="val 50000"/>
            </a:avLst>
          </a:prstGeom>
          <a:solidFill>
            <a:srgbClr val="111111"/>
          </a:solidFill>
          <a:ln>
            <a:noFill/>
          </a:ln>
          <a:effectLst/>
        </p:spPr>
        <p:txBody>
          <a:bodyPr rtlCol="0" anchor="ctr" lIns="0" rIns="0" tIns="0" bIns="0"/>
          <a:lstStyle/>
          <a:p>
            <a:pPr algn="ctr"/>
            <a:r>
              <a:rPr sz="1800" b="1">
                <a:solidFill>
                  <a:srgbClr val="FFFFFF"/>
                </a:solidFill>
                <a:latin typeface="Inter"/>
              </a:rPr>
              <a:t>STEP 3</a:t>
            </a:r>
          </a:p>
        </p:txBody>
      </p:sp>
      <p:sp>
        <p:nvSpPr>
          <p:cNvPr id="3" name="TextBox 2"/>
          <p:cNvSpPr txBox="1"/>
          <p:nvPr/>
        </p:nvSpPr>
        <p:spPr>
          <a:xfrm>
            <a:off x="2441448" y="502920"/>
            <a:ext cx="8229600" cy="457200"/>
          </a:xfrm>
          <a:prstGeom prst="rect">
            <a:avLst/>
          </a:prstGeom>
          <a:noFill/>
        </p:spPr>
        <p:txBody>
          <a:bodyPr wrap="square" anchor="ctr" lIns="0" rIns="0" tIns="0" bIns="0"/>
          <a:lstStyle/>
          <a:p>
            <a:pPr algn="l">
              <a:lnSpc>
                <a:spcPct val="110000"/>
              </a:lnSpc>
            </a:pPr>
            <a:r>
              <a:rPr sz="2400" b="1">
                <a:solidFill>
                  <a:srgbClr val="111111"/>
                </a:solidFill>
                <a:latin typeface="Inter"/>
              </a:rPr>
              <a:t>Make one outfit from both</a:t>
            </a:r>
          </a:p>
        </p:txBody>
      </p:sp>
      <p:sp>
        <p:nvSpPr>
          <p:cNvPr id="4" name="TextBox 3"/>
          <p:cNvSpPr txBox="1"/>
          <p:nvPr/>
        </p:nvSpPr>
        <p:spPr>
          <a:xfrm>
            <a:off x="822960" y="1143000"/>
            <a:ext cx="10545775" cy="914400"/>
          </a:xfrm>
          <a:prstGeom prst="rect">
            <a:avLst/>
          </a:prstGeom>
          <a:noFill/>
        </p:spPr>
        <p:txBody>
          <a:bodyPr wrap="square" anchor="b" lIns="0" rIns="0" tIns="0" bIns="0"/>
          <a:lstStyle/>
          <a:p>
            <a:pPr algn="l">
              <a:lnSpc>
                <a:spcPct val="100000"/>
              </a:lnSpc>
            </a:pPr>
            <a:r>
              <a:rPr sz="6600" b="1">
                <a:solidFill>
                  <a:srgbClr val="8B3DFF"/>
                </a:solidFill>
                <a:latin typeface="Noto Sans Mono"/>
              </a:rPr>
              <a:t>git merge</a:t>
            </a:r>
          </a:p>
        </p:txBody>
      </p:sp>
      <p:sp>
        <p:nvSpPr>
          <p:cNvPr id="5" name="Rectangle 4"/>
          <p:cNvSpPr/>
          <p:nvPr/>
        </p:nvSpPr>
        <p:spPr>
          <a:xfrm>
            <a:off x="822960" y="2286000"/>
            <a:ext cx="10545775" cy="12700"/>
          </a:xfrm>
          <a:prstGeom prst="rect">
            <a:avLst/>
          </a:prstGeom>
          <a:solidFill>
            <a:srgbClr val="D9D9DE"/>
          </a:solidFill>
          <a:ln>
            <a:noFill/>
          </a:ln>
        </p:spPr>
        <p:txBody>
          <a:bodyPr rtlCol="0" anchor="ctr"/>
          <a:lstStyle/>
          <a:p>
            <a:pPr algn="ctr"/>
          </a:p>
        </p:txBody>
      </p:sp>
      <p:sp>
        <p:nvSpPr>
          <p:cNvPr id="6" name="TextBox 5"/>
          <p:cNvSpPr txBox="1"/>
          <p:nvPr/>
        </p:nvSpPr>
        <p:spPr>
          <a:xfrm>
            <a:off x="1051560" y="2521712"/>
            <a:ext cx="1645920" cy="274320"/>
          </a:xfrm>
          <a:prstGeom prst="rect">
            <a:avLst/>
          </a:prstGeom>
          <a:noFill/>
        </p:spPr>
        <p:txBody>
          <a:bodyPr wrap="square" anchor="t" lIns="0" rIns="0" tIns="0" bIns="0"/>
          <a:lstStyle/>
          <a:p>
            <a:pPr algn="l">
              <a:lnSpc>
                <a:spcPct val="110000"/>
              </a:lnSpc>
            </a:pPr>
            <a:r>
              <a:rPr sz="1400" b="1">
                <a:solidFill>
                  <a:srgbClr val="707078"/>
                </a:solidFill>
                <a:latin typeface="Inter"/>
              </a:rPr>
              <a:t>WHAT IT IS</a:t>
            </a:r>
          </a:p>
        </p:txBody>
      </p:sp>
      <p:sp>
        <p:nvSpPr>
          <p:cNvPr id="7" name="TextBox 6"/>
          <p:cNvSpPr txBox="1"/>
          <p:nvPr/>
        </p:nvSpPr>
        <p:spPr>
          <a:xfrm>
            <a:off x="3017520" y="2423160"/>
            <a:ext cx="8122615" cy="378642"/>
          </a:xfrm>
          <a:prstGeom prst="rect">
            <a:avLst/>
          </a:prstGeom>
          <a:noFill/>
        </p:spPr>
        <p:txBody>
          <a:bodyPr wrap="square" anchor="t" lIns="0" rIns="0" tIns="0" bIns="0"/>
          <a:lstStyle/>
          <a:p>
            <a:pPr algn="l">
              <a:lnSpc>
                <a:spcPct val="112000"/>
              </a:lnSpc>
            </a:pPr>
            <a:r>
              <a:rPr sz="2200" b="0">
                <a:solidFill>
                  <a:srgbClr val="111111"/>
                </a:solidFill>
                <a:latin typeface="Inter"/>
              </a:rPr>
              <a:t>combining two lines of work.</a:t>
            </a:r>
          </a:p>
        </p:txBody>
      </p:sp>
      <p:sp>
        <p:nvSpPr>
          <p:cNvPr id="8" name="Rectangle 7"/>
          <p:cNvSpPr/>
          <p:nvPr/>
        </p:nvSpPr>
        <p:spPr>
          <a:xfrm>
            <a:off x="822960" y="2938962"/>
            <a:ext cx="10545775" cy="12700"/>
          </a:xfrm>
          <a:prstGeom prst="rect">
            <a:avLst/>
          </a:prstGeom>
          <a:solidFill>
            <a:srgbClr val="D9D9DE"/>
          </a:solidFill>
          <a:ln>
            <a:noFill/>
          </a:ln>
        </p:spPr>
        <p:txBody>
          <a:bodyPr rtlCol="0" anchor="ctr"/>
          <a:lstStyle/>
          <a:p>
            <a:pPr algn="ctr"/>
          </a:p>
        </p:txBody>
      </p:sp>
      <p:sp>
        <p:nvSpPr>
          <p:cNvPr id="9" name="TextBox 8"/>
          <p:cNvSpPr txBox="1"/>
          <p:nvPr/>
        </p:nvSpPr>
        <p:spPr>
          <a:xfrm>
            <a:off x="1051560" y="3174674"/>
            <a:ext cx="1645920" cy="274320"/>
          </a:xfrm>
          <a:prstGeom prst="rect">
            <a:avLst/>
          </a:prstGeom>
          <a:noFill/>
        </p:spPr>
        <p:txBody>
          <a:bodyPr wrap="square" anchor="t" lIns="0" rIns="0" tIns="0" bIns="0"/>
          <a:lstStyle/>
          <a:p>
            <a:pPr algn="l">
              <a:lnSpc>
                <a:spcPct val="110000"/>
              </a:lnSpc>
            </a:pPr>
            <a:r>
              <a:rPr sz="1400" b="1">
                <a:solidFill>
                  <a:srgbClr val="707078"/>
                </a:solidFill>
                <a:latin typeface="Inter"/>
              </a:rPr>
              <a:t>WHAT IT DOES</a:t>
            </a:r>
          </a:p>
        </p:txBody>
      </p:sp>
      <p:sp>
        <p:nvSpPr>
          <p:cNvPr id="10" name="TextBox 9"/>
          <p:cNvSpPr txBox="1"/>
          <p:nvPr/>
        </p:nvSpPr>
        <p:spPr>
          <a:xfrm>
            <a:off x="3017520" y="3076122"/>
            <a:ext cx="8122615" cy="757285"/>
          </a:xfrm>
          <a:prstGeom prst="rect">
            <a:avLst/>
          </a:prstGeom>
          <a:noFill/>
        </p:spPr>
        <p:txBody>
          <a:bodyPr wrap="square" anchor="t" lIns="0" rIns="0" tIns="0" bIns="0"/>
          <a:lstStyle/>
          <a:p>
            <a:pPr algn="l">
              <a:lnSpc>
                <a:spcPct val="112000"/>
              </a:lnSpc>
            </a:pPr>
            <a:r>
              <a:rPr sz="2200" b="0">
                <a:solidFill>
                  <a:srgbClr val="111111"/>
                </a:solidFill>
                <a:latin typeface="Inter"/>
              </a:rPr>
              <a:t>keeps a change made on one side. It stops for a person when both sides changed the same or neighbouring lines.</a:t>
            </a:r>
          </a:p>
        </p:txBody>
      </p:sp>
      <p:sp>
        <p:nvSpPr>
          <p:cNvPr id="11" name="Rounded Rectangle 10"/>
          <p:cNvSpPr/>
          <p:nvPr/>
        </p:nvSpPr>
        <p:spPr>
          <a:xfrm>
            <a:off x="822960" y="4043719"/>
            <a:ext cx="10545775" cy="2123440"/>
          </a:xfrm>
          <a:prstGeom prst="roundRect">
            <a:avLst>
              <a:gd name="adj" fmla="val 12000"/>
            </a:avLst>
          </a:prstGeom>
          <a:solidFill>
            <a:srgbClr val="F4ECFB"/>
          </a:solidFill>
          <a:ln>
            <a:noFill/>
          </a:ln>
          <a:effectLst/>
        </p:spPr>
        <p:txBody>
          <a:bodyPr rtlCol="0" anchor="ctr"/>
          <a:lstStyle/>
          <a:p/>
        </p:txBody>
      </p:sp>
      <p:sp>
        <p:nvSpPr>
          <p:cNvPr id="12" name="TextBox 11"/>
          <p:cNvSpPr txBox="1"/>
          <p:nvPr/>
        </p:nvSpPr>
        <p:spPr>
          <a:xfrm>
            <a:off x="1051560" y="4318801"/>
            <a:ext cx="1645920" cy="274320"/>
          </a:xfrm>
          <a:prstGeom prst="rect">
            <a:avLst/>
          </a:prstGeom>
          <a:noFill/>
        </p:spPr>
        <p:txBody>
          <a:bodyPr wrap="square" anchor="t" lIns="0" rIns="0" tIns="0" bIns="0"/>
          <a:lstStyle/>
          <a:p>
            <a:pPr algn="l">
              <a:lnSpc>
                <a:spcPct val="110000"/>
              </a:lnSpc>
            </a:pPr>
            <a:r>
              <a:rPr sz="1400" b="1">
                <a:solidFill>
                  <a:srgbClr val="8B3DFF"/>
                </a:solidFill>
                <a:latin typeface="Inter"/>
              </a:rPr>
              <a:t>HOW GIT DOES IT</a:t>
            </a:r>
          </a:p>
        </p:txBody>
      </p:sp>
      <p:sp>
        <p:nvSpPr>
          <p:cNvPr id="13" name="TextBox 12"/>
          <p:cNvSpPr txBox="1"/>
          <p:nvPr/>
        </p:nvSpPr>
        <p:spPr>
          <a:xfrm>
            <a:off x="3017520" y="4244887"/>
            <a:ext cx="8122615" cy="1721104"/>
          </a:xfrm>
          <a:prstGeom prst="rect">
            <a:avLst/>
          </a:prstGeom>
          <a:noFill/>
        </p:spPr>
        <p:txBody>
          <a:bodyPr wrap="square" anchor="t" lIns="0" rIns="0" tIns="0" bIns="0"/>
          <a:lstStyle/>
          <a:p>
            <a:pPr algn="l">
              <a:lnSpc>
                <a:spcPct val="112000"/>
              </a:lnSpc>
            </a:pPr>
            <a:r>
              <a:rPr sz="2000" b="0">
                <a:solidFill>
                  <a:srgbClr val="111111"/>
                </a:solidFill>
                <a:latin typeface="Inter"/>
              </a:rPr>
              <a:t>Git finds the merge base (the last common commit) and compares each side with it (a 3-way merge), then writes a merge commit with two parents. If your branch has nothing new (the other side already contains it), Git fast-forwards: only the label moves, and no merge commit is made.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822960" y="502920"/>
            <a:ext cx="1344168" cy="457200"/>
          </a:xfrm>
          <a:prstGeom prst="roundRect">
            <a:avLst>
              <a:gd name="adj" fmla="val 50000"/>
            </a:avLst>
          </a:prstGeom>
          <a:solidFill>
            <a:srgbClr val="111111"/>
          </a:solidFill>
          <a:ln>
            <a:noFill/>
          </a:ln>
          <a:effectLst/>
        </p:spPr>
        <p:txBody>
          <a:bodyPr rtlCol="0" anchor="ctr" lIns="0" rIns="0" tIns="0" bIns="0"/>
          <a:lstStyle/>
          <a:p>
            <a:pPr algn="ctr"/>
            <a:r>
              <a:rPr sz="1800" b="1">
                <a:solidFill>
                  <a:srgbClr val="FFFFFF"/>
                </a:solidFill>
                <a:latin typeface="Inter"/>
              </a:rPr>
              <a:t>STEP 4</a:t>
            </a:r>
          </a:p>
        </p:txBody>
      </p:sp>
      <p:sp>
        <p:nvSpPr>
          <p:cNvPr id="3" name="TextBox 2"/>
          <p:cNvSpPr txBox="1"/>
          <p:nvPr/>
        </p:nvSpPr>
        <p:spPr>
          <a:xfrm>
            <a:off x="2441448" y="502920"/>
            <a:ext cx="8229600" cy="457200"/>
          </a:xfrm>
          <a:prstGeom prst="rect">
            <a:avLst/>
          </a:prstGeom>
          <a:noFill/>
        </p:spPr>
        <p:txBody>
          <a:bodyPr wrap="square" anchor="ctr" lIns="0" rIns="0" tIns="0" bIns="0"/>
          <a:lstStyle/>
          <a:p>
            <a:pPr algn="l">
              <a:lnSpc>
                <a:spcPct val="110000"/>
              </a:lnSpc>
            </a:pPr>
            <a:r>
              <a:rPr sz="2400" b="1">
                <a:solidFill>
                  <a:srgbClr val="111111"/>
                </a:solidFill>
                <a:latin typeface="Inter"/>
              </a:rPr>
              <a:t>Put your outfit on the Wall</a:t>
            </a:r>
          </a:p>
        </p:txBody>
      </p:sp>
      <p:sp>
        <p:nvSpPr>
          <p:cNvPr id="4" name="TextBox 3"/>
          <p:cNvSpPr txBox="1"/>
          <p:nvPr/>
        </p:nvSpPr>
        <p:spPr>
          <a:xfrm>
            <a:off x="822960" y="1143000"/>
            <a:ext cx="10545775" cy="914400"/>
          </a:xfrm>
          <a:prstGeom prst="rect">
            <a:avLst/>
          </a:prstGeom>
          <a:noFill/>
        </p:spPr>
        <p:txBody>
          <a:bodyPr wrap="square" anchor="b" lIns="0" rIns="0" tIns="0" bIns="0"/>
          <a:lstStyle/>
          <a:p>
            <a:pPr algn="l">
              <a:lnSpc>
                <a:spcPct val="100000"/>
              </a:lnSpc>
            </a:pPr>
            <a:r>
              <a:rPr sz="6600" b="1">
                <a:solidFill>
                  <a:srgbClr val="8B3DFF"/>
                </a:solidFill>
                <a:latin typeface="Noto Sans Mono"/>
              </a:rPr>
              <a:t>git push / git pull</a:t>
            </a:r>
          </a:p>
        </p:txBody>
      </p:sp>
      <p:sp>
        <p:nvSpPr>
          <p:cNvPr id="5" name="Rectangle 4"/>
          <p:cNvSpPr/>
          <p:nvPr/>
        </p:nvSpPr>
        <p:spPr>
          <a:xfrm>
            <a:off x="822960" y="2286000"/>
            <a:ext cx="10545775" cy="12700"/>
          </a:xfrm>
          <a:prstGeom prst="rect">
            <a:avLst/>
          </a:prstGeom>
          <a:solidFill>
            <a:srgbClr val="D9D9DE"/>
          </a:solidFill>
          <a:ln>
            <a:noFill/>
          </a:ln>
        </p:spPr>
        <p:txBody>
          <a:bodyPr rtlCol="0" anchor="ctr"/>
          <a:lstStyle/>
          <a:p>
            <a:pPr algn="ctr"/>
          </a:p>
        </p:txBody>
      </p:sp>
      <p:sp>
        <p:nvSpPr>
          <p:cNvPr id="6" name="TextBox 5"/>
          <p:cNvSpPr txBox="1"/>
          <p:nvPr/>
        </p:nvSpPr>
        <p:spPr>
          <a:xfrm>
            <a:off x="1051560" y="2521712"/>
            <a:ext cx="1645920" cy="274320"/>
          </a:xfrm>
          <a:prstGeom prst="rect">
            <a:avLst/>
          </a:prstGeom>
          <a:noFill/>
        </p:spPr>
        <p:txBody>
          <a:bodyPr wrap="square" anchor="t" lIns="0" rIns="0" tIns="0" bIns="0"/>
          <a:lstStyle/>
          <a:p>
            <a:pPr algn="l">
              <a:lnSpc>
                <a:spcPct val="110000"/>
              </a:lnSpc>
            </a:pPr>
            <a:r>
              <a:rPr sz="1400" b="1">
                <a:solidFill>
                  <a:srgbClr val="707078"/>
                </a:solidFill>
                <a:latin typeface="Inter"/>
              </a:rPr>
              <a:t>WHAT IT IS</a:t>
            </a:r>
          </a:p>
        </p:txBody>
      </p:sp>
      <p:sp>
        <p:nvSpPr>
          <p:cNvPr id="7" name="TextBox 6"/>
          <p:cNvSpPr txBox="1"/>
          <p:nvPr/>
        </p:nvSpPr>
        <p:spPr>
          <a:xfrm>
            <a:off x="3017520" y="2423160"/>
            <a:ext cx="8122615" cy="378642"/>
          </a:xfrm>
          <a:prstGeom prst="rect">
            <a:avLst/>
          </a:prstGeom>
          <a:noFill/>
        </p:spPr>
        <p:txBody>
          <a:bodyPr wrap="square" anchor="t" lIns="0" rIns="0" tIns="0" bIns="0"/>
          <a:lstStyle/>
          <a:p>
            <a:pPr algn="l">
              <a:lnSpc>
                <a:spcPct val="112000"/>
              </a:lnSpc>
            </a:pPr>
            <a:r>
              <a:rPr sz="2200" b="0">
                <a:solidFill>
                  <a:srgbClr val="111111"/>
                </a:solidFill>
                <a:latin typeface="Inter"/>
              </a:rPr>
              <a:t>sharing commits with a copy elsewhere (the Wall).</a:t>
            </a:r>
          </a:p>
        </p:txBody>
      </p:sp>
      <p:sp>
        <p:nvSpPr>
          <p:cNvPr id="8" name="Rectangle 7"/>
          <p:cNvSpPr/>
          <p:nvPr/>
        </p:nvSpPr>
        <p:spPr>
          <a:xfrm>
            <a:off x="822960" y="2938962"/>
            <a:ext cx="10545775" cy="12700"/>
          </a:xfrm>
          <a:prstGeom prst="rect">
            <a:avLst/>
          </a:prstGeom>
          <a:solidFill>
            <a:srgbClr val="D9D9DE"/>
          </a:solidFill>
          <a:ln>
            <a:noFill/>
          </a:ln>
        </p:spPr>
        <p:txBody>
          <a:bodyPr rtlCol="0" anchor="ctr"/>
          <a:lstStyle/>
          <a:p>
            <a:pPr algn="ctr"/>
          </a:p>
        </p:txBody>
      </p:sp>
      <p:sp>
        <p:nvSpPr>
          <p:cNvPr id="9" name="TextBox 8"/>
          <p:cNvSpPr txBox="1"/>
          <p:nvPr/>
        </p:nvSpPr>
        <p:spPr>
          <a:xfrm>
            <a:off x="1051560" y="3174674"/>
            <a:ext cx="1645920" cy="274320"/>
          </a:xfrm>
          <a:prstGeom prst="rect">
            <a:avLst/>
          </a:prstGeom>
          <a:noFill/>
        </p:spPr>
        <p:txBody>
          <a:bodyPr wrap="square" anchor="t" lIns="0" rIns="0" tIns="0" bIns="0"/>
          <a:lstStyle/>
          <a:p>
            <a:pPr algn="l">
              <a:lnSpc>
                <a:spcPct val="110000"/>
              </a:lnSpc>
            </a:pPr>
            <a:r>
              <a:rPr sz="1400" b="1">
                <a:solidFill>
                  <a:srgbClr val="707078"/>
                </a:solidFill>
                <a:latin typeface="Inter"/>
              </a:rPr>
              <a:t>WHAT IT DOES</a:t>
            </a:r>
          </a:p>
        </p:txBody>
      </p:sp>
      <p:sp>
        <p:nvSpPr>
          <p:cNvPr id="10" name="TextBox 9"/>
          <p:cNvSpPr txBox="1"/>
          <p:nvPr/>
        </p:nvSpPr>
        <p:spPr>
          <a:xfrm>
            <a:off x="3017520" y="3076122"/>
            <a:ext cx="8122615" cy="757285"/>
          </a:xfrm>
          <a:prstGeom prst="rect">
            <a:avLst/>
          </a:prstGeom>
          <a:noFill/>
        </p:spPr>
        <p:txBody>
          <a:bodyPr wrap="square" anchor="t" lIns="0" rIns="0" tIns="0" bIns="0"/>
          <a:lstStyle/>
          <a:p>
            <a:pPr algn="l">
              <a:lnSpc>
                <a:spcPct val="112000"/>
              </a:lnSpc>
            </a:pPr>
            <a:r>
              <a:rPr sz="2200" b="0">
                <a:solidFill>
                  <a:srgbClr val="111111"/>
                </a:solidFill>
                <a:latin typeface="Inter"/>
              </a:rPr>
              <a:t>push sends your new commits and moves the remote branch. pull brings theirs in.</a:t>
            </a:r>
          </a:p>
        </p:txBody>
      </p:sp>
      <p:sp>
        <p:nvSpPr>
          <p:cNvPr id="11" name="Rounded Rectangle 10"/>
          <p:cNvSpPr/>
          <p:nvPr/>
        </p:nvSpPr>
        <p:spPr>
          <a:xfrm>
            <a:off x="822960" y="4043719"/>
            <a:ext cx="10545775" cy="1779219"/>
          </a:xfrm>
          <a:prstGeom prst="roundRect">
            <a:avLst>
              <a:gd name="adj" fmla="val 12000"/>
            </a:avLst>
          </a:prstGeom>
          <a:solidFill>
            <a:srgbClr val="F4ECFB"/>
          </a:solidFill>
          <a:ln>
            <a:noFill/>
          </a:ln>
          <a:effectLst/>
        </p:spPr>
        <p:txBody>
          <a:bodyPr rtlCol="0" anchor="ctr"/>
          <a:lstStyle/>
          <a:p/>
        </p:txBody>
      </p:sp>
      <p:sp>
        <p:nvSpPr>
          <p:cNvPr id="12" name="TextBox 11"/>
          <p:cNvSpPr txBox="1"/>
          <p:nvPr/>
        </p:nvSpPr>
        <p:spPr>
          <a:xfrm>
            <a:off x="1051560" y="4318801"/>
            <a:ext cx="1645920" cy="274320"/>
          </a:xfrm>
          <a:prstGeom prst="rect">
            <a:avLst/>
          </a:prstGeom>
          <a:noFill/>
        </p:spPr>
        <p:txBody>
          <a:bodyPr wrap="square" anchor="t" lIns="0" rIns="0" tIns="0" bIns="0"/>
          <a:lstStyle/>
          <a:p>
            <a:pPr algn="l">
              <a:lnSpc>
                <a:spcPct val="110000"/>
              </a:lnSpc>
            </a:pPr>
            <a:r>
              <a:rPr sz="1400" b="1">
                <a:solidFill>
                  <a:srgbClr val="8B3DFF"/>
                </a:solidFill>
                <a:latin typeface="Inter"/>
              </a:rPr>
              <a:t>HOW GIT DOES IT</a:t>
            </a:r>
          </a:p>
        </p:txBody>
      </p:sp>
      <p:sp>
        <p:nvSpPr>
          <p:cNvPr id="13" name="TextBox 12"/>
          <p:cNvSpPr txBox="1"/>
          <p:nvPr/>
        </p:nvSpPr>
        <p:spPr>
          <a:xfrm>
            <a:off x="3017520" y="4244887"/>
            <a:ext cx="8122615" cy="1376883"/>
          </a:xfrm>
          <a:prstGeom prst="rect">
            <a:avLst/>
          </a:prstGeom>
          <a:noFill/>
        </p:spPr>
        <p:txBody>
          <a:bodyPr wrap="square" anchor="t" lIns="0" rIns="0" tIns="0" bIns="0"/>
          <a:lstStyle/>
          <a:p>
            <a:pPr algn="l">
              <a:lnSpc>
                <a:spcPct val="112000"/>
              </a:lnSpc>
            </a:pPr>
            <a:r>
              <a:rPr sz="2000" b="0">
                <a:solidFill>
                  <a:srgbClr val="111111"/>
                </a:solidFill>
                <a:latin typeface="Inter"/>
              </a:rPr>
              <a:t>copies exchange only the objects the other side lacks; IDs come from content, so copies agree without coordination. A push is accepted only if it is a fast-forward of the remote branch. Otherwise fetch first, then merge or rebase.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822960" y="502920"/>
            <a:ext cx="1344168" cy="457200"/>
          </a:xfrm>
          <a:prstGeom prst="roundRect">
            <a:avLst>
              <a:gd name="adj" fmla="val 50000"/>
            </a:avLst>
          </a:prstGeom>
          <a:solidFill>
            <a:srgbClr val="111111"/>
          </a:solidFill>
          <a:ln>
            <a:noFill/>
          </a:ln>
          <a:effectLst/>
        </p:spPr>
        <p:txBody>
          <a:bodyPr rtlCol="0" anchor="ctr" lIns="0" rIns="0" tIns="0" bIns="0"/>
          <a:lstStyle/>
          <a:p>
            <a:pPr algn="ctr"/>
            <a:r>
              <a:rPr sz="1800" b="1">
                <a:solidFill>
                  <a:srgbClr val="FFFFFF"/>
                </a:solidFill>
                <a:latin typeface="Inter"/>
              </a:rPr>
              <a:t>STEP 4</a:t>
            </a:r>
          </a:p>
        </p:txBody>
      </p:sp>
      <p:sp>
        <p:nvSpPr>
          <p:cNvPr id="3" name="TextBox 2"/>
          <p:cNvSpPr txBox="1"/>
          <p:nvPr/>
        </p:nvSpPr>
        <p:spPr>
          <a:xfrm>
            <a:off x="2441448" y="502920"/>
            <a:ext cx="8229600" cy="457200"/>
          </a:xfrm>
          <a:prstGeom prst="rect">
            <a:avLst/>
          </a:prstGeom>
          <a:noFill/>
        </p:spPr>
        <p:txBody>
          <a:bodyPr wrap="square" anchor="ctr" lIns="0" rIns="0" tIns="0" bIns="0"/>
          <a:lstStyle/>
          <a:p>
            <a:pPr algn="l">
              <a:lnSpc>
                <a:spcPct val="110000"/>
              </a:lnSpc>
            </a:pPr>
            <a:r>
              <a:rPr sz="2400" b="1">
                <a:solidFill>
                  <a:srgbClr val="111111"/>
                </a:solidFill>
                <a:latin typeface="Inter"/>
              </a:rPr>
              <a:t>Put your outfit on the Wall</a:t>
            </a:r>
          </a:p>
        </p:txBody>
      </p:sp>
      <p:sp>
        <p:nvSpPr>
          <p:cNvPr id="4" name="TextBox 3"/>
          <p:cNvSpPr txBox="1"/>
          <p:nvPr/>
        </p:nvSpPr>
        <p:spPr>
          <a:xfrm>
            <a:off x="822960" y="1143000"/>
            <a:ext cx="10545775" cy="914400"/>
          </a:xfrm>
          <a:prstGeom prst="rect">
            <a:avLst/>
          </a:prstGeom>
          <a:noFill/>
        </p:spPr>
        <p:txBody>
          <a:bodyPr wrap="square" anchor="b" lIns="0" rIns="0" tIns="0" bIns="0"/>
          <a:lstStyle/>
          <a:p>
            <a:pPr algn="l">
              <a:lnSpc>
                <a:spcPct val="100000"/>
              </a:lnSpc>
            </a:pPr>
            <a:r>
              <a:rPr sz="6600" b="1">
                <a:solidFill>
                  <a:srgbClr val="8B3DFF"/>
                </a:solidFill>
                <a:latin typeface="Noto Sans Mono"/>
              </a:rPr>
              <a:t>git rebase</a:t>
            </a:r>
          </a:p>
        </p:txBody>
      </p:sp>
      <p:sp>
        <p:nvSpPr>
          <p:cNvPr id="5" name="Rectangle 4"/>
          <p:cNvSpPr/>
          <p:nvPr/>
        </p:nvSpPr>
        <p:spPr>
          <a:xfrm>
            <a:off x="822960" y="2286000"/>
            <a:ext cx="10545775" cy="12700"/>
          </a:xfrm>
          <a:prstGeom prst="rect">
            <a:avLst/>
          </a:prstGeom>
          <a:solidFill>
            <a:srgbClr val="D9D9DE"/>
          </a:solidFill>
          <a:ln>
            <a:noFill/>
          </a:ln>
        </p:spPr>
        <p:txBody>
          <a:bodyPr rtlCol="0" anchor="ctr"/>
          <a:lstStyle/>
          <a:p>
            <a:pPr algn="ctr"/>
          </a:p>
        </p:txBody>
      </p:sp>
      <p:sp>
        <p:nvSpPr>
          <p:cNvPr id="6" name="TextBox 5"/>
          <p:cNvSpPr txBox="1"/>
          <p:nvPr/>
        </p:nvSpPr>
        <p:spPr>
          <a:xfrm>
            <a:off x="1051560" y="2521712"/>
            <a:ext cx="1645920" cy="274320"/>
          </a:xfrm>
          <a:prstGeom prst="rect">
            <a:avLst/>
          </a:prstGeom>
          <a:noFill/>
        </p:spPr>
        <p:txBody>
          <a:bodyPr wrap="square" anchor="t" lIns="0" rIns="0" tIns="0" bIns="0"/>
          <a:lstStyle/>
          <a:p>
            <a:pPr algn="l">
              <a:lnSpc>
                <a:spcPct val="110000"/>
              </a:lnSpc>
            </a:pPr>
            <a:r>
              <a:rPr sz="1400" b="1">
                <a:solidFill>
                  <a:srgbClr val="707078"/>
                </a:solidFill>
                <a:latin typeface="Inter"/>
              </a:rPr>
              <a:t>WHAT IT IS</a:t>
            </a:r>
          </a:p>
        </p:txBody>
      </p:sp>
      <p:sp>
        <p:nvSpPr>
          <p:cNvPr id="7" name="TextBox 6"/>
          <p:cNvSpPr txBox="1"/>
          <p:nvPr/>
        </p:nvSpPr>
        <p:spPr>
          <a:xfrm>
            <a:off x="3017520" y="2423160"/>
            <a:ext cx="8122615" cy="378642"/>
          </a:xfrm>
          <a:prstGeom prst="rect">
            <a:avLst/>
          </a:prstGeom>
          <a:noFill/>
        </p:spPr>
        <p:txBody>
          <a:bodyPr wrap="square" anchor="t" lIns="0" rIns="0" tIns="0" bIns="0"/>
          <a:lstStyle/>
          <a:p>
            <a:pPr algn="l">
              <a:lnSpc>
                <a:spcPct val="112000"/>
              </a:lnSpc>
            </a:pPr>
            <a:r>
              <a:rPr sz="2200" b="0">
                <a:solidFill>
                  <a:srgbClr val="111111"/>
                </a:solidFill>
                <a:latin typeface="Inter"/>
              </a:rPr>
              <a:t>replaying your commits on top of another branch.</a:t>
            </a:r>
          </a:p>
        </p:txBody>
      </p:sp>
      <p:sp>
        <p:nvSpPr>
          <p:cNvPr id="8" name="Rectangle 7"/>
          <p:cNvSpPr/>
          <p:nvPr/>
        </p:nvSpPr>
        <p:spPr>
          <a:xfrm>
            <a:off x="822960" y="2938962"/>
            <a:ext cx="10545775" cy="12700"/>
          </a:xfrm>
          <a:prstGeom prst="rect">
            <a:avLst/>
          </a:prstGeom>
          <a:solidFill>
            <a:srgbClr val="D9D9DE"/>
          </a:solidFill>
          <a:ln>
            <a:noFill/>
          </a:ln>
        </p:spPr>
        <p:txBody>
          <a:bodyPr rtlCol="0" anchor="ctr"/>
          <a:lstStyle/>
          <a:p>
            <a:pPr algn="ctr"/>
          </a:p>
        </p:txBody>
      </p:sp>
      <p:sp>
        <p:nvSpPr>
          <p:cNvPr id="9" name="TextBox 8"/>
          <p:cNvSpPr txBox="1"/>
          <p:nvPr/>
        </p:nvSpPr>
        <p:spPr>
          <a:xfrm>
            <a:off x="1051560" y="3174674"/>
            <a:ext cx="1645920" cy="274320"/>
          </a:xfrm>
          <a:prstGeom prst="rect">
            <a:avLst/>
          </a:prstGeom>
          <a:noFill/>
        </p:spPr>
        <p:txBody>
          <a:bodyPr wrap="square" anchor="t" lIns="0" rIns="0" tIns="0" bIns="0"/>
          <a:lstStyle/>
          <a:p>
            <a:pPr algn="l">
              <a:lnSpc>
                <a:spcPct val="110000"/>
              </a:lnSpc>
            </a:pPr>
            <a:r>
              <a:rPr sz="1400" b="1">
                <a:solidFill>
                  <a:srgbClr val="707078"/>
                </a:solidFill>
                <a:latin typeface="Inter"/>
              </a:rPr>
              <a:t>WHAT IT DOES</a:t>
            </a:r>
          </a:p>
        </p:txBody>
      </p:sp>
      <p:sp>
        <p:nvSpPr>
          <p:cNvPr id="10" name="TextBox 9"/>
          <p:cNvSpPr txBox="1"/>
          <p:nvPr/>
        </p:nvSpPr>
        <p:spPr>
          <a:xfrm>
            <a:off x="3017520" y="3076122"/>
            <a:ext cx="8122615" cy="378642"/>
          </a:xfrm>
          <a:prstGeom prst="rect">
            <a:avLst/>
          </a:prstGeom>
          <a:noFill/>
        </p:spPr>
        <p:txBody>
          <a:bodyPr wrap="square" anchor="t" lIns="0" rIns="0" tIns="0" bIns="0"/>
          <a:lstStyle/>
          <a:p>
            <a:pPr algn="l">
              <a:lnSpc>
                <a:spcPct val="112000"/>
              </a:lnSpc>
            </a:pPr>
            <a:r>
              <a:rPr sz="2200" b="0">
                <a:solidFill>
                  <a:srgbClr val="111111"/>
                </a:solidFill>
                <a:latin typeface="Inter"/>
              </a:rPr>
              <a:t>gives a straight history with no merge commit.</a:t>
            </a:r>
          </a:p>
        </p:txBody>
      </p:sp>
      <p:sp>
        <p:nvSpPr>
          <p:cNvPr id="11" name="Rounded Rectangle 10"/>
          <p:cNvSpPr/>
          <p:nvPr/>
        </p:nvSpPr>
        <p:spPr>
          <a:xfrm>
            <a:off x="822960" y="3665076"/>
            <a:ext cx="10545775" cy="1779219"/>
          </a:xfrm>
          <a:prstGeom prst="roundRect">
            <a:avLst>
              <a:gd name="adj" fmla="val 12000"/>
            </a:avLst>
          </a:prstGeom>
          <a:solidFill>
            <a:srgbClr val="F4ECFB"/>
          </a:solidFill>
          <a:ln>
            <a:noFill/>
          </a:ln>
          <a:effectLst/>
        </p:spPr>
        <p:txBody>
          <a:bodyPr rtlCol="0" anchor="ctr"/>
          <a:lstStyle/>
          <a:p/>
        </p:txBody>
      </p:sp>
      <p:sp>
        <p:nvSpPr>
          <p:cNvPr id="12" name="TextBox 11"/>
          <p:cNvSpPr txBox="1"/>
          <p:nvPr/>
        </p:nvSpPr>
        <p:spPr>
          <a:xfrm>
            <a:off x="1051560" y="3940158"/>
            <a:ext cx="1645920" cy="274320"/>
          </a:xfrm>
          <a:prstGeom prst="rect">
            <a:avLst/>
          </a:prstGeom>
          <a:noFill/>
        </p:spPr>
        <p:txBody>
          <a:bodyPr wrap="square" anchor="t" lIns="0" rIns="0" tIns="0" bIns="0"/>
          <a:lstStyle/>
          <a:p>
            <a:pPr algn="l">
              <a:lnSpc>
                <a:spcPct val="110000"/>
              </a:lnSpc>
            </a:pPr>
            <a:r>
              <a:rPr sz="1400" b="1">
                <a:solidFill>
                  <a:srgbClr val="8B3DFF"/>
                </a:solidFill>
                <a:latin typeface="Inter"/>
              </a:rPr>
              <a:t>HOW GIT DOES IT</a:t>
            </a:r>
          </a:p>
        </p:txBody>
      </p:sp>
      <p:sp>
        <p:nvSpPr>
          <p:cNvPr id="13" name="TextBox 12"/>
          <p:cNvSpPr txBox="1"/>
          <p:nvPr/>
        </p:nvSpPr>
        <p:spPr>
          <a:xfrm>
            <a:off x="3017520" y="3866244"/>
            <a:ext cx="8122615" cy="1376883"/>
          </a:xfrm>
          <a:prstGeom prst="rect">
            <a:avLst/>
          </a:prstGeom>
          <a:noFill/>
        </p:spPr>
        <p:txBody>
          <a:bodyPr wrap="square" anchor="t" lIns="0" rIns="0" tIns="0" bIns="0"/>
          <a:lstStyle/>
          <a:p>
            <a:pPr algn="l">
              <a:lnSpc>
                <a:spcPct val="112000"/>
              </a:lnSpc>
            </a:pPr>
            <a:r>
              <a:rPr sz="2000" b="0">
                <a:solidFill>
                  <a:srgbClr val="111111"/>
                </a:solidFill>
                <a:latin typeface="Inter"/>
              </a:rPr>
              <a:t>for each of your commits, Git applies its change to the new base and writes a new commit. The new parent gives it a new ID. Author and author date are kept. The originals become unreachable and stay in your reflog for a while.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822960" y="502920"/>
            <a:ext cx="1344168" cy="457200"/>
          </a:xfrm>
          <a:prstGeom prst="roundRect">
            <a:avLst>
              <a:gd name="adj" fmla="val 50000"/>
            </a:avLst>
          </a:prstGeom>
          <a:solidFill>
            <a:srgbClr val="111111"/>
          </a:solidFill>
          <a:ln>
            <a:noFill/>
          </a:ln>
          <a:effectLst/>
        </p:spPr>
        <p:txBody>
          <a:bodyPr rtlCol="0" anchor="ctr" lIns="0" rIns="0" tIns="0" bIns="0"/>
          <a:lstStyle/>
          <a:p>
            <a:pPr algn="ctr"/>
            <a:r>
              <a:rPr sz="1800" b="1">
                <a:solidFill>
                  <a:srgbClr val="FFFFFF"/>
                </a:solidFill>
                <a:latin typeface="Inter"/>
              </a:rPr>
              <a:t>STEP 5</a:t>
            </a:r>
          </a:p>
        </p:txBody>
      </p:sp>
      <p:sp>
        <p:nvSpPr>
          <p:cNvPr id="3" name="TextBox 2"/>
          <p:cNvSpPr txBox="1"/>
          <p:nvPr/>
        </p:nvSpPr>
        <p:spPr>
          <a:xfrm>
            <a:off x="2441448" y="502920"/>
            <a:ext cx="8229600" cy="457200"/>
          </a:xfrm>
          <a:prstGeom prst="rect">
            <a:avLst/>
          </a:prstGeom>
          <a:noFill/>
        </p:spPr>
        <p:txBody>
          <a:bodyPr wrap="square" anchor="ctr" lIns="0" rIns="0" tIns="0" bIns="0"/>
          <a:lstStyle/>
          <a:p>
            <a:pPr algn="l">
              <a:lnSpc>
                <a:spcPct val="110000"/>
              </a:lnSpc>
            </a:pPr>
            <a:r>
              <a:rPr sz="2400" b="1">
                <a:solidFill>
                  <a:srgbClr val="111111"/>
                </a:solidFill>
                <a:latin typeface="Inter"/>
              </a:rPr>
              <a:t>Oops: undo a shared mistake</a:t>
            </a:r>
          </a:p>
        </p:txBody>
      </p:sp>
      <p:sp>
        <p:nvSpPr>
          <p:cNvPr id="4" name="TextBox 3"/>
          <p:cNvSpPr txBox="1"/>
          <p:nvPr/>
        </p:nvSpPr>
        <p:spPr>
          <a:xfrm>
            <a:off x="822960" y="1143000"/>
            <a:ext cx="10545775" cy="914400"/>
          </a:xfrm>
          <a:prstGeom prst="rect">
            <a:avLst/>
          </a:prstGeom>
          <a:noFill/>
        </p:spPr>
        <p:txBody>
          <a:bodyPr wrap="square" anchor="b" lIns="0" rIns="0" tIns="0" bIns="0"/>
          <a:lstStyle/>
          <a:p>
            <a:pPr algn="l">
              <a:lnSpc>
                <a:spcPct val="100000"/>
              </a:lnSpc>
            </a:pPr>
            <a:r>
              <a:rPr sz="6100" b="1">
                <a:solidFill>
                  <a:srgbClr val="8B3DFF"/>
                </a:solidFill>
                <a:latin typeface="Noto Sans Mono"/>
              </a:rPr>
              <a:t>git revert / git reset</a:t>
            </a:r>
          </a:p>
        </p:txBody>
      </p:sp>
      <p:sp>
        <p:nvSpPr>
          <p:cNvPr id="5" name="Rectangle 4"/>
          <p:cNvSpPr/>
          <p:nvPr/>
        </p:nvSpPr>
        <p:spPr>
          <a:xfrm>
            <a:off x="822960" y="2286000"/>
            <a:ext cx="10545775" cy="12700"/>
          </a:xfrm>
          <a:prstGeom prst="rect">
            <a:avLst/>
          </a:prstGeom>
          <a:solidFill>
            <a:srgbClr val="D9D9DE"/>
          </a:solidFill>
          <a:ln>
            <a:noFill/>
          </a:ln>
        </p:spPr>
        <p:txBody>
          <a:bodyPr rtlCol="0" anchor="ctr"/>
          <a:lstStyle/>
          <a:p>
            <a:pPr algn="ctr"/>
          </a:p>
        </p:txBody>
      </p:sp>
      <p:sp>
        <p:nvSpPr>
          <p:cNvPr id="6" name="TextBox 5"/>
          <p:cNvSpPr txBox="1"/>
          <p:nvPr/>
        </p:nvSpPr>
        <p:spPr>
          <a:xfrm>
            <a:off x="1051560" y="2521712"/>
            <a:ext cx="1645920" cy="274320"/>
          </a:xfrm>
          <a:prstGeom prst="rect">
            <a:avLst/>
          </a:prstGeom>
          <a:noFill/>
        </p:spPr>
        <p:txBody>
          <a:bodyPr wrap="square" anchor="t" lIns="0" rIns="0" tIns="0" bIns="0"/>
          <a:lstStyle/>
          <a:p>
            <a:pPr algn="l">
              <a:lnSpc>
                <a:spcPct val="110000"/>
              </a:lnSpc>
            </a:pPr>
            <a:r>
              <a:rPr sz="1400" b="1">
                <a:solidFill>
                  <a:srgbClr val="707078"/>
                </a:solidFill>
                <a:latin typeface="Inter"/>
              </a:rPr>
              <a:t>WHAT IT IS</a:t>
            </a:r>
          </a:p>
        </p:txBody>
      </p:sp>
      <p:sp>
        <p:nvSpPr>
          <p:cNvPr id="7" name="TextBox 6"/>
          <p:cNvSpPr txBox="1"/>
          <p:nvPr/>
        </p:nvSpPr>
        <p:spPr>
          <a:xfrm>
            <a:off x="3017520" y="2423160"/>
            <a:ext cx="8122615" cy="378642"/>
          </a:xfrm>
          <a:prstGeom prst="rect">
            <a:avLst/>
          </a:prstGeom>
          <a:noFill/>
        </p:spPr>
        <p:txBody>
          <a:bodyPr wrap="square" anchor="t" lIns="0" rIns="0" tIns="0" bIns="0"/>
          <a:lstStyle/>
          <a:p>
            <a:pPr algn="l">
              <a:lnSpc>
                <a:spcPct val="112000"/>
              </a:lnSpc>
            </a:pPr>
            <a:r>
              <a:rPr sz="2200" b="0">
                <a:solidFill>
                  <a:srgbClr val="111111"/>
                </a:solidFill>
                <a:latin typeface="Inter"/>
              </a:rPr>
              <a:t>two kinds of undo.</a:t>
            </a:r>
          </a:p>
        </p:txBody>
      </p:sp>
      <p:sp>
        <p:nvSpPr>
          <p:cNvPr id="8" name="Rectangle 7"/>
          <p:cNvSpPr/>
          <p:nvPr/>
        </p:nvSpPr>
        <p:spPr>
          <a:xfrm>
            <a:off x="822960" y="2938962"/>
            <a:ext cx="10545775" cy="12700"/>
          </a:xfrm>
          <a:prstGeom prst="rect">
            <a:avLst/>
          </a:prstGeom>
          <a:solidFill>
            <a:srgbClr val="D9D9DE"/>
          </a:solidFill>
          <a:ln>
            <a:noFill/>
          </a:ln>
        </p:spPr>
        <p:txBody>
          <a:bodyPr rtlCol="0" anchor="ctr"/>
          <a:lstStyle/>
          <a:p>
            <a:pPr algn="ctr"/>
          </a:p>
        </p:txBody>
      </p:sp>
      <p:sp>
        <p:nvSpPr>
          <p:cNvPr id="9" name="TextBox 8"/>
          <p:cNvSpPr txBox="1"/>
          <p:nvPr/>
        </p:nvSpPr>
        <p:spPr>
          <a:xfrm>
            <a:off x="1051560" y="3174674"/>
            <a:ext cx="1645920" cy="274320"/>
          </a:xfrm>
          <a:prstGeom prst="rect">
            <a:avLst/>
          </a:prstGeom>
          <a:noFill/>
        </p:spPr>
        <p:txBody>
          <a:bodyPr wrap="square" anchor="t" lIns="0" rIns="0" tIns="0" bIns="0"/>
          <a:lstStyle/>
          <a:p>
            <a:pPr algn="l">
              <a:lnSpc>
                <a:spcPct val="110000"/>
              </a:lnSpc>
            </a:pPr>
            <a:r>
              <a:rPr sz="1400" b="1">
                <a:solidFill>
                  <a:srgbClr val="707078"/>
                </a:solidFill>
                <a:latin typeface="Inter"/>
              </a:rPr>
              <a:t>WHAT IT DOES</a:t>
            </a:r>
          </a:p>
        </p:txBody>
      </p:sp>
      <p:sp>
        <p:nvSpPr>
          <p:cNvPr id="10" name="TextBox 9"/>
          <p:cNvSpPr txBox="1"/>
          <p:nvPr/>
        </p:nvSpPr>
        <p:spPr>
          <a:xfrm>
            <a:off x="3017520" y="3076122"/>
            <a:ext cx="8122615" cy="1135928"/>
          </a:xfrm>
          <a:prstGeom prst="rect">
            <a:avLst/>
          </a:prstGeom>
          <a:noFill/>
        </p:spPr>
        <p:txBody>
          <a:bodyPr wrap="square" anchor="t" lIns="0" rIns="0" tIns="0" bIns="0"/>
          <a:lstStyle/>
          <a:p>
            <a:pPr algn="l">
              <a:lnSpc>
                <a:spcPct val="112000"/>
              </a:lnSpc>
            </a:pPr>
            <a:r>
              <a:rPr sz="2200" b="0">
                <a:solidFill>
                  <a:srgbClr val="111111"/>
                </a:solidFill>
                <a:latin typeface="Inter"/>
              </a:rPr>
              <a:t>revert adds a commit that undoes an old one, and is safe on shared history. reset moves your branch label back, and is only safe if nobody else has those commits.</a:t>
            </a:r>
          </a:p>
        </p:txBody>
      </p:sp>
      <p:sp>
        <p:nvSpPr>
          <p:cNvPr id="11" name="Rounded Rectangle 10"/>
          <p:cNvSpPr/>
          <p:nvPr/>
        </p:nvSpPr>
        <p:spPr>
          <a:xfrm>
            <a:off x="822960" y="4422362"/>
            <a:ext cx="10545775" cy="1779219"/>
          </a:xfrm>
          <a:prstGeom prst="roundRect">
            <a:avLst>
              <a:gd name="adj" fmla="val 12000"/>
            </a:avLst>
          </a:prstGeom>
          <a:solidFill>
            <a:srgbClr val="F4ECFB"/>
          </a:solidFill>
          <a:ln>
            <a:noFill/>
          </a:ln>
          <a:effectLst/>
        </p:spPr>
        <p:txBody>
          <a:bodyPr rtlCol="0" anchor="ctr"/>
          <a:lstStyle/>
          <a:p/>
        </p:txBody>
      </p:sp>
      <p:sp>
        <p:nvSpPr>
          <p:cNvPr id="12" name="TextBox 11"/>
          <p:cNvSpPr txBox="1"/>
          <p:nvPr/>
        </p:nvSpPr>
        <p:spPr>
          <a:xfrm>
            <a:off x="1051560" y="4697444"/>
            <a:ext cx="1645920" cy="274320"/>
          </a:xfrm>
          <a:prstGeom prst="rect">
            <a:avLst/>
          </a:prstGeom>
          <a:noFill/>
        </p:spPr>
        <p:txBody>
          <a:bodyPr wrap="square" anchor="t" lIns="0" rIns="0" tIns="0" bIns="0"/>
          <a:lstStyle/>
          <a:p>
            <a:pPr algn="l">
              <a:lnSpc>
                <a:spcPct val="110000"/>
              </a:lnSpc>
            </a:pPr>
            <a:r>
              <a:rPr sz="1400" b="1">
                <a:solidFill>
                  <a:srgbClr val="8B3DFF"/>
                </a:solidFill>
                <a:latin typeface="Inter"/>
              </a:rPr>
              <a:t>HOW GIT DOES IT</a:t>
            </a:r>
          </a:p>
        </p:txBody>
      </p:sp>
      <p:sp>
        <p:nvSpPr>
          <p:cNvPr id="13" name="TextBox 12"/>
          <p:cNvSpPr txBox="1"/>
          <p:nvPr/>
        </p:nvSpPr>
        <p:spPr>
          <a:xfrm>
            <a:off x="3017520" y="4623530"/>
            <a:ext cx="8122615" cy="1376883"/>
          </a:xfrm>
          <a:prstGeom prst="rect">
            <a:avLst/>
          </a:prstGeom>
          <a:noFill/>
        </p:spPr>
        <p:txBody>
          <a:bodyPr wrap="square" anchor="t" lIns="0" rIns="0" tIns="0" bIns="0"/>
          <a:lstStyle/>
          <a:p>
            <a:pPr algn="l">
              <a:lnSpc>
                <a:spcPct val="112000"/>
              </a:lnSpc>
            </a:pPr>
            <a:r>
              <a:rPr sz="2000" b="0">
                <a:solidFill>
                  <a:srgbClr val="111111"/>
                </a:solidFill>
                <a:latin typeface="Inter"/>
              </a:rPr>
              <a:t>revert applies the opposite of the commit's change and commits it on top, so history only grows. reset rewrites the branch file. The commits left behind are still listed in the reflog (a local log of where each label pointed) until they expire and gc removes them.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822960" y="502920"/>
            <a:ext cx="1344168" cy="457200"/>
          </a:xfrm>
          <a:prstGeom prst="roundRect">
            <a:avLst>
              <a:gd name="adj" fmla="val 50000"/>
            </a:avLst>
          </a:prstGeom>
          <a:solidFill>
            <a:srgbClr val="111111"/>
          </a:solidFill>
          <a:ln>
            <a:noFill/>
          </a:ln>
          <a:effectLst/>
        </p:spPr>
        <p:txBody>
          <a:bodyPr rtlCol="0" anchor="ctr" lIns="0" rIns="0" tIns="0" bIns="0"/>
          <a:lstStyle/>
          <a:p>
            <a:pPr algn="ctr"/>
            <a:r>
              <a:rPr sz="1800" b="1">
                <a:solidFill>
                  <a:srgbClr val="FFFFFF"/>
                </a:solidFill>
                <a:latin typeface="Inter"/>
              </a:rPr>
              <a:t>STEP 6</a:t>
            </a:r>
          </a:p>
        </p:txBody>
      </p:sp>
      <p:sp>
        <p:nvSpPr>
          <p:cNvPr id="3" name="TextBox 2"/>
          <p:cNvSpPr txBox="1"/>
          <p:nvPr/>
        </p:nvSpPr>
        <p:spPr>
          <a:xfrm>
            <a:off x="2441448" y="502920"/>
            <a:ext cx="8229600" cy="457200"/>
          </a:xfrm>
          <a:prstGeom prst="rect">
            <a:avLst/>
          </a:prstGeom>
          <a:noFill/>
        </p:spPr>
        <p:txBody>
          <a:bodyPr wrap="square" anchor="ctr" lIns="0" rIns="0" tIns="0" bIns="0"/>
          <a:lstStyle/>
          <a:p>
            <a:pPr algn="l">
              <a:lnSpc>
                <a:spcPct val="110000"/>
              </a:lnSpc>
            </a:pPr>
            <a:r>
              <a:rPr sz="2400" b="1">
                <a:solidFill>
                  <a:srgbClr val="111111"/>
                </a:solidFill>
                <a:latin typeface="Inter"/>
              </a:rPr>
              <a:t>The boss wants it clean</a:t>
            </a:r>
          </a:p>
        </p:txBody>
      </p:sp>
      <p:sp>
        <p:nvSpPr>
          <p:cNvPr id="4" name="TextBox 3"/>
          <p:cNvSpPr txBox="1"/>
          <p:nvPr/>
        </p:nvSpPr>
        <p:spPr>
          <a:xfrm>
            <a:off x="822960" y="1143000"/>
            <a:ext cx="10545775" cy="914400"/>
          </a:xfrm>
          <a:prstGeom prst="rect">
            <a:avLst/>
          </a:prstGeom>
          <a:noFill/>
        </p:spPr>
        <p:txBody>
          <a:bodyPr wrap="square" anchor="b" lIns="0" rIns="0" tIns="0" bIns="0"/>
          <a:lstStyle/>
          <a:p>
            <a:pPr algn="l">
              <a:lnSpc>
                <a:spcPct val="100000"/>
              </a:lnSpc>
            </a:pPr>
            <a:r>
              <a:rPr sz="5300" b="1">
                <a:solidFill>
                  <a:srgbClr val="8B3DFF"/>
                </a:solidFill>
                <a:latin typeface="Noto Sans Mono"/>
              </a:rPr>
              <a:t>Squash + git push --force</a:t>
            </a:r>
          </a:p>
        </p:txBody>
      </p:sp>
      <p:sp>
        <p:nvSpPr>
          <p:cNvPr id="5" name="Rectangle 4"/>
          <p:cNvSpPr/>
          <p:nvPr/>
        </p:nvSpPr>
        <p:spPr>
          <a:xfrm>
            <a:off x="822960" y="2286000"/>
            <a:ext cx="10545775" cy="12700"/>
          </a:xfrm>
          <a:prstGeom prst="rect">
            <a:avLst/>
          </a:prstGeom>
          <a:solidFill>
            <a:srgbClr val="D9D9DE"/>
          </a:solidFill>
          <a:ln>
            <a:noFill/>
          </a:ln>
        </p:spPr>
        <p:txBody>
          <a:bodyPr rtlCol="0" anchor="ctr"/>
          <a:lstStyle/>
          <a:p>
            <a:pPr algn="ctr"/>
          </a:p>
        </p:txBody>
      </p:sp>
      <p:sp>
        <p:nvSpPr>
          <p:cNvPr id="6" name="TextBox 5"/>
          <p:cNvSpPr txBox="1"/>
          <p:nvPr/>
        </p:nvSpPr>
        <p:spPr>
          <a:xfrm>
            <a:off x="1051560" y="2521712"/>
            <a:ext cx="1645920" cy="274320"/>
          </a:xfrm>
          <a:prstGeom prst="rect">
            <a:avLst/>
          </a:prstGeom>
          <a:noFill/>
        </p:spPr>
        <p:txBody>
          <a:bodyPr wrap="square" anchor="t" lIns="0" rIns="0" tIns="0" bIns="0"/>
          <a:lstStyle/>
          <a:p>
            <a:pPr algn="l">
              <a:lnSpc>
                <a:spcPct val="110000"/>
              </a:lnSpc>
            </a:pPr>
            <a:r>
              <a:rPr sz="1400" b="1">
                <a:solidFill>
                  <a:srgbClr val="707078"/>
                </a:solidFill>
                <a:latin typeface="Inter"/>
              </a:rPr>
              <a:t>WHAT IT IS</a:t>
            </a:r>
          </a:p>
        </p:txBody>
      </p:sp>
      <p:sp>
        <p:nvSpPr>
          <p:cNvPr id="7" name="TextBox 6"/>
          <p:cNvSpPr txBox="1"/>
          <p:nvPr/>
        </p:nvSpPr>
        <p:spPr>
          <a:xfrm>
            <a:off x="3017520" y="2423160"/>
            <a:ext cx="8122615" cy="378642"/>
          </a:xfrm>
          <a:prstGeom prst="rect">
            <a:avLst/>
          </a:prstGeom>
          <a:noFill/>
        </p:spPr>
        <p:txBody>
          <a:bodyPr wrap="square" anchor="t" lIns="0" rIns="0" tIns="0" bIns="0"/>
          <a:lstStyle/>
          <a:p>
            <a:pPr algn="l">
              <a:lnSpc>
                <a:spcPct val="112000"/>
              </a:lnSpc>
            </a:pPr>
            <a:r>
              <a:rPr sz="2200" b="0">
                <a:solidFill>
                  <a:srgbClr val="111111"/>
                </a:solidFill>
                <a:latin typeface="Inter"/>
              </a:rPr>
              <a:t>cleaning up history.</a:t>
            </a:r>
          </a:p>
        </p:txBody>
      </p:sp>
      <p:sp>
        <p:nvSpPr>
          <p:cNvPr id="8" name="Rectangle 7"/>
          <p:cNvSpPr/>
          <p:nvPr/>
        </p:nvSpPr>
        <p:spPr>
          <a:xfrm>
            <a:off x="822960" y="2938962"/>
            <a:ext cx="10545775" cy="12700"/>
          </a:xfrm>
          <a:prstGeom prst="rect">
            <a:avLst/>
          </a:prstGeom>
          <a:solidFill>
            <a:srgbClr val="D9D9DE"/>
          </a:solidFill>
          <a:ln>
            <a:noFill/>
          </a:ln>
        </p:spPr>
        <p:txBody>
          <a:bodyPr rtlCol="0" anchor="ctr"/>
          <a:lstStyle/>
          <a:p>
            <a:pPr algn="ctr"/>
          </a:p>
        </p:txBody>
      </p:sp>
      <p:sp>
        <p:nvSpPr>
          <p:cNvPr id="9" name="TextBox 8"/>
          <p:cNvSpPr txBox="1"/>
          <p:nvPr/>
        </p:nvSpPr>
        <p:spPr>
          <a:xfrm>
            <a:off x="1051560" y="3174674"/>
            <a:ext cx="1645920" cy="274320"/>
          </a:xfrm>
          <a:prstGeom prst="rect">
            <a:avLst/>
          </a:prstGeom>
          <a:noFill/>
        </p:spPr>
        <p:txBody>
          <a:bodyPr wrap="square" anchor="t" lIns="0" rIns="0" tIns="0" bIns="0"/>
          <a:lstStyle/>
          <a:p>
            <a:pPr algn="l">
              <a:lnSpc>
                <a:spcPct val="110000"/>
              </a:lnSpc>
            </a:pPr>
            <a:r>
              <a:rPr sz="1400" b="1">
                <a:solidFill>
                  <a:srgbClr val="707078"/>
                </a:solidFill>
                <a:latin typeface="Inter"/>
              </a:rPr>
              <a:t>WHAT IT DOES</a:t>
            </a:r>
          </a:p>
        </p:txBody>
      </p:sp>
      <p:sp>
        <p:nvSpPr>
          <p:cNvPr id="10" name="TextBox 9"/>
          <p:cNvSpPr txBox="1"/>
          <p:nvPr/>
        </p:nvSpPr>
        <p:spPr>
          <a:xfrm>
            <a:off x="3017520" y="3076122"/>
            <a:ext cx="8122615" cy="757285"/>
          </a:xfrm>
          <a:prstGeom prst="rect">
            <a:avLst/>
          </a:prstGeom>
          <a:noFill/>
        </p:spPr>
        <p:txBody>
          <a:bodyPr wrap="square" anchor="t" lIns="0" rIns="0" tIns="0" bIns="0"/>
          <a:lstStyle/>
          <a:p>
            <a:pPr algn="l">
              <a:lnSpc>
                <a:spcPct val="112000"/>
              </a:lnSpc>
            </a:pPr>
            <a:r>
              <a:rPr sz="2200" b="0">
                <a:solidFill>
                  <a:srgbClr val="111111"/>
                </a:solidFill>
                <a:latin typeface="Inter"/>
              </a:rPr>
              <a:t>squash turns several commits into one. Force push makes the Wall accept it anyway.</a:t>
            </a:r>
          </a:p>
        </p:txBody>
      </p:sp>
      <p:sp>
        <p:nvSpPr>
          <p:cNvPr id="11" name="Rounded Rectangle 10"/>
          <p:cNvSpPr/>
          <p:nvPr/>
        </p:nvSpPr>
        <p:spPr>
          <a:xfrm>
            <a:off x="822960" y="4043719"/>
            <a:ext cx="10545775" cy="1779219"/>
          </a:xfrm>
          <a:prstGeom prst="roundRect">
            <a:avLst>
              <a:gd name="adj" fmla="val 12000"/>
            </a:avLst>
          </a:prstGeom>
          <a:solidFill>
            <a:srgbClr val="F4ECFB"/>
          </a:solidFill>
          <a:ln>
            <a:noFill/>
          </a:ln>
          <a:effectLst/>
        </p:spPr>
        <p:txBody>
          <a:bodyPr rtlCol="0" anchor="ctr"/>
          <a:lstStyle/>
          <a:p/>
        </p:txBody>
      </p:sp>
      <p:sp>
        <p:nvSpPr>
          <p:cNvPr id="12" name="TextBox 11"/>
          <p:cNvSpPr txBox="1"/>
          <p:nvPr/>
        </p:nvSpPr>
        <p:spPr>
          <a:xfrm>
            <a:off x="1051560" y="4318801"/>
            <a:ext cx="1645920" cy="274320"/>
          </a:xfrm>
          <a:prstGeom prst="rect">
            <a:avLst/>
          </a:prstGeom>
          <a:noFill/>
        </p:spPr>
        <p:txBody>
          <a:bodyPr wrap="square" anchor="t" lIns="0" rIns="0" tIns="0" bIns="0"/>
          <a:lstStyle/>
          <a:p>
            <a:pPr algn="l">
              <a:lnSpc>
                <a:spcPct val="110000"/>
              </a:lnSpc>
            </a:pPr>
            <a:r>
              <a:rPr sz="1400" b="1">
                <a:solidFill>
                  <a:srgbClr val="8B3DFF"/>
                </a:solidFill>
                <a:latin typeface="Inter"/>
              </a:rPr>
              <a:t>HOW GIT DOES IT</a:t>
            </a:r>
          </a:p>
        </p:txBody>
      </p:sp>
      <p:sp>
        <p:nvSpPr>
          <p:cNvPr id="13" name="TextBox 12"/>
          <p:cNvSpPr txBox="1"/>
          <p:nvPr/>
        </p:nvSpPr>
        <p:spPr>
          <a:xfrm>
            <a:off x="3017520" y="4244887"/>
            <a:ext cx="8122615" cy="1376883"/>
          </a:xfrm>
          <a:prstGeom prst="rect">
            <a:avLst/>
          </a:prstGeom>
          <a:noFill/>
        </p:spPr>
        <p:txBody>
          <a:bodyPr wrap="square" anchor="t" lIns="0" rIns="0" tIns="0" bIns="0"/>
          <a:lstStyle/>
          <a:p>
            <a:pPr algn="l">
              <a:lnSpc>
                <a:spcPct val="112000"/>
              </a:lnSpc>
            </a:pPr>
            <a:r>
              <a:rPr sz="2000" b="0">
                <a:solidFill>
                  <a:srgbClr val="111111"/>
                </a:solidFill>
                <a:latin typeface="Inter"/>
              </a:rPr>
              <a:t>squash writes one new commit whose tree is the final state. The originals, with their authors and times, become unreachable. </a:t>
            </a:r>
            <a:r>
              <a:rPr sz="2000" b="0">
                <a:solidFill>
                  <a:srgbClr val="111111"/>
                </a:solidFill>
                <a:latin typeface="Noto Sans Mono"/>
              </a:rPr>
              <a:t>-⁠-⁠force</a:t>
            </a:r>
            <a:r>
              <a:rPr sz="2000" b="0">
                <a:solidFill>
                  <a:srgbClr val="111111"/>
                </a:solidFill>
                <a:latin typeface="Inter"/>
              </a:rPr>
              <a:t> skips the fast-forward check and moves the remote branch. </a:t>
            </a:r>
            <a:r>
              <a:rPr sz="2000" b="0">
                <a:solidFill>
                  <a:srgbClr val="111111"/>
                </a:solidFill>
                <a:latin typeface="Noto Sans Mono"/>
              </a:rPr>
              <a:t>git gc</a:t>
            </a:r>
            <a:r>
              <a:rPr sz="2000" b="0">
                <a:solidFill>
                  <a:srgbClr val="111111"/>
                </a:solidFill>
                <a:latin typeface="Inter"/>
              </a:rPr>
              <a:t> later deletes unreachable objects.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45775" cy="365760"/>
          </a:xfrm>
          <a:prstGeom prst="rect">
            <a:avLst/>
          </a:prstGeom>
          <a:noFill/>
        </p:spPr>
        <p:txBody>
          <a:bodyPr wrap="square" anchor="t" lIns="0" rIns="0" tIns="0" bIns="0"/>
          <a:lstStyle/>
          <a:p>
            <a:pPr algn="l">
              <a:lnSpc>
                <a:spcPct val="110000"/>
              </a:lnSpc>
            </a:pPr>
            <a:r>
              <a:rPr sz="1800" b="0">
                <a:solidFill>
                  <a:srgbClr val="707078"/>
                </a:solidFill>
                <a:latin typeface="Inter"/>
              </a:rPr>
              <a:t>Tuesday's paper · Just, Herzig, Czerwonka, Murphy · ISSRE 2016</a:t>
            </a:r>
          </a:p>
        </p:txBody>
      </p:sp>
      <p:sp>
        <p:nvSpPr>
          <p:cNvPr id="3" name="TextBox 2"/>
          <p:cNvSpPr txBox="1"/>
          <p:nvPr/>
        </p:nvSpPr>
        <p:spPr>
          <a:xfrm>
            <a:off x="822960" y="731520"/>
            <a:ext cx="10545775" cy="548640"/>
          </a:xfrm>
          <a:prstGeom prst="rect">
            <a:avLst/>
          </a:prstGeom>
          <a:noFill/>
        </p:spPr>
        <p:txBody>
          <a:bodyPr wrap="square" anchor="t" lIns="0" rIns="0" tIns="0" bIns="0"/>
          <a:lstStyle/>
          <a:p>
            <a:pPr algn="l">
              <a:lnSpc>
                <a:spcPct val="110000"/>
              </a:lnSpc>
            </a:pPr>
            <a:r>
              <a:rPr sz="3200" b="1">
                <a:solidFill>
                  <a:srgbClr val="111111"/>
                </a:solidFill>
                <a:latin typeface="Inter"/>
              </a:rPr>
              <a:t>Switching to Git: the Good, the Bad, and the Ugly</a:t>
            </a:r>
          </a:p>
        </p:txBody>
      </p:sp>
      <p:sp>
        <p:nvSpPr>
          <p:cNvPr id="4" name="Rectangle 3"/>
          <p:cNvSpPr/>
          <p:nvPr/>
        </p:nvSpPr>
        <p:spPr>
          <a:xfrm>
            <a:off x="822960" y="1463040"/>
            <a:ext cx="3271418" cy="54864"/>
          </a:xfrm>
          <a:prstGeom prst="rect">
            <a:avLst/>
          </a:prstGeom>
          <a:solidFill>
            <a:srgbClr val="16A34A"/>
          </a:solidFill>
          <a:ln>
            <a:noFill/>
          </a:ln>
        </p:spPr>
        <p:txBody>
          <a:bodyPr rtlCol="0" anchor="ctr"/>
          <a:lstStyle/>
          <a:p>
            <a:pPr algn="ctr"/>
          </a:p>
        </p:txBody>
      </p:sp>
      <p:sp>
        <p:nvSpPr>
          <p:cNvPr id="5" name="TextBox 4"/>
          <p:cNvSpPr txBox="1"/>
          <p:nvPr/>
        </p:nvSpPr>
        <p:spPr>
          <a:xfrm>
            <a:off x="822960" y="1600200"/>
            <a:ext cx="3271418" cy="274320"/>
          </a:xfrm>
          <a:prstGeom prst="rect">
            <a:avLst/>
          </a:prstGeom>
          <a:noFill/>
        </p:spPr>
        <p:txBody>
          <a:bodyPr wrap="square" anchor="t" lIns="0" rIns="0" tIns="0" bIns="0"/>
          <a:lstStyle/>
          <a:p>
            <a:pPr algn="l">
              <a:lnSpc>
                <a:spcPct val="110000"/>
              </a:lnSpc>
            </a:pPr>
            <a:r>
              <a:rPr sz="1800" b="1">
                <a:solidFill>
                  <a:srgbClr val="16A34A"/>
                </a:solidFill>
                <a:latin typeface="Inter"/>
              </a:rPr>
              <a:t>GOOD</a:t>
            </a:r>
          </a:p>
        </p:txBody>
      </p:sp>
      <p:sp>
        <p:nvSpPr>
          <p:cNvPr id="6" name="TextBox 5"/>
          <p:cNvSpPr txBox="1"/>
          <p:nvPr/>
        </p:nvSpPr>
        <p:spPr>
          <a:xfrm>
            <a:off x="822960" y="1965960"/>
            <a:ext cx="3271418" cy="1442393"/>
          </a:xfrm>
          <a:prstGeom prst="rect">
            <a:avLst/>
          </a:prstGeom>
          <a:noFill/>
        </p:spPr>
        <p:txBody>
          <a:bodyPr wrap="square" anchor="t" lIns="0" rIns="0" tIns="0" bIns="0"/>
          <a:lstStyle/>
          <a:p>
            <a:pPr algn="l">
              <a:lnSpc>
                <a:spcPct val="112000"/>
              </a:lnSpc>
              <a:spcBef>
                <a:spcPts val="0"/>
              </a:spcBef>
            </a:pPr>
            <a:r>
              <a:rPr sz="1800" b="0">
                <a:solidFill>
                  <a:srgbClr val="111111"/>
                </a:solidFill>
                <a:latin typeface="Inter"/>
              </a:rPr>
              <a:t>Cheap branches.</a:t>
            </a:r>
          </a:p>
          <a:p>
            <a:pPr algn="l">
              <a:lnSpc>
                <a:spcPct val="112000"/>
              </a:lnSpc>
              <a:spcBef>
                <a:spcPts val="800"/>
              </a:spcBef>
            </a:pPr>
            <a:r>
              <a:rPr sz="1800" b="0">
                <a:solidFill>
                  <a:srgbClr val="111111"/>
                </a:solidFill>
                <a:latin typeface="Inter"/>
              </a:rPr>
              <a:t>Local commits and reverts.</a:t>
            </a:r>
          </a:p>
          <a:p>
            <a:pPr algn="l">
              <a:lnSpc>
                <a:spcPct val="112000"/>
              </a:lnSpc>
              <a:spcBef>
                <a:spcPts val="800"/>
              </a:spcBef>
            </a:pPr>
            <a:r>
              <a:rPr sz="1800" b="0">
                <a:solidFill>
                  <a:srgbClr val="111111"/>
                </a:solidFill>
                <a:latin typeface="Inter"/>
              </a:rPr>
              <a:t>Developers prefer a flat history.</a:t>
            </a:r>
          </a:p>
        </p:txBody>
      </p:sp>
      <p:sp>
        <p:nvSpPr>
          <p:cNvPr id="7" name="Rectangle 6"/>
          <p:cNvSpPr/>
          <p:nvPr/>
        </p:nvSpPr>
        <p:spPr>
          <a:xfrm>
            <a:off x="4460138" y="1463040"/>
            <a:ext cx="3271418" cy="54864"/>
          </a:xfrm>
          <a:prstGeom prst="rect">
            <a:avLst/>
          </a:prstGeom>
          <a:solidFill>
            <a:srgbClr val="E08A00"/>
          </a:solidFill>
          <a:ln>
            <a:noFill/>
          </a:ln>
        </p:spPr>
        <p:txBody>
          <a:bodyPr rtlCol="0" anchor="ctr"/>
          <a:lstStyle/>
          <a:p>
            <a:pPr algn="ctr"/>
          </a:p>
        </p:txBody>
      </p:sp>
      <p:sp>
        <p:nvSpPr>
          <p:cNvPr id="8" name="TextBox 7"/>
          <p:cNvSpPr txBox="1"/>
          <p:nvPr/>
        </p:nvSpPr>
        <p:spPr>
          <a:xfrm>
            <a:off x="4460138" y="1600200"/>
            <a:ext cx="3271418" cy="274320"/>
          </a:xfrm>
          <a:prstGeom prst="rect">
            <a:avLst/>
          </a:prstGeom>
          <a:noFill/>
        </p:spPr>
        <p:txBody>
          <a:bodyPr wrap="square" anchor="t" lIns="0" rIns="0" tIns="0" bIns="0"/>
          <a:lstStyle/>
          <a:p>
            <a:pPr algn="l">
              <a:lnSpc>
                <a:spcPct val="110000"/>
              </a:lnSpc>
            </a:pPr>
            <a:r>
              <a:rPr sz="1800" b="1">
                <a:solidFill>
                  <a:srgbClr val="E08A00"/>
                </a:solidFill>
                <a:latin typeface="Inter"/>
              </a:rPr>
              <a:t>BAD</a:t>
            </a:r>
          </a:p>
        </p:txBody>
      </p:sp>
      <p:sp>
        <p:nvSpPr>
          <p:cNvPr id="9" name="TextBox 8"/>
          <p:cNvSpPr txBox="1"/>
          <p:nvPr/>
        </p:nvSpPr>
        <p:spPr>
          <a:xfrm>
            <a:off x="4460138" y="1965960"/>
            <a:ext cx="3271418" cy="2681588"/>
          </a:xfrm>
          <a:prstGeom prst="rect">
            <a:avLst/>
          </a:prstGeom>
          <a:noFill/>
        </p:spPr>
        <p:txBody>
          <a:bodyPr wrap="square" anchor="t" lIns="0" rIns="0" tIns="0" bIns="0"/>
          <a:lstStyle/>
          <a:p>
            <a:pPr algn="l">
              <a:lnSpc>
                <a:spcPct val="112000"/>
              </a:lnSpc>
              <a:spcBef>
                <a:spcPts val="0"/>
              </a:spcBef>
            </a:pPr>
            <a:r>
              <a:rPr sz="1800" b="0">
                <a:solidFill>
                  <a:srgbClr val="111111"/>
                </a:solidFill>
                <a:latin typeface="Inter"/>
              </a:rPr>
              <a:t>Fast-forward forgets which branch a change came from.</a:t>
            </a:r>
          </a:p>
          <a:p>
            <a:pPr algn="l">
              <a:lnSpc>
                <a:spcPct val="112000"/>
              </a:lnSpc>
              <a:spcBef>
                <a:spcPts val="800"/>
              </a:spcBef>
            </a:pPr>
            <a:r>
              <a:rPr sz="1800" b="0">
                <a:solidFill>
                  <a:srgbClr val="111111"/>
                </a:solidFill>
                <a:latin typeface="Inter"/>
              </a:rPr>
              <a:t>Rebase rewrites the commit; the patch can change too.</a:t>
            </a:r>
          </a:p>
          <a:p>
            <a:pPr algn="l">
              <a:lnSpc>
                <a:spcPct val="112000"/>
              </a:lnSpc>
              <a:spcBef>
                <a:spcPts val="800"/>
              </a:spcBef>
            </a:pPr>
            <a:r>
              <a:rPr sz="1800" b="0">
                <a:solidFill>
                  <a:srgbClr val="111111"/>
                </a:solidFill>
                <a:latin typeface="Inter"/>
              </a:rPr>
              <a:t>Squash can drop the cards — and, once the branch is deleted, even who made them.</a:t>
            </a:r>
          </a:p>
        </p:txBody>
      </p:sp>
      <p:sp>
        <p:nvSpPr>
          <p:cNvPr id="10" name="Rectangle 9"/>
          <p:cNvSpPr/>
          <p:nvPr/>
        </p:nvSpPr>
        <p:spPr>
          <a:xfrm>
            <a:off x="8097316" y="1463040"/>
            <a:ext cx="3271418" cy="54864"/>
          </a:xfrm>
          <a:prstGeom prst="rect">
            <a:avLst/>
          </a:prstGeom>
          <a:solidFill>
            <a:srgbClr val="DC2626"/>
          </a:solidFill>
          <a:ln>
            <a:noFill/>
          </a:ln>
        </p:spPr>
        <p:txBody>
          <a:bodyPr rtlCol="0" anchor="ctr"/>
          <a:lstStyle/>
          <a:p>
            <a:pPr algn="ctr"/>
          </a:p>
        </p:txBody>
      </p:sp>
      <p:sp>
        <p:nvSpPr>
          <p:cNvPr id="11" name="TextBox 10"/>
          <p:cNvSpPr txBox="1"/>
          <p:nvPr/>
        </p:nvSpPr>
        <p:spPr>
          <a:xfrm>
            <a:off x="8097316" y="1600200"/>
            <a:ext cx="3271418" cy="274320"/>
          </a:xfrm>
          <a:prstGeom prst="rect">
            <a:avLst/>
          </a:prstGeom>
          <a:noFill/>
        </p:spPr>
        <p:txBody>
          <a:bodyPr wrap="square" anchor="t" lIns="0" rIns="0" tIns="0" bIns="0"/>
          <a:lstStyle/>
          <a:p>
            <a:pPr algn="l">
              <a:lnSpc>
                <a:spcPct val="110000"/>
              </a:lnSpc>
            </a:pPr>
            <a:r>
              <a:rPr sz="1800" b="1">
                <a:solidFill>
                  <a:srgbClr val="DC2626"/>
                </a:solidFill>
                <a:latin typeface="Inter"/>
              </a:rPr>
              <a:t>UGLY</a:t>
            </a:r>
          </a:p>
        </p:txBody>
      </p:sp>
      <p:sp>
        <p:nvSpPr>
          <p:cNvPr id="12" name="TextBox 11"/>
          <p:cNvSpPr txBox="1"/>
          <p:nvPr/>
        </p:nvSpPr>
        <p:spPr>
          <a:xfrm>
            <a:off x="8097316" y="1965960"/>
            <a:ext cx="3271418" cy="2371790"/>
          </a:xfrm>
          <a:prstGeom prst="rect">
            <a:avLst/>
          </a:prstGeom>
          <a:noFill/>
        </p:spPr>
        <p:txBody>
          <a:bodyPr wrap="square" anchor="t" lIns="0" rIns="0" tIns="0" bIns="0"/>
          <a:lstStyle/>
          <a:p>
            <a:pPr algn="l">
              <a:lnSpc>
                <a:spcPct val="112000"/>
              </a:lnSpc>
              <a:spcBef>
                <a:spcPts val="0"/>
              </a:spcBef>
            </a:pPr>
            <a:r>
              <a:rPr sz="1800" b="0">
                <a:solidFill>
                  <a:srgbClr val="111111"/>
                </a:solidFill>
                <a:latin typeface="Inter"/>
              </a:rPr>
              <a:t>Microsoft traces each change's route to main: its integration path.</a:t>
            </a:r>
          </a:p>
          <a:p>
            <a:pPr algn="l">
              <a:lnSpc>
                <a:spcPct val="112000"/>
              </a:lnSpc>
              <a:spcBef>
                <a:spcPts val="800"/>
              </a:spcBef>
            </a:pPr>
            <a:r>
              <a:rPr sz="1800" b="0">
                <a:solidFill>
                  <a:srgbClr val="111111"/>
                </a:solidFill>
                <a:latin typeface="Inter"/>
              </a:rPr>
              <a:t>For Git, that tracing had to be redesigned from scratch.</a:t>
            </a:r>
          </a:p>
          <a:p>
            <a:pPr algn="l">
              <a:lnSpc>
                <a:spcPct val="112000"/>
              </a:lnSpc>
              <a:spcBef>
                <a:spcPts val="800"/>
              </a:spcBef>
            </a:pPr>
            <a:r>
              <a:rPr sz="1800" b="0">
                <a:solidFill>
                  <a:srgbClr val="111111"/>
                </a:solidFill>
                <a:latin typeface="Inter"/>
              </a:rPr>
              <a:t>Some loss cannot be recovered.</a:t>
            </a:r>
          </a:p>
        </p:txBody>
      </p:sp>
      <p:sp>
        <p:nvSpPr>
          <p:cNvPr id="13" name="TextBox 12"/>
          <p:cNvSpPr txBox="1"/>
          <p:nvPr/>
        </p:nvSpPr>
        <p:spPr>
          <a:xfrm>
            <a:off x="822960" y="4967588"/>
            <a:ext cx="10545775" cy="619597"/>
          </a:xfrm>
          <a:prstGeom prst="rect">
            <a:avLst/>
          </a:prstGeom>
          <a:noFill/>
        </p:spPr>
        <p:txBody>
          <a:bodyPr wrap="square" anchor="t" lIns="0" rIns="0" tIns="0" bIns="0"/>
          <a:lstStyle/>
          <a:p>
            <a:pPr algn="l">
              <a:lnSpc>
                <a:spcPct val="110000"/>
              </a:lnSpc>
            </a:pPr>
            <a:r>
              <a:rPr sz="3600" b="1">
                <a:solidFill>
                  <a:srgbClr val="8B3DFF"/>
                </a:solidFill>
                <a:latin typeface="Inter"/>
              </a:rPr>
              <a:t>For analysts, flat history is data loss.</a:t>
            </a:r>
          </a:p>
        </p:txBody>
      </p:sp>
      <p:sp>
        <p:nvSpPr>
          <p:cNvPr id="14" name="TextBox 13"/>
          <p:cNvSpPr txBox="1"/>
          <p:nvPr/>
        </p:nvSpPr>
        <p:spPr>
          <a:xfrm>
            <a:off x="822960" y="5678625"/>
            <a:ext cx="10545775" cy="688441"/>
          </a:xfrm>
          <a:prstGeom prst="rect">
            <a:avLst/>
          </a:prstGeom>
          <a:noFill/>
        </p:spPr>
        <p:txBody>
          <a:bodyPr wrap="square" anchor="t" lIns="0" rIns="0" tIns="0" bIns="0"/>
          <a:lstStyle/>
          <a:p>
            <a:pPr algn="l">
              <a:lnSpc>
                <a:spcPct val="112000"/>
              </a:lnSpc>
            </a:pPr>
            <a:r>
              <a:rPr sz="2000" b="0">
                <a:solidFill>
                  <a:srgbClr val="111111"/>
                </a:solidFill>
                <a:latin typeface="Inter"/>
              </a:rPr>
              <a:t>Flat history helps developers find and revert a bad change (bisect, revert). It loses where a change came from and who made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822960" y="502920"/>
            <a:ext cx="1810512" cy="457200"/>
          </a:xfrm>
          <a:prstGeom prst="roundRect">
            <a:avLst>
              <a:gd name="adj" fmla="val 50000"/>
            </a:avLst>
          </a:prstGeom>
          <a:solidFill>
            <a:srgbClr val="111111"/>
          </a:solidFill>
          <a:ln>
            <a:noFill/>
          </a:ln>
          <a:effectLst/>
        </p:spPr>
        <p:txBody>
          <a:bodyPr rtlCol="0" anchor="ctr" lIns="0" rIns="0" tIns="0" bIns="0"/>
          <a:lstStyle/>
          <a:p>
            <a:pPr algn="ctr"/>
            <a:r>
              <a:rPr sz="1800" b="1">
                <a:solidFill>
                  <a:srgbClr val="FFFFFF"/>
                </a:solidFill>
                <a:latin typeface="Inter"/>
              </a:rPr>
              <a:t>THE PAPER</a:t>
            </a:r>
          </a:p>
        </p:txBody>
      </p:sp>
      <p:sp>
        <p:nvSpPr>
          <p:cNvPr id="3" name="TextBox 2"/>
          <p:cNvSpPr txBox="1"/>
          <p:nvPr/>
        </p:nvSpPr>
        <p:spPr>
          <a:xfrm>
            <a:off x="2907792" y="502920"/>
            <a:ext cx="8229600" cy="457200"/>
          </a:xfrm>
          <a:prstGeom prst="rect">
            <a:avLst/>
          </a:prstGeom>
          <a:noFill/>
        </p:spPr>
        <p:txBody>
          <a:bodyPr wrap="square" anchor="ctr" lIns="0" rIns="0" tIns="0" bIns="0"/>
          <a:lstStyle/>
          <a:p>
            <a:pPr algn="l">
              <a:lnSpc>
                <a:spcPct val="110000"/>
              </a:lnSpc>
            </a:pPr>
            <a:r>
              <a:rPr sz="2400" b="1">
                <a:solidFill>
                  <a:srgbClr val="111111"/>
                </a:solidFill>
                <a:latin typeface="Inter"/>
              </a:rPr>
              <a:t>What you lived</a:t>
            </a:r>
          </a:p>
        </p:txBody>
      </p:sp>
      <p:sp>
        <p:nvSpPr>
          <p:cNvPr id="4" name="TextBox 3"/>
          <p:cNvSpPr txBox="1"/>
          <p:nvPr/>
        </p:nvSpPr>
        <p:spPr>
          <a:xfrm>
            <a:off x="822960" y="1371600"/>
            <a:ext cx="10545775" cy="2652854"/>
          </a:xfrm>
          <a:prstGeom prst="rect">
            <a:avLst/>
          </a:prstGeom>
          <a:noFill/>
        </p:spPr>
        <p:txBody>
          <a:bodyPr wrap="square" anchor="t" lIns="0" rIns="0" tIns="0" bIns="0"/>
          <a:lstStyle/>
          <a:p>
            <a:pPr algn="l">
              <a:lnSpc>
                <a:spcPct val="112000"/>
              </a:lnSpc>
              <a:spcBef>
                <a:spcPts val="0"/>
              </a:spcBef>
            </a:pPr>
            <a:r>
              <a:rPr sz="2200" b="0">
                <a:solidFill>
                  <a:srgbClr val="111111"/>
                </a:solidFill>
                <a:latin typeface="Inter"/>
              </a:rPr>
              <a:t>Step 3: after the fast-forward, you deleted fancy. No card says which cards were made on it.</a:t>
            </a:r>
          </a:p>
          <a:p>
            <a:pPr algn="l">
              <a:lnSpc>
                <a:spcPct val="112000"/>
              </a:lnSpc>
              <a:spcBef>
                <a:spcPts val="1000"/>
              </a:spcBef>
            </a:pPr>
            <a:r>
              <a:rPr sz="2200" b="0">
                <a:solidFill>
                  <a:srgbClr val="111111"/>
                </a:solidFill>
                <a:latin typeface="Inter"/>
              </a:rPr>
              <a:t>Step 4: Replay on top made a copy with a new ID; the original card is not on the Wall.</a:t>
            </a:r>
          </a:p>
          <a:p>
            <a:pPr algn="l">
              <a:lnSpc>
                <a:spcPct val="112000"/>
              </a:lnSpc>
              <a:spcBef>
                <a:spcPts val="1000"/>
              </a:spcBef>
            </a:pPr>
            <a:r>
              <a:rPr sz="2200" b="0">
                <a:solidFill>
                  <a:srgbClr val="111111"/>
                </a:solidFill>
                <a:latin typeface="Inter"/>
              </a:rPr>
              <a:t>Step 6: the squash dropped the cards, and who made them.</a:t>
            </a:r>
          </a:p>
          <a:p>
            <a:pPr algn="l">
              <a:lnSpc>
                <a:spcPct val="112000"/>
              </a:lnSpc>
              <a:spcBef>
                <a:spcPts val="1000"/>
              </a:spcBef>
            </a:pPr>
            <a:r>
              <a:rPr sz="2200" b="0">
                <a:solidFill>
                  <a:srgbClr val="111111"/>
                </a:solidFill>
                <a:latin typeface="Inter"/>
              </a:rPr>
              <a:t>Step 6: the 🥾 audit failed. The Wall no longer knows who added the boots.</a:t>
            </a:r>
          </a:p>
        </p:txBody>
      </p:sp>
      <p:sp>
        <p:nvSpPr>
          <p:cNvPr id="5" name="TextBox 4"/>
          <p:cNvSpPr txBox="1"/>
          <p:nvPr/>
        </p:nvSpPr>
        <p:spPr>
          <a:xfrm>
            <a:off x="822960" y="4481654"/>
            <a:ext cx="10545775" cy="274320"/>
          </a:xfrm>
          <a:prstGeom prst="rect">
            <a:avLst/>
          </a:prstGeom>
          <a:noFill/>
        </p:spPr>
        <p:txBody>
          <a:bodyPr wrap="square" anchor="t" lIns="0" rIns="0" tIns="0" bIns="0"/>
          <a:lstStyle/>
          <a:p>
            <a:pPr algn="l">
              <a:lnSpc>
                <a:spcPct val="110000"/>
              </a:lnSpc>
            </a:pPr>
            <a:r>
              <a:rPr sz="1400" b="1">
                <a:solidFill>
                  <a:srgbClr val="707078"/>
                </a:solidFill>
                <a:latin typeface="Inter"/>
              </a:rPr>
              <a:t>PAIRS, IN THE APP</a:t>
            </a:r>
          </a:p>
        </p:txBody>
      </p:sp>
      <p:sp>
        <p:nvSpPr>
          <p:cNvPr id="6" name="TextBox 5"/>
          <p:cNvSpPr txBox="1"/>
          <p:nvPr/>
        </p:nvSpPr>
        <p:spPr>
          <a:xfrm>
            <a:off x="822960" y="4801694"/>
            <a:ext cx="10545775" cy="826129"/>
          </a:xfrm>
          <a:prstGeom prst="rect">
            <a:avLst/>
          </a:prstGeom>
          <a:noFill/>
        </p:spPr>
        <p:txBody>
          <a:bodyPr wrap="square" anchor="t" lIns="0" rIns="0" tIns="0" bIns="0"/>
          <a:lstStyle/>
          <a:p>
            <a:pPr algn="l">
              <a:lnSpc>
                <a:spcPct val="112000"/>
              </a:lnSpc>
            </a:pPr>
            <a:r>
              <a:rPr sz="2400" b="1">
                <a:solidFill>
                  <a:srgbClr val="8B3DFF"/>
                </a:solidFill>
                <a:latin typeface="Inter"/>
              </a:rPr>
              <a:t>Your team squash-merges every feature branch and deletes it. What do you gain, and what can an auditor no longer answer?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1630"/>
        </a:solidFill>
        <a:effectLst/>
      </p:bgPr>
    </p:bg>
    <p:spTree>
      <p:nvGrpSpPr>
        <p:cNvPr id="1" name=""/>
        <p:cNvGrpSpPr/>
        <p:nvPr/>
      </p:nvGrpSpPr>
      <p:grpSpPr/>
      <p:sp>
        <p:nvSpPr>
          <p:cNvPr id="2" name="Oval 1"/>
          <p:cNvSpPr/>
          <p:nvPr/>
        </p:nvSpPr>
        <p:spPr>
          <a:xfrm>
            <a:off x="1097280" y="731520"/>
            <a:ext cx="45720" cy="45720"/>
          </a:xfrm>
          <a:prstGeom prst="ellipse">
            <a:avLst/>
          </a:prstGeom>
          <a:solidFill>
            <a:srgbClr val="FFFFFF"/>
          </a:solidFill>
          <a:ln>
            <a:noFill/>
          </a:ln>
        </p:spPr>
        <p:txBody>
          <a:bodyPr rtlCol="0" anchor="ctr"/>
          <a:lstStyle/>
          <a:p>
            <a:pPr algn="ctr"/>
          </a:p>
        </p:txBody>
      </p:sp>
      <p:sp>
        <p:nvSpPr>
          <p:cNvPr id="3" name="Oval 2"/>
          <p:cNvSpPr/>
          <p:nvPr/>
        </p:nvSpPr>
        <p:spPr>
          <a:xfrm>
            <a:off x="3108960" y="1463040"/>
            <a:ext cx="36576" cy="36576"/>
          </a:xfrm>
          <a:prstGeom prst="ellipse">
            <a:avLst/>
          </a:prstGeom>
          <a:solidFill>
            <a:srgbClr val="FFFFFF"/>
          </a:solidFill>
          <a:ln>
            <a:noFill/>
          </a:ln>
        </p:spPr>
        <p:txBody>
          <a:bodyPr rtlCol="0" anchor="ctr"/>
          <a:lstStyle/>
          <a:p>
            <a:pPr algn="ctr"/>
          </a:p>
        </p:txBody>
      </p:sp>
      <p:sp>
        <p:nvSpPr>
          <p:cNvPr id="4" name="Oval 3"/>
          <p:cNvSpPr/>
          <p:nvPr/>
        </p:nvSpPr>
        <p:spPr>
          <a:xfrm>
            <a:off x="5394960" y="548640"/>
            <a:ext cx="54864" cy="54864"/>
          </a:xfrm>
          <a:prstGeom prst="ellipse">
            <a:avLst/>
          </a:prstGeom>
          <a:solidFill>
            <a:srgbClr val="FFFFFF"/>
          </a:solidFill>
          <a:ln>
            <a:noFill/>
          </a:ln>
        </p:spPr>
        <p:txBody>
          <a:bodyPr rtlCol="0" anchor="ctr"/>
          <a:lstStyle/>
          <a:p>
            <a:pPr algn="ctr"/>
          </a:p>
        </p:txBody>
      </p:sp>
      <p:sp>
        <p:nvSpPr>
          <p:cNvPr id="5" name="Oval 4"/>
          <p:cNvSpPr/>
          <p:nvPr/>
        </p:nvSpPr>
        <p:spPr>
          <a:xfrm>
            <a:off x="7589520" y="1188720"/>
            <a:ext cx="36576" cy="36576"/>
          </a:xfrm>
          <a:prstGeom prst="ellipse">
            <a:avLst/>
          </a:prstGeom>
          <a:solidFill>
            <a:srgbClr val="FFFFFF"/>
          </a:solidFill>
          <a:ln>
            <a:noFill/>
          </a:ln>
        </p:spPr>
        <p:txBody>
          <a:bodyPr rtlCol="0" anchor="ctr"/>
          <a:lstStyle/>
          <a:p>
            <a:pPr algn="ctr"/>
          </a:p>
        </p:txBody>
      </p:sp>
      <p:sp>
        <p:nvSpPr>
          <p:cNvPr id="6" name="Oval 5"/>
          <p:cNvSpPr/>
          <p:nvPr/>
        </p:nvSpPr>
        <p:spPr>
          <a:xfrm>
            <a:off x="9692640" y="640080"/>
            <a:ext cx="45720" cy="45720"/>
          </a:xfrm>
          <a:prstGeom prst="ellipse">
            <a:avLst/>
          </a:prstGeom>
          <a:solidFill>
            <a:srgbClr val="FFFFFF"/>
          </a:solidFill>
          <a:ln>
            <a:noFill/>
          </a:ln>
        </p:spPr>
        <p:txBody>
          <a:bodyPr rtlCol="0" anchor="ctr"/>
          <a:lstStyle/>
          <a:p>
            <a:pPr algn="ctr"/>
          </a:p>
        </p:txBody>
      </p:sp>
      <p:sp>
        <p:nvSpPr>
          <p:cNvPr id="7" name="Oval 6"/>
          <p:cNvSpPr/>
          <p:nvPr/>
        </p:nvSpPr>
        <p:spPr>
          <a:xfrm>
            <a:off x="11064240" y="1737360"/>
            <a:ext cx="36576" cy="36576"/>
          </a:xfrm>
          <a:prstGeom prst="ellipse">
            <a:avLst/>
          </a:prstGeom>
          <a:solidFill>
            <a:srgbClr val="FFFFFF"/>
          </a:solidFill>
          <a:ln>
            <a:noFill/>
          </a:ln>
        </p:spPr>
        <p:txBody>
          <a:bodyPr rtlCol="0" anchor="ctr"/>
          <a:lstStyle/>
          <a:p>
            <a:pPr algn="ctr"/>
          </a:p>
        </p:txBody>
      </p:sp>
      <p:sp>
        <p:nvSpPr>
          <p:cNvPr id="8" name="Oval 7"/>
          <p:cNvSpPr/>
          <p:nvPr/>
        </p:nvSpPr>
        <p:spPr>
          <a:xfrm>
            <a:off x="2011680" y="5852160"/>
            <a:ext cx="36576" cy="36576"/>
          </a:xfrm>
          <a:prstGeom prst="ellipse">
            <a:avLst/>
          </a:prstGeom>
          <a:solidFill>
            <a:srgbClr val="FFFFFF"/>
          </a:solidFill>
          <a:ln>
            <a:noFill/>
          </a:ln>
        </p:spPr>
        <p:txBody>
          <a:bodyPr rtlCol="0" anchor="ctr"/>
          <a:lstStyle/>
          <a:p>
            <a:pPr algn="ctr"/>
          </a:p>
        </p:txBody>
      </p:sp>
      <p:sp>
        <p:nvSpPr>
          <p:cNvPr id="9" name="Oval 8"/>
          <p:cNvSpPr/>
          <p:nvPr/>
        </p:nvSpPr>
        <p:spPr>
          <a:xfrm>
            <a:off x="10424160" y="5577840"/>
            <a:ext cx="45720" cy="45720"/>
          </a:xfrm>
          <a:prstGeom prst="ellipse">
            <a:avLst/>
          </a:prstGeom>
          <a:solidFill>
            <a:srgbClr val="FFFFFF"/>
          </a:solidFill>
          <a:ln>
            <a:noFill/>
          </a:ln>
        </p:spPr>
        <p:txBody>
          <a:bodyPr rtlCol="0" anchor="ctr"/>
          <a:lstStyle/>
          <a:p>
            <a:pPr algn="ctr"/>
          </a:p>
        </p:txBody>
      </p:sp>
      <p:sp>
        <p:nvSpPr>
          <p:cNvPr id="10" name="Oval 9"/>
          <p:cNvSpPr/>
          <p:nvPr/>
        </p:nvSpPr>
        <p:spPr>
          <a:xfrm>
            <a:off x="6583680" y="6126480"/>
            <a:ext cx="36576" cy="36576"/>
          </a:xfrm>
          <a:prstGeom prst="ellipse">
            <a:avLst/>
          </a:prstGeom>
          <a:solidFill>
            <a:srgbClr val="FFFFFF"/>
          </a:solidFill>
          <a:ln>
            <a:noFill/>
          </a:ln>
        </p:spPr>
        <p:txBody>
          <a:bodyPr rtlCol="0" anchor="ctr"/>
          <a:lstStyle/>
          <a:p>
            <a:pPr algn="ctr"/>
          </a:p>
        </p:txBody>
      </p:sp>
      <p:sp>
        <p:nvSpPr>
          <p:cNvPr id="11" name="Oval 10"/>
          <p:cNvSpPr/>
          <p:nvPr/>
        </p:nvSpPr>
        <p:spPr>
          <a:xfrm>
            <a:off x="640080" y="3566160"/>
            <a:ext cx="27432" cy="27432"/>
          </a:xfrm>
          <a:prstGeom prst="ellipse">
            <a:avLst/>
          </a:prstGeom>
          <a:solidFill>
            <a:srgbClr val="FFFFFF"/>
          </a:solidFill>
          <a:ln>
            <a:noFill/>
          </a:ln>
        </p:spPr>
        <p:txBody>
          <a:bodyPr rtlCol="0" anchor="ctr"/>
          <a:lstStyle/>
          <a:p>
            <a:pPr algn="ctr"/>
          </a:p>
        </p:txBody>
      </p:sp>
      <p:sp>
        <p:nvSpPr>
          <p:cNvPr id="12" name="Oval 11"/>
          <p:cNvSpPr/>
          <p:nvPr/>
        </p:nvSpPr>
        <p:spPr>
          <a:xfrm>
            <a:off x="11521440" y="3840480"/>
            <a:ext cx="27432" cy="27432"/>
          </a:xfrm>
          <a:prstGeom prst="ellipse">
            <a:avLst/>
          </a:prstGeom>
          <a:solidFill>
            <a:srgbClr val="FFFFFF"/>
          </a:solidFill>
          <a:ln>
            <a:noFill/>
          </a:ln>
        </p:spPr>
        <p:txBody>
          <a:bodyPr rtlCol="0" anchor="ctr"/>
          <a:lstStyle/>
          <a:p>
            <a:pPr algn="ctr"/>
          </a:p>
        </p:txBody>
      </p:sp>
      <p:sp>
        <p:nvSpPr>
          <p:cNvPr id="13" name="TextBox 12"/>
          <p:cNvSpPr txBox="1"/>
          <p:nvPr/>
        </p:nvSpPr>
        <p:spPr>
          <a:xfrm>
            <a:off x="822960" y="1920240"/>
            <a:ext cx="10545775" cy="3017520"/>
          </a:xfrm>
          <a:prstGeom prst="rect">
            <a:avLst/>
          </a:prstGeom>
          <a:noFill/>
        </p:spPr>
        <p:txBody>
          <a:bodyPr wrap="square" anchor="ctr" lIns="0" rIns="0" tIns="0" bIns="0"/>
          <a:lstStyle/>
          <a:p>
            <a:pPr algn="ctr">
              <a:lnSpc>
                <a:spcPct val="120000"/>
              </a:lnSpc>
            </a:pPr>
            <a:r>
              <a:rPr sz="6000" b="1">
                <a:solidFill>
                  <a:srgbClr val="FFFFFF"/>
                </a:solidFill>
                <a:latin typeface="Inter"/>
              </a:rPr>
              <a:t>Cards never change.</a:t>
            </a:r>
          </a:p>
          <a:p>
            <a:pPr algn="ctr">
              <a:lnSpc>
                <a:spcPct val="120000"/>
              </a:lnSpc>
            </a:pPr>
            <a:r>
              <a:rPr sz="6000" b="1">
                <a:solidFill>
                  <a:srgbClr val="FFFFFF"/>
                </a:solidFill>
                <a:latin typeface="Inter"/>
              </a:rPr>
              <a:t>Sticky notes move.</a:t>
            </a:r>
          </a:p>
          <a:p>
            <a:pPr algn="ctr">
              <a:lnSpc>
                <a:spcPct val="120000"/>
              </a:lnSpc>
            </a:pPr>
            <a:r>
              <a:rPr sz="6000" b="1">
                <a:solidFill>
                  <a:srgbClr val="FFFFFF"/>
                </a:solidFill>
                <a:latin typeface="Inter"/>
              </a:rPr>
              <a:t>The Wall copies cards.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