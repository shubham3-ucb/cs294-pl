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 · TITLE · 0:00 · deck slide 1</a:t>
            </a:r>
          </a:p>
          <a:p/>
          <a:p>
            <a:r>
              <a:t>No Git lecture today. You'll rebuild Git out of paper, and every Git tool shows up only after you've felt the problem it fixes.</a:t>
            </a:r>
          </a:p>
          <a:p>
            <a:r>
              <a:t>Sit with your lab (3 labs of 3-4: Lab 1, Lab 2, Lab 3). Phones out for Menti.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 · MENTI hook · 0:00–0:02 · deck slide 2</a:t>
            </a:r>
          </a:p>
          <a:p/>
          <a:p>
            <a:r>
              <a:t>Open this poll as students arrive. "Gut answer. We won't reveal it; you'll discover it with paper."</a:t>
            </a:r>
          </a:p>
          <a:p>
            <a:r>
              <a:t>Hide results. The answer, D (one tiny file holding one ID), is revealed on T10 (git branch). Mark D as correct in Menti.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 · DIVIDER Part 1 · 0:02 · deck slide 3</a:t>
            </a:r>
          </a:p>
          <a:p/>
          <a:p>
            <a:r>
              <a:t>(5 seconds) "Part 1: one team, one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T4 · TASK Step 0 · 0:02 (block 0:02–0:07) · deck slide 4</a:t>
            </a:r>
          </a:p>
          <a:p/>
          <a:p>
            <a:r>
              <a:t>Hand out the A3 sheets, pencils, and Step-0 slips (P1-P4). Start the phone timer: 1:30. Call "Forty-five seconds!" at 0:45 (that is P3's cue to erase the horns), then stop at 1:30.</a:t>
            </a:r>
          </a:p>
          <a:p>
            <a:r>
              <a:t>PAUSE / debrief (~90 s): "What did the face look like at 0:30? Who added the horns? Get me the 0:30 monster back." Nobody can.</a:t>
            </a:r>
          </a:p>
          <a:p>
            <a:r>
              <a:t>Then: "Invent ONE rule that would make these answerable."</a:t>
            </a:r>
          </a:p>
          <a:p>
            <a:r>
              <a:t>Nudge: "What if erasing were illegal?"</a:t>
            </a:r>
          </a:p>
          <a:p>
            <a:r>
              <a:t>Check: "Does a card store the change, or the whole monster?" (the whole monster, a snapshot; unchanged parts can be shared)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T5 · TALK git commit · ~0:05 · deck slide 5</a:t>
            </a:r>
          </a:p>
          <a:p/>
          <a:p>
            <a:r>
              <a:t>"A commit is a snapshot, not a diff. Pencil = working copy, ink = staged, writing the ID = committed."</a:t>
            </a:r>
          </a:p>
          <a:p>
            <a:r>
              <a:t>Pause answer: ink only FACE. The next card gets the new FACE and the OLD BODY, because a card is always the whole monster. That is `git add -p` (or `git add face.txt`). The index is the next card, being drafted.</a:t>
            </a:r>
          </a:p>
          <a:p>
            <a:r>
              <a:t>`git diff` = pencil vs ink. `git diff --staged` = ink vs the last card.</a:t>
            </a:r>
          </a:p>
          <a:p>
            <a:r>
              <a:t>If a Model Critic says "but packfiles store diffs!": "Write it down. You're right, and you get the floor at the end."</a:t>
            </a:r>
          </a:p>
          <a:p>
            <a:r>
              <a:t>Each lab names its Model Critic (whoever already uses Git daily). Hand out cards, markers, critic sheets: "Markers only from now on. One word + a 5-second doodle per panel."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T6 · GOALS · 0:07 · deck slide 6</a:t>
            </a:r>
          </a:p>
          <a:p/>
          <a:p>
            <a:r>
              <a:t>"The exit ticket checks all four. You can't pass it by memorising commands, only with the model."</a:t>
            </a:r>
          </a:p>
          <a:p>
            <a:r>
              <a:t>(1 minute. Do not explain any of the terms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T7 · TASK Step 1 · 0:08 (block 0:08–0:13) · deck slide 7</a:t>
            </a:r>
          </a:p>
          <a:p/>
          <a:p>
            <a:r>
              <a:t>Envelopes out (W, X, Y, Z), fronts up. After about 90 seconds they realise it can't be decided: both W-X-Y-Z and Z-Y-X-W fit the fronts.</a:t>
            </a:r>
          </a:p>
          <a:p>
            <a:r>
              <a:t>The invention we want: author + "came from __". Nudge: "What ONE line on each card would survive shuffling?" Only then: "Flip them. Draw the arrows."</a:t>
            </a:r>
          </a:p>
          <a:p>
            <a:r>
              <a:t>Expected: horns added (W -&gt; X); Y and Z are both tips, so there's no single newest. "Two lines of work: that's Step 2."</a:t>
            </a:r>
          </a:p>
          <a:p>
            <a:r>
              <a:t>Then each lab draws #1: smiley / box / sticks, with "#1 · by __ · came from: —".</a:t>
            </a:r>
          </a:p>
          <a:p>
            <a:r>
              <a:t>Wrong answer, timestamps: "Laptop clocks disagree. And does a time tell you what it was built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T8 · TALK git log · ~0:12 · deck slide 8</a:t>
            </a:r>
          </a:p>
          <a:p/>
          <a:p>
            <a:r>
              <a:t>"Git keeps no separate history list. `log` starts at a tip and walks the parent pointers."</a:t>
            </a:r>
          </a:p>
          <a:p>
            <a:r>
              <a:t>Pause answer: a card never changes, so an old card can't learn about its future children. Pointers can only go from child to parent.</a:t>
            </a:r>
          </a:p>
          <a:p>
            <a:r>
              <a:t>The first commit has no parent: that's the root.</a:t>
            </a:r>
          </a:p>
          <a:p>
            <a:r>
              <a:t>Card Z also points to W, so there are two tips. Next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T9 · TASK Step 2 · 0:13 (block 0:13–0:20) · deck slide 9</a:t>
            </a:r>
          </a:p>
          <a:p/>
          <a:p>
            <a:r>
              <a:t>Idea cards: CAT-ROBOT (card #2: FACE cat, BODY robot) and SUPERHERO (card #3: BODY superhero, LEGS tentacles). Both start from #1.</a:t>
            </a:r>
          </a:p>
          <a:p>
            <a:r>
              <a:t>At 2:30 Ananya plays the Client: "Client's here! Show me the approved monster AND each idea's latest card. Now!"</a:t>
            </a:r>
          </a:p>
          <a:p>
            <a:r>
              <a:t>The invention we want: sticky flags (`main` on #1, `cat-robot`, `superhero` on each idea's latest card).</a:t>
            </a:r>
          </a:p>
          <a:p>
            <a:r>
              <a:t>Nudge: "Which card is approved? How would the Client know without asking you?"</a:t>
            </a:r>
          </a:p>
          <a:p>
            <a:r>
              <a:t>Check: "If the cat-robot pair draws one more card, what's its came-from, and which flags move?" (the cat-robot card; only `cat-robot` moves, `main` stays)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T10 · TALK git branch · ~0:18 · deck slide 10</a:t>
            </a:r>
          </a:p>
          <a:p/>
          <a:p>
            <a:r>
              <a:t>LIVE, 60 s, inside .git (repo monster/):</a:t>
            </a:r>
          </a:p>
          <a:p>
            <a:r>
              <a:t>  cat .git/HEAD            -&gt; ref: refs/heads/cat-robot</a:t>
            </a:r>
          </a:p>
          <a:p>
            <a:r>
              <a:t>  git rev-parse HEAD &gt; .git/refs/heads/hack &amp;&amp; git branch   -&gt; a new branch "hack", made without any branch command. wc -c .git/refs/heads/hack -&gt; 41 bytes.</a:t>
            </a:r>
          </a:p>
          <a:p>
            <a:r>
              <a:t>"HEAD decides your next commit's parent. Committing moves the flag HEAD points to."</a:t>
            </a:r>
          </a:p>
          <a:p>
            <a:r>
              <a:t>Pause answer: a pin on a flagless card = DETACHED HEAD. The new card has no flag, so nothing leads to it. Git warns you (verified): "Warning: you are leaving 1 commit behind, not connected to any of your branches:". `git switch -c wheels` would have saved it. Otherwise only the reflog remembers it (Step 7).</a:t>
            </a:r>
          </a:p>
          <a:p>
            <a:r>
              <a:t>Optional demo: git switch --detach main; edit; git commit -am wheels; git switch cat-robot. Afterwards: git branch -D hack.</a:t>
            </a:r>
          </a:p>
          <a:p>
            <a:r>
              <a:t>SAY: "New idea = new flag. Zero copied cards." Then: "So the poll answer is D." Show the T2 Menti results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T11 · TASK Step 3 · 0:20 (block 0:20–0:28) · deck slide 11</a:t>
            </a:r>
          </a:p>
          <a:p/>
          <a:p>
            <a:r>
              <a:t>The invention we want: a card with TWO came-froms, plus a panel-by-panel comparison with #1 (the card both pairs started from).</a:t>
            </a:r>
          </a:p>
          <a:p>
            <a:r>
              <a:t>Expected result: FACE cat, LEGS tentacles, BODY ❓ -&gt; robot with a cape.</a:t>
            </a:r>
          </a:p>
          <a:p>
            <a:r>
              <a:t>Nudge: "Who changed each panel since the card you both started from?"</a:t>
            </a:r>
          </a:p>
          <a:p>
            <a:r>
              <a:t>Wrong answers: "Take the newest card" -&gt; "Then whose work did you just throw away?"  "Everything conflicts" -&gt; "Did superhero touch FACE?"</a:t>
            </a:r>
          </a:p>
          <a:p>
            <a:r>
              <a:t>Check: "Cover #1. Can you still prove FACE isn't a conflict?" (No: cat vs smiley looks like a disagreement. A 3-way merge needs the ancestor.)</a:t>
            </a:r>
          </a:p>
          <a:p>
            <a:r>
              <a:t>If a lab is stuck: put the rescue set's #1, #2 and #3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T12 · CONFLICT git merge · ~0:26 · deck slide 12</a:t>
            </a:r>
          </a:p>
          <a:p/>
          <a:p>
            <a:r>
              <a:t>"Three-way merge: for each part, Git asks who changed it since the shared ancestor (the merge base)."</a:t>
            </a:r>
          </a:p>
          <a:p>
            <a:r>
              <a:t>Pause answer: without BASE, cat vs smiley looks like a disagreement, and every panel would conflict. With BASE: only one side touched FACE -&gt; take it; only one side touched LEGS -&gt; take it; both touched BODY differently -&gt; you decide.</a:t>
            </a:r>
          </a:p>
          <a:p>
            <a:r>
              <a:t>"We resolved BODY by hand (robot with a cape), on a card with two parents."</a:t>
            </a:r>
          </a:p>
          <a:p>
            <a:r>
              <a:t>Keep the word "differently": exit question Q-a depends on it (identical changes on both sides merge cleanly).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T13 · TERMINAL real merge · 0:28 (block 0:28–0:33) · deck slide 13</a:t>
            </a:r>
          </a:p>
          <a:p/>
          <a:p>
            <a:r>
              <a:t>Run it live (Appendix A, repo monster/). "In this file each panel is one line, with a blank line between panels."</a:t>
            </a:r>
          </a:p>
          <a:p>
            <a:r>
              <a:t>  git log --oneline --graph --all</a:t>
            </a:r>
          </a:p>
          <a:p>
            <a:r>
              <a:t>  git merge superhero      -&gt; body-only CONFLICT;  cat monster.txt</a:t>
            </a:r>
          </a:p>
          <a:p>
            <a:r>
              <a:t>Resolve:  printf 'face: cat\n\nbody: robot with a cape\n\nlegs: tentacles\n' &gt; monster.txt &amp;&amp; git add monster.txt &amp;&amp; git commit -m "merge: robot with a cape"</a:t>
            </a:r>
          </a:p>
          <a:p>
            <a:r>
              <a:t>Then git log --oneline --graph: the diamond.</a:t>
            </a:r>
          </a:p>
          <a:p>
            <a:r>
              <a:t>git cat-file -p HEAD shows TWO `parent` lines: "exactly your paper card".</a:t>
            </a:r>
          </a:p>
          <a:p>
            <a:r>
              <a:t>This slide is also the backup if the live demo fails.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T14 · MENTI predict · ~0:30 · deck slide 14</a:t>
            </a:r>
          </a:p>
          <a:p/>
          <a:p>
            <a:r>
              <a:t>Vote (hide results). The next slide shows the answer (B1); don't run it live.</a:t>
            </a:r>
          </a:p>
          <a:p>
            <a:r>
              <a:t>Answer C: Git merges LINES. Changed lines that touch each other form one hunk, so the three edits become one conflict.</a:t>
            </a:r>
          </a:p>
          <a:p>
            <a:r>
              <a:t>False alarm: nobody actually disagreed about FACE or LEGS.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 answer to T14 · ~0:31 · deck slide 15</a:t>
            </a:r>
          </a:p>
          <a:p/>
          <a:p>
            <a:r>
              <a:t>B1, the answer to the T14 vote. Show it right after the vote; don't run it live.</a:t>
            </a:r>
          </a:p>
          <a:p>
            <a:r>
              <a:t>Same two branches as monster/, but without the blank lines between panels. Changed lines that touch form one hunk, so all three lines conflict.</a:t>
            </a:r>
          </a:p>
          <a:p>
            <a:r>
              <a:t>"False alarm: nobody disagreed about FACE or LEGS. Git merges lines, not panels."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T15 · TERMINAL clean merge, broken program · ~0:32 · deck slide 16</a:t>
            </a:r>
          </a:p>
          <a:p/>
          <a:p>
            <a:r>
              <a:t>Live: cd ../broken &amp;&amp; git merge caller &amp;&amp; python3 m.py</a:t>
            </a:r>
          </a:p>
          <a:p>
            <a:r>
              <a:t>Branch `rename` changed `def draw():` to `def render():`. Branch `caller` changed main() to call draw(). Different lines, so no conflict. Verified on git 2.34.1.</a:t>
            </a:r>
          </a:p>
          <a:p>
            <a:r>
              <a:t>Pause answer: tests or CI after the merge; semantic or structure-aware merge tools.</a:t>
            </a:r>
          </a:p>
          <a:p>
            <a:r>
              <a:t>SAY: "Merging by lines is a design choice. It gives you false alarms AND silent misses." (T14 was the false alarm.)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T16 · BREAK · 0:33–0:36 · deck slide 17</a:t>
            </a:r>
          </a:p>
          <a:p/>
          <a:p>
            <a:r>
              <a:t>Labs put their Part-1 cards in their envelope ("that was a different repo").</a:t>
            </a:r>
          </a:p>
          <a:p>
            <a:r>
              <a:t>Ananya tapes the official #1-#4 on the Wall, puts `main` on #4, sets up the gc bin ("unreachable · emptied by gc"), and puts a "You were cloned" copy pack on each table (#1-#4 with yellow `main` + blue `origin/main` on #4).</a:t>
            </a:r>
          </a:p>
          <a:p>
            <a:r>
              <a:t>Courier = the person nearest the Wall; same Courier all session.</a:t>
            </a:r>
          </a:p>
          <a:p>
            <a:r>
              <a:t>The break must start by 0:33. If behind, use the cut order in the cheat sheet.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T17 · DIVIDER Part 2 · 0:36 · deck slide 18</a:t>
            </a:r>
          </a:p>
          <a:p/>
          <a:p>
            <a:r>
              <a:t>(5 seconds) "Part 2: many tables, one wall."</a:t>
            </a:r>
          </a:p>
          <a:p>
            <a:r>
              <a:t>Point at the Wall poster: "THE WALL · GitHub".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T18 · TALK git clone (Step 4) · 0:36 · deck slide 19</a:t>
            </a:r>
          </a:p>
          <a:p/>
          <a:p>
            <a:r>
              <a:t>SAY: "While you were out, you were cloned. All three labs now build THE monster on the wall, from your own tables. Only your Courier may visit the wall."</a:t>
            </a:r>
          </a:p>
          <a:p>
            <a:r>
              <a:t>30-s check. Answer: the next merge needs the shared ancestor; log and history work offline.</a:t>
            </a:r>
          </a:p>
          <a:p>
            <a:r>
              <a:t>Then: "And the blue flag?" (your table's memory of where the wall's `main` was; it only moves when you go and look)</a:t>
            </a:r>
          </a:p>
          <a:p>
            <a:r>
              <a:t>"Every clone is a full repository. `origin` is a nickname for the Wall. GitHub is special only because we agreed it is."</a:t>
            </a:r>
          </a:p>
          <a:p>
            <a:r>
              <a:t>"From now on only your Courier visits the wall."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T19 · TASK Step 5 · 0:37 (block 0:37–0:42) · deck slide 20</a:t>
            </a:r>
          </a:p>
          <a:p/>
          <a:p>
            <a:r>
              <a:t>Missions: Lab 1 FACE -&gt; dragon; Lab 2 BODY -&gt; disco suit; Lab 3 LEGS -&gt; roller skates (each copies the other panels exactly).</a:t>
            </a:r>
          </a:p>
          <a:p>
            <a:r>
              <a:t>Everyone shouts "#5". Ask: "How can three tables pick names that never clash, without talking?"</a:t>
            </a:r>
          </a:p>
          <a:p>
            <a:r>
              <a:t>Praise lab+number, then push: "Could the name come from the card itself?" Hand out the ID-rule slips.</a:t>
            </a:r>
          </a:p>
          <a:p>
            <a:r>
              <a:t>Expected IDs: Lab 1 drt3, Lab 2 cdt5, Lab 3 crr3.</a:t>
            </a:r>
          </a:p>
          <a:p>
            <a:r>
              <a:t>Wrong answer, random IDs: "Could two tables agree on the same card's ID without talking? Could anyone tell if a card was altered?"</a:t>
            </a:r>
          </a:p>
          <a:p>
            <a:r>
              <a:t>Check: "Lab 1 secretly changes LEGS to wheels. New ID? What happens to every card built on it?" (drw0; every later digit changes)</a:t>
            </a:r>
          </a:p>
          <a:p>
            <a:r>
              <a:t>Bonus: "dragon -&gt; donkey?" (drt3 again: a collision)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T20 · TERMINAL hash IDs · ~0:40 · deck slide 21</a:t>
            </a:r>
          </a:p>
          <a:p/>
          <a:p>
            <a:r>
              <a:t>"A commit is a tiny text object: a tree, its parents' IDs, author, committer, message. Its ID is the hash of that text. No central counter, and history is tamper-evident: a changed card is literally a different card."</a:t>
            </a:r>
          </a:p>
          <a:p>
            <a:r>
              <a:t>Left and right are the SAME object: Lab 1's dragon card on top of #4 (the T13 merge). tree = the three panels, parent = "came from #4", author = Lab 1. Map them out loud.</a:t>
            </a:r>
          </a:p>
          <a:p>
            <a:r>
              <a:t>Optional LIVE (15 s, in monster/ right after the T13 merge): sed -i 's/face: cat/face: dragon/' monster.txt &amp;&amp; git commit -qam "face: dragon" &amp;&amp; git cat-file -p HEAD. The tree line (5a5fee2...) matches the slide on any machine; the parent ID, author and times differ.</a:t>
            </a:r>
          </a:p>
          <a:p>
            <a:r>
              <a:t>One sentence first: "At one table you could just agree on #2 and #3. Across three tables you can't, so the ID has to come from the card."</a:t>
            </a:r>
          </a:p>
          <a:p>
            <a:r>
              <a:t>LIVE, 20 s: echo 'face: smiley' | git hash-object --stdin  on Shubham's laptop AND on one student's laptop. Both print 946ac5d... (verified). Same content, same ID, anywhere, no coordination.</a:t>
            </a:r>
          </a:p>
          <a:p>
            <a:r>
              <a:t>Pause answer: in our toy, yes (our rule ignores the author). In Git: same TREE, different COMMIT, because author and time are hashed too. (Model Critics: write that down.)</a:t>
            </a:r>
          </a:p>
          <a:p>
            <a:r>
              <a:t>Collision aside: Git uses 160 bits; SHAttered (2017) is why Git is moving toward SHA-256.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T21 · TERMINAL tree of blobs · ~0:41 · deck slide 22</a:t>
            </a:r>
          </a:p>
          <a:p/>
          <a:p>
            <a:r>
              <a:t>Live in monster-files/ (one file per panel): git ls-tree main &amp;&amp; git ls-tree cat-robot</a:t>
            </a:r>
          </a:p>
          <a:p>
            <a:r>
              <a:t>Pause answer: ONE. Same content -&gt; same blob ID -&gt; stored once. That's why "never erase" is cheap, and why writing "same" in an unchanged panel was blob reuse.</a:t>
            </a:r>
          </a:p>
          <a:p>
            <a:r>
              <a:t>Optional: git cat-file -p cat-robot^{tree} shows the same three lines: a tree is just a list of names and blob IDs.</a:t>
            </a:r>
          </a:p>
          <a:p>
            <a:r>
              <a:t>These blob IDs depend only on the content, so they match on every laptop. Commit IDs don't.</a:t>
            </a:r>
          </a:p>
          <a:p>
            <a:r>
              <a:t>Merging this 3-file repo also conflicts only on body.txt (verified).</a:t>
            </a:r>
          </a:p>
          <a:p>
            <a:r>
              <a:t>If behind: cut this slide to one sentence said over T20.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T22 · TASK Step 6 · 0:42 (block 0:42–0:51) · deck slide 23</a:t>
            </a:r>
          </a:p>
          <a:p/>
          <a:p>
            <a:r>
              <a:t>Ananya (the Wall) accepts the first two cards and moves `main` each time. Freeze: "Walk back from main. Lab 1, where's your dragon?" It isn't in main's history.</a:t>
            </a:r>
          </a:p>
          <a:p>
            <a:r>
              <a:t>The class invents the rule. Ananya moves `main` back to the first card, hands back the second ("REJECTED, fetch first"), and reads GUARD aloud.</a:t>
            </a:r>
          </a:p>
          <a:p>
            <a:r>
              <a:t>Check: "Your blue flag says #4. Where is the wall's `main` right now? How would you know?" (you can't, until you go and look)</a:t>
            </a:r>
          </a:p>
          <a:p>
            <a:r>
              <a:t>Rejected Couriers copy the new cards and move the blue flag (= fetch). Labs draw a combine card with two came-froms, compute its ID, move yellow `main` (= merge), and re-post. Every combine merges automatically (different panels).</a:t>
            </a:r>
          </a:p>
          <a:p>
            <a:r>
              <a:t>AUDIT run 1 (30 s): Lab 1 traces how the tentacles reached `main`. They succeed (#3 Grace -&gt; #4 Junio's merge -&gt; lab + combine cards -&gt; main).</a:t>
            </a:r>
          </a:p>
          <a:p>
            <a:r>
              <a:t>Wrong answers: one-parent redraw on top -&gt; "you invented rebase"; Courier moves `main` anyway -&gt; "that's push --force. Whose card just fell off?"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T23 · TALK git push / pull · ~0:49 · deck slide 24</a:t>
            </a:r>
          </a:p>
          <a:p/>
          <a:p>
            <a:r>
              <a:t>In the picture: Lab 3's crr3 reached the wall first. Lab 1's push of drt3 is refused. Lab 2 fetches: it copies crr3 and moves its blue flag. (Lab 2 still has its own cdt5 too; next it draws a combine card = the merge half of pull.)</a:t>
            </a:r>
          </a:p>
          <a:p>
            <a:r>
              <a:t>"Remotes accept only fast-forwards. Otherwise someone's card falls off `main`, which is what you saw."</a:t>
            </a:r>
          </a:p>
          <a:p>
            <a:r>
              <a:t>`git status` before fetching says "Your branch is ahead of 'origin/main' by 1 commit." It only compares with your memory. After `git fetch`: "Your branch and 'origin/main' have diverged, and have 1 and 1 different commits each" (both verified).</a:t>
            </a:r>
          </a:p>
          <a:p>
            <a:r>
              <a:t>"`pull --rebase` redraws your cards on top instead. Keep that in mind for Part 3."</a:t>
            </a:r>
          </a:p>
          <a:p>
            <a:r>
              <a:t>On git 2.34 (tested) a plain `pull` of diverged branches refuses until you choose, so demo with --no-rebase (hidden backup B2). Thursday comes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T24 · DIVIDER Part 3 · 0:51 · deck slide 25</a:t>
            </a:r>
          </a:p>
          <a:p/>
          <a:p>
            <a:r>
              <a:t>(5 seconds) "Part 3: rewriting the past."</a:t>
            </a:r>
          </a:p>
          <a:p>
            <a:r>
              <a:t>BEFORE the next slide: Ananya fills in the mustache card (by Shubham, came from the current `main`, BODY disco suit, LEGS roller skates, ID computed: mdr1 if main is ddr2, mdr9 if ddr0), posts it, moves `main` to it, and says "New card on the wall. Everyone pull." Each Courier copies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T25 · TASK Step 7 · 0:51 (block 0:51–0:57) · deck slide 26</a:t>
            </a:r>
          </a:p>
          <a:p/>
          <a:p>
            <a:r>
              <a:t>Before this slide: Ananya has posted the mustache card and said "Everyone pull."</a:t>
            </a:r>
          </a:p>
          <a:p>
            <a:r>
              <a:t>Most labs rip it off (Ananya moves `main` back). Then: "Lab 3: add one card on your newest card and push." GUARD accepts it (walking back passes the mustache and reaches main), and the mustache comes back as a ZOMBIE. Real git does the same on a plain fast-forward push (verified).</a:t>
            </a:r>
          </a:p>
          <a:p>
            <a:r>
              <a:t>The invention we want: a FIX card that undoes it (dragon without the mustache), coming from the mustache card. Same picture as the card before, different ID.</a:t>
            </a:r>
          </a:p>
          <a:p>
            <a:r>
              <a:t>Nudge: "Lab 3 still holds that card. Then what?"</a:t>
            </a:r>
          </a:p>
          <a:p>
            <a:r>
              <a:t>Check: "When is ripping it off OK?" (only if nobody else has copied it yet)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T26 · TALK revert vs reset · ~0:55 · deck slide 27</a:t>
            </a:r>
          </a:p>
          <a:p/>
          <a:p>
            <a:r>
              <a:t>"`git revert` adds an inverse commit (the fix card): new card, new ID, history intact. Safe when the commit is shared."</a:t>
            </a:r>
          </a:p>
          <a:p>
            <a:r>
              <a:t>"`git reset --hard` moves the branch flag back; the commit still exists, it is just unreachable. On a shared branch you'd also need `push --force`, and you've just seen what that does to everyone else (the zombie)."</a:t>
            </a:r>
          </a:p>
          <a:p>
            <a:r>
              <a:t>Pause answer: in the gc bin. "`git reflog` is your local diary of where HEAD has been. It finds that card, and the detached-HEAD card from T10, until gc prunes it. Defaults: unreachable reflog entries expire after 30 days, others after 90."</a:t>
            </a:r>
          </a:p>
          <a:p>
            <a:r>
              <a:t>IDs here follow the cheat sheet (main was ddr2 -&gt; mustache mdr1 -&gt; fix ddr8). If your wall ended on ddr0, say "mdr9 / ddr6" instead.</a:t>
            </a:r>
          </a:p>
          <a:p>
            <a:r>
              <a:t>The slide shows the textbook revert, drawn straight on the mustache card. LIVE, after the zombie, the wall's `main` is Lab 3's card (on top of the mustache), so the fix card must come from THAT card or GUARD rejects it. It undoes only the mustache and keeps Lab 3's change; its ID is whatever the rule gives (Model Critics check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T27 · TASK Step 8 · 0:57 (block 0:57–1:02) · deck slide 28</a:t>
            </a:r>
          </a:p>
          <a:p/>
          <a:p>
            <a:r>
              <a:t>Shubham plays the Boss STRAIGHT (the Boss has a point). Read the reason line aloud: "Reviewers can't read 14 combine cards; bisect needs every card on main to work."</a:t>
            </a:r>
          </a:p>
          <a:p>
            <a:r>
              <a:t>Lab 3 draws one clean card (came from: —, ID ddr7). Walking back never reaches `main`, so the Wall rejects it. Boss: "Tell the wall: FORCE."</a:t>
            </a:r>
          </a:p>
          <a:p>
            <a:r>
              <a:t>Ananya bins the old cards, then empties the bin, theatrically.</a:t>
            </a:r>
          </a:p>
          <a:p>
            <a:r>
              <a:t>AUDIT run 2: Lab 1 tries all three questions with the same card and the same wall. They fail. Ask: "Who lost what?"</a:t>
            </a:r>
          </a:p>
          <a:p>
            <a:r>
              <a:t>Check: "Does Lab 2's newest card still fit on the wall?" (No: it points at cards that are gone. They must redo their work on top of the clean card.)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T28 · TALK rebase / squash / force-push · ~1:00 · deck slide 29</a:t>
            </a:r>
          </a:p>
          <a:p/>
          <a:p>
            <a:r>
              <a:t>"`git rebase -i` (squash) can't edit commits, because IDs are hashes. It writes new ones and moves the flag. `--force` moves the remote's flag."</a:t>
            </a:r>
          </a:p>
          <a:p>
            <a:r>
              <a:t>The six grey cards are the old wall history the audit needed: #3 (Grace drew the tentacles first), #4 (Junio settled BODY), the lab and combine cards, the mustache and its fix.</a:t>
            </a:r>
          </a:p>
          <a:p>
            <a:r>
              <a:t>Pause answer: Lab 2's stale table still holds every old card; local reflogs too. "Lab 1, you may now ask Lab 2's table. 30 seconds." They can answer again.</a:t>
            </a:r>
          </a:p>
          <a:p>
            <a:r>
              <a:t>Then: "Which copy does an auditor or a researcher mine? How long do table copies last?" (The server. Table copies last until gc or reflog expiry, and only on that laptop.)</a:t>
            </a:r>
          </a:p>
          <a:p>
            <a:r>
              <a:t>"The route the tentacles took to `main` is gone from the server. That's Tuesday's paper."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T29 · PAUSE think-pair-share · 1:02–1:07 · deck slide 30</a:t>
            </a:r>
          </a:p>
          <a:p/>
          <a:p>
            <a:r>
              <a:t>Think 1 min (alone) · Pair 2 min · Share 2 min. This is "inventing with contrasting cases": students invent the rule first; the next slide is the official answer.</a:t>
            </a:r>
          </a:p>
          <a:p>
            <a:r>
              <a:t>Expected sort: (a) OK, it's private; (b) not OK: it's shared, it causes zombies, and it hides history; (c) the interesting one.</a:t>
            </a:r>
          </a:p>
          <a:p>
            <a:r>
              <a:t>Plan for wrong answers: a rule that only bans force-push lets (c) through: "No force needed. What did the auditor lose?" (the 6 cards and their route to main). (c) matches the squash example in Just et al.'s abstract; no numbers.</a:t>
            </a:r>
          </a:p>
          <a:p>
            <a:r>
              <a:t>A pair proposes "never rewrite main": hand them the KEY card ("The mustache card had the Client's API key written on it. Is a fix card enough?"). No: the key is still in every clone. Rewrite AND rotate the key.</a:t>
            </a:r>
          </a:p>
          <a:p>
            <a:r>
              <a:t>Write their rules on the board. Rules to expect or seed: protected main; squash only cards nobody else has; keep merge cards; tag or archive the branch before rewriting; --force-with-lease; the wall logs every push.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T30 · PAPER Good / Bad / Ugly · 1:07–1:09 · deck slide 31</a:t>
            </a:r>
          </a:p>
          <a:p/>
          <a:p>
            <a:r>
              <a:t>"The Good/Bad/Ugly split is our reading of the abstract." Don't quote numbers, and don't explain how their algorithm works: we only have the abstract.</a:t>
            </a:r>
          </a:p>
          <a:p>
            <a:r>
              <a:t>"An integration path is the route a change took to `main`. You traced one in Step 6 and couldn't in Step 8. Auditors (e.g., the history of security or privacy code) and researchers mining history depend on it."</a:t>
            </a:r>
          </a:p>
          <a:p>
            <a:r>
              <a:t>"Compare their countermeasures with your wall rules."</a:t>
            </a:r>
          </a:p>
          <a:p>
            <a:r>
              <a:t>"Research angle: version history is a dataset that users can silently delete."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T31 · MENTI exit ticket · 1:09–1:13 · deck slide 32</a:t>
            </a:r>
          </a:p>
          <a:p/>
          <a:p>
            <a:r>
              <a:t>Questions are in spec section 8 / menti_questions.md (Q-a to Q-d). Laptops closed.</a:t>
            </a:r>
          </a:p>
          <a:p>
            <a:r>
              <a:t>Q-a tests the shared ancestor (answer: Nothing), Q-b that cards never change (changes, and the old commit still exists), Q-c fixing a rejected push (git pull, then git push), Q-d revert vs reset (git revert, then push).</a:t>
            </a:r>
          </a:p>
          <a:p>
            <a:r>
              <a:t>Read the results out. ANY item under 70% correct: redo it on cards right away (2 min from the buffer), and open Thursday's H4 with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T32 · RECAP · 1:13 · deck slide 33</a:t>
            </a:r>
          </a:p>
          <a:p/>
          <a:p>
            <a:r>
              <a:t>"Almost every Git command makes a card, moves a flag, or copies cards between tables."</a:t>
            </a:r>
          </a:p>
          <a:p>
            <a:r>
              <a:t>"Now: where does our model lie?"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T33 · PAUSE Model Critics · 1:14–1:16 · deck slide 34</a:t>
            </a:r>
          </a:p>
          <a:p/>
          <a:p>
            <a:r>
              <a:t>Each Model Critic reads one entry from "Where does paper ≠ Git?" (3 x 30 s).</a:t>
            </a:r>
          </a:p>
          <a:p>
            <a:r>
              <a:t>Seed answers, if needed:</a:t>
            </a:r>
          </a:p>
          <a:p>
            <a:r>
              <a:t>- Our card is a snapshot; `git gc` packs objects as deltas (packfiles). Both true: snapshots in the model, deltas on disk.</a:t>
            </a:r>
          </a:p>
          <a:p>
            <a:r>
              <a:t>- The index is a real file (.git/index); our cards have no equivalent.</a:t>
            </a:r>
          </a:p>
          <a:p>
            <a:r>
              <a:t>- Git merges lines, not panels (T14, T15).</a:t>
            </a:r>
          </a:p>
          <a:p>
            <a:r>
              <a:t>- Our hash is a toy: it ignores author and time, and it collides (donkey).</a:t>
            </a:r>
          </a:p>
          <a:p>
            <a:r>
              <a:t>- origin/main moves only on fetch or push.</a:t>
            </a:r>
          </a:p>
          <a:p>
            <a:r>
              <a:t>- The reflog is local and never pushed.</a:t>
            </a:r>
          </a:p>
          <a:p>
            <a:r>
              <a:t>- Two pairs shared one table; in Git each clone or worktree has exactly one HEAD.</a:t>
            </a:r>
          </a:p>
          <a:p>
            <a:r>
              <a:t>Bridge: "A model is a claim too. On Thursday we'll check other people's claims."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T34 · STARRY · 1:16 · deck slide 35</a:t>
            </a:r>
          </a:p>
          <a:p/>
          <a:p>
            <a:r>
              <a:t>"Thursday: from how Git works to how humans struggle with it."</a:t>
            </a:r>
          </a:p>
          <a:p>
            <a:r>
              <a:t>Homework: "Read the Stack Overflow study (Yang et al., TOSEM 2022) and bring one claim you don't believe, with its page number. You'll write it on a sticky at the door."</a:t>
            </a:r>
          </a:p>
          <a:p>
            <a:r>
              <a:t>Buffer (3 min): redo any exit item under 70% on cards now.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B2 · hidden backup · deck slide 36</a:t>
            </a:r>
          </a:p>
          <a:p/>
          <a:p>
            <a:r>
              <a:t>BACKUP B2 (hidden). Optional Step-6 rehearsal (verified): a bare wall.git cloned 3 times, each clone changes a different line.</a:t>
            </a:r>
          </a:p>
          <a:p>
            <a:r>
              <a:t>The 2nd and 3rd pushes are rejected with "(fetch first)". git status says "ahead of origin/main by 1 commit" until you fetch; then "have diverged".</a:t>
            </a:r>
          </a:p>
          <a:p>
            <a:r>
              <a:t>On git 2.34 a plain pull of diverged branches refuses until you choose, hence --no-rebase. Pushing again then succeeds.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 · hidden backup · deck slide 37</a:t>
            </a:r>
          </a:p>
          <a:p/>
          <a:p>
            <a:r>
              <a:t>BACKUP B3 (hidden). Power-ups for fast labs (only if ahead of time).</a:t>
            </a:r>
          </a:p>
          <a:p>
            <a:r>
              <a:t>tag: a flag that never moves (releases). stash: park a half-drawn card. cherry-pick: copies one change as a NEW card with a NEW ID (different parent). blame: walk came-from arrows back, per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103120"/>
            <a:ext cx="10820095" cy="1280160"/>
          </a:xfrm>
          <a:prstGeom prst="rect">
            <a:avLst/>
          </a:prstGeom>
          <a:noFill/>
        </p:spPr>
        <p:txBody>
          <a:bodyPr wrap="square" anchor="b" lIns="0" rIns="0" tIns="0" bIns="0">
            <a:noAutofit/>
          </a:bodyPr>
          <a:lstStyle/>
          <a:p>
            <a:pPr algn="ctr">
              <a:lnSpc>
                <a:spcPct val="100000"/>
              </a:lnSpc>
            </a:pPr>
            <a:r>
              <a:rPr sz="6000" b="0" i="0">
                <a:solidFill>
                  <a:srgbClr val="111111"/>
                </a:solidFill>
                <a:latin typeface="Inter"/>
              </a:rPr>
              <a:t>Monster Lab</a:t>
            </a:r>
          </a:p>
        </p:txBody>
      </p:sp>
      <p:sp>
        <p:nvSpPr>
          <p:cNvPr id="3" name="TextBox 2"/>
          <p:cNvSpPr txBox="1"/>
          <p:nvPr/>
        </p:nvSpPr>
        <p:spPr>
          <a:xfrm>
            <a:off x="685800" y="3520440"/>
            <a:ext cx="10820095" cy="640080"/>
          </a:xfrm>
          <a:prstGeom prst="rect">
            <a:avLst/>
          </a:prstGeom>
          <a:noFill/>
        </p:spPr>
        <p:txBody>
          <a:bodyPr wrap="square" anchor="t" lIns="0" rIns="0" tIns="0" bIns="0">
            <a:noAutofit/>
          </a:bodyPr>
          <a:lstStyle/>
          <a:p>
            <a:pPr algn="ctr"/>
            <a:r>
              <a:rPr sz="2600" b="0" i="0">
                <a:solidFill>
                  <a:srgbClr val="555555"/>
                </a:solidFill>
                <a:latin typeface="Inter"/>
              </a:rPr>
              <a:t>Build Git out of paper</a:t>
            </a:r>
          </a:p>
        </p:txBody>
      </p:sp>
      <p:sp>
        <p:nvSpPr>
          <p:cNvPr id="4" name="TextBox 3"/>
          <p:cNvSpPr txBox="1"/>
          <p:nvPr/>
        </p:nvSpPr>
        <p:spPr>
          <a:xfrm>
            <a:off x="274320" y="5669280"/>
            <a:ext cx="6126480" cy="502920"/>
          </a:xfrm>
          <a:prstGeom prst="rect">
            <a:avLst/>
          </a:prstGeom>
          <a:noFill/>
        </p:spPr>
        <p:txBody>
          <a:bodyPr wrap="square" anchor="ctr" lIns="0" rIns="0" tIns="0" bIns="0">
            <a:noAutofit/>
          </a:bodyPr>
          <a:lstStyle/>
          <a:p>
            <a:pPr algn="l"/>
            <a:r>
              <a:rPr sz="2600" b="0" i="0">
                <a:solidFill>
                  <a:srgbClr val="919191"/>
                </a:solidFill>
                <a:latin typeface="Inter"/>
              </a:rPr>
              <a:t>CS294: </a:t>
            </a:r>
            <a:r>
              <a:rPr sz="2600" b="1" i="0">
                <a:solidFill>
                  <a:srgbClr val="919191"/>
                </a:solidFill>
                <a:latin typeface="Inter"/>
              </a:rPr>
              <a:t>Modern Programming Tools</a:t>
            </a:r>
          </a:p>
        </p:txBody>
      </p:sp>
      <p:sp>
        <p:nvSpPr>
          <p:cNvPr id="5" name="TextBox 4"/>
          <p:cNvSpPr txBox="1"/>
          <p:nvPr/>
        </p:nvSpPr>
        <p:spPr>
          <a:xfrm>
            <a:off x="6446520" y="5669280"/>
            <a:ext cx="2377440" cy="502920"/>
          </a:xfrm>
          <a:prstGeom prst="rect">
            <a:avLst/>
          </a:prstGeom>
          <a:noFill/>
        </p:spPr>
        <p:txBody>
          <a:bodyPr wrap="square" anchor="ctr" lIns="0" rIns="0" tIns="0" bIns="0">
            <a:noAutofit/>
          </a:bodyPr>
          <a:lstStyle/>
          <a:p>
            <a:pPr algn="ctr"/>
            <a:r>
              <a:rPr sz="2600" b="0" i="0">
                <a:solidFill>
                  <a:srgbClr val="919191"/>
                </a:solidFill>
                <a:latin typeface="Inter"/>
              </a:rPr>
              <a:t>UC Berkeley</a:t>
            </a:r>
          </a:p>
        </p:txBody>
      </p:sp>
      <p:sp>
        <p:nvSpPr>
          <p:cNvPr id="6" name="TextBox 5"/>
          <p:cNvSpPr txBox="1"/>
          <p:nvPr/>
        </p:nvSpPr>
        <p:spPr>
          <a:xfrm>
            <a:off x="8823960" y="5669280"/>
            <a:ext cx="3090672" cy="502920"/>
          </a:xfrm>
          <a:prstGeom prst="rect">
            <a:avLst/>
          </a:prstGeom>
          <a:noFill/>
        </p:spPr>
        <p:txBody>
          <a:bodyPr wrap="square" anchor="ctr" lIns="0" rIns="0" tIns="0" bIns="0">
            <a:noAutofit/>
          </a:bodyPr>
          <a:lstStyle/>
          <a:p>
            <a:pPr algn="r"/>
            <a:r>
              <a:rPr sz="2600" b="0" i="0">
                <a:solidFill>
                  <a:srgbClr val="919191"/>
                </a:solidFill>
                <a:latin typeface="Inter"/>
              </a:rPr>
              <a:t>Shubham &amp; Ananya</a:t>
            </a:r>
          </a:p>
        </p:txBody>
      </p:sp>
      <p:sp>
        <p:nvSpPr>
          <p:cNvPr id="7" name="Rectangle 6"/>
          <p:cNvSpPr/>
          <p:nvPr/>
        </p:nvSpPr>
        <p:spPr>
          <a:xfrm>
            <a:off x="0" y="6227064"/>
            <a:ext cx="12191695" cy="438912"/>
          </a:xfrm>
          <a:prstGeom prst="rect">
            <a:avLst/>
          </a:prstGeom>
          <a:solidFill>
            <a:srgbClr val="9437FF"/>
          </a:solidFill>
          <a:ln>
            <a:noFill/>
          </a:ln>
          <a:effectLst/>
        </p:spPr>
        <p:txBody>
          <a:bodyPr rtlCol="0" anchor="ctr" wrap="square" lIns="36576" rIns="36576" tIns="0" bIns="0">
            <a:noAutofit/>
          </a:bodyPr>
          <a:lstStyle/>
          <a:p>
            <a:pPr algn="ctr"/>
          </a:p>
        </p:txBody>
      </p:sp>
      <p:sp>
        <p:nvSpPr>
          <p:cNvPr id="8" name="TextBox 7"/>
          <p:cNvSpPr txBox="1"/>
          <p:nvPr/>
        </p:nvSpPr>
        <p:spPr>
          <a:xfrm>
            <a:off x="274320" y="6227064"/>
            <a:ext cx="11643055" cy="438912"/>
          </a:xfrm>
          <a:prstGeom prst="rect">
            <a:avLst/>
          </a:prstGeom>
          <a:noFill/>
        </p:spPr>
        <p:txBody>
          <a:bodyPr wrap="square" anchor="ctr" lIns="0" rIns="0" tIns="0" bIns="0">
            <a:noAutofit/>
          </a:bodyPr>
          <a:lstStyle/>
          <a:p>
            <a:pPr algn="r"/>
            <a:r>
              <a:rPr sz="2600" b="0" i="1">
                <a:solidFill>
                  <a:srgbClr val="FFFFFF"/>
                </a:solidFill>
                <a:latin typeface="Inter"/>
              </a:rPr>
              <a:t>Git Week · Implementation 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85800" y="548640"/>
            <a:ext cx="2011680" cy="438912"/>
          </a:xfrm>
          <a:prstGeom prst="roundRect">
            <a:avLst>
              <a:gd name="adj" fmla="val 50000"/>
            </a:avLst>
          </a:prstGeom>
          <a:solidFill>
            <a:srgbClr val="9437FF"/>
          </a:solidFill>
          <a:ln>
            <a:noFill/>
          </a:ln>
          <a:effectLst/>
        </p:spPr>
        <p:txBody>
          <a:bodyPr rtlCol="0" anchor="ctr" wrap="square" lIns="36576" rIns="36576" tIns="0" bIns="0">
            <a:noAutofit/>
          </a:bodyPr>
          <a:lstStyle/>
          <a:p>
            <a:pPr algn="ctr"/>
            <a:r>
              <a:rPr sz="1800" b="1" i="0">
                <a:solidFill>
                  <a:srgbClr val="FFFFFF"/>
                </a:solidFill>
                <a:latin typeface="Inter"/>
              </a:rPr>
              <a:t>📊  Live poll</a:t>
            </a:r>
          </a:p>
        </p:txBody>
      </p:sp>
      <p:sp>
        <p:nvSpPr>
          <p:cNvPr id="3" name="TextBox 2"/>
          <p:cNvSpPr txBox="1"/>
          <p:nvPr/>
        </p:nvSpPr>
        <p:spPr>
          <a:xfrm>
            <a:off x="685800" y="1280160"/>
            <a:ext cx="7406640" cy="3017520"/>
          </a:xfrm>
          <a:prstGeom prst="rect">
            <a:avLst/>
          </a:prstGeom>
          <a:noFill/>
        </p:spPr>
        <p:txBody>
          <a:bodyPr wrap="square" anchor="ctr" lIns="0" rIns="0" tIns="0" bIns="0">
            <a:noAutofit/>
          </a:bodyPr>
          <a:lstStyle/>
          <a:p>
            <a:pPr algn="l">
              <a:lnSpc>
                <a:spcPct val="108000"/>
              </a:lnSpc>
            </a:pPr>
            <a:r>
              <a:rPr sz="4400" b="1" i="0">
                <a:solidFill>
                  <a:srgbClr val="111111"/>
                </a:solidFill>
                <a:latin typeface="Inter"/>
              </a:rPr>
              <a:t>You type </a:t>
            </a:r>
            <a:r>
              <a:rPr sz="4400" b="1" i="0">
                <a:solidFill>
                  <a:srgbClr val="9437FF"/>
                </a:solidFill>
                <a:latin typeface="Noto Sans Mono"/>
              </a:rPr>
              <a:t>git branch</a:t>
            </a:r>
            <a:br>
              <a:rPr sz="4400"/>
            </a:br>
            <a:r>
              <a:rPr sz="4400" b="1" i="0">
                <a:solidFill>
                  <a:srgbClr val="9437FF"/>
                </a:solidFill>
                <a:latin typeface="Noto Sans Mono"/>
              </a:rPr>
              <a:t>experiment</a:t>
            </a:r>
            <a:r>
              <a:rPr sz="4400" b="1" i="0">
                <a:solidFill>
                  <a:srgbClr val="111111"/>
                </a:solidFill>
                <a:latin typeface="Inter"/>
              </a:rPr>
              <a:t>. What</a:t>
            </a:r>
            <a:br>
              <a:rPr sz="4400"/>
            </a:br>
            <a:r>
              <a:rPr sz="4400" b="1" i="0">
                <a:solidFill>
                  <a:srgbClr val="111111"/>
                </a:solidFill>
                <a:latin typeface="Inter"/>
              </a:rPr>
              <a:t>does Git create?</a:t>
            </a:r>
          </a:p>
        </p:txBody>
      </p:sp>
      <p:sp>
        <p:nvSpPr>
          <p:cNvPr id="4" name="Rounded Rectangle 3"/>
          <p:cNvSpPr/>
          <p:nvPr/>
        </p:nvSpPr>
        <p:spPr>
          <a:xfrm>
            <a:off x="8534095" y="1280160"/>
            <a:ext cx="2971800" cy="2971800"/>
          </a:xfrm>
          <a:prstGeom prst="roundRect">
            <a:avLst>
              <a:gd name="adj" fmla="val 3692"/>
            </a:avLst>
          </a:prstGeom>
          <a:solidFill>
            <a:srgbClr val="FFFFFF"/>
          </a:solidFill>
          <a:ln w="25400">
            <a:solidFill>
              <a:srgbClr val="BBBBBB"/>
            </a:solidFill>
            <a:prstDash val="dash"/>
          </a:ln>
          <a:effectLst/>
        </p:spPr>
        <p:txBody>
          <a:bodyPr rtlCol="0" anchor="ctr" wrap="square" lIns="36576" rIns="36576" tIns="0" bIns="0">
            <a:noAutofit/>
          </a:bodyPr>
          <a:lstStyle/>
          <a:p>
            <a:pPr algn="ctr"/>
            <a:r>
              <a:rPr sz="2400" b="1" i="0">
                <a:solidFill>
                  <a:srgbClr val="919191"/>
                </a:solidFill>
                <a:latin typeface="Inter"/>
              </a:rPr>
              <a:t>QR</a:t>
            </a:r>
          </a:p>
        </p:txBody>
      </p:sp>
      <p:sp>
        <p:nvSpPr>
          <p:cNvPr id="5" name="Rounded Rectangle 4"/>
          <p:cNvSpPr/>
          <p:nvPr/>
        </p:nvSpPr>
        <p:spPr>
          <a:xfrm>
            <a:off x="8534095" y="4434840"/>
            <a:ext cx="2971800" cy="54864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menti.com  ·  ____</a:t>
            </a:r>
          </a:p>
        </p:txBody>
      </p:sp>
      <p:sp>
        <p:nvSpPr>
          <p:cNvPr id="6" name="TextBox 5"/>
          <p:cNvSpPr txBox="1"/>
          <p:nvPr/>
        </p:nvSpPr>
        <p:spPr>
          <a:xfrm>
            <a:off x="685800" y="4526280"/>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A</a:t>
            </a:r>
          </a:p>
        </p:txBody>
      </p:sp>
      <p:sp>
        <p:nvSpPr>
          <p:cNvPr id="7" name="TextBox 6"/>
          <p:cNvSpPr txBox="1"/>
          <p:nvPr/>
        </p:nvSpPr>
        <p:spPr>
          <a:xfrm>
            <a:off x="1082040" y="4526280"/>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A copy of all your files</a:t>
            </a:r>
          </a:p>
        </p:txBody>
      </p:sp>
      <p:sp>
        <p:nvSpPr>
          <p:cNvPr id="8" name="TextBox 7"/>
          <p:cNvSpPr txBox="1"/>
          <p:nvPr/>
        </p:nvSpPr>
        <p:spPr>
          <a:xfrm>
            <a:off x="685800" y="5012649"/>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B</a:t>
            </a:r>
          </a:p>
        </p:txBody>
      </p:sp>
      <p:sp>
        <p:nvSpPr>
          <p:cNvPr id="9" name="TextBox 8"/>
          <p:cNvSpPr txBox="1"/>
          <p:nvPr/>
        </p:nvSpPr>
        <p:spPr>
          <a:xfrm>
            <a:off x="1082040" y="5012649"/>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A copy of all your commits</a:t>
            </a:r>
          </a:p>
        </p:txBody>
      </p:sp>
      <p:sp>
        <p:nvSpPr>
          <p:cNvPr id="10" name="TextBox 9"/>
          <p:cNvSpPr txBox="1"/>
          <p:nvPr/>
        </p:nvSpPr>
        <p:spPr>
          <a:xfrm>
            <a:off x="685800" y="5499018"/>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C</a:t>
            </a:r>
          </a:p>
        </p:txBody>
      </p:sp>
      <p:sp>
        <p:nvSpPr>
          <p:cNvPr id="11" name="TextBox 10"/>
          <p:cNvSpPr txBox="1"/>
          <p:nvPr/>
        </p:nvSpPr>
        <p:spPr>
          <a:xfrm>
            <a:off x="1082040" y="5499018"/>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One new commit</a:t>
            </a:r>
          </a:p>
        </p:txBody>
      </p:sp>
      <p:sp>
        <p:nvSpPr>
          <p:cNvPr id="12" name="TextBox 11"/>
          <p:cNvSpPr txBox="1"/>
          <p:nvPr/>
        </p:nvSpPr>
        <p:spPr>
          <a:xfrm>
            <a:off x="685800" y="5985388"/>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D</a:t>
            </a:r>
          </a:p>
        </p:txBody>
      </p:sp>
      <p:sp>
        <p:nvSpPr>
          <p:cNvPr id="13" name="TextBox 12"/>
          <p:cNvSpPr txBox="1"/>
          <p:nvPr/>
        </p:nvSpPr>
        <p:spPr>
          <a:xfrm>
            <a:off x="1082040" y="5985388"/>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One tiny file holding one 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2F92"/>
        </a:solidFill>
        <a:effectLst/>
      </p:bgPr>
    </p:bg>
    <p:spTree>
      <p:nvGrpSpPr>
        <p:cNvPr id="1" name=""/>
        <p:cNvGrpSpPr/>
        <p:nvPr/>
      </p:nvGrpSpPr>
      <p:grpSpPr/>
      <p:sp>
        <p:nvSpPr>
          <p:cNvPr id="2" name="TextBox 1"/>
          <p:cNvSpPr txBox="1"/>
          <p:nvPr/>
        </p:nvSpPr>
        <p:spPr>
          <a:xfrm>
            <a:off x="685800" y="2547366"/>
            <a:ext cx="10820095" cy="457200"/>
          </a:xfrm>
          <a:prstGeom prst="rect">
            <a:avLst/>
          </a:prstGeom>
          <a:noFill/>
        </p:spPr>
        <p:txBody>
          <a:bodyPr wrap="square" anchor="b" lIns="0" rIns="0" tIns="0" bIns="0">
            <a:noAutofit/>
          </a:bodyPr>
          <a:lstStyle/>
          <a:p>
            <a:pPr algn="ctr"/>
            <a:r>
              <a:rPr sz="2400" b="1" i="0">
                <a:solidFill>
                  <a:srgbClr val="111111"/>
                </a:solidFill>
                <a:latin typeface="Inter"/>
              </a:rPr>
              <a:t>PART 1</a:t>
            </a:r>
          </a:p>
        </p:txBody>
      </p:sp>
      <p:sp>
        <p:nvSpPr>
          <p:cNvPr id="3" name="TextBox 2"/>
          <p:cNvSpPr txBox="1"/>
          <p:nvPr/>
        </p:nvSpPr>
        <p:spPr>
          <a:xfrm>
            <a:off x="685800" y="3068574"/>
            <a:ext cx="10820095" cy="1013460"/>
          </a:xfrm>
          <a:prstGeom prst="rect">
            <a:avLst/>
          </a:prstGeom>
          <a:noFill/>
        </p:spPr>
        <p:txBody>
          <a:bodyPr wrap="square" anchor="ctr" lIns="0" rIns="0" tIns="0" bIns="0">
            <a:noAutofit/>
          </a:bodyPr>
          <a:lstStyle/>
          <a:p>
            <a:pPr algn="ctr">
              <a:lnSpc>
                <a:spcPct val="100000"/>
              </a:lnSpc>
            </a:pPr>
            <a:r>
              <a:rPr sz="6000" b="0" i="0">
                <a:solidFill>
                  <a:srgbClr val="111111"/>
                </a:solidFill>
                <a:latin typeface="Inter"/>
              </a:rPr>
              <a:t>One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0</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1:30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Draw one monster.</a:t>
            </a:r>
            <a:br>
              <a:rPr sz="4400"/>
            </a:br>
            <a:r>
              <a:rPr sz="4400" b="1" i="0">
                <a:solidFill>
                  <a:srgbClr val="111111"/>
                </a:solidFill>
                <a:latin typeface="Inter"/>
              </a:rPr>
              <a:t>Together. One sheet.</a:t>
            </a:r>
          </a:p>
        </p:txBody>
      </p:sp>
      <p:sp>
        <p:nvSpPr>
          <p:cNvPr id="5" name="Oval 4"/>
          <p:cNvSpPr/>
          <p:nvPr/>
        </p:nvSpPr>
        <p:spPr>
          <a:xfrm>
            <a:off x="9631375"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Open your secret slip</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Pencils only</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Go!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commit</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3200" b="0" i="0">
                <a:solidFill>
                  <a:srgbClr val="111111"/>
                </a:solidFill>
                <a:latin typeface="Inter"/>
              </a:rPr>
              <a:t>Never erase.</a:t>
            </a:r>
            <a:br>
              <a:rPr sz="3200"/>
            </a:br>
            <a:r>
              <a:rPr sz="3200" b="0" i="0">
                <a:solidFill>
                  <a:srgbClr val="111111"/>
                </a:solidFill>
                <a:latin typeface="Inter"/>
              </a:rPr>
              <a:t>Every change = a new card of the </a:t>
            </a:r>
            <a:r>
              <a:rPr sz="3200" b="1" i="0">
                <a:solidFill>
                  <a:srgbClr val="111111"/>
                </a:solidFill>
                <a:latin typeface="Inter"/>
              </a:rPr>
              <a:t>whole</a:t>
            </a:r>
            <a:r>
              <a:rPr sz="3200" b="0" i="0">
                <a:solidFill>
                  <a:srgbClr val="111111"/>
                </a:solidFill>
                <a:latin typeface="Inter"/>
              </a:rPr>
              <a:t> monster.</a:t>
            </a:r>
          </a:p>
        </p:txBody>
      </p:sp>
      <p:sp>
        <p:nvSpPr>
          <p:cNvPr id="5" name="Rounded Rectangle 4"/>
          <p:cNvSpPr/>
          <p:nvPr/>
        </p:nvSpPr>
        <p:spPr>
          <a:xfrm>
            <a:off x="685800" y="5394960"/>
            <a:ext cx="10820095" cy="932688"/>
          </a:xfrm>
          <a:prstGeom prst="roundRect">
            <a:avLst>
              <a:gd name="adj" fmla="val 13725"/>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394960"/>
            <a:ext cx="548640" cy="932688"/>
          </a:xfrm>
          <a:prstGeom prst="rect">
            <a:avLst/>
          </a:prstGeom>
          <a:noFill/>
        </p:spPr>
        <p:txBody>
          <a:bodyPr wrap="square" anchor="ctr" lIns="0" rIns="0" tIns="0" bIns="0">
            <a:noAutofit/>
          </a:bodyPr>
          <a:lstStyle/>
          <a:p>
            <a:pPr algn="l"/>
            <a:r>
              <a:rPr sz="2200" b="0" i="0">
                <a:solidFill>
                  <a:srgbClr val="111111"/>
                </a:solidFill>
                <a:latin typeface="Inter"/>
              </a:rPr>
              <a:t>💬</a:t>
            </a:r>
          </a:p>
        </p:txBody>
      </p:sp>
      <p:sp>
        <p:nvSpPr>
          <p:cNvPr id="7" name="TextBox 6"/>
          <p:cNvSpPr txBox="1"/>
          <p:nvPr/>
        </p:nvSpPr>
        <p:spPr>
          <a:xfrm>
            <a:off x="1508760" y="5394960"/>
            <a:ext cx="9722815" cy="932688"/>
          </a:xfrm>
          <a:prstGeom prst="rect">
            <a:avLst/>
          </a:prstGeom>
          <a:noFill/>
        </p:spPr>
        <p:txBody>
          <a:bodyPr wrap="square" anchor="ctr" lIns="0" rIns="0" tIns="0" bIns="0">
            <a:noAutofit/>
          </a:bodyPr>
          <a:lstStyle/>
          <a:p>
            <a:pPr algn="l">
              <a:lnSpc>
                <a:spcPct val="105000"/>
              </a:lnSpc>
            </a:pPr>
            <a:r>
              <a:rPr sz="2200" b="0" i="0">
                <a:solidFill>
                  <a:srgbClr val="111111"/>
                </a:solidFill>
                <a:latin typeface="Inter"/>
              </a:rPr>
              <a:t>You pencilled a new FACE and a new BODY.</a:t>
            </a:r>
            <a:br>
              <a:rPr sz="2200"/>
            </a:br>
            <a:r>
              <a:rPr sz="2200" b="0" i="0">
                <a:solidFill>
                  <a:srgbClr val="111111"/>
                </a:solidFill>
                <a:latin typeface="Inter"/>
              </a:rPr>
              <a:t>Only FACE is ready. What goes on the next card?</a:t>
            </a:r>
          </a:p>
        </p:txBody>
      </p:sp>
      <p:sp>
        <p:nvSpPr>
          <p:cNvPr id="8" name="Oval 7"/>
          <p:cNvSpPr/>
          <p:nvPr/>
        </p:nvSpPr>
        <p:spPr>
          <a:xfrm>
            <a:off x="9631375"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7" name="Rounded Rectangle 16"/>
          <p:cNvSpPr/>
          <p:nvPr/>
        </p:nvSpPr>
        <p:spPr>
          <a:xfrm>
            <a:off x="1328623" y="3460145"/>
            <a:ext cx="1196949" cy="1725015"/>
          </a:xfrm>
          <a:prstGeom prst="roundRect">
            <a:avLst>
              <a:gd name="adj" fmla="val 7058"/>
            </a:avLst>
          </a:prstGeom>
          <a:solidFill>
            <a:srgbClr val="FFFFFF"/>
          </a:solidFill>
          <a:ln w="19050">
            <a:solidFill>
              <a:srgbClr val="9A9A9A"/>
            </a:solidFill>
            <a:prstDash val="dash"/>
          </a:ln>
          <a:effectLst/>
        </p:spPr>
        <p:txBody>
          <a:bodyPr rtlCol="0" anchor="ctr" wrap="square" lIns="36576" rIns="36576" tIns="0" bIns="0">
            <a:noAutofit/>
          </a:bodyPr>
          <a:lstStyle/>
          <a:p>
            <a:pPr algn="ctr"/>
          </a:p>
        </p:txBody>
      </p:sp>
      <p:sp>
        <p:nvSpPr>
          <p:cNvPr id="18" name="Rounded Rectangle 17"/>
          <p:cNvSpPr/>
          <p:nvPr/>
        </p:nvSpPr>
        <p:spPr>
          <a:xfrm>
            <a:off x="1413113" y="3544636"/>
            <a:ext cx="492861" cy="239389"/>
          </a:xfrm>
          <a:prstGeom prst="roundRect">
            <a:avLst>
              <a:gd name="adj" fmla="val 17647"/>
            </a:avLst>
          </a:prstGeom>
          <a:noFill/>
          <a:ln w="12700">
            <a:solidFill>
              <a:srgbClr val="9A9A9A"/>
            </a:solidFill>
            <a:prstDash val="dash"/>
          </a:ln>
          <a:effectLst/>
        </p:spPr>
        <p:txBody>
          <a:bodyPr rtlCol="0" anchor="ctr" wrap="square" lIns="36576" rIns="36576" tIns="0" bIns="0">
            <a:noAutofit/>
          </a:bodyPr>
          <a:lstStyle/>
          <a:p>
            <a:pPr algn="ctr"/>
          </a:p>
        </p:txBody>
      </p:sp>
      <p:sp>
        <p:nvSpPr>
          <p:cNvPr id="19" name="Rounded Rectangle 18"/>
          <p:cNvSpPr/>
          <p:nvPr/>
        </p:nvSpPr>
        <p:spPr>
          <a:xfrm>
            <a:off x="1413113" y="3854434"/>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0" name="Rounded Rectangle 19"/>
          <p:cNvSpPr/>
          <p:nvPr/>
        </p:nvSpPr>
        <p:spPr>
          <a:xfrm>
            <a:off x="1413113" y="4234642"/>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1" name="Rounded Rectangle 20"/>
          <p:cNvSpPr/>
          <p:nvPr/>
        </p:nvSpPr>
        <p:spPr>
          <a:xfrm>
            <a:off x="1413113" y="4614849"/>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2" name="TextBox 21"/>
          <p:cNvSpPr txBox="1"/>
          <p:nvPr/>
        </p:nvSpPr>
        <p:spPr>
          <a:xfrm>
            <a:off x="2708452" y="4121485"/>
            <a:ext cx="1783080" cy="402336"/>
          </a:xfrm>
          <a:prstGeom prst="rect">
            <a:avLst/>
          </a:prstGeom>
          <a:noFill/>
        </p:spPr>
        <p:txBody>
          <a:bodyPr wrap="square" anchor="ctr" lIns="0" rIns="0" tIns="0" bIns="0">
            <a:noAutofit/>
          </a:bodyPr>
          <a:lstStyle/>
          <a:p>
            <a:pPr algn="l"/>
            <a:r>
              <a:rPr sz="1800" b="1" i="0">
                <a:solidFill>
                  <a:srgbClr val="9437FF"/>
                </a:solidFill>
                <a:latin typeface="Noto Sans Mono"/>
              </a:rPr>
              <a:t>working copy</a:t>
            </a:r>
          </a:p>
        </p:txBody>
      </p:sp>
      <p:sp>
        <p:nvSpPr>
          <p:cNvPr id="23" name="Rounded Rectangle 22"/>
          <p:cNvSpPr/>
          <p:nvPr/>
        </p:nvSpPr>
        <p:spPr>
          <a:xfrm>
            <a:off x="5040172" y="3460145"/>
            <a:ext cx="1196949" cy="1725015"/>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4" name="Rounded Rectangle 23"/>
          <p:cNvSpPr/>
          <p:nvPr/>
        </p:nvSpPr>
        <p:spPr>
          <a:xfrm>
            <a:off x="5124663" y="3544636"/>
            <a:ext cx="492861" cy="239389"/>
          </a:xfrm>
          <a:prstGeom prst="roundRect">
            <a:avLst>
              <a:gd name="adj" fmla="val 17647"/>
            </a:avLst>
          </a:prstGeom>
          <a:noFill/>
          <a:ln w="12700">
            <a:solidFill>
              <a:srgbClr val="9A9A9A"/>
            </a:solidFill>
            <a:prstDash val="dash"/>
          </a:ln>
          <a:effectLst/>
        </p:spPr>
        <p:txBody>
          <a:bodyPr rtlCol="0" anchor="ctr" wrap="square" lIns="36576" rIns="36576" tIns="0" bIns="0">
            <a:noAutofit/>
          </a:bodyPr>
          <a:lstStyle/>
          <a:p>
            <a:pPr algn="ctr"/>
          </a:p>
        </p:txBody>
      </p:sp>
      <p:sp>
        <p:nvSpPr>
          <p:cNvPr id="25" name="Rounded Rectangle 24"/>
          <p:cNvSpPr/>
          <p:nvPr/>
        </p:nvSpPr>
        <p:spPr>
          <a:xfrm>
            <a:off x="5124663" y="3854434"/>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6" name="Rounded Rectangle 25"/>
          <p:cNvSpPr/>
          <p:nvPr/>
        </p:nvSpPr>
        <p:spPr>
          <a:xfrm>
            <a:off x="5124663" y="4234642"/>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7" name="Rounded Rectangle 26"/>
          <p:cNvSpPr/>
          <p:nvPr/>
        </p:nvSpPr>
        <p:spPr>
          <a:xfrm>
            <a:off x="5124663" y="4614849"/>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28" name="TextBox 27"/>
          <p:cNvSpPr txBox="1"/>
          <p:nvPr/>
        </p:nvSpPr>
        <p:spPr>
          <a:xfrm>
            <a:off x="6420002" y="4121485"/>
            <a:ext cx="1097280" cy="402336"/>
          </a:xfrm>
          <a:prstGeom prst="rect">
            <a:avLst/>
          </a:prstGeom>
          <a:noFill/>
        </p:spPr>
        <p:txBody>
          <a:bodyPr wrap="square" anchor="ctr" lIns="0" rIns="0" tIns="0" bIns="0">
            <a:noAutofit/>
          </a:bodyPr>
          <a:lstStyle/>
          <a:p>
            <a:pPr algn="l"/>
            <a:r>
              <a:rPr sz="1800" b="1" i="0">
                <a:solidFill>
                  <a:srgbClr val="9437FF"/>
                </a:solidFill>
                <a:latin typeface="Noto Sans Mono"/>
              </a:rPr>
              <a:t>git add</a:t>
            </a:r>
          </a:p>
        </p:txBody>
      </p:sp>
      <p:sp>
        <p:nvSpPr>
          <p:cNvPr id="29" name="Rounded Rectangle 28"/>
          <p:cNvSpPr/>
          <p:nvPr/>
        </p:nvSpPr>
        <p:spPr>
          <a:xfrm>
            <a:off x="8065922" y="3460145"/>
            <a:ext cx="1196949" cy="1725015"/>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0" name="Rounded Rectangle 29"/>
          <p:cNvSpPr/>
          <p:nvPr/>
        </p:nvSpPr>
        <p:spPr>
          <a:xfrm>
            <a:off x="8150412" y="3544636"/>
            <a:ext cx="393801" cy="239389"/>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31" name="Rounded Rectangle 30"/>
          <p:cNvSpPr/>
          <p:nvPr/>
        </p:nvSpPr>
        <p:spPr>
          <a:xfrm>
            <a:off x="8150412" y="3854434"/>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32" name="Rounded Rectangle 31"/>
          <p:cNvSpPr/>
          <p:nvPr/>
        </p:nvSpPr>
        <p:spPr>
          <a:xfrm>
            <a:off x="8150412" y="4234642"/>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33" name="Rounded Rectangle 32"/>
          <p:cNvSpPr/>
          <p:nvPr/>
        </p:nvSpPr>
        <p:spPr>
          <a:xfrm>
            <a:off x="8150412" y="4614849"/>
            <a:ext cx="1027968" cy="33796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00" b="0" i="0">
                <a:solidFill>
                  <a:srgbClr val="111111"/>
                </a:solidFill>
                <a:latin typeface="Inter"/>
              </a:rPr>
              <a:t>🦵</a:t>
            </a:r>
          </a:p>
        </p:txBody>
      </p:sp>
      <p:sp>
        <p:nvSpPr>
          <p:cNvPr id="34" name="TextBox 33"/>
          <p:cNvSpPr txBox="1"/>
          <p:nvPr/>
        </p:nvSpPr>
        <p:spPr>
          <a:xfrm>
            <a:off x="8102498" y="4952812"/>
            <a:ext cx="1123797" cy="183062"/>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35" name="TextBox 34"/>
          <p:cNvSpPr txBox="1"/>
          <p:nvPr/>
        </p:nvSpPr>
        <p:spPr>
          <a:xfrm>
            <a:off x="9445751" y="4121485"/>
            <a:ext cx="1508760" cy="402336"/>
          </a:xfrm>
          <a:prstGeom prst="rect">
            <a:avLst/>
          </a:prstGeom>
          <a:noFill/>
        </p:spPr>
        <p:txBody>
          <a:bodyPr wrap="square" anchor="ctr" lIns="0" rIns="0" tIns="0" bIns="0">
            <a:noAutofit/>
          </a:bodyPr>
          <a:lstStyle/>
          <a:p>
            <a:pPr algn="l"/>
            <a:r>
              <a:rPr sz="1800" b="1" i="0">
                <a:solidFill>
                  <a:srgbClr val="9437FF"/>
                </a:solidFill>
                <a:latin typeface="Noto Sans Mono"/>
              </a:rPr>
              <a:t>git commit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ctr" lIns="0" rIns="0" tIns="0" bIns="0">
            <a:noAutofit/>
          </a:bodyPr>
          <a:lstStyle/>
          <a:p>
            <a:pPr algn="l"/>
            <a:r>
              <a:rPr sz="4000" b="1" i="0">
                <a:solidFill>
                  <a:srgbClr val="111111"/>
                </a:solidFill>
                <a:latin typeface="Inter"/>
              </a:rPr>
              <a:t>Today’s goals</a:t>
            </a:r>
          </a:p>
        </p:txBody>
      </p:sp>
      <p:sp>
        <p:nvSpPr>
          <p:cNvPr id="3" name="TextBox 2"/>
          <p:cNvSpPr txBox="1"/>
          <p:nvPr/>
        </p:nvSpPr>
        <p:spPr>
          <a:xfrm>
            <a:off x="685800" y="1508760"/>
            <a:ext cx="10820095" cy="457200"/>
          </a:xfrm>
          <a:prstGeom prst="rect">
            <a:avLst/>
          </a:prstGeom>
          <a:noFill/>
        </p:spPr>
        <p:txBody>
          <a:bodyPr wrap="square" anchor="ctr" lIns="0" rIns="0" tIns="0" bIns="0">
            <a:noAutofit/>
          </a:bodyPr>
          <a:lstStyle/>
          <a:p>
            <a:pPr algn="l"/>
            <a:r>
              <a:rPr sz="2600" b="0" i="0">
                <a:solidFill>
                  <a:srgbClr val="555555"/>
                </a:solidFill>
                <a:latin typeface="Inter"/>
              </a:rPr>
              <a:t>After today, we should be confident you could:</a:t>
            </a:r>
          </a:p>
        </p:txBody>
      </p:sp>
      <p:sp>
        <p:nvSpPr>
          <p:cNvPr id="4" name="TextBox 3"/>
          <p:cNvSpPr txBox="1"/>
          <p:nvPr/>
        </p:nvSpPr>
        <p:spPr>
          <a:xfrm>
            <a:off x="685800" y="2286000"/>
            <a:ext cx="502920" cy="497890"/>
          </a:xfrm>
          <a:prstGeom prst="rect">
            <a:avLst/>
          </a:prstGeom>
          <a:noFill/>
        </p:spPr>
        <p:txBody>
          <a:bodyPr wrap="square" anchor="t" lIns="0" rIns="0" tIns="0" bIns="0">
            <a:noAutofit/>
          </a:bodyPr>
          <a:lstStyle/>
          <a:p>
            <a:pPr algn="l">
              <a:lnSpc>
                <a:spcPct val="108000"/>
              </a:lnSpc>
            </a:pPr>
            <a:r>
              <a:rPr sz="3000" b="1" i="0">
                <a:solidFill>
                  <a:srgbClr val="9437FF"/>
                </a:solidFill>
                <a:latin typeface="Inter"/>
              </a:rPr>
              <a:t>1</a:t>
            </a:r>
          </a:p>
        </p:txBody>
      </p:sp>
      <p:sp>
        <p:nvSpPr>
          <p:cNvPr id="5" name="TextBox 4"/>
          <p:cNvSpPr txBox="1"/>
          <p:nvPr/>
        </p:nvSpPr>
        <p:spPr>
          <a:xfrm>
            <a:off x="1188720" y="2286000"/>
            <a:ext cx="10317175" cy="516178"/>
          </a:xfrm>
          <a:prstGeom prst="rect">
            <a:avLst/>
          </a:prstGeom>
          <a:noFill/>
        </p:spPr>
        <p:txBody>
          <a:bodyPr wrap="square" anchor="t" lIns="0" rIns="0" tIns="0" bIns="0">
            <a:noAutofit/>
          </a:bodyPr>
          <a:lstStyle/>
          <a:p>
            <a:pPr algn="l">
              <a:lnSpc>
                <a:spcPct val="108000"/>
              </a:lnSpc>
            </a:pPr>
            <a:r>
              <a:rPr sz="3000" b="0" i="0">
                <a:solidFill>
                  <a:srgbClr val="111111"/>
                </a:solidFill>
                <a:latin typeface="Inter"/>
              </a:rPr>
              <a:t>Explain a commit, a branch, and HEAD</a:t>
            </a:r>
          </a:p>
        </p:txBody>
      </p:sp>
      <p:sp>
        <p:nvSpPr>
          <p:cNvPr id="6" name="TextBox 5"/>
          <p:cNvSpPr txBox="1"/>
          <p:nvPr/>
        </p:nvSpPr>
        <p:spPr>
          <a:xfrm>
            <a:off x="685800" y="2985058"/>
            <a:ext cx="502920" cy="497890"/>
          </a:xfrm>
          <a:prstGeom prst="rect">
            <a:avLst/>
          </a:prstGeom>
          <a:noFill/>
        </p:spPr>
        <p:txBody>
          <a:bodyPr wrap="square" anchor="t" lIns="0" rIns="0" tIns="0" bIns="0">
            <a:noAutofit/>
          </a:bodyPr>
          <a:lstStyle/>
          <a:p>
            <a:pPr algn="l">
              <a:lnSpc>
                <a:spcPct val="108000"/>
              </a:lnSpc>
            </a:pPr>
            <a:r>
              <a:rPr sz="3000" b="1" i="0">
                <a:solidFill>
                  <a:srgbClr val="9437FF"/>
                </a:solidFill>
                <a:latin typeface="Inter"/>
              </a:rPr>
              <a:t>2</a:t>
            </a:r>
          </a:p>
        </p:txBody>
      </p:sp>
      <p:sp>
        <p:nvSpPr>
          <p:cNvPr id="7" name="TextBox 6"/>
          <p:cNvSpPr txBox="1"/>
          <p:nvPr/>
        </p:nvSpPr>
        <p:spPr>
          <a:xfrm>
            <a:off x="1188720" y="2985058"/>
            <a:ext cx="10317175" cy="516178"/>
          </a:xfrm>
          <a:prstGeom prst="rect">
            <a:avLst/>
          </a:prstGeom>
          <a:noFill/>
        </p:spPr>
        <p:txBody>
          <a:bodyPr wrap="square" anchor="t" lIns="0" rIns="0" tIns="0" bIns="0">
            <a:noAutofit/>
          </a:bodyPr>
          <a:lstStyle/>
          <a:p>
            <a:pPr algn="l">
              <a:lnSpc>
                <a:spcPct val="108000"/>
              </a:lnSpc>
            </a:pPr>
            <a:r>
              <a:rPr sz="3000" b="0" i="0">
                <a:solidFill>
                  <a:srgbClr val="111111"/>
                </a:solidFill>
                <a:latin typeface="Inter"/>
              </a:rPr>
              <a:t>Predict what conflicts in a merge</a:t>
            </a:r>
          </a:p>
        </p:txBody>
      </p:sp>
      <p:sp>
        <p:nvSpPr>
          <p:cNvPr id="8" name="TextBox 7"/>
          <p:cNvSpPr txBox="1"/>
          <p:nvPr/>
        </p:nvSpPr>
        <p:spPr>
          <a:xfrm>
            <a:off x="685800" y="3684117"/>
            <a:ext cx="502920" cy="497890"/>
          </a:xfrm>
          <a:prstGeom prst="rect">
            <a:avLst/>
          </a:prstGeom>
          <a:noFill/>
        </p:spPr>
        <p:txBody>
          <a:bodyPr wrap="square" anchor="t" lIns="0" rIns="0" tIns="0" bIns="0">
            <a:noAutofit/>
          </a:bodyPr>
          <a:lstStyle/>
          <a:p>
            <a:pPr algn="l">
              <a:lnSpc>
                <a:spcPct val="108000"/>
              </a:lnSpc>
            </a:pPr>
            <a:r>
              <a:rPr sz="3000" b="1" i="0">
                <a:solidFill>
                  <a:srgbClr val="9437FF"/>
                </a:solidFill>
                <a:latin typeface="Inter"/>
              </a:rPr>
              <a:t>3</a:t>
            </a:r>
          </a:p>
        </p:txBody>
      </p:sp>
      <p:sp>
        <p:nvSpPr>
          <p:cNvPr id="9" name="TextBox 8"/>
          <p:cNvSpPr txBox="1"/>
          <p:nvPr/>
        </p:nvSpPr>
        <p:spPr>
          <a:xfrm>
            <a:off x="1188720" y="3684117"/>
            <a:ext cx="10317175" cy="516178"/>
          </a:xfrm>
          <a:prstGeom prst="rect">
            <a:avLst/>
          </a:prstGeom>
          <a:noFill/>
        </p:spPr>
        <p:txBody>
          <a:bodyPr wrap="square" anchor="t" lIns="0" rIns="0" tIns="0" bIns="0">
            <a:noAutofit/>
          </a:bodyPr>
          <a:lstStyle/>
          <a:p>
            <a:pPr algn="l">
              <a:lnSpc>
                <a:spcPct val="108000"/>
              </a:lnSpc>
            </a:pPr>
            <a:r>
              <a:rPr sz="3000" b="0" i="0">
                <a:solidFill>
                  <a:srgbClr val="111111"/>
                </a:solidFill>
                <a:latin typeface="Inter"/>
              </a:rPr>
              <a:t>Fix a rejected push</a:t>
            </a:r>
          </a:p>
        </p:txBody>
      </p:sp>
      <p:sp>
        <p:nvSpPr>
          <p:cNvPr id="10" name="TextBox 9"/>
          <p:cNvSpPr txBox="1"/>
          <p:nvPr/>
        </p:nvSpPr>
        <p:spPr>
          <a:xfrm>
            <a:off x="685800" y="4383176"/>
            <a:ext cx="502920" cy="497890"/>
          </a:xfrm>
          <a:prstGeom prst="rect">
            <a:avLst/>
          </a:prstGeom>
          <a:noFill/>
        </p:spPr>
        <p:txBody>
          <a:bodyPr wrap="square" anchor="t" lIns="0" rIns="0" tIns="0" bIns="0">
            <a:noAutofit/>
          </a:bodyPr>
          <a:lstStyle/>
          <a:p>
            <a:pPr algn="l">
              <a:lnSpc>
                <a:spcPct val="108000"/>
              </a:lnSpc>
            </a:pPr>
            <a:r>
              <a:rPr sz="3000" b="1" i="0">
                <a:solidFill>
                  <a:srgbClr val="9437FF"/>
                </a:solidFill>
                <a:latin typeface="Inter"/>
              </a:rPr>
              <a:t>4</a:t>
            </a:r>
          </a:p>
        </p:txBody>
      </p:sp>
      <p:sp>
        <p:nvSpPr>
          <p:cNvPr id="11" name="TextBox 10"/>
          <p:cNvSpPr txBox="1"/>
          <p:nvPr/>
        </p:nvSpPr>
        <p:spPr>
          <a:xfrm>
            <a:off x="1188720" y="4383176"/>
            <a:ext cx="10317175" cy="1014069"/>
          </a:xfrm>
          <a:prstGeom prst="rect">
            <a:avLst/>
          </a:prstGeom>
          <a:noFill/>
        </p:spPr>
        <p:txBody>
          <a:bodyPr wrap="square" anchor="t" lIns="0" rIns="0" tIns="0" bIns="0">
            <a:noAutofit/>
          </a:bodyPr>
          <a:lstStyle/>
          <a:p>
            <a:pPr algn="l">
              <a:lnSpc>
                <a:spcPct val="108000"/>
              </a:lnSpc>
            </a:pPr>
            <a:r>
              <a:rPr sz="3000" b="0" i="0">
                <a:solidFill>
                  <a:srgbClr val="111111"/>
                </a:solidFill>
                <a:latin typeface="Inter"/>
              </a:rPr>
              <a:t>Choose revert, reset, or rebase,</a:t>
            </a:r>
            <a:br>
              <a:rPr sz="3000"/>
            </a:br>
            <a:r>
              <a:rPr sz="3000" b="0" i="0">
                <a:solidFill>
                  <a:srgbClr val="111111"/>
                </a:solidFill>
                <a:latin typeface="Inter"/>
              </a:rPr>
              <a:t>and say what each destroys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1</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3:30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Another lab’s history. Put it in order.</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Which card is newest?</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Horns added, or removed?</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Fix it: what must every card say?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log</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3200" b="0" i="0">
                <a:solidFill>
                  <a:srgbClr val="111111"/>
                </a:solidFill>
                <a:latin typeface="Inter"/>
              </a:rPr>
              <a:t>Each card points to its parent.</a:t>
            </a:r>
            <a:br>
              <a:rPr sz="3200"/>
            </a:br>
            <a:r>
              <a:rPr sz="3200" b="0" i="0">
                <a:solidFill>
                  <a:srgbClr val="111111"/>
                </a:solidFill>
                <a:latin typeface="Inter"/>
              </a:rPr>
              <a:t>History = follow the arrows back.</a:t>
            </a:r>
          </a:p>
        </p:txBody>
      </p:sp>
      <p:sp>
        <p:nvSpPr>
          <p:cNvPr id="5" name="Rounded Rectangle 4"/>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7" name="TextBox 6"/>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Why do the arrows point backward, never forward?</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7" name="Rounded Rectangle 16"/>
          <p:cNvSpPr/>
          <p:nvPr/>
        </p:nvSpPr>
        <p:spPr>
          <a:xfrm>
            <a:off x="2868015" y="3563701"/>
            <a:ext cx="1243584" cy="179222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8" name="Rounded Rectangle 17"/>
          <p:cNvSpPr/>
          <p:nvPr/>
        </p:nvSpPr>
        <p:spPr>
          <a:xfrm>
            <a:off x="2955798" y="3651483"/>
            <a:ext cx="365760" cy="24871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W</a:t>
            </a:r>
          </a:p>
        </p:txBody>
      </p:sp>
      <p:sp>
        <p:nvSpPr>
          <p:cNvPr id="19" name="TextBox 18"/>
          <p:cNvSpPr txBox="1"/>
          <p:nvPr/>
        </p:nvSpPr>
        <p:spPr>
          <a:xfrm>
            <a:off x="3358134" y="3651483"/>
            <a:ext cx="665683" cy="248716"/>
          </a:xfrm>
          <a:prstGeom prst="rect">
            <a:avLst/>
          </a:prstGeom>
          <a:noFill/>
        </p:spPr>
        <p:txBody>
          <a:bodyPr wrap="square" anchor="ctr" lIns="0" rIns="0" tIns="0" bIns="0">
            <a:noAutofit/>
          </a:bodyPr>
          <a:lstStyle/>
          <a:p>
            <a:pPr algn="r"/>
            <a:r>
              <a:rPr sz="1300" b="0" i="0">
                <a:solidFill>
                  <a:srgbClr val="555555"/>
                </a:solidFill>
                <a:latin typeface="Inter"/>
              </a:rPr>
              <a:t>Ken</a:t>
            </a:r>
          </a:p>
        </p:txBody>
      </p:sp>
      <p:sp>
        <p:nvSpPr>
          <p:cNvPr id="20" name="Rounded Rectangle 19"/>
          <p:cNvSpPr/>
          <p:nvPr/>
        </p:nvSpPr>
        <p:spPr>
          <a:xfrm>
            <a:off x="2955798" y="3973352"/>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21" name="Rounded Rectangle 20"/>
          <p:cNvSpPr/>
          <p:nvPr/>
        </p:nvSpPr>
        <p:spPr>
          <a:xfrm>
            <a:off x="2955798" y="4368373"/>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22" name="Rounded Rectangle 21"/>
          <p:cNvSpPr/>
          <p:nvPr/>
        </p:nvSpPr>
        <p:spPr>
          <a:xfrm>
            <a:off x="2955798" y="4763394"/>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23" name="TextBox 22"/>
          <p:cNvSpPr txBox="1"/>
          <p:nvPr/>
        </p:nvSpPr>
        <p:spPr>
          <a:xfrm>
            <a:off x="2904591" y="5114523"/>
            <a:ext cx="1170432" cy="19019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24" name="Rounded Rectangle 23"/>
          <p:cNvSpPr/>
          <p:nvPr/>
        </p:nvSpPr>
        <p:spPr>
          <a:xfrm>
            <a:off x="5474055" y="3563701"/>
            <a:ext cx="1243584" cy="179222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5" name="Rounded Rectangle 24"/>
          <p:cNvSpPr/>
          <p:nvPr/>
        </p:nvSpPr>
        <p:spPr>
          <a:xfrm>
            <a:off x="5561838" y="3651483"/>
            <a:ext cx="365760" cy="24871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X</a:t>
            </a:r>
          </a:p>
        </p:txBody>
      </p:sp>
      <p:sp>
        <p:nvSpPr>
          <p:cNvPr id="26" name="TextBox 25"/>
          <p:cNvSpPr txBox="1"/>
          <p:nvPr/>
        </p:nvSpPr>
        <p:spPr>
          <a:xfrm>
            <a:off x="5964174" y="3651483"/>
            <a:ext cx="665683" cy="248716"/>
          </a:xfrm>
          <a:prstGeom prst="rect">
            <a:avLst/>
          </a:prstGeom>
          <a:noFill/>
        </p:spPr>
        <p:txBody>
          <a:bodyPr wrap="square" anchor="ctr" lIns="0" rIns="0" tIns="0" bIns="0">
            <a:noAutofit/>
          </a:bodyPr>
          <a:lstStyle/>
          <a:p>
            <a:pPr algn="r"/>
            <a:r>
              <a:rPr sz="1300" b="0" i="0">
                <a:solidFill>
                  <a:srgbClr val="555555"/>
                </a:solidFill>
                <a:latin typeface="Inter"/>
              </a:rPr>
              <a:t>Barbara</a:t>
            </a:r>
          </a:p>
        </p:txBody>
      </p:sp>
      <p:sp>
        <p:nvSpPr>
          <p:cNvPr id="27" name="Rounded Rectangle 26"/>
          <p:cNvSpPr/>
          <p:nvPr/>
        </p:nvSpPr>
        <p:spPr>
          <a:xfrm>
            <a:off x="5561838" y="3973352"/>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28" name="Rounded Rectangle 27"/>
          <p:cNvSpPr/>
          <p:nvPr/>
        </p:nvSpPr>
        <p:spPr>
          <a:xfrm>
            <a:off x="5561838" y="4368373"/>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29" name="Rounded Rectangle 28"/>
          <p:cNvSpPr/>
          <p:nvPr/>
        </p:nvSpPr>
        <p:spPr>
          <a:xfrm>
            <a:off x="5561838" y="4763394"/>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30" name="TextBox 29"/>
          <p:cNvSpPr txBox="1"/>
          <p:nvPr/>
        </p:nvSpPr>
        <p:spPr>
          <a:xfrm>
            <a:off x="5510631" y="5114523"/>
            <a:ext cx="1170432" cy="19019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W</a:t>
            </a:r>
          </a:p>
        </p:txBody>
      </p:sp>
      <p:sp>
        <p:nvSpPr>
          <p:cNvPr id="31" name="Rounded Rectangle 30"/>
          <p:cNvSpPr/>
          <p:nvPr/>
        </p:nvSpPr>
        <p:spPr>
          <a:xfrm>
            <a:off x="8080095" y="3563701"/>
            <a:ext cx="1243584" cy="179222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2" name="Rounded Rectangle 31"/>
          <p:cNvSpPr/>
          <p:nvPr/>
        </p:nvSpPr>
        <p:spPr>
          <a:xfrm>
            <a:off x="8167878" y="3651483"/>
            <a:ext cx="365760" cy="24871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Y</a:t>
            </a:r>
          </a:p>
        </p:txBody>
      </p:sp>
      <p:sp>
        <p:nvSpPr>
          <p:cNvPr id="33" name="TextBox 32"/>
          <p:cNvSpPr txBox="1"/>
          <p:nvPr/>
        </p:nvSpPr>
        <p:spPr>
          <a:xfrm>
            <a:off x="8570214" y="3651483"/>
            <a:ext cx="665683" cy="248716"/>
          </a:xfrm>
          <a:prstGeom prst="rect">
            <a:avLst/>
          </a:prstGeom>
          <a:noFill/>
        </p:spPr>
        <p:txBody>
          <a:bodyPr wrap="square" anchor="ctr" lIns="0" rIns="0" tIns="0" bIns="0">
            <a:noAutofit/>
          </a:bodyPr>
          <a:lstStyle/>
          <a:p>
            <a:pPr algn="r"/>
            <a:r>
              <a:rPr sz="1200" b="0" i="0">
                <a:solidFill>
                  <a:srgbClr val="555555"/>
                </a:solidFill>
                <a:latin typeface="Inter"/>
              </a:rPr>
              <a:t>Margaret</a:t>
            </a:r>
          </a:p>
        </p:txBody>
      </p:sp>
      <p:sp>
        <p:nvSpPr>
          <p:cNvPr id="34" name="Rounded Rectangle 33"/>
          <p:cNvSpPr/>
          <p:nvPr/>
        </p:nvSpPr>
        <p:spPr>
          <a:xfrm>
            <a:off x="8167878" y="3973352"/>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35" name="Rounded Rectangle 34"/>
          <p:cNvSpPr/>
          <p:nvPr/>
        </p:nvSpPr>
        <p:spPr>
          <a:xfrm>
            <a:off x="8167878" y="4368373"/>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36" name="Rounded Rectangle 35"/>
          <p:cNvSpPr/>
          <p:nvPr/>
        </p:nvSpPr>
        <p:spPr>
          <a:xfrm>
            <a:off x="8167878" y="4763394"/>
            <a:ext cx="1068019" cy="351129"/>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080" b="0" i="0">
                <a:solidFill>
                  <a:srgbClr val="111111"/>
                </a:solidFill>
                <a:latin typeface="Inter"/>
              </a:rPr>
              <a:t>🛞</a:t>
            </a:r>
          </a:p>
        </p:txBody>
      </p:sp>
      <p:sp>
        <p:nvSpPr>
          <p:cNvPr id="37" name="TextBox 36"/>
          <p:cNvSpPr txBox="1"/>
          <p:nvPr/>
        </p:nvSpPr>
        <p:spPr>
          <a:xfrm>
            <a:off x="8116671" y="5114523"/>
            <a:ext cx="1170432" cy="19019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X</a:t>
            </a:r>
          </a:p>
        </p:txBody>
      </p:sp>
      <p:cxnSp>
        <p:nvCxnSpPr>
          <p:cNvPr id="38" name="Connector 37"/>
          <p:cNvCxnSpPr/>
          <p:nvPr/>
        </p:nvCxnSpPr>
        <p:spPr>
          <a:xfrm flipH="1">
            <a:off x="4166463" y="4459813"/>
            <a:ext cx="1252728" cy="0"/>
          </a:xfrm>
          <a:prstGeom prst="line">
            <a:avLst/>
          </a:prstGeom>
          <a:ln w="25400">
            <a:solidFill>
              <a:srgbClr val="555555"/>
            </a:solidFill>
            <a:tailEnd type="triangle" w="med" len="med"/>
          </a:ln>
          <a:effectLst/>
        </p:spPr>
      </p:cxnSp>
      <p:cxnSp>
        <p:nvCxnSpPr>
          <p:cNvPr id="39" name="Connector 38"/>
          <p:cNvCxnSpPr/>
          <p:nvPr/>
        </p:nvCxnSpPr>
        <p:spPr>
          <a:xfrm flipH="1">
            <a:off x="6772503" y="4459813"/>
            <a:ext cx="1252728" cy="0"/>
          </a:xfrm>
          <a:prstGeom prst="line">
            <a:avLst/>
          </a:prstGeom>
          <a:ln w="25400">
            <a:solidFill>
              <a:srgbClr val="555555"/>
            </a:solidFill>
            <a:tailEnd type="triangle" w="med" len="med"/>
          </a:ln>
          <a:effectLst/>
        </p:spPr>
      </p:cxnSp>
      <p:sp>
        <p:nvSpPr>
          <p:cNvPr id="40" name="TextBox 39"/>
          <p:cNvSpPr txBox="1"/>
          <p:nvPr/>
        </p:nvSpPr>
        <p:spPr>
          <a:xfrm>
            <a:off x="1907895" y="3993469"/>
            <a:ext cx="822960" cy="310896"/>
          </a:xfrm>
          <a:prstGeom prst="rect">
            <a:avLst/>
          </a:prstGeom>
          <a:noFill/>
        </p:spPr>
        <p:txBody>
          <a:bodyPr wrap="square" anchor="ctr" lIns="0" rIns="0" tIns="0" bIns="0">
            <a:noAutofit/>
          </a:bodyPr>
          <a:lstStyle/>
          <a:p>
            <a:pPr algn="r"/>
            <a:r>
              <a:rPr sz="1300" b="1" i="0">
                <a:solidFill>
                  <a:srgbClr val="919191"/>
                </a:solidFill>
                <a:latin typeface="Inter"/>
              </a:rPr>
              <a:t>FACE</a:t>
            </a:r>
          </a:p>
        </p:txBody>
      </p:sp>
      <p:sp>
        <p:nvSpPr>
          <p:cNvPr id="41" name="TextBox 40"/>
          <p:cNvSpPr txBox="1"/>
          <p:nvPr/>
        </p:nvSpPr>
        <p:spPr>
          <a:xfrm>
            <a:off x="1907895" y="4388490"/>
            <a:ext cx="822960" cy="310896"/>
          </a:xfrm>
          <a:prstGeom prst="rect">
            <a:avLst/>
          </a:prstGeom>
          <a:noFill/>
        </p:spPr>
        <p:txBody>
          <a:bodyPr wrap="square" anchor="ctr" lIns="0" rIns="0" tIns="0" bIns="0">
            <a:noAutofit/>
          </a:bodyPr>
          <a:lstStyle/>
          <a:p>
            <a:pPr algn="r"/>
            <a:r>
              <a:rPr sz="1300" b="1" i="0">
                <a:solidFill>
                  <a:srgbClr val="919191"/>
                </a:solidFill>
                <a:latin typeface="Inter"/>
              </a:rPr>
              <a:t>BODY</a:t>
            </a:r>
          </a:p>
        </p:txBody>
      </p:sp>
      <p:sp>
        <p:nvSpPr>
          <p:cNvPr id="42" name="TextBox 41"/>
          <p:cNvSpPr txBox="1"/>
          <p:nvPr/>
        </p:nvSpPr>
        <p:spPr>
          <a:xfrm>
            <a:off x="1907895" y="4783510"/>
            <a:ext cx="822960" cy="310896"/>
          </a:xfrm>
          <a:prstGeom prst="rect">
            <a:avLst/>
          </a:prstGeom>
          <a:noFill/>
        </p:spPr>
        <p:txBody>
          <a:bodyPr wrap="square" anchor="ctr" lIns="0" rIns="0" tIns="0" bIns="0">
            <a:noAutofit/>
          </a:bodyPr>
          <a:lstStyle/>
          <a:p>
            <a:pPr algn="r"/>
            <a:r>
              <a:rPr sz="1300" b="1" i="0">
                <a:solidFill>
                  <a:srgbClr val="919191"/>
                </a:solidFill>
                <a:latin typeface="Inter"/>
              </a:rPr>
              <a:t>LEGS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2</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4:00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Two risky ideas.</a:t>
            </a:r>
            <a:br>
              <a:rPr sz="4400"/>
            </a:br>
            <a:r>
              <a:rPr sz="4400" b="1" i="0">
                <a:solidFill>
                  <a:srgbClr val="111111"/>
                </a:solidFill>
                <a:latin typeface="Inter"/>
              </a:rPr>
              <a:t>Keep the good monster safe.</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Split into two pairs</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Open your idea card. Draw ONE card.</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Anyone finds the approved monster in 3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branch</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3200" b="0" i="0">
                <a:solidFill>
                  <a:srgbClr val="111111"/>
                </a:solidFill>
                <a:latin typeface="Inter"/>
              </a:rPr>
              <a:t>A branch is a flag on a card. HEAD = you are here.</a:t>
            </a:r>
          </a:p>
        </p:txBody>
      </p:sp>
      <p:sp>
        <p:nvSpPr>
          <p:cNvPr id="5" name="Rounded Rectangle 4"/>
          <p:cNvSpPr/>
          <p:nvPr/>
        </p:nvSpPr>
        <p:spPr>
          <a:xfrm>
            <a:off x="685800" y="5394960"/>
            <a:ext cx="10820095" cy="932688"/>
          </a:xfrm>
          <a:prstGeom prst="roundRect">
            <a:avLst>
              <a:gd name="adj" fmla="val 13725"/>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394960"/>
            <a:ext cx="548640" cy="932688"/>
          </a:xfrm>
          <a:prstGeom prst="rect">
            <a:avLst/>
          </a:prstGeom>
          <a:noFill/>
        </p:spPr>
        <p:txBody>
          <a:bodyPr wrap="square" anchor="ctr" lIns="0" rIns="0" tIns="0" bIns="0">
            <a:noAutofit/>
          </a:bodyPr>
          <a:lstStyle/>
          <a:p>
            <a:pPr algn="l"/>
            <a:r>
              <a:rPr sz="2200" b="0" i="0">
                <a:solidFill>
                  <a:srgbClr val="111111"/>
                </a:solidFill>
                <a:latin typeface="Inter"/>
              </a:rPr>
              <a:t>💬</a:t>
            </a:r>
          </a:p>
        </p:txBody>
      </p:sp>
      <p:sp>
        <p:nvSpPr>
          <p:cNvPr id="7" name="TextBox 6"/>
          <p:cNvSpPr txBox="1"/>
          <p:nvPr/>
        </p:nvSpPr>
        <p:spPr>
          <a:xfrm>
            <a:off x="1508760" y="5394960"/>
            <a:ext cx="9722815" cy="932688"/>
          </a:xfrm>
          <a:prstGeom prst="rect">
            <a:avLst/>
          </a:prstGeom>
          <a:noFill/>
        </p:spPr>
        <p:txBody>
          <a:bodyPr wrap="square" anchor="ctr" lIns="0" rIns="0" tIns="0" bIns="0">
            <a:noAutofit/>
          </a:bodyPr>
          <a:lstStyle/>
          <a:p>
            <a:pPr algn="l">
              <a:lnSpc>
                <a:spcPct val="105000"/>
              </a:lnSpc>
            </a:pPr>
            <a:r>
              <a:rPr sz="2200" b="0" i="0">
                <a:solidFill>
                  <a:srgbClr val="111111"/>
                </a:solidFill>
                <a:latin typeface="Inter"/>
              </a:rPr>
              <a:t>Pin HEAD on a card with no flag, draw a card, then switch back.</a:t>
            </a:r>
            <a:br>
              <a:rPr sz="2200"/>
            </a:br>
            <a:r>
              <a:rPr sz="2200" b="0" i="0">
                <a:solidFill>
                  <a:srgbClr val="111111"/>
                </a:solidFill>
                <a:latin typeface="Inter"/>
              </a:rPr>
              <a:t>Where’s your new card?</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7" name="Rounded Rectangle 16"/>
          <p:cNvSpPr/>
          <p:nvPr/>
        </p:nvSpPr>
        <p:spPr>
          <a:xfrm>
            <a:off x="3403530" y="3486749"/>
            <a:ext cx="746150" cy="107533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8" name="Rounded Rectangle 17"/>
          <p:cNvSpPr/>
          <p:nvPr/>
        </p:nvSpPr>
        <p:spPr>
          <a:xfrm>
            <a:off x="3456199" y="3539418"/>
            <a:ext cx="340766" cy="201168"/>
          </a:xfrm>
          <a:prstGeom prst="roundRect">
            <a:avLst>
              <a:gd name="adj" fmla="val 13090"/>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19" name="Rounded Rectangle 18"/>
          <p:cNvSpPr/>
          <p:nvPr/>
        </p:nvSpPr>
        <p:spPr>
          <a:xfrm>
            <a:off x="3456199" y="3763446"/>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0" name="Rounded Rectangle 19"/>
          <p:cNvSpPr/>
          <p:nvPr/>
        </p:nvSpPr>
        <p:spPr>
          <a:xfrm>
            <a:off x="3456199" y="3975652"/>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1" name="Rounded Rectangle 20"/>
          <p:cNvSpPr/>
          <p:nvPr/>
        </p:nvSpPr>
        <p:spPr>
          <a:xfrm>
            <a:off x="3456199" y="4187858"/>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2" name="TextBox 21"/>
          <p:cNvSpPr txBox="1"/>
          <p:nvPr/>
        </p:nvSpPr>
        <p:spPr>
          <a:xfrm>
            <a:off x="3440106" y="4376486"/>
            <a:ext cx="672998"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23" name="Rounded Rectangle 22"/>
          <p:cNvSpPr/>
          <p:nvPr/>
        </p:nvSpPr>
        <p:spPr>
          <a:xfrm>
            <a:off x="6101010" y="2894218"/>
            <a:ext cx="746150" cy="107533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4" name="Rounded Rectangle 23"/>
          <p:cNvSpPr/>
          <p:nvPr/>
        </p:nvSpPr>
        <p:spPr>
          <a:xfrm>
            <a:off x="6153679" y="2946887"/>
            <a:ext cx="340766" cy="201168"/>
          </a:xfrm>
          <a:prstGeom prst="roundRect">
            <a:avLst>
              <a:gd name="adj" fmla="val 13090"/>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25" name="Rounded Rectangle 24"/>
          <p:cNvSpPr/>
          <p:nvPr/>
        </p:nvSpPr>
        <p:spPr>
          <a:xfrm>
            <a:off x="6153679" y="3170915"/>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6" name="Rounded Rectangle 25"/>
          <p:cNvSpPr/>
          <p:nvPr/>
        </p:nvSpPr>
        <p:spPr>
          <a:xfrm>
            <a:off x="6153679" y="3383121"/>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7" name="Rounded Rectangle 26"/>
          <p:cNvSpPr/>
          <p:nvPr/>
        </p:nvSpPr>
        <p:spPr>
          <a:xfrm>
            <a:off x="6153679" y="3595327"/>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28" name="TextBox 27"/>
          <p:cNvSpPr txBox="1"/>
          <p:nvPr/>
        </p:nvSpPr>
        <p:spPr>
          <a:xfrm>
            <a:off x="6137586" y="3783954"/>
            <a:ext cx="672998"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cxnSp>
        <p:nvCxnSpPr>
          <p:cNvPr id="29" name="Connector 28"/>
          <p:cNvCxnSpPr/>
          <p:nvPr/>
        </p:nvCxnSpPr>
        <p:spPr>
          <a:xfrm flipH="1">
            <a:off x="4204544" y="3431885"/>
            <a:ext cx="1841602" cy="592531"/>
          </a:xfrm>
          <a:prstGeom prst="line">
            <a:avLst/>
          </a:prstGeom>
          <a:ln w="25400">
            <a:solidFill>
              <a:srgbClr val="555555"/>
            </a:solidFill>
            <a:tailEnd type="triangle" w="med" len="med"/>
          </a:ln>
          <a:effectLst/>
        </p:spPr>
      </p:cxnSp>
      <p:sp>
        <p:nvSpPr>
          <p:cNvPr id="30" name="Rounded Rectangle 29"/>
          <p:cNvSpPr/>
          <p:nvPr/>
        </p:nvSpPr>
        <p:spPr>
          <a:xfrm>
            <a:off x="6101010" y="4079280"/>
            <a:ext cx="746150" cy="1075334"/>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1" name="Rounded Rectangle 30"/>
          <p:cNvSpPr/>
          <p:nvPr/>
        </p:nvSpPr>
        <p:spPr>
          <a:xfrm>
            <a:off x="6153679" y="4131950"/>
            <a:ext cx="340766" cy="201168"/>
          </a:xfrm>
          <a:prstGeom prst="roundRect">
            <a:avLst>
              <a:gd name="adj" fmla="val 13090"/>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32" name="Rounded Rectangle 31"/>
          <p:cNvSpPr/>
          <p:nvPr/>
        </p:nvSpPr>
        <p:spPr>
          <a:xfrm>
            <a:off x="6153679" y="4355978"/>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33" name="Rounded Rectangle 32"/>
          <p:cNvSpPr/>
          <p:nvPr/>
        </p:nvSpPr>
        <p:spPr>
          <a:xfrm>
            <a:off x="6153679" y="4568183"/>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34" name="Rounded Rectangle 33"/>
          <p:cNvSpPr/>
          <p:nvPr/>
        </p:nvSpPr>
        <p:spPr>
          <a:xfrm>
            <a:off x="6153679" y="4780389"/>
            <a:ext cx="640811" cy="188627"/>
          </a:xfrm>
          <a:prstGeom prst="roundRect">
            <a:avLst>
              <a:gd name="adj" fmla="val 11634"/>
            </a:avLst>
          </a:prstGeom>
          <a:solidFill>
            <a:srgbClr val="FAFAFA"/>
          </a:solidFill>
          <a:ln w="9525">
            <a:solidFill>
              <a:srgbClr val="DDDDDD"/>
            </a:solidFill>
          </a:ln>
          <a:effectLst/>
        </p:spPr>
        <p:txBody>
          <a:bodyPr rtlCol="0" anchor="ctr" wrap="square" lIns="36576" rIns="36576" tIns="0" bIns="0">
            <a:noAutofit/>
          </a:bodyPr>
          <a:lstStyle/>
          <a:p>
            <a:pPr algn="ctr"/>
            <a:r>
              <a:rPr sz="1120" b="0" i="0">
                <a:solidFill>
                  <a:srgbClr val="111111"/>
                </a:solidFill>
                <a:latin typeface="Inter"/>
              </a:rPr>
              <a:t>🐙</a:t>
            </a:r>
          </a:p>
        </p:txBody>
      </p:sp>
      <p:sp>
        <p:nvSpPr>
          <p:cNvPr id="35" name="TextBox 34"/>
          <p:cNvSpPr txBox="1"/>
          <p:nvPr/>
        </p:nvSpPr>
        <p:spPr>
          <a:xfrm>
            <a:off x="6137586" y="4969017"/>
            <a:ext cx="672998"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cxnSp>
        <p:nvCxnSpPr>
          <p:cNvPr id="36" name="Connector 35"/>
          <p:cNvCxnSpPr/>
          <p:nvPr/>
        </p:nvCxnSpPr>
        <p:spPr>
          <a:xfrm flipH="1" flipV="1">
            <a:off x="4204544" y="4024416"/>
            <a:ext cx="1841602" cy="592531"/>
          </a:xfrm>
          <a:prstGeom prst="line">
            <a:avLst/>
          </a:prstGeom>
          <a:ln w="25400">
            <a:solidFill>
              <a:srgbClr val="555555"/>
            </a:solidFill>
            <a:tailEnd type="triangle" w="med" len="med"/>
          </a:ln>
          <a:effectLst/>
        </p:spPr>
      </p:cxnSp>
      <p:sp>
        <p:nvSpPr>
          <p:cNvPr id="37" name="Rounded Rectangle 36"/>
          <p:cNvSpPr/>
          <p:nvPr/>
        </p:nvSpPr>
        <p:spPr>
          <a:xfrm rot="21360000">
            <a:off x="3418177" y="3192678"/>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38" name="Rounded Rectangle 37"/>
          <p:cNvSpPr/>
          <p:nvPr/>
        </p:nvSpPr>
        <p:spPr>
          <a:xfrm rot="21360000">
            <a:off x="6710000" y="3031378"/>
            <a:ext cx="1118044"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cat-robot</a:t>
            </a:r>
          </a:p>
        </p:txBody>
      </p:sp>
      <p:sp>
        <p:nvSpPr>
          <p:cNvPr id="39" name="Rounded Rectangle 38"/>
          <p:cNvSpPr/>
          <p:nvPr/>
        </p:nvSpPr>
        <p:spPr>
          <a:xfrm rot="21360000">
            <a:off x="6710000" y="4216440"/>
            <a:ext cx="1188914"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superhero</a:t>
            </a:r>
          </a:p>
        </p:txBody>
      </p:sp>
      <p:sp>
        <p:nvSpPr>
          <p:cNvPr id="40" name="Isosceles Triangle 39"/>
          <p:cNvSpPr/>
          <p:nvPr/>
        </p:nvSpPr>
        <p:spPr>
          <a:xfrm rot="16200000">
            <a:off x="7860049" y="3109102"/>
            <a:ext cx="182880" cy="118872"/>
          </a:xfrm>
          <a:prstGeom prst="triangle">
            <a:avLst/>
          </a:prstGeom>
          <a:solidFill>
            <a:srgbClr val="FF2F92"/>
          </a:solidFill>
          <a:ln>
            <a:noFill/>
          </a:ln>
          <a:effectLst/>
        </p:spPr>
        <p:txBody>
          <a:bodyPr rtlCol="0" anchor="ctr" wrap="square" lIns="36576" rIns="36576" tIns="0" bIns="0">
            <a:noAutofit/>
          </a:bodyPr>
          <a:lstStyle/>
          <a:p>
            <a:pPr algn="ctr"/>
          </a:p>
        </p:txBody>
      </p:sp>
      <p:sp>
        <p:nvSpPr>
          <p:cNvPr id="41" name="Rounded Rectangle 40"/>
          <p:cNvSpPr/>
          <p:nvPr/>
        </p:nvSpPr>
        <p:spPr>
          <a:xfrm>
            <a:off x="7992637" y="3013090"/>
            <a:ext cx="786384" cy="310896"/>
          </a:xfrm>
          <a:prstGeom prst="roundRect">
            <a:avLst>
              <a:gd name="adj" fmla="val 50000"/>
            </a:avLst>
          </a:prstGeom>
          <a:solidFill>
            <a:srgbClr val="FF2F92"/>
          </a:solidFill>
          <a:ln>
            <a:noFill/>
          </a:ln>
          <a:effectLst/>
        </p:spPr>
        <p:txBody>
          <a:bodyPr rtlCol="0" anchor="ctr" wrap="square" lIns="36576" rIns="36576" tIns="0" bIns="0">
            <a:noAutofit/>
          </a:bodyPr>
          <a:lstStyle/>
          <a:p>
            <a:pPr algn="ctr"/>
            <a:r>
              <a:rPr sz="1300" b="1" i="0">
                <a:solidFill>
                  <a:srgbClr val="FFFFFF"/>
                </a:solidFill>
                <a:latin typeface="Inter"/>
              </a:rPr>
              <a:t>HEAD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3</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5:00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The Client wants ONE</a:t>
            </a:r>
            <a:br>
              <a:rPr sz="4400"/>
            </a:br>
            <a:r>
              <a:rPr sz="4400" b="1" i="0">
                <a:solidFill>
                  <a:srgbClr val="111111"/>
                </a:solidFill>
                <a:latin typeface="Inter"/>
              </a:rPr>
              <a:t>monster with both ideas.</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One new card. Never erase.</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Which panels are easy? Which need a talk?</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Disagree? Red ❓, then decide together.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10820095" cy="36576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731520"/>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merge</a:t>
            </a:r>
          </a:p>
        </p:txBody>
      </p:sp>
      <p:sp>
        <p:nvSpPr>
          <p:cNvPr id="4" name="Rounded Rectangle 3"/>
          <p:cNvSpPr/>
          <p:nvPr/>
        </p:nvSpPr>
        <p:spPr>
          <a:xfrm>
            <a:off x="1691640" y="2057400"/>
            <a:ext cx="1554480" cy="224028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5" name="Rounded Rectangle 4"/>
          <p:cNvSpPr/>
          <p:nvPr/>
        </p:nvSpPr>
        <p:spPr>
          <a:xfrm>
            <a:off x="1801368" y="2167128"/>
            <a:ext cx="457200" cy="31089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400" b="1" i="0">
                <a:solidFill>
                  <a:srgbClr val="FFFFFF"/>
                </a:solidFill>
                <a:latin typeface="Noto Sans Mono"/>
              </a:rPr>
              <a:t>#1</a:t>
            </a:r>
          </a:p>
        </p:txBody>
      </p:sp>
      <p:sp>
        <p:nvSpPr>
          <p:cNvPr id="6" name="Rounded Rectangle 5"/>
          <p:cNvSpPr/>
          <p:nvPr/>
        </p:nvSpPr>
        <p:spPr>
          <a:xfrm>
            <a:off x="1801368" y="2569464"/>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7" name="Rounded Rectangle 6"/>
          <p:cNvSpPr/>
          <p:nvPr/>
        </p:nvSpPr>
        <p:spPr>
          <a:xfrm>
            <a:off x="1801368" y="3063240"/>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8" name="Rounded Rectangle 7"/>
          <p:cNvSpPr/>
          <p:nvPr/>
        </p:nvSpPr>
        <p:spPr>
          <a:xfrm>
            <a:off x="1801368" y="3557016"/>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9" name="TextBox 8"/>
          <p:cNvSpPr txBox="1"/>
          <p:nvPr/>
        </p:nvSpPr>
        <p:spPr>
          <a:xfrm>
            <a:off x="1728216" y="3995928"/>
            <a:ext cx="1481328" cy="237744"/>
          </a:xfrm>
          <a:prstGeom prst="rect">
            <a:avLst/>
          </a:prstGeom>
          <a:noFill/>
        </p:spPr>
        <p:txBody>
          <a:bodyPr wrap="square" anchor="ctr" lIns="0" rIns="0" tIns="0" bIns="0">
            <a:noAutofit/>
          </a:bodyPr>
          <a:lstStyle/>
          <a:p>
            <a:pPr algn="ctr"/>
            <a:r>
              <a:rPr sz="1300" b="0" i="0">
                <a:solidFill>
                  <a:srgbClr val="555555"/>
                </a:solidFill>
                <a:latin typeface="Noto Sans Mono"/>
              </a:rPr>
              <a:t>—</a:t>
            </a:r>
          </a:p>
        </p:txBody>
      </p:sp>
      <p:sp>
        <p:nvSpPr>
          <p:cNvPr id="10" name="Rounded Rectangle 9"/>
          <p:cNvSpPr/>
          <p:nvPr/>
        </p:nvSpPr>
        <p:spPr>
          <a:xfrm>
            <a:off x="4069080" y="2057400"/>
            <a:ext cx="1554480" cy="224028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1" name="Rounded Rectangle 10"/>
          <p:cNvSpPr/>
          <p:nvPr/>
        </p:nvSpPr>
        <p:spPr>
          <a:xfrm>
            <a:off x="4178808" y="2167128"/>
            <a:ext cx="457200" cy="31089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400" b="1" i="0">
                <a:solidFill>
                  <a:srgbClr val="FFFFFF"/>
                </a:solidFill>
                <a:latin typeface="Noto Sans Mono"/>
              </a:rPr>
              <a:t>#2</a:t>
            </a:r>
          </a:p>
        </p:txBody>
      </p:sp>
      <p:sp>
        <p:nvSpPr>
          <p:cNvPr id="12" name="Rounded Rectangle 11"/>
          <p:cNvSpPr/>
          <p:nvPr/>
        </p:nvSpPr>
        <p:spPr>
          <a:xfrm>
            <a:off x="4178808" y="2569464"/>
            <a:ext cx="1335024" cy="438912"/>
          </a:xfrm>
          <a:prstGeom prst="roundRect">
            <a:avLst>
              <a:gd name="adj" fmla="val 10416"/>
            </a:avLst>
          </a:prstGeom>
          <a:solidFill>
            <a:srgbClr val="FFF6C7"/>
          </a:solidFill>
          <a:ln w="9525">
            <a:solidFill>
              <a:srgbClr val="E8C547"/>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3" name="Rounded Rectangle 12"/>
          <p:cNvSpPr/>
          <p:nvPr/>
        </p:nvSpPr>
        <p:spPr>
          <a:xfrm>
            <a:off x="4178808" y="3063240"/>
            <a:ext cx="1335024" cy="438912"/>
          </a:xfrm>
          <a:prstGeom prst="roundRect">
            <a:avLst>
              <a:gd name="adj" fmla="val 10416"/>
            </a:avLst>
          </a:prstGeom>
          <a:solidFill>
            <a:srgbClr val="FFF6C7"/>
          </a:solidFill>
          <a:ln w="9525">
            <a:solidFill>
              <a:srgbClr val="E8C547"/>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4" name="Rounded Rectangle 13"/>
          <p:cNvSpPr/>
          <p:nvPr/>
        </p:nvSpPr>
        <p:spPr>
          <a:xfrm>
            <a:off x="4178808" y="3557016"/>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5" name="TextBox 14"/>
          <p:cNvSpPr txBox="1"/>
          <p:nvPr/>
        </p:nvSpPr>
        <p:spPr>
          <a:xfrm>
            <a:off x="4105656" y="3995928"/>
            <a:ext cx="1481328" cy="237744"/>
          </a:xfrm>
          <a:prstGeom prst="rect">
            <a:avLst/>
          </a:prstGeom>
          <a:noFill/>
        </p:spPr>
        <p:txBody>
          <a:bodyPr wrap="square" anchor="ctr" lIns="0" rIns="0" tIns="0" bIns="0">
            <a:noAutofit/>
          </a:bodyPr>
          <a:lstStyle/>
          <a:p>
            <a:pPr algn="ctr"/>
            <a:r>
              <a:rPr sz="1300" b="0" i="0">
                <a:solidFill>
                  <a:srgbClr val="555555"/>
                </a:solidFill>
                <a:latin typeface="Inter"/>
              </a:rPr>
              <a:t>← </a:t>
            </a:r>
            <a:r>
              <a:rPr sz="1300" b="0" i="0">
                <a:solidFill>
                  <a:srgbClr val="555555"/>
                </a:solidFill>
                <a:latin typeface="Noto Sans Mono"/>
              </a:rPr>
              <a:t>#1</a:t>
            </a:r>
          </a:p>
        </p:txBody>
      </p:sp>
      <p:sp>
        <p:nvSpPr>
          <p:cNvPr id="16" name="Rounded Rectangle 15"/>
          <p:cNvSpPr/>
          <p:nvPr/>
        </p:nvSpPr>
        <p:spPr>
          <a:xfrm>
            <a:off x="6172200" y="2057400"/>
            <a:ext cx="1554480" cy="224028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7" name="Rounded Rectangle 16"/>
          <p:cNvSpPr/>
          <p:nvPr/>
        </p:nvSpPr>
        <p:spPr>
          <a:xfrm>
            <a:off x="6281928" y="2167128"/>
            <a:ext cx="457200" cy="31089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400" b="1" i="0">
                <a:solidFill>
                  <a:srgbClr val="FFFFFF"/>
                </a:solidFill>
                <a:latin typeface="Noto Sans Mono"/>
              </a:rPr>
              <a:t>#3</a:t>
            </a:r>
          </a:p>
        </p:txBody>
      </p:sp>
      <p:sp>
        <p:nvSpPr>
          <p:cNvPr id="18" name="Rounded Rectangle 17"/>
          <p:cNvSpPr/>
          <p:nvPr/>
        </p:nvSpPr>
        <p:spPr>
          <a:xfrm>
            <a:off x="6281928" y="2569464"/>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9" name="Rounded Rectangle 18"/>
          <p:cNvSpPr/>
          <p:nvPr/>
        </p:nvSpPr>
        <p:spPr>
          <a:xfrm>
            <a:off x="6281928" y="3063240"/>
            <a:ext cx="1335024" cy="438912"/>
          </a:xfrm>
          <a:prstGeom prst="roundRect">
            <a:avLst>
              <a:gd name="adj" fmla="val 10416"/>
            </a:avLst>
          </a:prstGeom>
          <a:solidFill>
            <a:srgbClr val="FFF6C7"/>
          </a:solidFill>
          <a:ln w="9525">
            <a:solidFill>
              <a:srgbClr val="E8C547"/>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20" name="Rounded Rectangle 19"/>
          <p:cNvSpPr/>
          <p:nvPr/>
        </p:nvSpPr>
        <p:spPr>
          <a:xfrm>
            <a:off x="6281928" y="3557016"/>
            <a:ext cx="1335024" cy="438912"/>
          </a:xfrm>
          <a:prstGeom prst="roundRect">
            <a:avLst>
              <a:gd name="adj" fmla="val 10416"/>
            </a:avLst>
          </a:prstGeom>
          <a:solidFill>
            <a:srgbClr val="FFF6C7"/>
          </a:solidFill>
          <a:ln w="9525">
            <a:solidFill>
              <a:srgbClr val="E8C547"/>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21" name="TextBox 20"/>
          <p:cNvSpPr txBox="1"/>
          <p:nvPr/>
        </p:nvSpPr>
        <p:spPr>
          <a:xfrm>
            <a:off x="6208776" y="3995928"/>
            <a:ext cx="1481328" cy="237744"/>
          </a:xfrm>
          <a:prstGeom prst="rect">
            <a:avLst/>
          </a:prstGeom>
          <a:noFill/>
        </p:spPr>
        <p:txBody>
          <a:bodyPr wrap="square" anchor="ctr" lIns="0" rIns="0" tIns="0" bIns="0">
            <a:noAutofit/>
          </a:bodyPr>
          <a:lstStyle/>
          <a:p>
            <a:pPr algn="ctr"/>
            <a:r>
              <a:rPr sz="1300" b="0" i="0">
                <a:solidFill>
                  <a:srgbClr val="555555"/>
                </a:solidFill>
                <a:latin typeface="Inter"/>
              </a:rPr>
              <a:t>← </a:t>
            </a:r>
            <a:r>
              <a:rPr sz="1300" b="0" i="0">
                <a:solidFill>
                  <a:srgbClr val="555555"/>
                </a:solidFill>
                <a:latin typeface="Noto Sans Mono"/>
              </a:rPr>
              <a:t>#1</a:t>
            </a:r>
          </a:p>
        </p:txBody>
      </p:sp>
      <p:sp>
        <p:nvSpPr>
          <p:cNvPr id="22" name="Rounded Rectangle 21"/>
          <p:cNvSpPr/>
          <p:nvPr/>
        </p:nvSpPr>
        <p:spPr>
          <a:xfrm>
            <a:off x="8275320" y="2057400"/>
            <a:ext cx="1554480" cy="224028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3" name="Rounded Rectangle 22"/>
          <p:cNvSpPr/>
          <p:nvPr/>
        </p:nvSpPr>
        <p:spPr>
          <a:xfrm>
            <a:off x="8385048" y="2167128"/>
            <a:ext cx="457200" cy="31089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400" b="1" i="0">
                <a:solidFill>
                  <a:srgbClr val="FFFFFF"/>
                </a:solidFill>
                <a:latin typeface="Noto Sans Mono"/>
              </a:rPr>
              <a:t>#4</a:t>
            </a:r>
          </a:p>
        </p:txBody>
      </p:sp>
      <p:sp>
        <p:nvSpPr>
          <p:cNvPr id="24" name="Rounded Rectangle 23"/>
          <p:cNvSpPr/>
          <p:nvPr/>
        </p:nvSpPr>
        <p:spPr>
          <a:xfrm>
            <a:off x="8385048" y="2569464"/>
            <a:ext cx="1335024" cy="438912"/>
          </a:xfrm>
          <a:prstGeom prst="roundRect">
            <a:avLst>
              <a:gd name="adj" fmla="val 10416"/>
            </a:avLst>
          </a:prstGeom>
          <a:solidFill>
            <a:srgbClr val="E6F6EC"/>
          </a:solidFill>
          <a:ln w="19050">
            <a:solidFill>
              <a:srgbClr val="1E9E4A"/>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25" name="Rounded Rectangle 24"/>
          <p:cNvSpPr/>
          <p:nvPr/>
        </p:nvSpPr>
        <p:spPr>
          <a:xfrm>
            <a:off x="8385048" y="3063240"/>
            <a:ext cx="1335024" cy="438912"/>
          </a:xfrm>
          <a:prstGeom prst="roundRect">
            <a:avLst>
              <a:gd name="adj" fmla="val 10416"/>
            </a:avLst>
          </a:prstGeom>
          <a:solidFill>
            <a:srgbClr val="FDECEC"/>
          </a:solidFill>
          <a:ln w="28575">
            <a:solidFill>
              <a:srgbClr val="E02424"/>
            </a:solidFill>
            <a:prstDash val="dash"/>
          </a:ln>
          <a:effectLst/>
        </p:spPr>
        <p:txBody>
          <a:bodyPr rtlCol="0" anchor="ctr" wrap="square" lIns="36576" rIns="36576" tIns="0" bIns="0">
            <a:noAutofit/>
          </a:bodyPr>
          <a:lstStyle/>
          <a:p>
            <a:pPr algn="ctr"/>
            <a:r>
              <a:rPr sz="2600" b="0" i="0">
                <a:solidFill>
                  <a:srgbClr val="111111"/>
                </a:solidFill>
                <a:latin typeface="Inter"/>
              </a:rPr>
              <a:t>❓</a:t>
            </a:r>
          </a:p>
        </p:txBody>
      </p:sp>
      <p:sp>
        <p:nvSpPr>
          <p:cNvPr id="26" name="Rounded Rectangle 25"/>
          <p:cNvSpPr/>
          <p:nvPr/>
        </p:nvSpPr>
        <p:spPr>
          <a:xfrm>
            <a:off x="8385048" y="3557016"/>
            <a:ext cx="1335024" cy="438912"/>
          </a:xfrm>
          <a:prstGeom prst="roundRect">
            <a:avLst>
              <a:gd name="adj" fmla="val 10416"/>
            </a:avLst>
          </a:prstGeom>
          <a:solidFill>
            <a:srgbClr val="E6F6EC"/>
          </a:solidFill>
          <a:ln w="19050">
            <a:solidFill>
              <a:srgbClr val="1E9E4A"/>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27" name="TextBox 26"/>
          <p:cNvSpPr txBox="1"/>
          <p:nvPr/>
        </p:nvSpPr>
        <p:spPr>
          <a:xfrm>
            <a:off x="8311896" y="3995928"/>
            <a:ext cx="1481328" cy="237744"/>
          </a:xfrm>
          <a:prstGeom prst="rect">
            <a:avLst/>
          </a:prstGeom>
          <a:noFill/>
        </p:spPr>
        <p:txBody>
          <a:bodyPr wrap="square" anchor="ctr" lIns="0" rIns="0" tIns="0" bIns="0">
            <a:noAutofit/>
          </a:bodyPr>
          <a:lstStyle/>
          <a:p>
            <a:pPr algn="ctr"/>
            <a:r>
              <a:rPr sz="1300" b="0" i="0">
                <a:solidFill>
                  <a:srgbClr val="555555"/>
                </a:solidFill>
                <a:latin typeface="Inter"/>
              </a:rPr>
              <a:t>← </a:t>
            </a:r>
            <a:r>
              <a:rPr sz="1300" b="0" i="0">
                <a:solidFill>
                  <a:srgbClr val="555555"/>
                </a:solidFill>
                <a:latin typeface="Noto Sans Mono"/>
              </a:rPr>
              <a:t>#2 + #3</a:t>
            </a:r>
          </a:p>
        </p:txBody>
      </p:sp>
      <p:sp>
        <p:nvSpPr>
          <p:cNvPr id="28" name="TextBox 27"/>
          <p:cNvSpPr txBox="1"/>
          <p:nvPr/>
        </p:nvSpPr>
        <p:spPr>
          <a:xfrm>
            <a:off x="1463040" y="1645920"/>
            <a:ext cx="2011680" cy="310896"/>
          </a:xfrm>
          <a:prstGeom prst="rect">
            <a:avLst/>
          </a:prstGeom>
          <a:noFill/>
        </p:spPr>
        <p:txBody>
          <a:bodyPr wrap="square" anchor="ctr" lIns="0" rIns="0" tIns="0" bIns="0">
            <a:noAutofit/>
          </a:bodyPr>
          <a:lstStyle/>
          <a:p>
            <a:pPr algn="ctr"/>
            <a:r>
              <a:rPr sz="1500" b="1" i="0">
                <a:solidFill>
                  <a:srgbClr val="919191"/>
                </a:solidFill>
                <a:latin typeface="Inter"/>
              </a:rPr>
              <a:t>BASE</a:t>
            </a:r>
          </a:p>
        </p:txBody>
      </p:sp>
      <p:sp>
        <p:nvSpPr>
          <p:cNvPr id="29" name="TextBox 28"/>
          <p:cNvSpPr txBox="1"/>
          <p:nvPr/>
        </p:nvSpPr>
        <p:spPr>
          <a:xfrm>
            <a:off x="3840479" y="1645920"/>
            <a:ext cx="2011680" cy="310896"/>
          </a:xfrm>
          <a:prstGeom prst="rect">
            <a:avLst/>
          </a:prstGeom>
          <a:noFill/>
        </p:spPr>
        <p:txBody>
          <a:bodyPr wrap="square" anchor="ctr" lIns="0" rIns="0" tIns="0" bIns="0">
            <a:noAutofit/>
          </a:bodyPr>
          <a:lstStyle/>
          <a:p>
            <a:pPr algn="ctr"/>
            <a:r>
              <a:rPr sz="1500" b="1" i="0">
                <a:solidFill>
                  <a:srgbClr val="919191"/>
                </a:solidFill>
                <a:latin typeface="Inter"/>
              </a:rPr>
              <a:t>CAT-ROBOT</a:t>
            </a:r>
          </a:p>
        </p:txBody>
      </p:sp>
      <p:sp>
        <p:nvSpPr>
          <p:cNvPr id="30" name="TextBox 29"/>
          <p:cNvSpPr txBox="1"/>
          <p:nvPr/>
        </p:nvSpPr>
        <p:spPr>
          <a:xfrm>
            <a:off x="5943600" y="1645920"/>
            <a:ext cx="2011680" cy="310896"/>
          </a:xfrm>
          <a:prstGeom prst="rect">
            <a:avLst/>
          </a:prstGeom>
          <a:noFill/>
        </p:spPr>
        <p:txBody>
          <a:bodyPr wrap="square" anchor="ctr" lIns="0" rIns="0" tIns="0" bIns="0">
            <a:noAutofit/>
          </a:bodyPr>
          <a:lstStyle/>
          <a:p>
            <a:pPr algn="ctr"/>
            <a:r>
              <a:rPr sz="1500" b="1" i="0">
                <a:solidFill>
                  <a:srgbClr val="919191"/>
                </a:solidFill>
                <a:latin typeface="Inter"/>
              </a:rPr>
              <a:t>SUPERHERO</a:t>
            </a:r>
          </a:p>
        </p:txBody>
      </p:sp>
      <p:sp>
        <p:nvSpPr>
          <p:cNvPr id="31" name="TextBox 30"/>
          <p:cNvSpPr txBox="1"/>
          <p:nvPr/>
        </p:nvSpPr>
        <p:spPr>
          <a:xfrm>
            <a:off x="8046720" y="1645920"/>
            <a:ext cx="2011680" cy="310896"/>
          </a:xfrm>
          <a:prstGeom prst="rect">
            <a:avLst/>
          </a:prstGeom>
          <a:noFill/>
        </p:spPr>
        <p:txBody>
          <a:bodyPr wrap="square" anchor="ctr" lIns="0" rIns="0" tIns="0" bIns="0">
            <a:noAutofit/>
          </a:bodyPr>
          <a:lstStyle/>
          <a:p>
            <a:pPr algn="ctr"/>
            <a:r>
              <a:rPr sz="1500" b="1" i="0">
                <a:solidFill>
                  <a:srgbClr val="919191"/>
                </a:solidFill>
                <a:latin typeface="Inter"/>
              </a:rPr>
              <a:t>MERGED</a:t>
            </a:r>
          </a:p>
        </p:txBody>
      </p:sp>
      <p:sp>
        <p:nvSpPr>
          <p:cNvPr id="32" name="TextBox 31"/>
          <p:cNvSpPr txBox="1"/>
          <p:nvPr/>
        </p:nvSpPr>
        <p:spPr>
          <a:xfrm>
            <a:off x="731520" y="2633472"/>
            <a:ext cx="822960" cy="310896"/>
          </a:xfrm>
          <a:prstGeom prst="rect">
            <a:avLst/>
          </a:prstGeom>
          <a:noFill/>
        </p:spPr>
        <p:txBody>
          <a:bodyPr wrap="square" anchor="ctr" lIns="0" rIns="0" tIns="0" bIns="0">
            <a:noAutofit/>
          </a:bodyPr>
          <a:lstStyle/>
          <a:p>
            <a:pPr algn="r"/>
            <a:r>
              <a:rPr sz="1400" b="1" i="0">
                <a:solidFill>
                  <a:srgbClr val="919191"/>
                </a:solidFill>
                <a:latin typeface="Inter"/>
              </a:rPr>
              <a:t>FACE</a:t>
            </a:r>
          </a:p>
        </p:txBody>
      </p:sp>
      <p:sp>
        <p:nvSpPr>
          <p:cNvPr id="33" name="TextBox 32"/>
          <p:cNvSpPr txBox="1"/>
          <p:nvPr/>
        </p:nvSpPr>
        <p:spPr>
          <a:xfrm>
            <a:off x="731520" y="3127248"/>
            <a:ext cx="822960" cy="310896"/>
          </a:xfrm>
          <a:prstGeom prst="rect">
            <a:avLst/>
          </a:prstGeom>
          <a:noFill/>
        </p:spPr>
        <p:txBody>
          <a:bodyPr wrap="square" anchor="ctr" lIns="0" rIns="0" tIns="0" bIns="0">
            <a:noAutofit/>
          </a:bodyPr>
          <a:lstStyle/>
          <a:p>
            <a:pPr algn="r"/>
            <a:r>
              <a:rPr sz="1400" b="1" i="0">
                <a:solidFill>
                  <a:srgbClr val="919191"/>
                </a:solidFill>
                <a:latin typeface="Inter"/>
              </a:rPr>
              <a:t>BODY</a:t>
            </a:r>
          </a:p>
        </p:txBody>
      </p:sp>
      <p:sp>
        <p:nvSpPr>
          <p:cNvPr id="34" name="TextBox 33"/>
          <p:cNvSpPr txBox="1"/>
          <p:nvPr/>
        </p:nvSpPr>
        <p:spPr>
          <a:xfrm>
            <a:off x="731520" y="3621024"/>
            <a:ext cx="822960" cy="310896"/>
          </a:xfrm>
          <a:prstGeom prst="rect">
            <a:avLst/>
          </a:prstGeom>
          <a:noFill/>
        </p:spPr>
        <p:txBody>
          <a:bodyPr wrap="square" anchor="ctr" lIns="0" rIns="0" tIns="0" bIns="0">
            <a:noAutofit/>
          </a:bodyPr>
          <a:lstStyle/>
          <a:p>
            <a:pPr algn="r"/>
            <a:r>
              <a:rPr sz="1400" b="1" i="0">
                <a:solidFill>
                  <a:srgbClr val="919191"/>
                </a:solidFill>
                <a:latin typeface="Inter"/>
              </a:rPr>
              <a:t>LEGS</a:t>
            </a:r>
          </a:p>
        </p:txBody>
      </p:sp>
      <p:cxnSp>
        <p:nvCxnSpPr>
          <p:cNvPr id="35" name="Connector 34"/>
          <p:cNvCxnSpPr/>
          <p:nvPr/>
        </p:nvCxnSpPr>
        <p:spPr>
          <a:xfrm>
            <a:off x="3703320" y="1691640"/>
            <a:ext cx="0" cy="2606040"/>
          </a:xfrm>
          <a:prstGeom prst="line">
            <a:avLst/>
          </a:prstGeom>
          <a:ln w="12700">
            <a:solidFill>
              <a:srgbClr val="E3E3E3"/>
            </a:solidFill>
          </a:ln>
          <a:effectLst/>
        </p:spPr>
      </p:cxnSp>
      <p:sp>
        <p:nvSpPr>
          <p:cNvPr id="36" name="TextBox 35"/>
          <p:cNvSpPr txBox="1"/>
          <p:nvPr/>
        </p:nvSpPr>
        <p:spPr>
          <a:xfrm>
            <a:off x="5440680" y="2766060"/>
            <a:ext cx="914400" cy="822960"/>
          </a:xfrm>
          <a:prstGeom prst="rect">
            <a:avLst/>
          </a:prstGeom>
          <a:noFill/>
        </p:spPr>
        <p:txBody>
          <a:bodyPr wrap="square" anchor="ctr" lIns="0" rIns="0" tIns="0" bIns="0">
            <a:noAutofit/>
          </a:bodyPr>
          <a:lstStyle/>
          <a:p>
            <a:pPr algn="ctr"/>
            <a:r>
              <a:rPr sz="4000" b="0" i="0">
                <a:solidFill>
                  <a:srgbClr val="919191"/>
                </a:solidFill>
                <a:latin typeface="Inter"/>
              </a:rPr>
              <a:t>+</a:t>
            </a:r>
          </a:p>
        </p:txBody>
      </p:sp>
      <p:sp>
        <p:nvSpPr>
          <p:cNvPr id="37" name="TextBox 36"/>
          <p:cNvSpPr txBox="1"/>
          <p:nvPr/>
        </p:nvSpPr>
        <p:spPr>
          <a:xfrm>
            <a:off x="7543800" y="2766060"/>
            <a:ext cx="914400" cy="822960"/>
          </a:xfrm>
          <a:prstGeom prst="rect">
            <a:avLst/>
          </a:prstGeom>
          <a:noFill/>
        </p:spPr>
        <p:txBody>
          <a:bodyPr wrap="square" anchor="ctr" lIns="0" rIns="0" tIns="0" bIns="0">
            <a:noAutofit/>
          </a:bodyPr>
          <a:lstStyle/>
          <a:p>
            <a:pPr algn="ctr"/>
            <a:r>
              <a:rPr sz="4000" b="0" i="0">
                <a:solidFill>
                  <a:srgbClr val="919191"/>
                </a:solidFill>
                <a:latin typeface="Inter"/>
              </a:rPr>
              <a:t>=</a:t>
            </a:r>
          </a:p>
        </p:txBody>
      </p:sp>
      <p:sp>
        <p:nvSpPr>
          <p:cNvPr id="38" name="Rounded Rectangle 37"/>
          <p:cNvSpPr/>
          <p:nvPr/>
        </p:nvSpPr>
        <p:spPr>
          <a:xfrm>
            <a:off x="9939528" y="3127248"/>
            <a:ext cx="1143000" cy="310896"/>
          </a:xfrm>
          <a:prstGeom prst="roundRect">
            <a:avLst>
              <a:gd name="adj" fmla="val 50000"/>
            </a:avLst>
          </a:prstGeom>
          <a:solidFill>
            <a:srgbClr val="E02424"/>
          </a:solidFill>
          <a:ln>
            <a:noFill/>
          </a:ln>
          <a:effectLst/>
        </p:spPr>
        <p:txBody>
          <a:bodyPr rtlCol="0" anchor="ctr" wrap="square" lIns="36576" rIns="36576" tIns="0" bIns="0">
            <a:noAutofit/>
          </a:bodyPr>
          <a:lstStyle/>
          <a:p>
            <a:pPr algn="ctr"/>
            <a:r>
              <a:rPr sz="1300" b="1" i="0">
                <a:solidFill>
                  <a:srgbClr val="FFFFFF"/>
                </a:solidFill>
                <a:latin typeface="Inter"/>
              </a:rPr>
              <a:t>CONFLICT</a:t>
            </a:r>
          </a:p>
        </p:txBody>
      </p:sp>
      <p:sp>
        <p:nvSpPr>
          <p:cNvPr id="39" name="TextBox 38"/>
          <p:cNvSpPr txBox="1"/>
          <p:nvPr/>
        </p:nvSpPr>
        <p:spPr>
          <a:xfrm>
            <a:off x="685800" y="4553712"/>
            <a:ext cx="10820095" cy="914400"/>
          </a:xfrm>
          <a:prstGeom prst="rect">
            <a:avLst/>
          </a:prstGeom>
          <a:noFill/>
        </p:spPr>
        <p:txBody>
          <a:bodyPr wrap="square" anchor="t" lIns="0" rIns="0" tIns="0" bIns="0">
            <a:noAutofit/>
          </a:bodyPr>
          <a:lstStyle/>
          <a:p>
            <a:pPr algn="l">
              <a:lnSpc>
                <a:spcPct val="100000"/>
              </a:lnSpc>
            </a:pPr>
            <a:r>
              <a:rPr sz="2800" b="1" i="0">
                <a:solidFill>
                  <a:srgbClr val="111111"/>
                </a:solidFill>
                <a:latin typeface="Inter"/>
              </a:rPr>
              <a:t>One side changed → </a:t>
            </a:r>
            <a:r>
              <a:rPr sz="2800" b="1" i="0">
                <a:solidFill>
                  <a:srgbClr val="1E9E4A"/>
                </a:solidFill>
                <a:latin typeface="Inter"/>
              </a:rPr>
              <a:t>take it.</a:t>
            </a:r>
          </a:p>
          <a:p>
            <a:pPr algn="l">
              <a:lnSpc>
                <a:spcPct val="100000"/>
              </a:lnSpc>
            </a:pPr>
            <a:r>
              <a:rPr sz="2800" b="1" i="0">
                <a:solidFill>
                  <a:srgbClr val="111111"/>
                </a:solidFill>
                <a:latin typeface="Inter"/>
              </a:rPr>
              <a:t>Both changed differently → </a:t>
            </a:r>
            <a:r>
              <a:rPr sz="2800" b="1" i="0">
                <a:solidFill>
                  <a:srgbClr val="E02424"/>
                </a:solidFill>
                <a:latin typeface="Inter"/>
              </a:rPr>
              <a:t>you decide.</a:t>
            </a:r>
          </a:p>
        </p:txBody>
      </p:sp>
      <p:sp>
        <p:nvSpPr>
          <p:cNvPr id="40" name="Rounded Rectangle 39"/>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41" name="TextBox 40"/>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42" name="TextBox 41"/>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Why does Git need BASE? Why not just compare the two?</a:t>
            </a:r>
          </a:p>
        </p:txBody>
      </p:sp>
      <p:sp>
        <p:nvSpPr>
          <p:cNvPr id="43" name="Oval 42"/>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44" name="Oval 43"/>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45" name="Oval 44"/>
          <p:cNvSpPr/>
          <p:nvPr/>
        </p:nvSpPr>
        <p:spPr>
          <a:xfrm>
            <a:off x="1007028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46" name="Oval 45"/>
          <p:cNvSpPr/>
          <p:nvPr/>
        </p:nvSpPr>
        <p:spPr>
          <a:xfrm>
            <a:off x="10289743"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47" name="Oval 46"/>
          <p:cNvSpPr/>
          <p:nvPr/>
        </p:nvSpPr>
        <p:spPr>
          <a:xfrm>
            <a:off x="10509199"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48" name="Oval 47"/>
          <p:cNvSpPr/>
          <p:nvPr/>
        </p:nvSpPr>
        <p:spPr>
          <a:xfrm>
            <a:off x="10728655"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49" name="Oval 48"/>
          <p:cNvSpPr/>
          <p:nvPr/>
        </p:nvSpPr>
        <p:spPr>
          <a:xfrm>
            <a:off x="1094811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50" name="Oval 49"/>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51" name="Oval 50"/>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Same merge, real Git</a:t>
            </a:r>
          </a:p>
        </p:txBody>
      </p:sp>
      <p:sp>
        <p:nvSpPr>
          <p:cNvPr id="3" name="Rounded Rectangle 2"/>
          <p:cNvSpPr/>
          <p:nvPr/>
        </p:nvSpPr>
        <p:spPr>
          <a:xfrm>
            <a:off x="685800" y="1463040"/>
            <a:ext cx="5120640" cy="4663440"/>
          </a:xfrm>
          <a:prstGeom prst="roundRect">
            <a:avLst>
              <a:gd name="adj" fmla="val 3137"/>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960120" y="1993392"/>
            <a:ext cx="4617720" cy="4023359"/>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switch cat-robot</a:t>
            </a:r>
          </a:p>
          <a:p>
            <a:pPr algn="l">
              <a:lnSpc>
                <a:spcPts val="2600"/>
              </a:lnSpc>
            </a:pPr>
            <a:r>
              <a:rPr sz="2000" b="0" i="0">
                <a:solidFill>
                  <a:srgbClr val="7C8594"/>
                </a:solidFill>
                <a:latin typeface="Noto Sans Mono"/>
              </a:rPr>
              <a:t>$ </a:t>
            </a:r>
            <a:r>
              <a:rPr sz="2000" b="0" i="0">
                <a:solidFill>
                  <a:srgbClr val="F5F5F5"/>
                </a:solidFill>
                <a:latin typeface="Noto Sans Mono"/>
              </a:rPr>
              <a:t>git merge superhero</a:t>
            </a:r>
          </a:p>
          <a:p>
            <a:pPr algn="l">
              <a:lnSpc>
                <a:spcPts val="2600"/>
              </a:lnSpc>
            </a:pPr>
            <a:r>
              <a:rPr sz="2000" b="0" i="0">
                <a:solidFill>
                  <a:srgbClr val="A9B1BD"/>
                </a:solidFill>
                <a:latin typeface="Noto Sans Mono"/>
              </a:rPr>
              <a:t>Auto-merging monster.txt</a:t>
            </a:r>
          </a:p>
          <a:p>
            <a:pPr algn="l">
              <a:lnSpc>
                <a:spcPts val="2600"/>
              </a:lnSpc>
            </a:pPr>
            <a:r>
              <a:rPr sz="2000" b="0" i="0">
                <a:solidFill>
                  <a:srgbClr val="FF6B6B"/>
                </a:solidFill>
                <a:latin typeface="Noto Sans Mono"/>
              </a:rPr>
              <a:t>CONFLICT (content): Merge</a:t>
            </a:r>
          </a:p>
          <a:p>
            <a:pPr algn="l">
              <a:lnSpc>
                <a:spcPts val="2600"/>
              </a:lnSpc>
            </a:pPr>
            <a:r>
              <a:rPr sz="2000" b="0" i="0">
                <a:solidFill>
                  <a:srgbClr val="FF6B6B"/>
                </a:solidFill>
                <a:latin typeface="Noto Sans Mono"/>
              </a:rPr>
              <a:t>  conflict in monster.txt</a:t>
            </a:r>
          </a:p>
        </p:txBody>
      </p:sp>
      <p:sp>
        <p:nvSpPr>
          <p:cNvPr id="8" name="Rounded Rectangle 7"/>
          <p:cNvSpPr/>
          <p:nvPr/>
        </p:nvSpPr>
        <p:spPr>
          <a:xfrm>
            <a:off x="6110935" y="1463040"/>
            <a:ext cx="5394960" cy="4663440"/>
          </a:xfrm>
          <a:prstGeom prst="roundRect">
            <a:avLst>
              <a:gd name="adj" fmla="val 3137"/>
            </a:avLst>
          </a:prstGeom>
          <a:solidFill>
            <a:srgbClr val="16181D"/>
          </a:solidFill>
          <a:ln>
            <a:noFill/>
          </a:ln>
          <a:effectLst/>
        </p:spPr>
        <p:txBody>
          <a:bodyPr rtlCol="0" anchor="ctr" wrap="square" lIns="36576" rIns="36576" tIns="0" bIns="0">
            <a:noAutofit/>
          </a:bodyPr>
          <a:lstStyle/>
          <a:p>
            <a:pPr algn="ctr"/>
          </a:p>
        </p:txBody>
      </p:sp>
      <p:sp>
        <p:nvSpPr>
          <p:cNvPr id="9" name="Oval 8"/>
          <p:cNvSpPr/>
          <p:nvPr/>
        </p:nvSpPr>
        <p:spPr>
          <a:xfrm>
            <a:off x="6339535"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10" name="Oval 9"/>
          <p:cNvSpPr/>
          <p:nvPr/>
        </p:nvSpPr>
        <p:spPr>
          <a:xfrm>
            <a:off x="6568135"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11" name="Oval 10"/>
          <p:cNvSpPr/>
          <p:nvPr/>
        </p:nvSpPr>
        <p:spPr>
          <a:xfrm>
            <a:off x="6796735"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12" name="TextBox 11"/>
          <p:cNvSpPr txBox="1"/>
          <p:nvPr/>
        </p:nvSpPr>
        <p:spPr>
          <a:xfrm>
            <a:off x="7162495" y="1572768"/>
            <a:ext cx="4114800" cy="292608"/>
          </a:xfrm>
          <a:prstGeom prst="rect">
            <a:avLst/>
          </a:prstGeom>
          <a:noFill/>
        </p:spPr>
        <p:txBody>
          <a:bodyPr wrap="square" anchor="ctr" lIns="0" rIns="0" tIns="0" bIns="0">
            <a:noAutofit/>
          </a:bodyPr>
          <a:lstStyle/>
          <a:p>
            <a:pPr algn="l"/>
            <a:r>
              <a:rPr sz="1400" b="0" i="0">
                <a:solidFill>
                  <a:srgbClr val="7C8594"/>
                </a:solidFill>
                <a:latin typeface="Noto Sans Mono"/>
              </a:rPr>
              <a:t>monster.txt</a:t>
            </a:r>
          </a:p>
        </p:txBody>
      </p:sp>
      <p:sp>
        <p:nvSpPr>
          <p:cNvPr id="13" name="TextBox 12"/>
          <p:cNvSpPr txBox="1"/>
          <p:nvPr/>
        </p:nvSpPr>
        <p:spPr>
          <a:xfrm>
            <a:off x="6385255" y="1993392"/>
            <a:ext cx="4892040" cy="4023359"/>
          </a:xfrm>
          <a:prstGeom prst="rect">
            <a:avLst/>
          </a:prstGeom>
          <a:noFill/>
        </p:spPr>
        <p:txBody>
          <a:bodyPr wrap="square" anchor="t" lIns="0" rIns="0" tIns="0" bIns="0">
            <a:noAutofit/>
          </a:bodyPr>
          <a:lstStyle/>
          <a:p>
            <a:pPr algn="l">
              <a:lnSpc>
                <a:spcPts val="2600"/>
              </a:lnSpc>
            </a:pPr>
            <a:r>
              <a:rPr sz="2000" b="0" i="0">
                <a:solidFill>
                  <a:srgbClr val="A9B1BD"/>
                </a:solidFill>
                <a:latin typeface="Noto Sans Mono"/>
              </a:rPr>
              <a:t>face: cat</a:t>
            </a:r>
          </a:p>
          <a:p>
            <a:pPr algn="l">
              <a:lnSpc>
                <a:spcPts val="2600"/>
              </a:lnSpc>
            </a:pPr>
            <a:r>
              <a:rPr sz="2000" b="0" i="0">
                <a:solidFill>
                  <a:srgbClr val="A9B1BD"/>
                </a:solidFill>
                <a:latin typeface="Noto Sans Mono"/>
              </a:rPr>
              <a:t> </a:t>
            </a:r>
          </a:p>
          <a:p>
            <a:pPr algn="l">
              <a:lnSpc>
                <a:spcPts val="2600"/>
              </a:lnSpc>
            </a:pPr>
            <a:r>
              <a:rPr sz="2000" b="0" i="0">
                <a:solidFill>
                  <a:srgbClr val="FFB020"/>
                </a:solidFill>
                <a:latin typeface="Noto Sans Mono"/>
              </a:rPr>
              <a:t>&lt;&lt;&lt;&lt;&lt;&lt;&lt; HEAD</a:t>
            </a:r>
          </a:p>
          <a:p>
            <a:pPr algn="l">
              <a:lnSpc>
                <a:spcPts val="2600"/>
              </a:lnSpc>
            </a:pPr>
            <a:r>
              <a:rPr sz="2000" b="0" i="0">
                <a:solidFill>
                  <a:srgbClr val="A9B1BD"/>
                </a:solidFill>
                <a:latin typeface="Noto Sans Mono"/>
              </a:rPr>
              <a:t>body: robot</a:t>
            </a:r>
          </a:p>
          <a:p>
            <a:pPr algn="l">
              <a:lnSpc>
                <a:spcPts val="2600"/>
              </a:lnSpc>
            </a:pPr>
            <a:r>
              <a:rPr sz="2000" b="0" i="0">
                <a:solidFill>
                  <a:srgbClr val="FFB020"/>
                </a:solidFill>
                <a:latin typeface="Noto Sans Mono"/>
              </a:rPr>
              <a:t>=======</a:t>
            </a:r>
          </a:p>
          <a:p>
            <a:pPr algn="l">
              <a:lnSpc>
                <a:spcPts val="2600"/>
              </a:lnSpc>
            </a:pPr>
            <a:r>
              <a:rPr sz="2000" b="0" i="0">
                <a:solidFill>
                  <a:srgbClr val="A9B1BD"/>
                </a:solidFill>
                <a:latin typeface="Noto Sans Mono"/>
              </a:rPr>
              <a:t>body: superhero</a:t>
            </a:r>
          </a:p>
          <a:p>
            <a:pPr algn="l">
              <a:lnSpc>
                <a:spcPts val="2600"/>
              </a:lnSpc>
            </a:pPr>
            <a:r>
              <a:rPr sz="2000" b="0" i="0">
                <a:solidFill>
                  <a:srgbClr val="FFB020"/>
                </a:solidFill>
                <a:latin typeface="Noto Sans Mono"/>
              </a:rPr>
              <a:t>&gt;&gt;&gt;&gt;&gt;&gt;&gt; superhero</a:t>
            </a:r>
          </a:p>
          <a:p>
            <a:pPr algn="l">
              <a:lnSpc>
                <a:spcPts val="2600"/>
              </a:lnSpc>
            </a:pPr>
            <a:r>
              <a:rPr sz="2000" b="0" i="0">
                <a:solidFill>
                  <a:srgbClr val="A9B1BD"/>
                </a:solidFill>
                <a:latin typeface="Noto Sans Mono"/>
              </a:rPr>
              <a:t> </a:t>
            </a:r>
          </a:p>
          <a:p>
            <a:pPr algn="l">
              <a:lnSpc>
                <a:spcPts val="2600"/>
              </a:lnSpc>
            </a:pPr>
            <a:r>
              <a:rPr sz="2000" b="0" i="0">
                <a:solidFill>
                  <a:srgbClr val="A9B1BD"/>
                </a:solidFill>
                <a:latin typeface="Noto Sans Mono"/>
              </a:rPr>
              <a:t>legs: tentacles</a:t>
            </a:r>
          </a:p>
        </p:txBody>
      </p:sp>
      <p:sp>
        <p:nvSpPr>
          <p:cNvPr id="14" name="Rounded Rectangle 13"/>
          <p:cNvSpPr/>
          <p:nvPr/>
        </p:nvSpPr>
        <p:spPr>
          <a:xfrm>
            <a:off x="8061655" y="2021332"/>
            <a:ext cx="655595" cy="274320"/>
          </a:xfrm>
          <a:prstGeom prst="roundRect">
            <a:avLst>
              <a:gd name="adj" fmla="val 50000"/>
            </a:avLst>
          </a:prstGeom>
          <a:solidFill>
            <a:srgbClr val="1E9E4A"/>
          </a:solidFill>
          <a:ln>
            <a:noFill/>
          </a:ln>
          <a:effectLst/>
        </p:spPr>
        <p:txBody>
          <a:bodyPr rtlCol="0" anchor="ctr" wrap="square" lIns="36576" rIns="36576" tIns="0" bIns="0">
            <a:noAutofit/>
          </a:bodyPr>
          <a:lstStyle/>
          <a:p>
            <a:pPr algn="ctr"/>
            <a:r>
              <a:rPr sz="1300" b="1" i="0">
                <a:solidFill>
                  <a:srgbClr val="FFFFFF"/>
                </a:solidFill>
                <a:latin typeface="Inter"/>
              </a:rPr>
              <a:t>auto</a:t>
            </a:r>
          </a:p>
        </p:txBody>
      </p:sp>
      <p:sp>
        <p:nvSpPr>
          <p:cNvPr id="15" name="Rounded Rectangle 14"/>
          <p:cNvSpPr/>
          <p:nvPr/>
        </p:nvSpPr>
        <p:spPr>
          <a:xfrm>
            <a:off x="8976055" y="4662932"/>
            <a:ext cx="655595" cy="274320"/>
          </a:xfrm>
          <a:prstGeom prst="roundRect">
            <a:avLst>
              <a:gd name="adj" fmla="val 50000"/>
            </a:avLst>
          </a:prstGeom>
          <a:solidFill>
            <a:srgbClr val="1E9E4A"/>
          </a:solidFill>
          <a:ln>
            <a:noFill/>
          </a:ln>
          <a:effectLst/>
        </p:spPr>
        <p:txBody>
          <a:bodyPr rtlCol="0" anchor="ctr" wrap="square" lIns="36576" rIns="36576" tIns="0" bIns="0">
            <a:noAutofit/>
          </a:bodyPr>
          <a:lstStyle/>
          <a:p>
            <a:pPr algn="ctr"/>
            <a:r>
              <a:rPr sz="1300" b="1" i="0">
                <a:solidFill>
                  <a:srgbClr val="FFFFFF"/>
                </a:solidFill>
                <a:latin typeface="Inter"/>
              </a:rPr>
              <a:t>auto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85800" y="548640"/>
            <a:ext cx="2011680" cy="438912"/>
          </a:xfrm>
          <a:prstGeom prst="roundRect">
            <a:avLst>
              <a:gd name="adj" fmla="val 50000"/>
            </a:avLst>
          </a:prstGeom>
          <a:solidFill>
            <a:srgbClr val="9437FF"/>
          </a:solidFill>
          <a:ln>
            <a:noFill/>
          </a:ln>
          <a:effectLst/>
        </p:spPr>
        <p:txBody>
          <a:bodyPr rtlCol="0" anchor="ctr" wrap="square" lIns="36576" rIns="36576" tIns="0" bIns="0">
            <a:noAutofit/>
          </a:bodyPr>
          <a:lstStyle/>
          <a:p>
            <a:pPr algn="ctr"/>
            <a:r>
              <a:rPr sz="1800" b="1" i="0">
                <a:solidFill>
                  <a:srgbClr val="FFFFFF"/>
                </a:solidFill>
                <a:latin typeface="Inter"/>
              </a:rPr>
              <a:t>📊  Live poll</a:t>
            </a:r>
          </a:p>
        </p:txBody>
      </p:sp>
      <p:sp>
        <p:nvSpPr>
          <p:cNvPr id="3" name="TextBox 2"/>
          <p:cNvSpPr txBox="1"/>
          <p:nvPr/>
        </p:nvSpPr>
        <p:spPr>
          <a:xfrm>
            <a:off x="685800" y="1280160"/>
            <a:ext cx="7406640" cy="3017520"/>
          </a:xfrm>
          <a:prstGeom prst="rect">
            <a:avLst/>
          </a:prstGeom>
          <a:noFill/>
        </p:spPr>
        <p:txBody>
          <a:bodyPr wrap="square" anchor="ctr" lIns="0" rIns="0" tIns="0" bIns="0">
            <a:noAutofit/>
          </a:bodyPr>
          <a:lstStyle/>
          <a:p>
            <a:pPr algn="l">
              <a:lnSpc>
                <a:spcPct val="108000"/>
              </a:lnSpc>
            </a:pPr>
            <a:r>
              <a:rPr sz="4400" b="1" i="0">
                <a:solidFill>
                  <a:srgbClr val="111111"/>
                </a:solidFill>
                <a:latin typeface="Inter"/>
              </a:rPr>
              <a:t>I delete the blank</a:t>
            </a:r>
            <a:br>
              <a:rPr sz="4400"/>
            </a:br>
            <a:r>
              <a:rPr sz="4400" b="1" i="0">
                <a:solidFill>
                  <a:srgbClr val="111111"/>
                </a:solidFill>
                <a:latin typeface="Inter"/>
              </a:rPr>
              <a:t>lines and merge</a:t>
            </a:r>
            <a:br>
              <a:rPr sz="4400"/>
            </a:br>
            <a:r>
              <a:rPr sz="4400" b="1" i="0">
                <a:solidFill>
                  <a:srgbClr val="111111"/>
                </a:solidFill>
                <a:latin typeface="Inter"/>
              </a:rPr>
              <a:t>again. What conflicts?</a:t>
            </a:r>
          </a:p>
        </p:txBody>
      </p:sp>
      <p:sp>
        <p:nvSpPr>
          <p:cNvPr id="4" name="Rounded Rectangle 3"/>
          <p:cNvSpPr/>
          <p:nvPr/>
        </p:nvSpPr>
        <p:spPr>
          <a:xfrm>
            <a:off x="8534095" y="1280160"/>
            <a:ext cx="2971800" cy="2971800"/>
          </a:xfrm>
          <a:prstGeom prst="roundRect">
            <a:avLst>
              <a:gd name="adj" fmla="val 3692"/>
            </a:avLst>
          </a:prstGeom>
          <a:solidFill>
            <a:srgbClr val="FFFFFF"/>
          </a:solidFill>
          <a:ln w="25400">
            <a:solidFill>
              <a:srgbClr val="BBBBBB"/>
            </a:solidFill>
            <a:prstDash val="dash"/>
          </a:ln>
          <a:effectLst/>
        </p:spPr>
        <p:txBody>
          <a:bodyPr rtlCol="0" anchor="ctr" wrap="square" lIns="36576" rIns="36576" tIns="0" bIns="0">
            <a:noAutofit/>
          </a:bodyPr>
          <a:lstStyle/>
          <a:p>
            <a:pPr algn="ctr"/>
            <a:r>
              <a:rPr sz="2400" b="1" i="0">
                <a:solidFill>
                  <a:srgbClr val="919191"/>
                </a:solidFill>
                <a:latin typeface="Inter"/>
              </a:rPr>
              <a:t>QR</a:t>
            </a:r>
          </a:p>
        </p:txBody>
      </p:sp>
      <p:sp>
        <p:nvSpPr>
          <p:cNvPr id="5" name="Rounded Rectangle 4"/>
          <p:cNvSpPr/>
          <p:nvPr/>
        </p:nvSpPr>
        <p:spPr>
          <a:xfrm>
            <a:off x="8534095" y="4434840"/>
            <a:ext cx="2971800" cy="54864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menti.com  ·  ____</a:t>
            </a:r>
          </a:p>
        </p:txBody>
      </p:sp>
      <p:sp>
        <p:nvSpPr>
          <p:cNvPr id="6" name="TextBox 5"/>
          <p:cNvSpPr txBox="1"/>
          <p:nvPr/>
        </p:nvSpPr>
        <p:spPr>
          <a:xfrm>
            <a:off x="685800" y="4526280"/>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A</a:t>
            </a:r>
          </a:p>
        </p:txBody>
      </p:sp>
      <p:sp>
        <p:nvSpPr>
          <p:cNvPr id="7" name="TextBox 6"/>
          <p:cNvSpPr txBox="1"/>
          <p:nvPr/>
        </p:nvSpPr>
        <p:spPr>
          <a:xfrm>
            <a:off x="1082040" y="4526280"/>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BODY only</a:t>
            </a:r>
          </a:p>
        </p:txBody>
      </p:sp>
      <p:sp>
        <p:nvSpPr>
          <p:cNvPr id="8" name="TextBox 7"/>
          <p:cNvSpPr txBox="1"/>
          <p:nvPr/>
        </p:nvSpPr>
        <p:spPr>
          <a:xfrm>
            <a:off x="685800" y="5012649"/>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B</a:t>
            </a:r>
          </a:p>
        </p:txBody>
      </p:sp>
      <p:sp>
        <p:nvSpPr>
          <p:cNvPr id="9" name="TextBox 8"/>
          <p:cNvSpPr txBox="1"/>
          <p:nvPr/>
        </p:nvSpPr>
        <p:spPr>
          <a:xfrm>
            <a:off x="1082040" y="5012649"/>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FACE + BODY</a:t>
            </a:r>
          </a:p>
        </p:txBody>
      </p:sp>
      <p:sp>
        <p:nvSpPr>
          <p:cNvPr id="10" name="TextBox 9"/>
          <p:cNvSpPr txBox="1"/>
          <p:nvPr/>
        </p:nvSpPr>
        <p:spPr>
          <a:xfrm>
            <a:off x="685800" y="5499018"/>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C</a:t>
            </a:r>
          </a:p>
        </p:txBody>
      </p:sp>
      <p:sp>
        <p:nvSpPr>
          <p:cNvPr id="11" name="TextBox 10"/>
          <p:cNvSpPr txBox="1"/>
          <p:nvPr/>
        </p:nvSpPr>
        <p:spPr>
          <a:xfrm>
            <a:off x="1082040" y="5499018"/>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All three lines</a:t>
            </a:r>
          </a:p>
        </p:txBody>
      </p:sp>
      <p:sp>
        <p:nvSpPr>
          <p:cNvPr id="12" name="TextBox 11"/>
          <p:cNvSpPr txBox="1"/>
          <p:nvPr/>
        </p:nvSpPr>
        <p:spPr>
          <a:xfrm>
            <a:off x="685800" y="5985388"/>
            <a:ext cx="396239" cy="431505"/>
          </a:xfrm>
          <a:prstGeom prst="rect">
            <a:avLst/>
          </a:prstGeom>
          <a:noFill/>
        </p:spPr>
        <p:txBody>
          <a:bodyPr wrap="square" anchor="t" lIns="0" rIns="0" tIns="0" bIns="0">
            <a:noAutofit/>
          </a:bodyPr>
          <a:lstStyle/>
          <a:p>
            <a:pPr algn="l">
              <a:lnSpc>
                <a:spcPct val="108000"/>
              </a:lnSpc>
            </a:pPr>
            <a:r>
              <a:rPr sz="2600" b="1" i="0">
                <a:solidFill>
                  <a:srgbClr val="9437FF"/>
                </a:solidFill>
                <a:latin typeface="Inter"/>
              </a:rPr>
              <a:t>D</a:t>
            </a:r>
          </a:p>
        </p:txBody>
      </p:sp>
      <p:sp>
        <p:nvSpPr>
          <p:cNvPr id="13" name="TextBox 12"/>
          <p:cNvSpPr txBox="1"/>
          <p:nvPr/>
        </p:nvSpPr>
        <p:spPr>
          <a:xfrm>
            <a:off x="1082040" y="5985388"/>
            <a:ext cx="7010399" cy="449793"/>
          </a:xfrm>
          <a:prstGeom prst="rect">
            <a:avLst/>
          </a:prstGeom>
          <a:noFill/>
        </p:spPr>
        <p:txBody>
          <a:bodyPr wrap="square" anchor="t" lIns="0" rIns="0" tIns="0" bIns="0">
            <a:noAutofit/>
          </a:bodyPr>
          <a:lstStyle/>
          <a:p>
            <a:pPr algn="l">
              <a:lnSpc>
                <a:spcPct val="108000"/>
              </a:lnSpc>
            </a:pPr>
            <a:r>
              <a:rPr sz="2600" b="0" i="0">
                <a:solidFill>
                  <a:srgbClr val="111111"/>
                </a:solidFill>
                <a:latin typeface="Inter"/>
              </a:rPr>
              <a:t>Nothing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No blank lines: one big conflict</a:t>
            </a:r>
          </a:p>
        </p:txBody>
      </p:sp>
      <p:sp>
        <p:nvSpPr>
          <p:cNvPr id="3" name="Rounded Rectangle 2"/>
          <p:cNvSpPr/>
          <p:nvPr/>
        </p:nvSpPr>
        <p:spPr>
          <a:xfrm>
            <a:off x="685800" y="1463040"/>
            <a:ext cx="10820095" cy="4663440"/>
          </a:xfrm>
          <a:prstGeom prst="roundRect">
            <a:avLst>
              <a:gd name="adj" fmla="val 3137"/>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1737360" y="1572768"/>
            <a:ext cx="9539935" cy="292608"/>
          </a:xfrm>
          <a:prstGeom prst="rect">
            <a:avLst/>
          </a:prstGeom>
          <a:noFill/>
        </p:spPr>
        <p:txBody>
          <a:bodyPr wrap="square" anchor="ctr" lIns="0" rIns="0" tIns="0" bIns="0">
            <a:noAutofit/>
          </a:bodyPr>
          <a:lstStyle/>
          <a:p>
            <a:pPr algn="l"/>
            <a:r>
              <a:rPr sz="1400" b="0" i="0">
                <a:solidFill>
                  <a:srgbClr val="7C8594"/>
                </a:solidFill>
                <a:latin typeface="Noto Sans Mono"/>
              </a:rPr>
              <a:t>monster-noblank/</a:t>
            </a:r>
          </a:p>
        </p:txBody>
      </p:sp>
      <p:sp>
        <p:nvSpPr>
          <p:cNvPr id="8" name="TextBox 7"/>
          <p:cNvSpPr txBox="1"/>
          <p:nvPr/>
        </p:nvSpPr>
        <p:spPr>
          <a:xfrm>
            <a:off x="960120" y="1993392"/>
            <a:ext cx="10317175" cy="4023359"/>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merge superhero</a:t>
            </a:r>
          </a:p>
          <a:p>
            <a:pPr algn="l">
              <a:lnSpc>
                <a:spcPts val="2600"/>
              </a:lnSpc>
            </a:pPr>
            <a:r>
              <a:rPr sz="2000" b="0" i="0">
                <a:solidFill>
                  <a:srgbClr val="FF6B6B"/>
                </a:solidFill>
                <a:latin typeface="Noto Sans Mono"/>
              </a:rPr>
              <a:t>CONFLICT (content): Merge conflict in monster.txt</a:t>
            </a:r>
          </a:p>
          <a:p>
            <a:pPr algn="l">
              <a:lnSpc>
                <a:spcPts val="2600"/>
              </a:lnSpc>
            </a:pPr>
            <a:r>
              <a:rPr sz="2000" b="0" i="0">
                <a:solidFill>
                  <a:srgbClr val="FFB020"/>
                </a:solidFill>
                <a:latin typeface="Noto Sans Mono"/>
              </a:rPr>
              <a:t>&lt;&lt;&lt;&lt;&lt;&lt;&lt; HEAD</a:t>
            </a:r>
          </a:p>
          <a:p>
            <a:pPr algn="l">
              <a:lnSpc>
                <a:spcPts val="2600"/>
              </a:lnSpc>
            </a:pPr>
            <a:r>
              <a:rPr sz="2000" b="0" i="0">
                <a:solidFill>
                  <a:srgbClr val="A9B1BD"/>
                </a:solidFill>
                <a:latin typeface="Noto Sans Mono"/>
              </a:rPr>
              <a:t>face: cat</a:t>
            </a:r>
          </a:p>
          <a:p>
            <a:pPr algn="l">
              <a:lnSpc>
                <a:spcPts val="2600"/>
              </a:lnSpc>
            </a:pPr>
            <a:r>
              <a:rPr sz="2000" b="0" i="0">
                <a:solidFill>
                  <a:srgbClr val="A9B1BD"/>
                </a:solidFill>
                <a:latin typeface="Noto Sans Mono"/>
              </a:rPr>
              <a:t>body: robot</a:t>
            </a:r>
          </a:p>
          <a:p>
            <a:pPr algn="l">
              <a:lnSpc>
                <a:spcPts val="2600"/>
              </a:lnSpc>
            </a:pPr>
            <a:r>
              <a:rPr sz="2000" b="0" i="0">
                <a:solidFill>
                  <a:srgbClr val="A9B1BD"/>
                </a:solidFill>
                <a:latin typeface="Noto Sans Mono"/>
              </a:rPr>
              <a:t>legs: sticks</a:t>
            </a:r>
          </a:p>
          <a:p>
            <a:pPr algn="l">
              <a:lnSpc>
                <a:spcPts val="2600"/>
              </a:lnSpc>
            </a:pPr>
            <a:r>
              <a:rPr sz="2000" b="0" i="0">
                <a:solidFill>
                  <a:srgbClr val="FFB020"/>
                </a:solidFill>
                <a:latin typeface="Noto Sans Mono"/>
              </a:rPr>
              <a:t>=======</a:t>
            </a:r>
          </a:p>
          <a:p>
            <a:pPr algn="l">
              <a:lnSpc>
                <a:spcPts val="2600"/>
              </a:lnSpc>
            </a:pPr>
            <a:r>
              <a:rPr sz="2000" b="0" i="0">
                <a:solidFill>
                  <a:srgbClr val="A9B1BD"/>
                </a:solidFill>
                <a:latin typeface="Noto Sans Mono"/>
              </a:rPr>
              <a:t>face: smiley</a:t>
            </a:r>
          </a:p>
          <a:p>
            <a:pPr algn="l">
              <a:lnSpc>
                <a:spcPts val="2600"/>
              </a:lnSpc>
            </a:pPr>
            <a:r>
              <a:rPr sz="2000" b="0" i="0">
                <a:solidFill>
                  <a:srgbClr val="A9B1BD"/>
                </a:solidFill>
                <a:latin typeface="Noto Sans Mono"/>
              </a:rPr>
              <a:t>body: superhero</a:t>
            </a:r>
          </a:p>
          <a:p>
            <a:pPr algn="l">
              <a:lnSpc>
                <a:spcPts val="2600"/>
              </a:lnSpc>
            </a:pPr>
            <a:r>
              <a:rPr sz="2000" b="0" i="0">
                <a:solidFill>
                  <a:srgbClr val="A9B1BD"/>
                </a:solidFill>
                <a:latin typeface="Noto Sans Mono"/>
              </a:rPr>
              <a:t>legs: tentacles</a:t>
            </a:r>
          </a:p>
          <a:p>
            <a:pPr algn="l">
              <a:lnSpc>
                <a:spcPts val="2600"/>
              </a:lnSpc>
            </a:pPr>
            <a:r>
              <a:rPr sz="2000" b="0" i="0">
                <a:solidFill>
                  <a:srgbClr val="FFB020"/>
                </a:solidFill>
                <a:latin typeface="Noto Sans Mono"/>
              </a:rPr>
              <a:t>&gt;&gt;&gt;&gt;&gt;&gt;&gt; superhero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Clean merge, broken program</a:t>
            </a:r>
          </a:p>
        </p:txBody>
      </p:sp>
      <p:sp>
        <p:nvSpPr>
          <p:cNvPr id="3" name="Rounded Rectangle 2"/>
          <p:cNvSpPr/>
          <p:nvPr/>
        </p:nvSpPr>
        <p:spPr>
          <a:xfrm>
            <a:off x="685800" y="1463040"/>
            <a:ext cx="6263640" cy="4023360"/>
          </a:xfrm>
          <a:prstGeom prst="roundRect">
            <a:avLst>
              <a:gd name="adj" fmla="val 3636"/>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960120" y="1993392"/>
            <a:ext cx="5760720" cy="3383280"/>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switch rename</a:t>
            </a:r>
          </a:p>
          <a:p>
            <a:pPr algn="l">
              <a:lnSpc>
                <a:spcPts val="2600"/>
              </a:lnSpc>
            </a:pPr>
            <a:r>
              <a:rPr sz="2000" b="0" i="0">
                <a:solidFill>
                  <a:srgbClr val="7C8594"/>
                </a:solidFill>
                <a:latin typeface="Noto Sans Mono"/>
              </a:rPr>
              <a:t>$ </a:t>
            </a:r>
            <a:r>
              <a:rPr sz="2000" b="0" i="0">
                <a:solidFill>
                  <a:srgbClr val="F5F5F5"/>
                </a:solidFill>
                <a:latin typeface="Noto Sans Mono"/>
              </a:rPr>
              <a:t>git merge caller</a:t>
            </a:r>
          </a:p>
          <a:p>
            <a:pPr algn="l">
              <a:lnSpc>
                <a:spcPts val="2600"/>
              </a:lnSpc>
            </a:pPr>
            <a:r>
              <a:rPr sz="2000" b="0" i="0">
                <a:solidFill>
                  <a:srgbClr val="A9B1BD"/>
                </a:solidFill>
                <a:latin typeface="Noto Sans Mono"/>
              </a:rPr>
              <a:t>Auto-merging m.py</a:t>
            </a:r>
          </a:p>
          <a:p>
            <a:pPr algn="l">
              <a:lnSpc>
                <a:spcPts val="2600"/>
              </a:lnSpc>
            </a:pPr>
            <a:r>
              <a:rPr sz="2000" b="0" i="0">
                <a:solidFill>
                  <a:srgbClr val="A9B1BD"/>
                </a:solidFill>
                <a:latin typeface="Noto Sans Mono"/>
              </a:rPr>
              <a:t>Merge made by the 'ort' strategy.</a:t>
            </a:r>
          </a:p>
          <a:p>
            <a:pPr algn="l">
              <a:lnSpc>
                <a:spcPts val="2600"/>
              </a:lnSpc>
            </a:pPr>
            <a:r>
              <a:rPr sz="2000" b="0" i="0">
                <a:solidFill>
                  <a:srgbClr val="7C8594"/>
                </a:solidFill>
                <a:latin typeface="Noto Sans Mono"/>
              </a:rPr>
              <a:t>$ </a:t>
            </a:r>
            <a:r>
              <a:rPr sz="2000" b="0" i="0">
                <a:solidFill>
                  <a:srgbClr val="F5F5F5"/>
                </a:solidFill>
                <a:latin typeface="Noto Sans Mono"/>
              </a:rPr>
              <a:t>python3 m.py</a:t>
            </a:r>
          </a:p>
          <a:p>
            <a:pPr algn="l">
              <a:lnSpc>
                <a:spcPts val="2600"/>
              </a:lnSpc>
            </a:pPr>
            <a:r>
              <a:rPr sz="2000" b="0" i="0">
                <a:solidFill>
                  <a:srgbClr val="FF6B6B"/>
                </a:solidFill>
                <a:latin typeface="Noto Sans Mono"/>
              </a:rPr>
              <a:t>NameError: name 'draw' is not defined</a:t>
            </a:r>
          </a:p>
        </p:txBody>
      </p:sp>
      <p:sp>
        <p:nvSpPr>
          <p:cNvPr id="8" name="Rounded Rectangle 7"/>
          <p:cNvSpPr/>
          <p:nvPr/>
        </p:nvSpPr>
        <p:spPr>
          <a:xfrm>
            <a:off x="7299655" y="1463040"/>
            <a:ext cx="4206240" cy="4023360"/>
          </a:xfrm>
          <a:prstGeom prst="roundRect">
            <a:avLst>
              <a:gd name="adj" fmla="val 3636"/>
            </a:avLst>
          </a:prstGeom>
          <a:solidFill>
            <a:srgbClr val="16181D"/>
          </a:solidFill>
          <a:ln>
            <a:noFill/>
          </a:ln>
          <a:effectLst/>
        </p:spPr>
        <p:txBody>
          <a:bodyPr rtlCol="0" anchor="ctr" wrap="square" lIns="36576" rIns="36576" tIns="0" bIns="0">
            <a:noAutofit/>
          </a:bodyPr>
          <a:lstStyle/>
          <a:p>
            <a:pPr algn="ctr"/>
          </a:p>
        </p:txBody>
      </p:sp>
      <p:sp>
        <p:nvSpPr>
          <p:cNvPr id="9" name="Oval 8"/>
          <p:cNvSpPr/>
          <p:nvPr/>
        </p:nvSpPr>
        <p:spPr>
          <a:xfrm>
            <a:off x="7528255"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10" name="Oval 9"/>
          <p:cNvSpPr/>
          <p:nvPr/>
        </p:nvSpPr>
        <p:spPr>
          <a:xfrm>
            <a:off x="7756855"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11" name="Oval 10"/>
          <p:cNvSpPr/>
          <p:nvPr/>
        </p:nvSpPr>
        <p:spPr>
          <a:xfrm>
            <a:off x="7985455"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12" name="TextBox 11"/>
          <p:cNvSpPr txBox="1"/>
          <p:nvPr/>
        </p:nvSpPr>
        <p:spPr>
          <a:xfrm>
            <a:off x="8351215" y="1572768"/>
            <a:ext cx="2926079" cy="292608"/>
          </a:xfrm>
          <a:prstGeom prst="rect">
            <a:avLst/>
          </a:prstGeom>
          <a:noFill/>
        </p:spPr>
        <p:txBody>
          <a:bodyPr wrap="square" anchor="ctr" lIns="0" rIns="0" tIns="0" bIns="0">
            <a:noAutofit/>
          </a:bodyPr>
          <a:lstStyle/>
          <a:p>
            <a:pPr algn="l"/>
            <a:r>
              <a:rPr sz="1400" b="0" i="0">
                <a:solidFill>
                  <a:srgbClr val="7C8594"/>
                </a:solidFill>
                <a:latin typeface="Noto Sans Mono"/>
              </a:rPr>
              <a:t>m.py after the merge</a:t>
            </a:r>
          </a:p>
        </p:txBody>
      </p:sp>
      <p:sp>
        <p:nvSpPr>
          <p:cNvPr id="13" name="TextBox 12"/>
          <p:cNvSpPr txBox="1"/>
          <p:nvPr/>
        </p:nvSpPr>
        <p:spPr>
          <a:xfrm>
            <a:off x="7573975" y="1993392"/>
            <a:ext cx="3703320" cy="3383280"/>
          </a:xfrm>
          <a:prstGeom prst="rect">
            <a:avLst/>
          </a:prstGeom>
          <a:noFill/>
        </p:spPr>
        <p:txBody>
          <a:bodyPr wrap="square" anchor="t" lIns="0" rIns="0" tIns="0" bIns="0">
            <a:noAutofit/>
          </a:bodyPr>
          <a:lstStyle/>
          <a:p>
            <a:pPr algn="l">
              <a:lnSpc>
                <a:spcPts val="2600"/>
              </a:lnSpc>
            </a:pPr>
            <a:r>
              <a:rPr sz="2000" b="0" i="0">
                <a:solidFill>
                  <a:srgbClr val="A9B1BD"/>
                </a:solidFill>
                <a:latin typeface="Noto Sans Mono"/>
              </a:rPr>
              <a:t>def </a:t>
            </a:r>
            <a:r>
              <a:rPr sz="2000" b="0" i="0">
                <a:solidFill>
                  <a:srgbClr val="C792EA"/>
                </a:solidFill>
                <a:latin typeface="Noto Sans Mono"/>
              </a:rPr>
              <a:t>render</a:t>
            </a:r>
            <a:r>
              <a:rPr sz="2000" b="0" i="0">
                <a:solidFill>
                  <a:srgbClr val="A9B1BD"/>
                </a:solidFill>
                <a:latin typeface="Noto Sans Mono"/>
              </a:rPr>
              <a:t>():</a:t>
            </a:r>
          </a:p>
          <a:p>
            <a:pPr algn="l">
              <a:lnSpc>
                <a:spcPts val="2600"/>
              </a:lnSpc>
            </a:pPr>
            <a:r>
              <a:rPr sz="2000" b="0" i="0">
                <a:solidFill>
                  <a:srgbClr val="A9B1BD"/>
                </a:solidFill>
                <a:latin typeface="Noto Sans Mono"/>
              </a:rPr>
              <a:t>    print("monster")</a:t>
            </a:r>
          </a:p>
          <a:p>
            <a:pPr algn="l">
              <a:lnSpc>
                <a:spcPts val="2600"/>
              </a:lnSpc>
            </a:pPr>
            <a:r>
              <a:rPr sz="2000" b="0" i="0">
                <a:solidFill>
                  <a:srgbClr val="A9B1BD"/>
                </a:solidFill>
                <a:latin typeface="Noto Sans Mono"/>
              </a:rPr>
              <a:t> </a:t>
            </a:r>
          </a:p>
          <a:p>
            <a:pPr algn="l">
              <a:lnSpc>
                <a:spcPts val="2600"/>
              </a:lnSpc>
            </a:pPr>
            <a:r>
              <a:rPr sz="2000" b="0" i="0">
                <a:solidFill>
                  <a:srgbClr val="A9B1BD"/>
                </a:solidFill>
                <a:latin typeface="Noto Sans Mono"/>
              </a:rPr>
              <a:t>def main():</a:t>
            </a:r>
          </a:p>
          <a:p>
            <a:pPr algn="l">
              <a:lnSpc>
                <a:spcPts val="2600"/>
              </a:lnSpc>
            </a:pPr>
            <a:r>
              <a:rPr sz="2000" b="0" i="0">
                <a:solidFill>
                  <a:srgbClr val="A9B1BD"/>
                </a:solidFill>
                <a:latin typeface="Noto Sans Mono"/>
              </a:rPr>
              <a:t>    </a:t>
            </a:r>
            <a:r>
              <a:rPr sz="2000" b="0" i="0">
                <a:solidFill>
                  <a:srgbClr val="C792EA"/>
                </a:solidFill>
                <a:latin typeface="Noto Sans Mono"/>
              </a:rPr>
              <a:t>draw()</a:t>
            </a:r>
          </a:p>
          <a:p>
            <a:pPr algn="l">
              <a:lnSpc>
                <a:spcPts val="2600"/>
              </a:lnSpc>
            </a:pPr>
            <a:r>
              <a:rPr sz="2000" b="0" i="0">
                <a:solidFill>
                  <a:srgbClr val="A9B1BD"/>
                </a:solidFill>
                <a:latin typeface="Noto Sans Mono"/>
              </a:rPr>
              <a:t> </a:t>
            </a:r>
          </a:p>
          <a:p>
            <a:pPr algn="l">
              <a:lnSpc>
                <a:spcPts val="2600"/>
              </a:lnSpc>
            </a:pPr>
            <a:r>
              <a:rPr sz="2000" b="0" i="0">
                <a:solidFill>
                  <a:srgbClr val="A9B1BD"/>
                </a:solidFill>
                <a:latin typeface="Noto Sans Mono"/>
              </a:rPr>
              <a:t>main()</a:t>
            </a:r>
          </a:p>
        </p:txBody>
      </p:sp>
      <p:sp>
        <p:nvSpPr>
          <p:cNvPr id="14" name="Rounded Rectangle 13"/>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15" name="TextBox 14"/>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16" name="TextBox 15"/>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Git said no conflict. Who should have caught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45E"/>
        </a:solidFill>
        <a:effectLst/>
      </p:bgPr>
    </p:bg>
    <p:spTree>
      <p:nvGrpSpPr>
        <p:cNvPr id="1" name=""/>
        <p:cNvGrpSpPr/>
        <p:nvPr/>
      </p:nvGrpSpPr>
      <p:grpSpPr/>
      <p:sp>
        <p:nvSpPr>
          <p:cNvPr id="2" name="TextBox 1"/>
          <p:cNvSpPr txBox="1"/>
          <p:nvPr/>
        </p:nvSpPr>
        <p:spPr>
          <a:xfrm>
            <a:off x="685800" y="1691640"/>
            <a:ext cx="10820095" cy="1188720"/>
          </a:xfrm>
          <a:prstGeom prst="rect">
            <a:avLst/>
          </a:prstGeom>
          <a:noFill/>
        </p:spPr>
        <p:txBody>
          <a:bodyPr wrap="square" anchor="ctr" lIns="0" rIns="0" tIns="0" bIns="0">
            <a:noAutofit/>
          </a:bodyPr>
          <a:lstStyle/>
          <a:p>
            <a:pPr algn="ctr"/>
            <a:r>
              <a:rPr sz="7200" b="0" i="0">
                <a:solidFill>
                  <a:srgbClr val="111111"/>
                </a:solidFill>
                <a:latin typeface="Inter"/>
              </a:rPr>
              <a:t>☕</a:t>
            </a:r>
          </a:p>
        </p:txBody>
      </p:sp>
      <p:sp>
        <p:nvSpPr>
          <p:cNvPr id="3" name="TextBox 2"/>
          <p:cNvSpPr txBox="1"/>
          <p:nvPr/>
        </p:nvSpPr>
        <p:spPr>
          <a:xfrm>
            <a:off x="685800" y="2880360"/>
            <a:ext cx="10820095" cy="1051560"/>
          </a:xfrm>
          <a:prstGeom prst="rect">
            <a:avLst/>
          </a:prstGeom>
          <a:noFill/>
        </p:spPr>
        <p:txBody>
          <a:bodyPr wrap="square" anchor="ctr" lIns="0" rIns="0" tIns="0" bIns="0">
            <a:noAutofit/>
          </a:bodyPr>
          <a:lstStyle/>
          <a:p>
            <a:pPr algn="ctr"/>
            <a:r>
              <a:rPr sz="6000" b="1" i="0">
                <a:solidFill>
                  <a:srgbClr val="111111"/>
                </a:solidFill>
                <a:latin typeface="Inter"/>
              </a:rPr>
              <a:t>3-minute break</a:t>
            </a:r>
          </a:p>
        </p:txBody>
      </p:sp>
      <p:sp>
        <p:nvSpPr>
          <p:cNvPr id="4" name="TextBox 3"/>
          <p:cNvSpPr txBox="1"/>
          <p:nvPr/>
        </p:nvSpPr>
        <p:spPr>
          <a:xfrm>
            <a:off x="685800" y="4023360"/>
            <a:ext cx="10820095" cy="548640"/>
          </a:xfrm>
          <a:prstGeom prst="rect">
            <a:avLst/>
          </a:prstGeom>
          <a:noFill/>
        </p:spPr>
        <p:txBody>
          <a:bodyPr wrap="square" anchor="ctr" lIns="0" rIns="0" tIns="0" bIns="0">
            <a:noAutofit/>
          </a:bodyPr>
          <a:lstStyle/>
          <a:p>
            <a:pPr algn="ctr"/>
            <a:r>
              <a:rPr sz="2800" b="0" i="0">
                <a:solidFill>
                  <a:srgbClr val="111111"/>
                </a:solidFill>
                <a:latin typeface="Inter"/>
              </a:rPr>
              <a:t>Back at 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A2FF"/>
        </a:solidFill>
        <a:effectLst/>
      </p:bgPr>
    </p:bg>
    <p:spTree>
      <p:nvGrpSpPr>
        <p:cNvPr id="1" name=""/>
        <p:cNvGrpSpPr/>
        <p:nvPr/>
      </p:nvGrpSpPr>
      <p:grpSpPr/>
      <p:sp>
        <p:nvSpPr>
          <p:cNvPr id="2" name="TextBox 1"/>
          <p:cNvSpPr txBox="1"/>
          <p:nvPr/>
        </p:nvSpPr>
        <p:spPr>
          <a:xfrm>
            <a:off x="685800" y="2547366"/>
            <a:ext cx="10820095" cy="457200"/>
          </a:xfrm>
          <a:prstGeom prst="rect">
            <a:avLst/>
          </a:prstGeom>
          <a:noFill/>
        </p:spPr>
        <p:txBody>
          <a:bodyPr wrap="square" anchor="b" lIns="0" rIns="0" tIns="0" bIns="0">
            <a:noAutofit/>
          </a:bodyPr>
          <a:lstStyle/>
          <a:p>
            <a:pPr algn="ctr"/>
            <a:r>
              <a:rPr sz="2400" b="1" i="0">
                <a:solidFill>
                  <a:srgbClr val="111111"/>
                </a:solidFill>
                <a:latin typeface="Inter"/>
              </a:rPr>
              <a:t>PART 2</a:t>
            </a:r>
          </a:p>
        </p:txBody>
      </p:sp>
      <p:sp>
        <p:nvSpPr>
          <p:cNvPr id="3" name="TextBox 2"/>
          <p:cNvSpPr txBox="1"/>
          <p:nvPr/>
        </p:nvSpPr>
        <p:spPr>
          <a:xfrm>
            <a:off x="685800" y="3068574"/>
            <a:ext cx="10820095" cy="1013460"/>
          </a:xfrm>
          <a:prstGeom prst="rect">
            <a:avLst/>
          </a:prstGeom>
          <a:noFill/>
        </p:spPr>
        <p:txBody>
          <a:bodyPr wrap="square" anchor="ctr" lIns="0" rIns="0" tIns="0" bIns="0">
            <a:noAutofit/>
          </a:bodyPr>
          <a:lstStyle/>
          <a:p>
            <a:pPr algn="ctr">
              <a:lnSpc>
                <a:spcPct val="100000"/>
              </a:lnSpc>
            </a:pPr>
            <a:r>
              <a:rPr sz="6000" b="0" i="0">
                <a:solidFill>
                  <a:srgbClr val="111111"/>
                </a:solidFill>
                <a:latin typeface="Inter"/>
              </a:rPr>
              <a:t>Many tables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were cloned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clone</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2800" b="0" i="0">
                <a:solidFill>
                  <a:srgbClr val="111111"/>
                </a:solidFill>
                <a:latin typeface="Inter"/>
              </a:rPr>
              <a:t>Every table gets every card.</a:t>
            </a:r>
            <a:br>
              <a:rPr sz="2800"/>
            </a:br>
            <a:r>
              <a:rPr sz="2800" b="0" i="0">
                <a:solidFill>
                  <a:srgbClr val="111111"/>
                </a:solidFill>
                <a:latin typeface="Inter"/>
              </a:rPr>
              <a:t>Blue flag = where the wall’s main was.</a:t>
            </a:r>
          </a:p>
        </p:txBody>
      </p:sp>
      <p:sp>
        <p:nvSpPr>
          <p:cNvPr id="5" name="Rounded Rectangle 4"/>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7" name="TextBox 6"/>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We gave you all four cards, not just #4. Why?</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7" name="Rounded Rectangle 16"/>
          <p:cNvSpPr/>
          <p:nvPr/>
        </p:nvSpPr>
        <p:spPr>
          <a:xfrm>
            <a:off x="685800" y="3478418"/>
            <a:ext cx="2377440" cy="2081133"/>
          </a:xfrm>
          <a:prstGeom prst="roundRect">
            <a:avLst>
              <a:gd name="adj" fmla="val 6151"/>
            </a:avLst>
          </a:prstGeom>
          <a:solidFill>
            <a:srgbClr val="FAFAFA"/>
          </a:solidFill>
          <a:ln w="15875">
            <a:solidFill>
              <a:srgbClr val="CCCCCC"/>
            </a:solidFill>
          </a:ln>
          <a:effectLst/>
        </p:spPr>
        <p:txBody>
          <a:bodyPr rtlCol="0" anchor="ctr" wrap="square" lIns="36576" rIns="36576" tIns="0" bIns="0">
            <a:noAutofit/>
          </a:bodyPr>
          <a:lstStyle/>
          <a:p>
            <a:pPr algn="ctr"/>
          </a:p>
        </p:txBody>
      </p:sp>
      <p:sp>
        <p:nvSpPr>
          <p:cNvPr id="18" name="TextBox 17"/>
          <p:cNvSpPr txBox="1"/>
          <p:nvPr/>
        </p:nvSpPr>
        <p:spPr>
          <a:xfrm>
            <a:off x="850392" y="3569858"/>
            <a:ext cx="2048256" cy="292608"/>
          </a:xfrm>
          <a:prstGeom prst="rect">
            <a:avLst/>
          </a:prstGeom>
          <a:noFill/>
        </p:spPr>
        <p:txBody>
          <a:bodyPr wrap="square" anchor="ctr" lIns="0" rIns="0" tIns="0" bIns="0">
            <a:noAutofit/>
          </a:bodyPr>
          <a:lstStyle/>
          <a:p>
            <a:pPr algn="l"/>
            <a:r>
              <a:rPr sz="1300" b="1" i="0">
                <a:solidFill>
                  <a:srgbClr val="555555"/>
                </a:solidFill>
                <a:latin typeface="Inter"/>
              </a:rPr>
              <a:t>LAB 1 TABLE</a:t>
            </a:r>
          </a:p>
        </p:txBody>
      </p:sp>
      <p:sp>
        <p:nvSpPr>
          <p:cNvPr id="19" name="Rounded Rectangle 18"/>
          <p:cNvSpPr/>
          <p:nvPr/>
        </p:nvSpPr>
        <p:spPr>
          <a:xfrm>
            <a:off x="4907127" y="3478418"/>
            <a:ext cx="2377440" cy="2081133"/>
          </a:xfrm>
          <a:prstGeom prst="roundRect">
            <a:avLst>
              <a:gd name="adj" fmla="val 7908"/>
            </a:avLst>
          </a:prstGeom>
          <a:solidFill>
            <a:srgbClr val="E8F6FF"/>
          </a:solidFill>
          <a:ln w="25400">
            <a:solidFill>
              <a:srgbClr val="00A2FF"/>
            </a:solidFill>
          </a:ln>
          <a:effectLst/>
        </p:spPr>
        <p:txBody>
          <a:bodyPr rtlCol="0" anchor="ctr" wrap="square" lIns="36576" rIns="36576" tIns="0" bIns="0">
            <a:noAutofit/>
          </a:bodyPr>
          <a:lstStyle/>
          <a:p>
            <a:pPr algn="ctr"/>
          </a:p>
        </p:txBody>
      </p:sp>
      <p:sp>
        <p:nvSpPr>
          <p:cNvPr id="20" name="Rounded Rectangle 19"/>
          <p:cNvSpPr/>
          <p:nvPr/>
        </p:nvSpPr>
        <p:spPr>
          <a:xfrm>
            <a:off x="4987008" y="3304682"/>
            <a:ext cx="2217677" cy="347472"/>
          </a:xfrm>
          <a:prstGeom prst="roundRect">
            <a:avLst>
              <a:gd name="adj" fmla="val 50000"/>
            </a:avLst>
          </a:prstGeom>
          <a:solidFill>
            <a:srgbClr val="00A2FF"/>
          </a:solidFill>
          <a:ln>
            <a:noFill/>
          </a:ln>
          <a:effectLst/>
        </p:spPr>
        <p:txBody>
          <a:bodyPr rtlCol="0" anchor="ctr" wrap="square" lIns="36576" rIns="36576" tIns="0" bIns="0">
            <a:noAutofit/>
          </a:bodyPr>
          <a:lstStyle/>
          <a:p>
            <a:pPr algn="ctr"/>
            <a:r>
              <a:rPr sz="1400" b="1" i="0">
                <a:solidFill>
                  <a:srgbClr val="111111"/>
                </a:solidFill>
                <a:latin typeface="Inter"/>
              </a:rPr>
              <a:t>THE WALL  ·  GitHub</a:t>
            </a:r>
          </a:p>
        </p:txBody>
      </p:sp>
      <p:sp>
        <p:nvSpPr>
          <p:cNvPr id="21" name="Rounded Rectangle 20"/>
          <p:cNvSpPr/>
          <p:nvPr/>
        </p:nvSpPr>
        <p:spPr>
          <a:xfrm>
            <a:off x="9128455" y="3478418"/>
            <a:ext cx="2377440" cy="2081133"/>
          </a:xfrm>
          <a:prstGeom prst="roundRect">
            <a:avLst>
              <a:gd name="adj" fmla="val 6151"/>
            </a:avLst>
          </a:prstGeom>
          <a:solidFill>
            <a:srgbClr val="FAFAFA"/>
          </a:solidFill>
          <a:ln w="15875">
            <a:solidFill>
              <a:srgbClr val="CCCCCC"/>
            </a:solidFill>
          </a:ln>
          <a:effectLst/>
        </p:spPr>
        <p:txBody>
          <a:bodyPr rtlCol="0" anchor="ctr" wrap="square" lIns="36576" rIns="36576" tIns="0" bIns="0">
            <a:noAutofit/>
          </a:bodyPr>
          <a:lstStyle/>
          <a:p>
            <a:pPr algn="ctr"/>
          </a:p>
        </p:txBody>
      </p:sp>
      <p:sp>
        <p:nvSpPr>
          <p:cNvPr id="22" name="TextBox 21"/>
          <p:cNvSpPr txBox="1"/>
          <p:nvPr/>
        </p:nvSpPr>
        <p:spPr>
          <a:xfrm>
            <a:off x="9293047" y="3569858"/>
            <a:ext cx="2048256" cy="292608"/>
          </a:xfrm>
          <a:prstGeom prst="rect">
            <a:avLst/>
          </a:prstGeom>
          <a:noFill/>
        </p:spPr>
        <p:txBody>
          <a:bodyPr wrap="square" anchor="ctr" lIns="0" rIns="0" tIns="0" bIns="0">
            <a:noAutofit/>
          </a:bodyPr>
          <a:lstStyle/>
          <a:p>
            <a:pPr algn="l"/>
            <a:r>
              <a:rPr sz="1300" b="1" i="0">
                <a:solidFill>
                  <a:srgbClr val="555555"/>
                </a:solidFill>
                <a:latin typeface="Inter"/>
              </a:rPr>
              <a:t>LAB 2 TABLE</a:t>
            </a:r>
          </a:p>
        </p:txBody>
      </p:sp>
      <p:sp>
        <p:nvSpPr>
          <p:cNvPr id="23" name="Rounded Rectangle 22"/>
          <p:cNvSpPr/>
          <p:nvPr/>
        </p:nvSpPr>
        <p:spPr>
          <a:xfrm>
            <a:off x="863362"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4" name="Rounded Rectangle 23"/>
          <p:cNvSpPr/>
          <p:nvPr/>
        </p:nvSpPr>
        <p:spPr>
          <a:xfrm>
            <a:off x="910545"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25" name="Rounded Rectangle 24"/>
          <p:cNvSpPr/>
          <p:nvPr/>
        </p:nvSpPr>
        <p:spPr>
          <a:xfrm>
            <a:off x="910545"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6" name="Rounded Rectangle 25"/>
          <p:cNvSpPr/>
          <p:nvPr/>
        </p:nvSpPr>
        <p:spPr>
          <a:xfrm>
            <a:off x="910545"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7" name="Rounded Rectangle 26"/>
          <p:cNvSpPr/>
          <p:nvPr/>
        </p:nvSpPr>
        <p:spPr>
          <a:xfrm>
            <a:off x="910545"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8" name="TextBox 27"/>
          <p:cNvSpPr txBox="1"/>
          <p:nvPr/>
        </p:nvSpPr>
        <p:spPr>
          <a:xfrm>
            <a:off x="899938"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29" name="Rounded Rectangle 28"/>
          <p:cNvSpPr/>
          <p:nvPr/>
        </p:nvSpPr>
        <p:spPr>
          <a:xfrm>
            <a:off x="954802"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0" name="Rounded Rectangle 29"/>
          <p:cNvSpPr/>
          <p:nvPr/>
        </p:nvSpPr>
        <p:spPr>
          <a:xfrm>
            <a:off x="1001985"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31" name="Rounded Rectangle 30"/>
          <p:cNvSpPr/>
          <p:nvPr/>
        </p:nvSpPr>
        <p:spPr>
          <a:xfrm>
            <a:off x="1001985"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2" name="Rounded Rectangle 31"/>
          <p:cNvSpPr/>
          <p:nvPr/>
        </p:nvSpPr>
        <p:spPr>
          <a:xfrm>
            <a:off x="1001985"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3" name="Rounded Rectangle 32"/>
          <p:cNvSpPr/>
          <p:nvPr/>
        </p:nvSpPr>
        <p:spPr>
          <a:xfrm>
            <a:off x="1001985"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4" name="TextBox 33"/>
          <p:cNvSpPr txBox="1"/>
          <p:nvPr/>
        </p:nvSpPr>
        <p:spPr>
          <a:xfrm>
            <a:off x="991378"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35" name="Rounded Rectangle 34"/>
          <p:cNvSpPr/>
          <p:nvPr/>
        </p:nvSpPr>
        <p:spPr>
          <a:xfrm>
            <a:off x="1046242"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6" name="Rounded Rectangle 35"/>
          <p:cNvSpPr/>
          <p:nvPr/>
        </p:nvSpPr>
        <p:spPr>
          <a:xfrm>
            <a:off x="1093425"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37" name="Rounded Rectangle 36"/>
          <p:cNvSpPr/>
          <p:nvPr/>
        </p:nvSpPr>
        <p:spPr>
          <a:xfrm>
            <a:off x="1093425"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8" name="Rounded Rectangle 37"/>
          <p:cNvSpPr/>
          <p:nvPr/>
        </p:nvSpPr>
        <p:spPr>
          <a:xfrm>
            <a:off x="1093425"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9" name="Rounded Rectangle 38"/>
          <p:cNvSpPr/>
          <p:nvPr/>
        </p:nvSpPr>
        <p:spPr>
          <a:xfrm>
            <a:off x="1093425"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0" name="TextBox 39"/>
          <p:cNvSpPr txBox="1"/>
          <p:nvPr/>
        </p:nvSpPr>
        <p:spPr>
          <a:xfrm>
            <a:off x="1082818"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41" name="Rounded Rectangle 40"/>
          <p:cNvSpPr/>
          <p:nvPr/>
        </p:nvSpPr>
        <p:spPr>
          <a:xfrm>
            <a:off x="1137682"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42" name="Rounded Rectangle 41"/>
          <p:cNvSpPr/>
          <p:nvPr/>
        </p:nvSpPr>
        <p:spPr>
          <a:xfrm>
            <a:off x="1184865"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43" name="Rounded Rectangle 42"/>
          <p:cNvSpPr/>
          <p:nvPr/>
        </p:nvSpPr>
        <p:spPr>
          <a:xfrm>
            <a:off x="1184865"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4" name="Rounded Rectangle 43"/>
          <p:cNvSpPr/>
          <p:nvPr/>
        </p:nvSpPr>
        <p:spPr>
          <a:xfrm>
            <a:off x="1184865"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45" name="Rounded Rectangle 44"/>
          <p:cNvSpPr/>
          <p:nvPr/>
        </p:nvSpPr>
        <p:spPr>
          <a:xfrm>
            <a:off x="1184865"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6" name="TextBox 45"/>
          <p:cNvSpPr txBox="1"/>
          <p:nvPr/>
        </p:nvSpPr>
        <p:spPr>
          <a:xfrm>
            <a:off x="1174258"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47" name="Rounded Rectangle 46"/>
          <p:cNvSpPr/>
          <p:nvPr/>
        </p:nvSpPr>
        <p:spPr>
          <a:xfrm rot="21360000">
            <a:off x="1668948" y="4648850"/>
            <a:ext cx="1216729" cy="329184"/>
          </a:xfrm>
          <a:prstGeom prst="roundRect">
            <a:avLst>
              <a:gd name="adj" fmla="val 11111"/>
            </a:avLst>
          </a:prstGeom>
          <a:solidFill>
            <a:srgbClr val="E8F6FF"/>
          </a:solidFill>
          <a:ln w="19050">
            <a:solidFill>
              <a:srgbClr val="00A2FF"/>
            </a:solidFill>
          </a:ln>
          <a:effectLst/>
        </p:spPr>
        <p:txBody>
          <a:bodyPr rtlCol="0" anchor="ctr" wrap="square" lIns="36576" rIns="36576" tIns="0" bIns="0">
            <a:noAutofit/>
          </a:bodyPr>
          <a:lstStyle/>
          <a:p>
            <a:pPr algn="ctr"/>
            <a:r>
              <a:rPr sz="1300" b="1" i="0">
                <a:solidFill>
                  <a:srgbClr val="111111"/>
                </a:solidFill>
                <a:latin typeface="Inter"/>
              </a:rPr>
              <a:t>origin/main</a:t>
            </a:r>
          </a:p>
        </p:txBody>
      </p:sp>
      <p:sp>
        <p:nvSpPr>
          <p:cNvPr id="48" name="Rounded Rectangle 47"/>
          <p:cNvSpPr/>
          <p:nvPr/>
        </p:nvSpPr>
        <p:spPr>
          <a:xfrm>
            <a:off x="5334626"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49" name="Rounded Rectangle 48"/>
          <p:cNvSpPr/>
          <p:nvPr/>
        </p:nvSpPr>
        <p:spPr>
          <a:xfrm>
            <a:off x="5381809"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50" name="Rounded Rectangle 49"/>
          <p:cNvSpPr/>
          <p:nvPr/>
        </p:nvSpPr>
        <p:spPr>
          <a:xfrm>
            <a:off x="5381809"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1" name="Rounded Rectangle 50"/>
          <p:cNvSpPr/>
          <p:nvPr/>
        </p:nvSpPr>
        <p:spPr>
          <a:xfrm>
            <a:off x="5381809"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2" name="Rounded Rectangle 51"/>
          <p:cNvSpPr/>
          <p:nvPr/>
        </p:nvSpPr>
        <p:spPr>
          <a:xfrm>
            <a:off x="5381809"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3" name="TextBox 52"/>
          <p:cNvSpPr txBox="1"/>
          <p:nvPr/>
        </p:nvSpPr>
        <p:spPr>
          <a:xfrm>
            <a:off x="5371202"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54" name="Rounded Rectangle 53"/>
          <p:cNvSpPr/>
          <p:nvPr/>
        </p:nvSpPr>
        <p:spPr>
          <a:xfrm>
            <a:off x="5426066"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55" name="Rounded Rectangle 54"/>
          <p:cNvSpPr/>
          <p:nvPr/>
        </p:nvSpPr>
        <p:spPr>
          <a:xfrm>
            <a:off x="5473249"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56" name="Rounded Rectangle 55"/>
          <p:cNvSpPr/>
          <p:nvPr/>
        </p:nvSpPr>
        <p:spPr>
          <a:xfrm>
            <a:off x="5473249"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7" name="Rounded Rectangle 56"/>
          <p:cNvSpPr/>
          <p:nvPr/>
        </p:nvSpPr>
        <p:spPr>
          <a:xfrm>
            <a:off x="5473249"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8" name="Rounded Rectangle 57"/>
          <p:cNvSpPr/>
          <p:nvPr/>
        </p:nvSpPr>
        <p:spPr>
          <a:xfrm>
            <a:off x="5473249"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9" name="TextBox 58"/>
          <p:cNvSpPr txBox="1"/>
          <p:nvPr/>
        </p:nvSpPr>
        <p:spPr>
          <a:xfrm>
            <a:off x="5462642"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60" name="Rounded Rectangle 59"/>
          <p:cNvSpPr/>
          <p:nvPr/>
        </p:nvSpPr>
        <p:spPr>
          <a:xfrm>
            <a:off x="5517506"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61" name="Rounded Rectangle 60"/>
          <p:cNvSpPr/>
          <p:nvPr/>
        </p:nvSpPr>
        <p:spPr>
          <a:xfrm>
            <a:off x="5564689"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62" name="Rounded Rectangle 61"/>
          <p:cNvSpPr/>
          <p:nvPr/>
        </p:nvSpPr>
        <p:spPr>
          <a:xfrm>
            <a:off x="5564689"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3" name="Rounded Rectangle 62"/>
          <p:cNvSpPr/>
          <p:nvPr/>
        </p:nvSpPr>
        <p:spPr>
          <a:xfrm>
            <a:off x="5564689"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4" name="Rounded Rectangle 63"/>
          <p:cNvSpPr/>
          <p:nvPr/>
        </p:nvSpPr>
        <p:spPr>
          <a:xfrm>
            <a:off x="5564689"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5" name="TextBox 64"/>
          <p:cNvSpPr txBox="1"/>
          <p:nvPr/>
        </p:nvSpPr>
        <p:spPr>
          <a:xfrm>
            <a:off x="5554082"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66" name="Rounded Rectangle 65"/>
          <p:cNvSpPr/>
          <p:nvPr/>
        </p:nvSpPr>
        <p:spPr>
          <a:xfrm>
            <a:off x="5608946"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67" name="Rounded Rectangle 66"/>
          <p:cNvSpPr/>
          <p:nvPr/>
        </p:nvSpPr>
        <p:spPr>
          <a:xfrm>
            <a:off x="5656129"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68" name="Rounded Rectangle 67"/>
          <p:cNvSpPr/>
          <p:nvPr/>
        </p:nvSpPr>
        <p:spPr>
          <a:xfrm>
            <a:off x="5656129"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9" name="Rounded Rectangle 68"/>
          <p:cNvSpPr/>
          <p:nvPr/>
        </p:nvSpPr>
        <p:spPr>
          <a:xfrm>
            <a:off x="5656129"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70" name="Rounded Rectangle 69"/>
          <p:cNvSpPr/>
          <p:nvPr/>
        </p:nvSpPr>
        <p:spPr>
          <a:xfrm>
            <a:off x="5656129"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1" name="TextBox 70"/>
          <p:cNvSpPr txBox="1"/>
          <p:nvPr/>
        </p:nvSpPr>
        <p:spPr>
          <a:xfrm>
            <a:off x="5645522"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72" name="Rounded Rectangle 71"/>
          <p:cNvSpPr/>
          <p:nvPr/>
        </p:nvSpPr>
        <p:spPr>
          <a:xfrm rot="21360000">
            <a:off x="6140213" y="4648850"/>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73" name="Rounded Rectangle 72"/>
          <p:cNvSpPr/>
          <p:nvPr/>
        </p:nvSpPr>
        <p:spPr>
          <a:xfrm>
            <a:off x="9306017"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74" name="Rounded Rectangle 73"/>
          <p:cNvSpPr/>
          <p:nvPr/>
        </p:nvSpPr>
        <p:spPr>
          <a:xfrm>
            <a:off x="9353200"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75" name="Rounded Rectangle 74"/>
          <p:cNvSpPr/>
          <p:nvPr/>
        </p:nvSpPr>
        <p:spPr>
          <a:xfrm>
            <a:off x="9353200"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6" name="Rounded Rectangle 75"/>
          <p:cNvSpPr/>
          <p:nvPr/>
        </p:nvSpPr>
        <p:spPr>
          <a:xfrm>
            <a:off x="9353200"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7" name="Rounded Rectangle 76"/>
          <p:cNvSpPr/>
          <p:nvPr/>
        </p:nvSpPr>
        <p:spPr>
          <a:xfrm>
            <a:off x="9353200"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8" name="TextBox 77"/>
          <p:cNvSpPr txBox="1"/>
          <p:nvPr/>
        </p:nvSpPr>
        <p:spPr>
          <a:xfrm>
            <a:off x="9342593"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79" name="Rounded Rectangle 78"/>
          <p:cNvSpPr/>
          <p:nvPr/>
        </p:nvSpPr>
        <p:spPr>
          <a:xfrm>
            <a:off x="9397457"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80" name="Rounded Rectangle 79"/>
          <p:cNvSpPr/>
          <p:nvPr/>
        </p:nvSpPr>
        <p:spPr>
          <a:xfrm>
            <a:off x="9444640"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81" name="Rounded Rectangle 80"/>
          <p:cNvSpPr/>
          <p:nvPr/>
        </p:nvSpPr>
        <p:spPr>
          <a:xfrm>
            <a:off x="9444640"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2" name="Rounded Rectangle 81"/>
          <p:cNvSpPr/>
          <p:nvPr/>
        </p:nvSpPr>
        <p:spPr>
          <a:xfrm>
            <a:off x="9444640"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3" name="Rounded Rectangle 82"/>
          <p:cNvSpPr/>
          <p:nvPr/>
        </p:nvSpPr>
        <p:spPr>
          <a:xfrm>
            <a:off x="9444640"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4" name="TextBox 83"/>
          <p:cNvSpPr txBox="1"/>
          <p:nvPr/>
        </p:nvSpPr>
        <p:spPr>
          <a:xfrm>
            <a:off x="9434033"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85" name="Rounded Rectangle 84"/>
          <p:cNvSpPr/>
          <p:nvPr/>
        </p:nvSpPr>
        <p:spPr>
          <a:xfrm>
            <a:off x="9488897"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86" name="Rounded Rectangle 85"/>
          <p:cNvSpPr/>
          <p:nvPr/>
        </p:nvSpPr>
        <p:spPr>
          <a:xfrm>
            <a:off x="9536080"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87" name="Rounded Rectangle 86"/>
          <p:cNvSpPr/>
          <p:nvPr/>
        </p:nvSpPr>
        <p:spPr>
          <a:xfrm>
            <a:off x="9536080"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8" name="Rounded Rectangle 87"/>
          <p:cNvSpPr/>
          <p:nvPr/>
        </p:nvSpPr>
        <p:spPr>
          <a:xfrm>
            <a:off x="9536080"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9" name="Rounded Rectangle 88"/>
          <p:cNvSpPr/>
          <p:nvPr/>
        </p:nvSpPr>
        <p:spPr>
          <a:xfrm>
            <a:off x="9536080"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0" name="TextBox 89"/>
          <p:cNvSpPr txBox="1"/>
          <p:nvPr/>
        </p:nvSpPr>
        <p:spPr>
          <a:xfrm>
            <a:off x="9525473"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91" name="Rounded Rectangle 90"/>
          <p:cNvSpPr/>
          <p:nvPr/>
        </p:nvSpPr>
        <p:spPr>
          <a:xfrm>
            <a:off x="9580337"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92" name="Rounded Rectangle 91"/>
          <p:cNvSpPr/>
          <p:nvPr/>
        </p:nvSpPr>
        <p:spPr>
          <a:xfrm>
            <a:off x="9627520"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93" name="Rounded Rectangle 92"/>
          <p:cNvSpPr/>
          <p:nvPr/>
        </p:nvSpPr>
        <p:spPr>
          <a:xfrm>
            <a:off x="9627520"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4" name="Rounded Rectangle 93"/>
          <p:cNvSpPr/>
          <p:nvPr/>
        </p:nvSpPr>
        <p:spPr>
          <a:xfrm>
            <a:off x="9627520"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95" name="Rounded Rectangle 94"/>
          <p:cNvSpPr/>
          <p:nvPr/>
        </p:nvSpPr>
        <p:spPr>
          <a:xfrm>
            <a:off x="9627520"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6" name="TextBox 95"/>
          <p:cNvSpPr txBox="1"/>
          <p:nvPr/>
        </p:nvSpPr>
        <p:spPr>
          <a:xfrm>
            <a:off x="9616913"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97" name="Rounded Rectangle 96"/>
          <p:cNvSpPr/>
          <p:nvPr/>
        </p:nvSpPr>
        <p:spPr>
          <a:xfrm rot="21360000">
            <a:off x="10111603" y="4648850"/>
            <a:ext cx="1216729" cy="329184"/>
          </a:xfrm>
          <a:prstGeom prst="roundRect">
            <a:avLst>
              <a:gd name="adj" fmla="val 11111"/>
            </a:avLst>
          </a:prstGeom>
          <a:solidFill>
            <a:srgbClr val="E8F6FF"/>
          </a:solidFill>
          <a:ln w="19050">
            <a:solidFill>
              <a:srgbClr val="00A2FF"/>
            </a:solidFill>
          </a:ln>
          <a:effectLst/>
        </p:spPr>
        <p:txBody>
          <a:bodyPr rtlCol="0" anchor="ctr" wrap="square" lIns="36576" rIns="36576" tIns="0" bIns="0">
            <a:noAutofit/>
          </a:bodyPr>
          <a:lstStyle/>
          <a:p>
            <a:pPr algn="ctr"/>
            <a:r>
              <a:rPr sz="1300" b="1" i="0">
                <a:solidFill>
                  <a:srgbClr val="111111"/>
                </a:solidFill>
                <a:latin typeface="Inter"/>
              </a:rPr>
              <a:t>origin/main</a:t>
            </a:r>
          </a:p>
        </p:txBody>
      </p:sp>
      <p:cxnSp>
        <p:nvCxnSpPr>
          <p:cNvPr id="98" name="Connector 97"/>
          <p:cNvCxnSpPr/>
          <p:nvPr/>
        </p:nvCxnSpPr>
        <p:spPr>
          <a:xfrm flipH="1">
            <a:off x="3172968" y="4347098"/>
            <a:ext cx="1624431" cy="0"/>
          </a:xfrm>
          <a:prstGeom prst="line">
            <a:avLst/>
          </a:prstGeom>
          <a:ln w="31750">
            <a:solidFill>
              <a:srgbClr val="00A2FF"/>
            </a:solidFill>
            <a:prstDash val="dash"/>
            <a:tailEnd type="triangle" w="med" len="med"/>
          </a:ln>
          <a:effectLst/>
        </p:spPr>
      </p:cxnSp>
      <p:sp>
        <p:nvSpPr>
          <p:cNvPr id="99" name="TextBox 98"/>
          <p:cNvSpPr txBox="1"/>
          <p:nvPr/>
        </p:nvSpPr>
        <p:spPr>
          <a:xfrm>
            <a:off x="3063240" y="3963050"/>
            <a:ext cx="1843887" cy="292608"/>
          </a:xfrm>
          <a:prstGeom prst="rect">
            <a:avLst/>
          </a:prstGeom>
          <a:noFill/>
        </p:spPr>
        <p:txBody>
          <a:bodyPr wrap="square" anchor="ctr" lIns="0" rIns="0" tIns="0" bIns="0">
            <a:noAutofit/>
          </a:bodyPr>
          <a:lstStyle/>
          <a:p>
            <a:pPr algn="ctr"/>
            <a:r>
              <a:rPr sz="1600" b="1" i="0">
                <a:solidFill>
                  <a:srgbClr val="00A2FF"/>
                </a:solidFill>
                <a:latin typeface="Noto Sans Mono"/>
              </a:rPr>
              <a:t>git clone</a:t>
            </a:r>
          </a:p>
        </p:txBody>
      </p:sp>
      <p:cxnSp>
        <p:nvCxnSpPr>
          <p:cNvPr id="100" name="Connector 99"/>
          <p:cNvCxnSpPr/>
          <p:nvPr/>
        </p:nvCxnSpPr>
        <p:spPr>
          <a:xfrm>
            <a:off x="7394295" y="4347098"/>
            <a:ext cx="1624432" cy="0"/>
          </a:xfrm>
          <a:prstGeom prst="line">
            <a:avLst/>
          </a:prstGeom>
          <a:ln w="31750">
            <a:solidFill>
              <a:srgbClr val="00A2FF"/>
            </a:solidFill>
            <a:prstDash val="dash"/>
            <a:tailEnd type="triangle" w="med" len="med"/>
          </a:ln>
          <a:effectLst/>
        </p:spPr>
      </p:cxnSp>
      <p:sp>
        <p:nvSpPr>
          <p:cNvPr id="101" name="TextBox 100"/>
          <p:cNvSpPr txBox="1"/>
          <p:nvPr/>
        </p:nvSpPr>
        <p:spPr>
          <a:xfrm>
            <a:off x="7284567" y="3963050"/>
            <a:ext cx="1843887" cy="292608"/>
          </a:xfrm>
          <a:prstGeom prst="rect">
            <a:avLst/>
          </a:prstGeom>
          <a:noFill/>
        </p:spPr>
        <p:txBody>
          <a:bodyPr wrap="square" anchor="ctr" lIns="0" rIns="0" tIns="0" bIns="0">
            <a:noAutofit/>
          </a:bodyPr>
          <a:lstStyle/>
          <a:p>
            <a:pPr algn="ctr"/>
            <a:r>
              <a:rPr sz="1600" b="1" i="0">
                <a:solidFill>
                  <a:srgbClr val="00A2FF"/>
                </a:solidFill>
                <a:latin typeface="Noto Sans Mono"/>
              </a:rPr>
              <a:t>git clone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5</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2:00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Each lab: add ONE card on top of #4.</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Follow your lab mission</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Number it. Move your yellow </a:t>
            </a:r>
            <a:r>
              <a:rPr sz="2800" b="0" i="0">
                <a:solidFill>
                  <a:srgbClr val="9437FF"/>
                </a:solidFill>
                <a:latin typeface="Noto Sans Mono"/>
              </a:rPr>
              <a:t>main</a:t>
            </a:r>
            <a:r>
              <a:rPr sz="2800" b="0" i="0">
                <a:solidFill>
                  <a:srgbClr val="111111"/>
                </a:solidFill>
                <a:latin typeface="Inter"/>
              </a:rPr>
              <a:t>.</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Read your number out loud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The ID comes from the card itself</a:t>
            </a:r>
          </a:p>
        </p:txBody>
      </p:sp>
      <p:sp>
        <p:nvSpPr>
          <p:cNvPr id="3" name="Rounded Rectangle 2"/>
          <p:cNvSpPr/>
          <p:nvPr/>
        </p:nvSpPr>
        <p:spPr>
          <a:xfrm>
            <a:off x="685800" y="1463040"/>
            <a:ext cx="6217920" cy="4023360"/>
          </a:xfrm>
          <a:prstGeom prst="roundRect">
            <a:avLst>
              <a:gd name="adj" fmla="val 3636"/>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960120" y="1993392"/>
            <a:ext cx="5715000" cy="3383280"/>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cat-file -p HEAD</a:t>
            </a:r>
          </a:p>
          <a:p>
            <a:pPr algn="l">
              <a:lnSpc>
                <a:spcPts val="2600"/>
              </a:lnSpc>
            </a:pPr>
            <a:r>
              <a:rPr sz="2000" b="0" i="0">
                <a:solidFill>
                  <a:srgbClr val="A9B1BD"/>
                </a:solidFill>
                <a:latin typeface="Noto Sans Mono"/>
              </a:rPr>
              <a:t>tree 5a5fee2…</a:t>
            </a:r>
          </a:p>
          <a:p>
            <a:pPr algn="l">
              <a:lnSpc>
                <a:spcPts val="2600"/>
              </a:lnSpc>
            </a:pPr>
            <a:r>
              <a:rPr sz="2000" b="0" i="0">
                <a:solidFill>
                  <a:srgbClr val="A9B1BD"/>
                </a:solidFill>
                <a:latin typeface="Noto Sans Mono"/>
              </a:rPr>
              <a:t>parent 9f5707b…</a:t>
            </a:r>
          </a:p>
          <a:p>
            <a:pPr algn="l">
              <a:lnSpc>
                <a:spcPts val="2600"/>
              </a:lnSpc>
            </a:pPr>
            <a:r>
              <a:rPr sz="2000" b="0" i="0">
                <a:solidFill>
                  <a:srgbClr val="A9B1BD"/>
                </a:solidFill>
                <a:latin typeface="Noto Sans Mono"/>
              </a:rPr>
              <a:t>author Lab 1 &lt;…&gt; 1791104200 -0700</a:t>
            </a:r>
          </a:p>
          <a:p>
            <a:pPr algn="l">
              <a:lnSpc>
                <a:spcPts val="2600"/>
              </a:lnSpc>
            </a:pPr>
            <a:r>
              <a:rPr sz="2000" b="0" i="0">
                <a:solidFill>
                  <a:srgbClr val="A9B1BD"/>
                </a:solidFill>
                <a:latin typeface="Noto Sans Mono"/>
              </a:rPr>
              <a:t>committer Lab 1 &lt;…&gt; 1791104200 -0700</a:t>
            </a:r>
          </a:p>
          <a:p>
            <a:pPr algn="l">
              <a:lnSpc>
                <a:spcPts val="2600"/>
              </a:lnSpc>
            </a:pPr>
            <a:r>
              <a:rPr sz="2000" b="0" i="0">
                <a:solidFill>
                  <a:srgbClr val="A9B1BD"/>
                </a:solidFill>
                <a:latin typeface="Noto Sans Mono"/>
              </a:rPr>
              <a:t> </a:t>
            </a:r>
          </a:p>
          <a:p>
            <a:pPr algn="l">
              <a:lnSpc>
                <a:spcPts val="2600"/>
              </a:lnSpc>
            </a:pPr>
            <a:r>
              <a:rPr sz="2000" b="0" i="0">
                <a:solidFill>
                  <a:srgbClr val="A9B1BD"/>
                </a:solidFill>
                <a:latin typeface="Noto Sans Mono"/>
              </a:rPr>
              <a:t>face: dragon</a:t>
            </a:r>
          </a:p>
        </p:txBody>
      </p:sp>
      <p:sp>
        <p:nvSpPr>
          <p:cNvPr id="8" name="Rounded Rectangle 7"/>
          <p:cNvSpPr/>
          <p:nvPr/>
        </p:nvSpPr>
        <p:spPr>
          <a:xfrm>
            <a:off x="8519007" y="1554480"/>
            <a:ext cx="1554480" cy="224028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9" name="Rounded Rectangle 8"/>
          <p:cNvSpPr/>
          <p:nvPr/>
        </p:nvSpPr>
        <p:spPr>
          <a:xfrm>
            <a:off x="8628735" y="1664207"/>
            <a:ext cx="664463" cy="310896"/>
          </a:xfrm>
          <a:prstGeom prst="roundRect">
            <a:avLst>
              <a:gd name="adj" fmla="val 17647"/>
            </a:avLst>
          </a:prstGeom>
          <a:solidFill>
            <a:srgbClr val="111111"/>
          </a:solidFill>
          <a:ln>
            <a:noFill/>
          </a:ln>
          <a:effectLst/>
        </p:spPr>
        <p:txBody>
          <a:bodyPr rtlCol="0" anchor="ctr" wrap="square" lIns="18288" rIns="18288" tIns="0" bIns="0">
            <a:noAutofit/>
          </a:bodyPr>
          <a:lstStyle/>
          <a:p>
            <a:pPr algn="ctr"/>
            <a:r>
              <a:rPr sz="1400" b="1" i="0">
                <a:solidFill>
                  <a:srgbClr val="FFFFFF"/>
                </a:solidFill>
                <a:latin typeface="Noto Sans Mono"/>
              </a:rPr>
              <a:t>drt3</a:t>
            </a:r>
          </a:p>
        </p:txBody>
      </p:sp>
      <p:sp>
        <p:nvSpPr>
          <p:cNvPr id="10" name="TextBox 9"/>
          <p:cNvSpPr txBox="1"/>
          <p:nvPr/>
        </p:nvSpPr>
        <p:spPr>
          <a:xfrm>
            <a:off x="9338919" y="1664207"/>
            <a:ext cx="624840" cy="310896"/>
          </a:xfrm>
          <a:prstGeom prst="rect">
            <a:avLst/>
          </a:prstGeom>
          <a:noFill/>
        </p:spPr>
        <p:txBody>
          <a:bodyPr wrap="square" anchor="ctr" lIns="0" rIns="0" tIns="0" bIns="0">
            <a:noAutofit/>
          </a:bodyPr>
          <a:lstStyle/>
          <a:p>
            <a:pPr algn="r"/>
            <a:r>
              <a:rPr sz="1300" b="0" i="0">
                <a:solidFill>
                  <a:srgbClr val="555555"/>
                </a:solidFill>
                <a:latin typeface="Inter"/>
              </a:rPr>
              <a:t>Lab 1</a:t>
            </a:r>
          </a:p>
        </p:txBody>
      </p:sp>
      <p:sp>
        <p:nvSpPr>
          <p:cNvPr id="11" name="Rounded Rectangle 10"/>
          <p:cNvSpPr/>
          <p:nvPr/>
        </p:nvSpPr>
        <p:spPr>
          <a:xfrm>
            <a:off x="8628735" y="2066543"/>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2" name="Rounded Rectangle 11"/>
          <p:cNvSpPr/>
          <p:nvPr/>
        </p:nvSpPr>
        <p:spPr>
          <a:xfrm>
            <a:off x="8628735" y="2560320"/>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200" b="0" i="0">
                <a:solidFill>
                  <a:srgbClr val="111111"/>
                </a:solidFill>
                <a:latin typeface="Inter"/>
              </a:rPr>
              <a:t>🤖🦸</a:t>
            </a:r>
          </a:p>
        </p:txBody>
      </p:sp>
      <p:sp>
        <p:nvSpPr>
          <p:cNvPr id="13" name="Rounded Rectangle 12"/>
          <p:cNvSpPr/>
          <p:nvPr/>
        </p:nvSpPr>
        <p:spPr>
          <a:xfrm>
            <a:off x="8628735" y="3054096"/>
            <a:ext cx="1335024" cy="438912"/>
          </a:xfrm>
          <a:prstGeom prst="roundRect">
            <a:avLst>
              <a:gd name="adj" fmla="val 10416"/>
            </a:avLst>
          </a:prstGeom>
          <a:solidFill>
            <a:srgbClr val="FAFAFA"/>
          </a:solidFill>
          <a:ln w="9525">
            <a:solidFill>
              <a:srgbClr val="DDDDDD"/>
            </a:solidFill>
          </a:ln>
          <a:effectLst/>
        </p:spPr>
        <p:txBody>
          <a:bodyPr rtlCol="0" anchor="ctr" wrap="square" lIns="36576" rIns="36576" tIns="0" bIns="0">
            <a:noAutofit/>
          </a:bodyPr>
          <a:lstStyle/>
          <a:p>
            <a:pPr algn="ctr"/>
            <a:r>
              <a:rPr sz="2600" b="0" i="0">
                <a:solidFill>
                  <a:srgbClr val="111111"/>
                </a:solidFill>
                <a:latin typeface="Inter"/>
              </a:rPr>
              <a:t>🐙</a:t>
            </a:r>
          </a:p>
        </p:txBody>
      </p:sp>
      <p:sp>
        <p:nvSpPr>
          <p:cNvPr id="14" name="TextBox 13"/>
          <p:cNvSpPr txBox="1"/>
          <p:nvPr/>
        </p:nvSpPr>
        <p:spPr>
          <a:xfrm>
            <a:off x="8555583" y="3493008"/>
            <a:ext cx="1481328" cy="237744"/>
          </a:xfrm>
          <a:prstGeom prst="rect">
            <a:avLst/>
          </a:prstGeom>
          <a:noFill/>
        </p:spPr>
        <p:txBody>
          <a:bodyPr wrap="square" anchor="ctr" lIns="0" rIns="0" tIns="0" bIns="0">
            <a:noAutofit/>
          </a:bodyPr>
          <a:lstStyle/>
          <a:p>
            <a:pPr algn="ctr"/>
            <a:r>
              <a:rPr sz="1300" b="0" i="0">
                <a:solidFill>
                  <a:srgbClr val="555555"/>
                </a:solidFill>
                <a:latin typeface="Inter"/>
              </a:rPr>
              <a:t>← </a:t>
            </a:r>
            <a:r>
              <a:rPr sz="1300" b="0" i="0">
                <a:solidFill>
                  <a:srgbClr val="555555"/>
                </a:solidFill>
                <a:latin typeface="Noto Sans Mono"/>
              </a:rPr>
              <a:t>#4</a:t>
            </a:r>
          </a:p>
        </p:txBody>
      </p:sp>
      <p:cxnSp>
        <p:nvCxnSpPr>
          <p:cNvPr id="15" name="Connector 14"/>
          <p:cNvCxnSpPr/>
          <p:nvPr/>
        </p:nvCxnSpPr>
        <p:spPr>
          <a:xfrm>
            <a:off x="8519007" y="3831336"/>
            <a:ext cx="0" cy="91440"/>
          </a:xfrm>
          <a:prstGeom prst="line">
            <a:avLst/>
          </a:prstGeom>
          <a:ln w="19050">
            <a:solidFill>
              <a:srgbClr val="555555"/>
            </a:solidFill>
          </a:ln>
          <a:effectLst/>
        </p:spPr>
      </p:cxnSp>
      <p:cxnSp>
        <p:nvCxnSpPr>
          <p:cNvPr id="16" name="Connector 15"/>
          <p:cNvCxnSpPr/>
          <p:nvPr/>
        </p:nvCxnSpPr>
        <p:spPr>
          <a:xfrm>
            <a:off x="8519007" y="3922776"/>
            <a:ext cx="1554480" cy="0"/>
          </a:xfrm>
          <a:prstGeom prst="line">
            <a:avLst/>
          </a:prstGeom>
          <a:ln w="19050">
            <a:solidFill>
              <a:srgbClr val="555555"/>
            </a:solidFill>
          </a:ln>
          <a:effectLst/>
        </p:spPr>
      </p:cxnSp>
      <p:cxnSp>
        <p:nvCxnSpPr>
          <p:cNvPr id="17" name="Connector 16"/>
          <p:cNvCxnSpPr/>
          <p:nvPr/>
        </p:nvCxnSpPr>
        <p:spPr>
          <a:xfrm>
            <a:off x="10073487" y="3831336"/>
            <a:ext cx="0" cy="91440"/>
          </a:xfrm>
          <a:prstGeom prst="line">
            <a:avLst/>
          </a:prstGeom>
          <a:ln w="19050">
            <a:solidFill>
              <a:srgbClr val="555555"/>
            </a:solidFill>
          </a:ln>
          <a:effectLst/>
        </p:spPr>
      </p:cxnSp>
      <p:cxnSp>
        <p:nvCxnSpPr>
          <p:cNvPr id="18" name="Connector 17"/>
          <p:cNvCxnSpPr/>
          <p:nvPr/>
        </p:nvCxnSpPr>
        <p:spPr>
          <a:xfrm>
            <a:off x="9296247" y="3922776"/>
            <a:ext cx="0" cy="91439"/>
          </a:xfrm>
          <a:prstGeom prst="line">
            <a:avLst/>
          </a:prstGeom>
          <a:ln w="19050">
            <a:solidFill>
              <a:srgbClr val="555555"/>
            </a:solidFill>
          </a:ln>
          <a:effectLst/>
        </p:spPr>
      </p:cxnSp>
      <p:sp>
        <p:nvSpPr>
          <p:cNvPr id="19" name="TextBox 18"/>
          <p:cNvSpPr txBox="1"/>
          <p:nvPr/>
        </p:nvSpPr>
        <p:spPr>
          <a:xfrm>
            <a:off x="7086600" y="4105655"/>
            <a:ext cx="4419295" cy="384048"/>
          </a:xfrm>
          <a:prstGeom prst="rect">
            <a:avLst/>
          </a:prstGeom>
          <a:noFill/>
        </p:spPr>
        <p:txBody>
          <a:bodyPr wrap="square" anchor="ctr" lIns="0" rIns="0" tIns="0" bIns="0">
            <a:noAutofit/>
          </a:bodyPr>
          <a:lstStyle/>
          <a:p>
            <a:pPr algn="ctr"/>
            <a:r>
              <a:rPr sz="2000" b="1" i="0">
                <a:solidFill>
                  <a:srgbClr val="111111"/>
                </a:solidFill>
                <a:latin typeface="Inter"/>
              </a:rPr>
              <a:t>ID = hash(everything on the card)</a:t>
            </a:r>
          </a:p>
        </p:txBody>
      </p:sp>
      <p:sp>
        <p:nvSpPr>
          <p:cNvPr id="20" name="TextBox 19"/>
          <p:cNvSpPr txBox="1"/>
          <p:nvPr/>
        </p:nvSpPr>
        <p:spPr>
          <a:xfrm>
            <a:off x="7086600" y="4562855"/>
            <a:ext cx="4419295" cy="731520"/>
          </a:xfrm>
          <a:prstGeom prst="rect">
            <a:avLst/>
          </a:prstGeom>
          <a:noFill/>
        </p:spPr>
        <p:txBody>
          <a:bodyPr wrap="square" anchor="t" lIns="0" rIns="0" tIns="0" bIns="0">
            <a:noAutofit/>
          </a:bodyPr>
          <a:lstStyle/>
          <a:p>
            <a:pPr algn="ctr">
              <a:lnSpc>
                <a:spcPct val="110000"/>
              </a:lnSpc>
            </a:pPr>
            <a:r>
              <a:rPr sz="2000" b="0" i="0">
                <a:solidFill>
                  <a:srgbClr val="555555"/>
                </a:solidFill>
                <a:latin typeface="Inter"/>
              </a:rPr>
              <a:t>Ours: initials + check digit.</a:t>
            </a:r>
          </a:p>
          <a:p>
            <a:pPr algn="ctr">
              <a:lnSpc>
                <a:spcPct val="110000"/>
              </a:lnSpc>
            </a:pPr>
            <a:r>
              <a:rPr sz="2000" b="0" i="0">
                <a:solidFill>
                  <a:srgbClr val="555555"/>
                </a:solidFill>
                <a:latin typeface="Inter"/>
              </a:rPr>
              <a:t>Git: SHA-1 of the full commit text.</a:t>
            </a:r>
          </a:p>
        </p:txBody>
      </p:sp>
      <p:sp>
        <p:nvSpPr>
          <p:cNvPr id="21" name="Rounded Rectangle 20"/>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22" name="TextBox 21"/>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23" name="TextBox 22"/>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Two labs draw identical cards on the same parent. Same 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Inside a card: a tree of blobs</a:t>
            </a:r>
          </a:p>
        </p:txBody>
      </p:sp>
      <p:sp>
        <p:nvSpPr>
          <p:cNvPr id="3" name="Rounded Rectangle 2"/>
          <p:cNvSpPr/>
          <p:nvPr/>
        </p:nvSpPr>
        <p:spPr>
          <a:xfrm>
            <a:off x="685800" y="1463040"/>
            <a:ext cx="10820095" cy="3566160"/>
          </a:xfrm>
          <a:prstGeom prst="roundRect">
            <a:avLst>
              <a:gd name="adj" fmla="val 4102"/>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960120" y="1993392"/>
            <a:ext cx="10317175" cy="2926080"/>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ls-tree main</a:t>
            </a:r>
          </a:p>
          <a:p>
            <a:pPr algn="l">
              <a:lnSpc>
                <a:spcPts val="2600"/>
              </a:lnSpc>
            </a:pPr>
            <a:r>
              <a:rPr sz="2000" b="0" i="0">
                <a:solidFill>
                  <a:srgbClr val="A9B1BD"/>
                </a:solidFill>
                <a:latin typeface="Noto Sans Mono"/>
              </a:rPr>
              <a:t>100644 blob d591a27…   body.txt</a:t>
            </a:r>
          </a:p>
          <a:p>
            <a:pPr algn="l">
              <a:lnSpc>
                <a:spcPts val="2600"/>
              </a:lnSpc>
            </a:pPr>
            <a:r>
              <a:rPr sz="2000" b="0" i="0">
                <a:solidFill>
                  <a:srgbClr val="A9B1BD"/>
                </a:solidFill>
                <a:latin typeface="Noto Sans Mono"/>
              </a:rPr>
              <a:t>100644 blob 875229f…   face.txt</a:t>
            </a:r>
          </a:p>
          <a:p>
            <a:pPr algn="l">
              <a:lnSpc>
                <a:spcPts val="2600"/>
              </a:lnSpc>
            </a:pPr>
            <a:r>
              <a:rPr sz="2000" b="0" i="0">
                <a:solidFill>
                  <a:srgbClr val="A9B1BD"/>
                </a:solidFill>
                <a:latin typeface="Noto Sans Mono"/>
              </a:rPr>
              <a:t>100644 blob </a:t>
            </a:r>
            <a:r>
              <a:rPr sz="2000" b="0" i="0">
                <a:solidFill>
                  <a:srgbClr val="C792EA"/>
                </a:solidFill>
                <a:latin typeface="Noto Sans Mono"/>
              </a:rPr>
              <a:t>a27e19c…</a:t>
            </a:r>
            <a:r>
              <a:rPr sz="2000" b="0" i="0">
                <a:solidFill>
                  <a:srgbClr val="A9B1BD"/>
                </a:solidFill>
                <a:latin typeface="Noto Sans Mono"/>
              </a:rPr>
              <a:t>   legs.txt</a:t>
            </a:r>
          </a:p>
          <a:p>
            <a:pPr algn="l">
              <a:lnSpc>
                <a:spcPts val="2600"/>
              </a:lnSpc>
            </a:pPr>
            <a:r>
              <a:rPr sz="2000" b="0" i="0">
                <a:solidFill>
                  <a:srgbClr val="7C8594"/>
                </a:solidFill>
                <a:latin typeface="Noto Sans Mono"/>
              </a:rPr>
              <a:t>$ </a:t>
            </a:r>
            <a:r>
              <a:rPr sz="2000" b="0" i="0">
                <a:solidFill>
                  <a:srgbClr val="F5F5F5"/>
                </a:solidFill>
                <a:latin typeface="Noto Sans Mono"/>
              </a:rPr>
              <a:t>git ls-tree cat-robot</a:t>
            </a:r>
          </a:p>
          <a:p>
            <a:pPr algn="l">
              <a:lnSpc>
                <a:spcPts val="2600"/>
              </a:lnSpc>
            </a:pPr>
            <a:r>
              <a:rPr sz="2000" b="0" i="0">
                <a:solidFill>
                  <a:srgbClr val="A9B1BD"/>
                </a:solidFill>
                <a:latin typeface="Noto Sans Mono"/>
              </a:rPr>
              <a:t>100644 blob ba63925…   body.txt</a:t>
            </a:r>
          </a:p>
          <a:p>
            <a:pPr algn="l">
              <a:lnSpc>
                <a:spcPts val="2600"/>
              </a:lnSpc>
            </a:pPr>
            <a:r>
              <a:rPr sz="2000" b="0" i="0">
                <a:solidFill>
                  <a:srgbClr val="A9B1BD"/>
                </a:solidFill>
                <a:latin typeface="Noto Sans Mono"/>
              </a:rPr>
              <a:t>100644 blob ef07ddc…   face.txt</a:t>
            </a:r>
          </a:p>
          <a:p>
            <a:pPr algn="l">
              <a:lnSpc>
                <a:spcPts val="2600"/>
              </a:lnSpc>
            </a:pPr>
            <a:r>
              <a:rPr sz="2000" b="0" i="0">
                <a:solidFill>
                  <a:srgbClr val="A9B1BD"/>
                </a:solidFill>
                <a:latin typeface="Noto Sans Mono"/>
              </a:rPr>
              <a:t>100644 blob </a:t>
            </a:r>
            <a:r>
              <a:rPr sz="2000" b="0" i="0">
                <a:solidFill>
                  <a:srgbClr val="C792EA"/>
                </a:solidFill>
                <a:latin typeface="Noto Sans Mono"/>
              </a:rPr>
              <a:t>a27e19c…</a:t>
            </a:r>
            <a:r>
              <a:rPr sz="2000" b="0" i="0">
                <a:solidFill>
                  <a:srgbClr val="A9B1BD"/>
                </a:solidFill>
                <a:latin typeface="Noto Sans Mono"/>
              </a:rPr>
              <a:t>   legs.txt</a:t>
            </a:r>
          </a:p>
        </p:txBody>
      </p:sp>
      <p:sp>
        <p:nvSpPr>
          <p:cNvPr id="8" name="TextBox 7"/>
          <p:cNvSpPr txBox="1"/>
          <p:nvPr/>
        </p:nvSpPr>
        <p:spPr>
          <a:xfrm>
            <a:off x="685800" y="5120640"/>
            <a:ext cx="10820095" cy="365760"/>
          </a:xfrm>
          <a:prstGeom prst="rect">
            <a:avLst/>
          </a:prstGeom>
          <a:noFill/>
        </p:spPr>
        <p:txBody>
          <a:bodyPr wrap="square" anchor="ctr" lIns="0" rIns="0" tIns="0" bIns="0">
            <a:noAutofit/>
          </a:bodyPr>
          <a:lstStyle/>
          <a:p>
            <a:pPr algn="l"/>
            <a:r>
              <a:rPr sz="2000" b="0" i="0">
                <a:solidFill>
                  <a:srgbClr val="555555"/>
                </a:solidFill>
                <a:latin typeface="Inter"/>
              </a:rPr>
              <a:t>card = commit  ·  panel = file (blob)  ·  all three panels = tree</a:t>
            </a:r>
          </a:p>
        </p:txBody>
      </p:sp>
      <p:sp>
        <p:nvSpPr>
          <p:cNvPr id="9" name="Rounded Rectangle 8"/>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10" name="TextBox 9"/>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11" name="TextBox 10"/>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LEGS never changed. How many copies of it does Git store?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6</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6:00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Courier: put your card on the wall.</a:t>
            </a:r>
            <a:br>
              <a:rPr sz="4400"/>
            </a:br>
            <a:r>
              <a:rPr sz="4400" b="1" i="0">
                <a:solidFill>
                  <a:srgbClr val="111111"/>
                </a:solidFill>
                <a:latin typeface="Inter"/>
              </a:rPr>
              <a:t>Move </a:t>
            </a:r>
            <a:r>
              <a:rPr sz="4400" b="1" i="0">
                <a:solidFill>
                  <a:srgbClr val="9437FF"/>
                </a:solidFill>
                <a:latin typeface="Noto Sans Mono"/>
              </a:rPr>
              <a:t>main</a:t>
            </a:r>
            <a:r>
              <a:rPr sz="4400" b="1" i="0">
                <a:solidFill>
                  <a:srgbClr val="111111"/>
                </a:solidFill>
                <a:latin typeface="Inter"/>
              </a:rPr>
              <a:t> to it.</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First come, first served</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Then walk back from </a:t>
            </a:r>
            <a:r>
              <a:rPr sz="2800" b="0" i="0">
                <a:solidFill>
                  <a:srgbClr val="9437FF"/>
                </a:solidFill>
                <a:latin typeface="Noto Sans Mono"/>
              </a:rPr>
              <a:t>main</a:t>
            </a:r>
            <a:r>
              <a:rPr sz="2800" b="0" i="0">
                <a:solidFill>
                  <a:srgbClr val="111111"/>
                </a:solidFill>
                <a:latin typeface="Inter"/>
              </a:rPr>
              <a:t>. Is every lab’s card there?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push</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2800" b="0" i="0">
                <a:solidFill>
                  <a:srgbClr val="111111"/>
                </a:solidFill>
                <a:latin typeface="Inter"/>
              </a:rPr>
              <a:t>The wall only moves forward.</a:t>
            </a:r>
            <a:br>
              <a:rPr sz="2800"/>
            </a:br>
            <a:r>
              <a:rPr sz="2800" b="0" i="0">
                <a:solidFill>
                  <a:srgbClr val="111111"/>
                </a:solidFill>
                <a:latin typeface="Inter"/>
              </a:rPr>
              <a:t>Your card must lead back to its main.</a:t>
            </a:r>
          </a:p>
        </p:txBody>
      </p:sp>
      <p:sp>
        <p:nvSpPr>
          <p:cNvPr id="5" name="Rounded Rectangle 4"/>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7" name="TextBox 6"/>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Why refuse your card instead of just adding it?</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7" name="Rounded Rectangle 16"/>
          <p:cNvSpPr/>
          <p:nvPr/>
        </p:nvSpPr>
        <p:spPr>
          <a:xfrm>
            <a:off x="685800" y="3478418"/>
            <a:ext cx="2377440" cy="2081133"/>
          </a:xfrm>
          <a:prstGeom prst="roundRect">
            <a:avLst>
              <a:gd name="adj" fmla="val 6151"/>
            </a:avLst>
          </a:prstGeom>
          <a:solidFill>
            <a:srgbClr val="FAFAFA"/>
          </a:solidFill>
          <a:ln w="15875">
            <a:solidFill>
              <a:srgbClr val="CCCCCC"/>
            </a:solidFill>
          </a:ln>
          <a:effectLst/>
        </p:spPr>
        <p:txBody>
          <a:bodyPr rtlCol="0" anchor="ctr" wrap="square" lIns="36576" rIns="36576" tIns="0" bIns="0">
            <a:noAutofit/>
          </a:bodyPr>
          <a:lstStyle/>
          <a:p>
            <a:pPr algn="ctr"/>
          </a:p>
        </p:txBody>
      </p:sp>
      <p:sp>
        <p:nvSpPr>
          <p:cNvPr id="18" name="TextBox 17"/>
          <p:cNvSpPr txBox="1"/>
          <p:nvPr/>
        </p:nvSpPr>
        <p:spPr>
          <a:xfrm>
            <a:off x="850392" y="3569858"/>
            <a:ext cx="2048256" cy="292608"/>
          </a:xfrm>
          <a:prstGeom prst="rect">
            <a:avLst/>
          </a:prstGeom>
          <a:noFill/>
        </p:spPr>
        <p:txBody>
          <a:bodyPr wrap="square" anchor="ctr" lIns="0" rIns="0" tIns="0" bIns="0">
            <a:noAutofit/>
          </a:bodyPr>
          <a:lstStyle/>
          <a:p>
            <a:pPr algn="l"/>
            <a:r>
              <a:rPr sz="1300" b="1" i="0">
                <a:solidFill>
                  <a:srgbClr val="555555"/>
                </a:solidFill>
                <a:latin typeface="Inter"/>
              </a:rPr>
              <a:t>LAB 1 TABLE</a:t>
            </a:r>
          </a:p>
        </p:txBody>
      </p:sp>
      <p:sp>
        <p:nvSpPr>
          <p:cNvPr id="19" name="Rounded Rectangle 18"/>
          <p:cNvSpPr/>
          <p:nvPr/>
        </p:nvSpPr>
        <p:spPr>
          <a:xfrm>
            <a:off x="4907127" y="3478418"/>
            <a:ext cx="2377440" cy="2081133"/>
          </a:xfrm>
          <a:prstGeom prst="roundRect">
            <a:avLst>
              <a:gd name="adj" fmla="val 7908"/>
            </a:avLst>
          </a:prstGeom>
          <a:solidFill>
            <a:srgbClr val="E8F6FF"/>
          </a:solidFill>
          <a:ln w="25400">
            <a:solidFill>
              <a:srgbClr val="00A2FF"/>
            </a:solidFill>
          </a:ln>
          <a:effectLst/>
        </p:spPr>
        <p:txBody>
          <a:bodyPr rtlCol="0" anchor="ctr" wrap="square" lIns="36576" rIns="36576" tIns="0" bIns="0">
            <a:noAutofit/>
          </a:bodyPr>
          <a:lstStyle/>
          <a:p>
            <a:pPr algn="ctr"/>
          </a:p>
        </p:txBody>
      </p:sp>
      <p:sp>
        <p:nvSpPr>
          <p:cNvPr id="20" name="Rounded Rectangle 19"/>
          <p:cNvSpPr/>
          <p:nvPr/>
        </p:nvSpPr>
        <p:spPr>
          <a:xfrm>
            <a:off x="4987008" y="3304682"/>
            <a:ext cx="2217677" cy="347472"/>
          </a:xfrm>
          <a:prstGeom prst="roundRect">
            <a:avLst>
              <a:gd name="adj" fmla="val 50000"/>
            </a:avLst>
          </a:prstGeom>
          <a:solidFill>
            <a:srgbClr val="00A2FF"/>
          </a:solidFill>
          <a:ln>
            <a:noFill/>
          </a:ln>
          <a:effectLst/>
        </p:spPr>
        <p:txBody>
          <a:bodyPr rtlCol="0" anchor="ctr" wrap="square" lIns="36576" rIns="36576" tIns="0" bIns="0">
            <a:noAutofit/>
          </a:bodyPr>
          <a:lstStyle/>
          <a:p>
            <a:pPr algn="ctr"/>
            <a:r>
              <a:rPr sz="1400" b="1" i="0">
                <a:solidFill>
                  <a:srgbClr val="111111"/>
                </a:solidFill>
                <a:latin typeface="Inter"/>
              </a:rPr>
              <a:t>THE WALL  ·  GitHub</a:t>
            </a:r>
          </a:p>
        </p:txBody>
      </p:sp>
      <p:sp>
        <p:nvSpPr>
          <p:cNvPr id="21" name="Rounded Rectangle 20"/>
          <p:cNvSpPr/>
          <p:nvPr/>
        </p:nvSpPr>
        <p:spPr>
          <a:xfrm>
            <a:off x="9128455" y="3478418"/>
            <a:ext cx="2377440" cy="2081133"/>
          </a:xfrm>
          <a:prstGeom prst="roundRect">
            <a:avLst>
              <a:gd name="adj" fmla="val 6151"/>
            </a:avLst>
          </a:prstGeom>
          <a:solidFill>
            <a:srgbClr val="FAFAFA"/>
          </a:solidFill>
          <a:ln w="15875">
            <a:solidFill>
              <a:srgbClr val="CCCCCC"/>
            </a:solidFill>
          </a:ln>
          <a:effectLst/>
        </p:spPr>
        <p:txBody>
          <a:bodyPr rtlCol="0" anchor="ctr" wrap="square" lIns="36576" rIns="36576" tIns="0" bIns="0">
            <a:noAutofit/>
          </a:bodyPr>
          <a:lstStyle/>
          <a:p>
            <a:pPr algn="ctr"/>
          </a:p>
        </p:txBody>
      </p:sp>
      <p:sp>
        <p:nvSpPr>
          <p:cNvPr id="22" name="TextBox 21"/>
          <p:cNvSpPr txBox="1"/>
          <p:nvPr/>
        </p:nvSpPr>
        <p:spPr>
          <a:xfrm>
            <a:off x="9293047" y="3569858"/>
            <a:ext cx="2048256" cy="292608"/>
          </a:xfrm>
          <a:prstGeom prst="rect">
            <a:avLst/>
          </a:prstGeom>
          <a:noFill/>
        </p:spPr>
        <p:txBody>
          <a:bodyPr wrap="square" anchor="ctr" lIns="0" rIns="0" tIns="0" bIns="0">
            <a:noAutofit/>
          </a:bodyPr>
          <a:lstStyle/>
          <a:p>
            <a:pPr algn="l"/>
            <a:r>
              <a:rPr sz="1300" b="1" i="0">
                <a:solidFill>
                  <a:srgbClr val="555555"/>
                </a:solidFill>
                <a:latin typeface="Inter"/>
              </a:rPr>
              <a:t>LAB 2 TABLE</a:t>
            </a:r>
          </a:p>
        </p:txBody>
      </p:sp>
      <p:sp>
        <p:nvSpPr>
          <p:cNvPr id="23" name="Rounded Rectangle 22"/>
          <p:cNvSpPr/>
          <p:nvPr/>
        </p:nvSpPr>
        <p:spPr>
          <a:xfrm>
            <a:off x="922629"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4" name="Rounded Rectangle 23"/>
          <p:cNvSpPr/>
          <p:nvPr/>
        </p:nvSpPr>
        <p:spPr>
          <a:xfrm>
            <a:off x="969812"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25" name="Rounded Rectangle 24"/>
          <p:cNvSpPr/>
          <p:nvPr/>
        </p:nvSpPr>
        <p:spPr>
          <a:xfrm>
            <a:off x="969812"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6" name="Rounded Rectangle 25"/>
          <p:cNvSpPr/>
          <p:nvPr/>
        </p:nvSpPr>
        <p:spPr>
          <a:xfrm>
            <a:off x="969812"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7" name="Rounded Rectangle 26"/>
          <p:cNvSpPr/>
          <p:nvPr/>
        </p:nvSpPr>
        <p:spPr>
          <a:xfrm>
            <a:off x="969812"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28" name="TextBox 27"/>
          <p:cNvSpPr txBox="1"/>
          <p:nvPr/>
        </p:nvSpPr>
        <p:spPr>
          <a:xfrm>
            <a:off x="959205"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29" name="Rounded Rectangle 28"/>
          <p:cNvSpPr/>
          <p:nvPr/>
        </p:nvSpPr>
        <p:spPr>
          <a:xfrm>
            <a:off x="1014069"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0" name="Rounded Rectangle 29"/>
          <p:cNvSpPr/>
          <p:nvPr/>
        </p:nvSpPr>
        <p:spPr>
          <a:xfrm>
            <a:off x="1061252"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31" name="Rounded Rectangle 30"/>
          <p:cNvSpPr/>
          <p:nvPr/>
        </p:nvSpPr>
        <p:spPr>
          <a:xfrm>
            <a:off x="1061252"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2" name="Rounded Rectangle 31"/>
          <p:cNvSpPr/>
          <p:nvPr/>
        </p:nvSpPr>
        <p:spPr>
          <a:xfrm>
            <a:off x="1061252"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3" name="Rounded Rectangle 32"/>
          <p:cNvSpPr/>
          <p:nvPr/>
        </p:nvSpPr>
        <p:spPr>
          <a:xfrm>
            <a:off x="1061252"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4" name="TextBox 33"/>
          <p:cNvSpPr txBox="1"/>
          <p:nvPr/>
        </p:nvSpPr>
        <p:spPr>
          <a:xfrm>
            <a:off x="1050645"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35" name="Rounded Rectangle 34"/>
          <p:cNvSpPr/>
          <p:nvPr/>
        </p:nvSpPr>
        <p:spPr>
          <a:xfrm>
            <a:off x="1105509"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6" name="Rounded Rectangle 35"/>
          <p:cNvSpPr/>
          <p:nvPr/>
        </p:nvSpPr>
        <p:spPr>
          <a:xfrm>
            <a:off x="1152692"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37" name="Rounded Rectangle 36"/>
          <p:cNvSpPr/>
          <p:nvPr/>
        </p:nvSpPr>
        <p:spPr>
          <a:xfrm>
            <a:off x="1152692"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8" name="Rounded Rectangle 37"/>
          <p:cNvSpPr/>
          <p:nvPr/>
        </p:nvSpPr>
        <p:spPr>
          <a:xfrm>
            <a:off x="1152692"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39" name="Rounded Rectangle 38"/>
          <p:cNvSpPr/>
          <p:nvPr/>
        </p:nvSpPr>
        <p:spPr>
          <a:xfrm>
            <a:off x="1152692"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0" name="TextBox 39"/>
          <p:cNvSpPr txBox="1"/>
          <p:nvPr/>
        </p:nvSpPr>
        <p:spPr>
          <a:xfrm>
            <a:off x="1142085"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41" name="Rounded Rectangle 40"/>
          <p:cNvSpPr/>
          <p:nvPr/>
        </p:nvSpPr>
        <p:spPr>
          <a:xfrm>
            <a:off x="1196949"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42" name="Rounded Rectangle 41"/>
          <p:cNvSpPr/>
          <p:nvPr/>
        </p:nvSpPr>
        <p:spPr>
          <a:xfrm>
            <a:off x="1244132"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43" name="Rounded Rectangle 42"/>
          <p:cNvSpPr/>
          <p:nvPr/>
        </p:nvSpPr>
        <p:spPr>
          <a:xfrm>
            <a:off x="1244132"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4" name="Rounded Rectangle 43"/>
          <p:cNvSpPr/>
          <p:nvPr/>
        </p:nvSpPr>
        <p:spPr>
          <a:xfrm>
            <a:off x="1244132"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45" name="Rounded Rectangle 44"/>
          <p:cNvSpPr/>
          <p:nvPr/>
        </p:nvSpPr>
        <p:spPr>
          <a:xfrm>
            <a:off x="1244132"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46" name="TextBox 45"/>
          <p:cNvSpPr txBox="1"/>
          <p:nvPr/>
        </p:nvSpPr>
        <p:spPr>
          <a:xfrm>
            <a:off x="1233525"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47" name="Rounded Rectangle 46"/>
          <p:cNvSpPr/>
          <p:nvPr/>
        </p:nvSpPr>
        <p:spPr>
          <a:xfrm>
            <a:off x="2157984"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48" name="Rounded Rectangle 47"/>
          <p:cNvSpPr/>
          <p:nvPr/>
        </p:nvSpPr>
        <p:spPr>
          <a:xfrm>
            <a:off x="2205167" y="4558873"/>
            <a:ext cx="52974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drt3</a:t>
            </a:r>
          </a:p>
        </p:txBody>
      </p:sp>
      <p:sp>
        <p:nvSpPr>
          <p:cNvPr id="49" name="Rounded Rectangle 48"/>
          <p:cNvSpPr/>
          <p:nvPr/>
        </p:nvSpPr>
        <p:spPr>
          <a:xfrm>
            <a:off x="2205167"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0" name="Rounded Rectangle 49"/>
          <p:cNvSpPr/>
          <p:nvPr/>
        </p:nvSpPr>
        <p:spPr>
          <a:xfrm>
            <a:off x="2205167"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51" name="Rounded Rectangle 50"/>
          <p:cNvSpPr/>
          <p:nvPr/>
        </p:nvSpPr>
        <p:spPr>
          <a:xfrm>
            <a:off x="2205167"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2" name="TextBox 51"/>
          <p:cNvSpPr txBox="1"/>
          <p:nvPr/>
        </p:nvSpPr>
        <p:spPr>
          <a:xfrm>
            <a:off x="2194560"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#4</a:t>
            </a:r>
          </a:p>
        </p:txBody>
      </p:sp>
      <p:cxnSp>
        <p:nvCxnSpPr>
          <p:cNvPr id="53" name="Connector 52"/>
          <p:cNvCxnSpPr/>
          <p:nvPr/>
        </p:nvCxnSpPr>
        <p:spPr>
          <a:xfrm flipH="1">
            <a:off x="1920240" y="4993350"/>
            <a:ext cx="182880" cy="0"/>
          </a:xfrm>
          <a:prstGeom prst="line">
            <a:avLst/>
          </a:prstGeom>
          <a:ln w="25400">
            <a:solidFill>
              <a:srgbClr val="555555"/>
            </a:solidFill>
            <a:tailEnd type="triangle" w="med" len="med"/>
          </a:ln>
          <a:effectLst/>
        </p:spPr>
      </p:cxnSp>
      <p:sp>
        <p:nvSpPr>
          <p:cNvPr id="54" name="Rounded Rectangle 53"/>
          <p:cNvSpPr/>
          <p:nvPr/>
        </p:nvSpPr>
        <p:spPr>
          <a:xfrm>
            <a:off x="5131849"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55" name="Rounded Rectangle 54"/>
          <p:cNvSpPr/>
          <p:nvPr/>
        </p:nvSpPr>
        <p:spPr>
          <a:xfrm>
            <a:off x="5179032"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56" name="Rounded Rectangle 55"/>
          <p:cNvSpPr/>
          <p:nvPr/>
        </p:nvSpPr>
        <p:spPr>
          <a:xfrm>
            <a:off x="5179032"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7" name="Rounded Rectangle 56"/>
          <p:cNvSpPr/>
          <p:nvPr/>
        </p:nvSpPr>
        <p:spPr>
          <a:xfrm>
            <a:off x="5179032"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8" name="Rounded Rectangle 57"/>
          <p:cNvSpPr/>
          <p:nvPr/>
        </p:nvSpPr>
        <p:spPr>
          <a:xfrm>
            <a:off x="5179032"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59" name="TextBox 58"/>
          <p:cNvSpPr txBox="1"/>
          <p:nvPr/>
        </p:nvSpPr>
        <p:spPr>
          <a:xfrm>
            <a:off x="5168425"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60" name="Rounded Rectangle 59"/>
          <p:cNvSpPr/>
          <p:nvPr/>
        </p:nvSpPr>
        <p:spPr>
          <a:xfrm>
            <a:off x="5223289"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61" name="Rounded Rectangle 60"/>
          <p:cNvSpPr/>
          <p:nvPr/>
        </p:nvSpPr>
        <p:spPr>
          <a:xfrm>
            <a:off x="5270472"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62" name="Rounded Rectangle 61"/>
          <p:cNvSpPr/>
          <p:nvPr/>
        </p:nvSpPr>
        <p:spPr>
          <a:xfrm>
            <a:off x="5270472"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3" name="Rounded Rectangle 62"/>
          <p:cNvSpPr/>
          <p:nvPr/>
        </p:nvSpPr>
        <p:spPr>
          <a:xfrm>
            <a:off x="5270472"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4" name="Rounded Rectangle 63"/>
          <p:cNvSpPr/>
          <p:nvPr/>
        </p:nvSpPr>
        <p:spPr>
          <a:xfrm>
            <a:off x="5270472"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5" name="TextBox 64"/>
          <p:cNvSpPr txBox="1"/>
          <p:nvPr/>
        </p:nvSpPr>
        <p:spPr>
          <a:xfrm>
            <a:off x="5259865"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66" name="Rounded Rectangle 65"/>
          <p:cNvSpPr/>
          <p:nvPr/>
        </p:nvSpPr>
        <p:spPr>
          <a:xfrm>
            <a:off x="5314729"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67" name="Rounded Rectangle 66"/>
          <p:cNvSpPr/>
          <p:nvPr/>
        </p:nvSpPr>
        <p:spPr>
          <a:xfrm>
            <a:off x="5361912"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68" name="Rounded Rectangle 67"/>
          <p:cNvSpPr/>
          <p:nvPr/>
        </p:nvSpPr>
        <p:spPr>
          <a:xfrm>
            <a:off x="5361912"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69" name="Rounded Rectangle 68"/>
          <p:cNvSpPr/>
          <p:nvPr/>
        </p:nvSpPr>
        <p:spPr>
          <a:xfrm>
            <a:off x="5361912"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0" name="Rounded Rectangle 69"/>
          <p:cNvSpPr/>
          <p:nvPr/>
        </p:nvSpPr>
        <p:spPr>
          <a:xfrm>
            <a:off x="5361912"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1" name="TextBox 70"/>
          <p:cNvSpPr txBox="1"/>
          <p:nvPr/>
        </p:nvSpPr>
        <p:spPr>
          <a:xfrm>
            <a:off x="5351305"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72" name="Rounded Rectangle 71"/>
          <p:cNvSpPr/>
          <p:nvPr/>
        </p:nvSpPr>
        <p:spPr>
          <a:xfrm>
            <a:off x="5406169"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73" name="Rounded Rectangle 72"/>
          <p:cNvSpPr/>
          <p:nvPr/>
        </p:nvSpPr>
        <p:spPr>
          <a:xfrm>
            <a:off x="5453352"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74" name="Rounded Rectangle 73"/>
          <p:cNvSpPr/>
          <p:nvPr/>
        </p:nvSpPr>
        <p:spPr>
          <a:xfrm>
            <a:off x="5453352"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5" name="Rounded Rectangle 74"/>
          <p:cNvSpPr/>
          <p:nvPr/>
        </p:nvSpPr>
        <p:spPr>
          <a:xfrm>
            <a:off x="5453352"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76" name="Rounded Rectangle 75"/>
          <p:cNvSpPr/>
          <p:nvPr/>
        </p:nvSpPr>
        <p:spPr>
          <a:xfrm>
            <a:off x="5453352"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77" name="TextBox 76"/>
          <p:cNvSpPr txBox="1"/>
          <p:nvPr/>
        </p:nvSpPr>
        <p:spPr>
          <a:xfrm>
            <a:off x="5442745"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78" name="Rounded Rectangle 77"/>
          <p:cNvSpPr/>
          <p:nvPr/>
        </p:nvSpPr>
        <p:spPr>
          <a:xfrm>
            <a:off x="6367204"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79" name="Rounded Rectangle 78"/>
          <p:cNvSpPr/>
          <p:nvPr/>
        </p:nvSpPr>
        <p:spPr>
          <a:xfrm>
            <a:off x="6414387" y="4558873"/>
            <a:ext cx="52974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crr3</a:t>
            </a:r>
          </a:p>
        </p:txBody>
      </p:sp>
      <p:sp>
        <p:nvSpPr>
          <p:cNvPr id="80" name="Rounded Rectangle 79"/>
          <p:cNvSpPr/>
          <p:nvPr/>
        </p:nvSpPr>
        <p:spPr>
          <a:xfrm>
            <a:off x="6414387"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1" name="Rounded Rectangle 80"/>
          <p:cNvSpPr/>
          <p:nvPr/>
        </p:nvSpPr>
        <p:spPr>
          <a:xfrm>
            <a:off x="6414387"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82" name="Rounded Rectangle 81"/>
          <p:cNvSpPr/>
          <p:nvPr/>
        </p:nvSpPr>
        <p:spPr>
          <a:xfrm>
            <a:off x="6414387"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3" name="TextBox 82"/>
          <p:cNvSpPr txBox="1"/>
          <p:nvPr/>
        </p:nvSpPr>
        <p:spPr>
          <a:xfrm>
            <a:off x="6403780"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#4</a:t>
            </a:r>
          </a:p>
        </p:txBody>
      </p:sp>
      <p:cxnSp>
        <p:nvCxnSpPr>
          <p:cNvPr id="84" name="Connector 83"/>
          <p:cNvCxnSpPr/>
          <p:nvPr/>
        </p:nvCxnSpPr>
        <p:spPr>
          <a:xfrm flipH="1">
            <a:off x="6129460" y="4993350"/>
            <a:ext cx="182880" cy="0"/>
          </a:xfrm>
          <a:prstGeom prst="line">
            <a:avLst/>
          </a:prstGeom>
          <a:ln w="25400">
            <a:solidFill>
              <a:srgbClr val="555555"/>
            </a:solidFill>
            <a:tailEnd type="triangle" w="med" len="med"/>
          </a:ln>
          <a:effectLst/>
        </p:spPr>
      </p:cxnSp>
      <p:sp>
        <p:nvSpPr>
          <p:cNvPr id="85" name="Rounded Rectangle 84"/>
          <p:cNvSpPr/>
          <p:nvPr/>
        </p:nvSpPr>
        <p:spPr>
          <a:xfrm>
            <a:off x="9228209" y="38258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86" name="Rounded Rectangle 85"/>
          <p:cNvSpPr/>
          <p:nvPr/>
        </p:nvSpPr>
        <p:spPr>
          <a:xfrm>
            <a:off x="9275392" y="38730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#1</a:t>
            </a:r>
          </a:p>
        </p:txBody>
      </p:sp>
      <p:sp>
        <p:nvSpPr>
          <p:cNvPr id="87" name="Rounded Rectangle 86"/>
          <p:cNvSpPr/>
          <p:nvPr/>
        </p:nvSpPr>
        <p:spPr>
          <a:xfrm>
            <a:off x="9275392" y="40971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8" name="Rounded Rectangle 87"/>
          <p:cNvSpPr/>
          <p:nvPr/>
        </p:nvSpPr>
        <p:spPr>
          <a:xfrm>
            <a:off x="9275392" y="42724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89" name="Rounded Rectangle 88"/>
          <p:cNvSpPr/>
          <p:nvPr/>
        </p:nvSpPr>
        <p:spPr>
          <a:xfrm>
            <a:off x="9275392" y="44477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0" name="TextBox 89"/>
          <p:cNvSpPr txBox="1"/>
          <p:nvPr/>
        </p:nvSpPr>
        <p:spPr>
          <a:xfrm>
            <a:off x="9264785" y="4603612"/>
            <a:ext cx="595274"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91" name="Rounded Rectangle 90"/>
          <p:cNvSpPr/>
          <p:nvPr/>
        </p:nvSpPr>
        <p:spPr>
          <a:xfrm>
            <a:off x="9319649" y="40544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92" name="Rounded Rectangle 91"/>
          <p:cNvSpPr/>
          <p:nvPr/>
        </p:nvSpPr>
        <p:spPr>
          <a:xfrm>
            <a:off x="9366832" y="41016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#2</a:t>
            </a:r>
          </a:p>
        </p:txBody>
      </p:sp>
      <p:sp>
        <p:nvSpPr>
          <p:cNvPr id="93" name="Rounded Rectangle 92"/>
          <p:cNvSpPr/>
          <p:nvPr/>
        </p:nvSpPr>
        <p:spPr>
          <a:xfrm>
            <a:off x="9366832" y="43257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4" name="Rounded Rectangle 93"/>
          <p:cNvSpPr/>
          <p:nvPr/>
        </p:nvSpPr>
        <p:spPr>
          <a:xfrm>
            <a:off x="9366832" y="45010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5" name="Rounded Rectangle 94"/>
          <p:cNvSpPr/>
          <p:nvPr/>
        </p:nvSpPr>
        <p:spPr>
          <a:xfrm>
            <a:off x="9366832" y="46763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96" name="TextBox 95"/>
          <p:cNvSpPr txBox="1"/>
          <p:nvPr/>
        </p:nvSpPr>
        <p:spPr>
          <a:xfrm>
            <a:off x="9356225" y="48322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97" name="Rounded Rectangle 96"/>
          <p:cNvSpPr/>
          <p:nvPr/>
        </p:nvSpPr>
        <p:spPr>
          <a:xfrm>
            <a:off x="9411089" y="42830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98" name="Rounded Rectangle 97"/>
          <p:cNvSpPr/>
          <p:nvPr/>
        </p:nvSpPr>
        <p:spPr>
          <a:xfrm>
            <a:off x="9458272" y="43302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#3</a:t>
            </a:r>
          </a:p>
        </p:txBody>
      </p:sp>
      <p:sp>
        <p:nvSpPr>
          <p:cNvPr id="99" name="Rounded Rectangle 98"/>
          <p:cNvSpPr/>
          <p:nvPr/>
        </p:nvSpPr>
        <p:spPr>
          <a:xfrm>
            <a:off x="9458272" y="45543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00" name="Rounded Rectangle 99"/>
          <p:cNvSpPr/>
          <p:nvPr/>
        </p:nvSpPr>
        <p:spPr>
          <a:xfrm>
            <a:off x="9458272" y="47296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01" name="Rounded Rectangle 100"/>
          <p:cNvSpPr/>
          <p:nvPr/>
        </p:nvSpPr>
        <p:spPr>
          <a:xfrm>
            <a:off x="9458272" y="49049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02" name="TextBox 101"/>
          <p:cNvSpPr txBox="1"/>
          <p:nvPr/>
        </p:nvSpPr>
        <p:spPr>
          <a:xfrm>
            <a:off x="9447665" y="50608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#1</a:t>
            </a:r>
          </a:p>
        </p:txBody>
      </p:sp>
      <p:sp>
        <p:nvSpPr>
          <p:cNvPr id="103" name="Rounded Rectangle 102"/>
          <p:cNvSpPr/>
          <p:nvPr/>
        </p:nvSpPr>
        <p:spPr>
          <a:xfrm>
            <a:off x="9502529"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04" name="Rounded Rectangle 103"/>
          <p:cNvSpPr/>
          <p:nvPr/>
        </p:nvSpPr>
        <p:spPr>
          <a:xfrm>
            <a:off x="9549712" y="4558873"/>
            <a:ext cx="33162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#4</a:t>
            </a:r>
          </a:p>
        </p:txBody>
      </p:sp>
      <p:sp>
        <p:nvSpPr>
          <p:cNvPr id="105" name="Rounded Rectangle 104"/>
          <p:cNvSpPr/>
          <p:nvPr/>
        </p:nvSpPr>
        <p:spPr>
          <a:xfrm>
            <a:off x="9549712"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06" name="Rounded Rectangle 105"/>
          <p:cNvSpPr/>
          <p:nvPr/>
        </p:nvSpPr>
        <p:spPr>
          <a:xfrm>
            <a:off x="9549712"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107" name="Rounded Rectangle 106"/>
          <p:cNvSpPr/>
          <p:nvPr/>
        </p:nvSpPr>
        <p:spPr>
          <a:xfrm>
            <a:off x="9549712"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08" name="TextBox 107"/>
          <p:cNvSpPr txBox="1"/>
          <p:nvPr/>
        </p:nvSpPr>
        <p:spPr>
          <a:xfrm>
            <a:off x="9539105"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#2+#3</a:t>
            </a:r>
          </a:p>
        </p:txBody>
      </p:sp>
      <p:sp>
        <p:nvSpPr>
          <p:cNvPr id="109" name="Rounded Rectangle 108"/>
          <p:cNvSpPr/>
          <p:nvPr/>
        </p:nvSpPr>
        <p:spPr>
          <a:xfrm>
            <a:off x="10463563" y="4511690"/>
            <a:ext cx="668426" cy="963320"/>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110" name="Rounded Rectangle 109"/>
          <p:cNvSpPr/>
          <p:nvPr/>
        </p:nvSpPr>
        <p:spPr>
          <a:xfrm>
            <a:off x="10510746" y="4558873"/>
            <a:ext cx="529742" cy="201168"/>
          </a:xfrm>
          <a:prstGeom prst="roundRect">
            <a:avLst>
              <a:gd name="adj" fmla="val 11727"/>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crr3</a:t>
            </a:r>
          </a:p>
        </p:txBody>
      </p:sp>
      <p:sp>
        <p:nvSpPr>
          <p:cNvPr id="111" name="Rounded Rectangle 110"/>
          <p:cNvSpPr/>
          <p:nvPr/>
        </p:nvSpPr>
        <p:spPr>
          <a:xfrm>
            <a:off x="10510746" y="4782901"/>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12" name="Rounded Rectangle 111"/>
          <p:cNvSpPr/>
          <p:nvPr/>
        </p:nvSpPr>
        <p:spPr>
          <a:xfrm>
            <a:off x="10510746" y="4958232"/>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780" b="0" i="0">
                <a:solidFill>
                  <a:srgbClr val="111111"/>
                </a:solidFill>
                <a:latin typeface="Inter"/>
              </a:rPr>
              <a:t>🤖🦸</a:t>
            </a:r>
          </a:p>
        </p:txBody>
      </p:sp>
      <p:sp>
        <p:nvSpPr>
          <p:cNvPr id="113" name="Rounded Rectangle 112"/>
          <p:cNvSpPr/>
          <p:nvPr/>
        </p:nvSpPr>
        <p:spPr>
          <a:xfrm>
            <a:off x="10510746" y="5133563"/>
            <a:ext cx="574060" cy="155849"/>
          </a:xfrm>
          <a:prstGeom prst="roundRect">
            <a:avLst>
              <a:gd name="adj" fmla="val 12614"/>
            </a:avLst>
          </a:prstGeom>
          <a:solidFill>
            <a:srgbClr val="FAFAFA"/>
          </a:solidFill>
          <a:ln w="9525">
            <a:solidFill>
              <a:srgbClr val="DDDDDD"/>
            </a:solidFill>
          </a:ln>
          <a:effectLst/>
        </p:spPr>
        <p:txBody>
          <a:bodyPr rtlCol="0" anchor="ctr" wrap="square" lIns="36576" rIns="36576" tIns="0" bIns="0">
            <a:noAutofit/>
          </a:bodyPr>
          <a:lstStyle/>
          <a:p>
            <a:pPr algn="ctr"/>
            <a:r>
              <a:rPr sz="919" b="0" i="0">
                <a:solidFill>
                  <a:srgbClr val="111111"/>
                </a:solidFill>
                <a:latin typeface="Inter"/>
              </a:rPr>
              <a:t>🛼</a:t>
            </a:r>
          </a:p>
        </p:txBody>
      </p:sp>
      <p:sp>
        <p:nvSpPr>
          <p:cNvPr id="114" name="TextBox 113"/>
          <p:cNvSpPr txBox="1"/>
          <p:nvPr/>
        </p:nvSpPr>
        <p:spPr>
          <a:xfrm>
            <a:off x="10500139" y="5289412"/>
            <a:ext cx="595274"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#4</a:t>
            </a:r>
          </a:p>
        </p:txBody>
      </p:sp>
      <p:cxnSp>
        <p:nvCxnSpPr>
          <p:cNvPr id="115" name="Connector 114"/>
          <p:cNvCxnSpPr/>
          <p:nvPr/>
        </p:nvCxnSpPr>
        <p:spPr>
          <a:xfrm flipH="1">
            <a:off x="10225819" y="4993350"/>
            <a:ext cx="182880" cy="0"/>
          </a:xfrm>
          <a:prstGeom prst="line">
            <a:avLst/>
          </a:prstGeom>
          <a:ln w="25400">
            <a:solidFill>
              <a:srgbClr val="555555"/>
            </a:solidFill>
            <a:tailEnd type="triangle" w="med" len="med"/>
          </a:ln>
          <a:effectLst/>
        </p:spPr>
      </p:cxnSp>
      <p:sp>
        <p:nvSpPr>
          <p:cNvPr id="116" name="Rounded Rectangle 115"/>
          <p:cNvSpPr/>
          <p:nvPr/>
        </p:nvSpPr>
        <p:spPr>
          <a:xfrm rot="21360000">
            <a:off x="6342989" y="4213961"/>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117" name="Rounded Rectangle 116"/>
          <p:cNvSpPr/>
          <p:nvPr/>
        </p:nvSpPr>
        <p:spPr>
          <a:xfrm rot="21360000">
            <a:off x="10189411" y="4213961"/>
            <a:ext cx="1216729" cy="329184"/>
          </a:xfrm>
          <a:prstGeom prst="roundRect">
            <a:avLst>
              <a:gd name="adj" fmla="val 11111"/>
            </a:avLst>
          </a:prstGeom>
          <a:solidFill>
            <a:srgbClr val="E8F6FF"/>
          </a:solidFill>
          <a:ln w="19050">
            <a:solidFill>
              <a:srgbClr val="00A2FF"/>
            </a:solidFill>
          </a:ln>
          <a:effectLst/>
        </p:spPr>
        <p:txBody>
          <a:bodyPr rtlCol="0" anchor="ctr" wrap="square" lIns="36576" rIns="36576" tIns="0" bIns="0">
            <a:noAutofit/>
          </a:bodyPr>
          <a:lstStyle/>
          <a:p>
            <a:pPr algn="ctr"/>
            <a:r>
              <a:rPr sz="1300" b="1" i="0">
                <a:solidFill>
                  <a:srgbClr val="111111"/>
                </a:solidFill>
                <a:latin typeface="Inter"/>
              </a:rPr>
              <a:t>origin/main</a:t>
            </a:r>
          </a:p>
        </p:txBody>
      </p:sp>
      <p:cxnSp>
        <p:nvCxnSpPr>
          <p:cNvPr id="118" name="Connector 117"/>
          <p:cNvCxnSpPr/>
          <p:nvPr/>
        </p:nvCxnSpPr>
        <p:spPr>
          <a:xfrm>
            <a:off x="3172968" y="4136786"/>
            <a:ext cx="1624431" cy="0"/>
          </a:xfrm>
          <a:prstGeom prst="line">
            <a:avLst/>
          </a:prstGeom>
          <a:ln w="38100">
            <a:solidFill>
              <a:srgbClr val="9437FF"/>
            </a:solidFill>
            <a:tailEnd type="triangle" w="med" len="med"/>
          </a:ln>
          <a:effectLst/>
        </p:spPr>
      </p:cxnSp>
      <p:sp>
        <p:nvSpPr>
          <p:cNvPr id="119" name="Rounded Rectangle 118"/>
          <p:cNvSpPr/>
          <p:nvPr/>
        </p:nvSpPr>
        <p:spPr>
          <a:xfrm>
            <a:off x="3802303" y="3953906"/>
            <a:ext cx="365760" cy="365760"/>
          </a:xfrm>
          <a:prstGeom prst="roundRect">
            <a:avLst>
              <a:gd name="adj" fmla="val 50000"/>
            </a:avLst>
          </a:prstGeom>
          <a:solidFill>
            <a:srgbClr val="E02424"/>
          </a:solidFill>
          <a:ln>
            <a:noFill/>
          </a:ln>
          <a:effectLst/>
        </p:spPr>
        <p:txBody>
          <a:bodyPr rtlCol="0" anchor="ctr" wrap="square" lIns="36576" rIns="36576" tIns="0" bIns="0">
            <a:noAutofit/>
          </a:bodyPr>
          <a:lstStyle/>
          <a:p>
            <a:pPr algn="ctr"/>
            <a:r>
              <a:rPr sz="1700" b="1" i="0">
                <a:solidFill>
                  <a:srgbClr val="FFFFFF"/>
                </a:solidFill>
                <a:latin typeface="Inter"/>
              </a:rPr>
              <a:t>×</a:t>
            </a:r>
          </a:p>
        </p:txBody>
      </p:sp>
      <p:sp>
        <p:nvSpPr>
          <p:cNvPr id="120" name="TextBox 119"/>
          <p:cNvSpPr txBox="1"/>
          <p:nvPr/>
        </p:nvSpPr>
        <p:spPr>
          <a:xfrm>
            <a:off x="3063240" y="4429394"/>
            <a:ext cx="1843887" cy="868680"/>
          </a:xfrm>
          <a:prstGeom prst="rect">
            <a:avLst/>
          </a:prstGeom>
          <a:noFill/>
        </p:spPr>
        <p:txBody>
          <a:bodyPr wrap="square" anchor="t" lIns="0" rIns="0" tIns="0" bIns="0">
            <a:noAutofit/>
          </a:bodyPr>
          <a:lstStyle/>
          <a:p>
            <a:pPr algn="ctr">
              <a:lnSpc>
                <a:spcPts val="2000"/>
              </a:lnSpc>
            </a:pPr>
            <a:r>
              <a:rPr sz="1600" b="0" i="0">
                <a:solidFill>
                  <a:srgbClr val="E02424"/>
                </a:solidFill>
                <a:latin typeface="Noto Sans Mono"/>
              </a:rPr>
              <a:t>! [rejected]</a:t>
            </a:r>
          </a:p>
          <a:p>
            <a:pPr algn="ctr">
              <a:lnSpc>
                <a:spcPts val="2000"/>
              </a:lnSpc>
            </a:pPr>
            <a:r>
              <a:rPr sz="1600" b="0" i="0">
                <a:solidFill>
                  <a:srgbClr val="E02424"/>
                </a:solidFill>
                <a:latin typeface="Noto Sans Mono"/>
              </a:rPr>
              <a:t>main -&gt; main</a:t>
            </a:r>
          </a:p>
          <a:p>
            <a:pPr algn="ctr">
              <a:lnSpc>
                <a:spcPts val="2000"/>
              </a:lnSpc>
            </a:pPr>
            <a:r>
              <a:rPr sz="1600" b="0" i="0">
                <a:solidFill>
                  <a:srgbClr val="E02424"/>
                </a:solidFill>
                <a:latin typeface="Noto Sans Mono"/>
              </a:rPr>
              <a:t>(fetch first)</a:t>
            </a:r>
          </a:p>
        </p:txBody>
      </p:sp>
      <p:cxnSp>
        <p:nvCxnSpPr>
          <p:cNvPr id="121" name="Connector 120"/>
          <p:cNvCxnSpPr/>
          <p:nvPr/>
        </p:nvCxnSpPr>
        <p:spPr>
          <a:xfrm>
            <a:off x="7394295" y="4136786"/>
            <a:ext cx="1624432" cy="0"/>
          </a:xfrm>
          <a:prstGeom prst="line">
            <a:avLst/>
          </a:prstGeom>
          <a:ln w="31750">
            <a:solidFill>
              <a:srgbClr val="00A2FF"/>
            </a:solidFill>
            <a:prstDash val="dash"/>
            <a:tailEnd type="triangle" w="med" len="med"/>
          </a:ln>
          <a:effectLst/>
        </p:spPr>
      </p:cxnSp>
      <p:sp>
        <p:nvSpPr>
          <p:cNvPr id="122" name="TextBox 121"/>
          <p:cNvSpPr txBox="1"/>
          <p:nvPr/>
        </p:nvSpPr>
        <p:spPr>
          <a:xfrm>
            <a:off x="7284567" y="3752738"/>
            <a:ext cx="1843887" cy="292608"/>
          </a:xfrm>
          <a:prstGeom prst="rect">
            <a:avLst/>
          </a:prstGeom>
          <a:noFill/>
        </p:spPr>
        <p:txBody>
          <a:bodyPr wrap="square" anchor="ctr" lIns="0" rIns="0" tIns="0" bIns="0">
            <a:noAutofit/>
          </a:bodyPr>
          <a:lstStyle/>
          <a:p>
            <a:pPr algn="ctr"/>
            <a:r>
              <a:rPr sz="1600" b="1" i="0">
                <a:solidFill>
                  <a:srgbClr val="00A2FF"/>
                </a:solidFill>
                <a:latin typeface="Noto Sans Mono"/>
              </a:rPr>
              <a:t>git fetch</a:t>
            </a:r>
          </a:p>
        </p:txBody>
      </p:sp>
      <p:sp>
        <p:nvSpPr>
          <p:cNvPr id="123" name="TextBox 122"/>
          <p:cNvSpPr txBox="1"/>
          <p:nvPr/>
        </p:nvSpPr>
        <p:spPr>
          <a:xfrm>
            <a:off x="7284567" y="4337954"/>
            <a:ext cx="1843887" cy="566928"/>
          </a:xfrm>
          <a:prstGeom prst="rect">
            <a:avLst/>
          </a:prstGeom>
          <a:noFill/>
        </p:spPr>
        <p:txBody>
          <a:bodyPr wrap="square" anchor="t" lIns="0" rIns="0" tIns="0" bIns="0">
            <a:noAutofit/>
          </a:bodyPr>
          <a:lstStyle/>
          <a:p>
            <a:pPr algn="ctr">
              <a:lnSpc>
                <a:spcPct val="110000"/>
              </a:lnSpc>
            </a:pPr>
            <a:r>
              <a:rPr sz="1600" b="0" i="0">
                <a:solidFill>
                  <a:srgbClr val="555555"/>
                </a:solidFill>
                <a:latin typeface="Inter"/>
              </a:rPr>
              <a:t>pull =</a:t>
            </a:r>
          </a:p>
          <a:p>
            <a:pPr algn="ctr">
              <a:lnSpc>
                <a:spcPct val="110000"/>
              </a:lnSpc>
            </a:pPr>
            <a:r>
              <a:rPr sz="1600" b="0" i="0">
                <a:solidFill>
                  <a:srgbClr val="555555"/>
                </a:solidFill>
                <a:latin typeface="Inter"/>
              </a:rPr>
              <a:t>fetch + merge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9300"/>
        </a:solidFill>
        <a:effectLst/>
      </p:bgPr>
    </p:bg>
    <p:spTree>
      <p:nvGrpSpPr>
        <p:cNvPr id="1" name=""/>
        <p:cNvGrpSpPr/>
        <p:nvPr/>
      </p:nvGrpSpPr>
      <p:grpSpPr/>
      <p:sp>
        <p:nvSpPr>
          <p:cNvPr id="2" name="TextBox 1"/>
          <p:cNvSpPr txBox="1"/>
          <p:nvPr/>
        </p:nvSpPr>
        <p:spPr>
          <a:xfrm>
            <a:off x="685800" y="2547366"/>
            <a:ext cx="10820095" cy="457200"/>
          </a:xfrm>
          <a:prstGeom prst="rect">
            <a:avLst/>
          </a:prstGeom>
          <a:noFill/>
        </p:spPr>
        <p:txBody>
          <a:bodyPr wrap="square" anchor="b" lIns="0" rIns="0" tIns="0" bIns="0">
            <a:noAutofit/>
          </a:bodyPr>
          <a:lstStyle/>
          <a:p>
            <a:pPr algn="ctr"/>
            <a:r>
              <a:rPr sz="2400" b="1" i="0">
                <a:solidFill>
                  <a:srgbClr val="111111"/>
                </a:solidFill>
                <a:latin typeface="Inter"/>
              </a:rPr>
              <a:t>PART 3</a:t>
            </a:r>
          </a:p>
        </p:txBody>
      </p:sp>
      <p:sp>
        <p:nvSpPr>
          <p:cNvPr id="3" name="TextBox 2"/>
          <p:cNvSpPr txBox="1"/>
          <p:nvPr/>
        </p:nvSpPr>
        <p:spPr>
          <a:xfrm>
            <a:off x="685800" y="3068574"/>
            <a:ext cx="10820095" cy="1013460"/>
          </a:xfrm>
          <a:prstGeom prst="rect">
            <a:avLst/>
          </a:prstGeom>
          <a:noFill/>
        </p:spPr>
        <p:txBody>
          <a:bodyPr wrap="square" anchor="ctr" lIns="0" rIns="0" tIns="0" bIns="0">
            <a:noAutofit/>
          </a:bodyPr>
          <a:lstStyle/>
          <a:p>
            <a:pPr algn="ctr">
              <a:lnSpc>
                <a:spcPct val="100000"/>
              </a:lnSpc>
            </a:pPr>
            <a:r>
              <a:rPr sz="6000" b="0" i="0">
                <a:solidFill>
                  <a:srgbClr val="111111"/>
                </a:solidFill>
                <a:latin typeface="Inter"/>
              </a:rPr>
              <a:t>Rewriting the past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7</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3:00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The Client hates the mustache.</a:t>
            </a:r>
            <a:br>
              <a:rPr sz="4400"/>
            </a:br>
            <a:r>
              <a:rPr sz="4400" b="1" i="0">
                <a:solidFill>
                  <a:srgbClr val="111111"/>
                </a:solidFill>
                <a:latin typeface="Inter"/>
              </a:rPr>
              <a:t>Make it gone. For good.</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Every lab already copied it</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Don’t break anyone’s table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revert</a:t>
            </a:r>
          </a:p>
        </p:txBody>
      </p:sp>
      <p:sp>
        <p:nvSpPr>
          <p:cNvPr id="4" name="TextBox 3"/>
          <p:cNvSpPr txBox="1"/>
          <p:nvPr/>
        </p:nvSpPr>
        <p:spPr>
          <a:xfrm>
            <a:off x="685800" y="2103120"/>
            <a:ext cx="10820095" cy="1207008"/>
          </a:xfrm>
          <a:prstGeom prst="rect">
            <a:avLst/>
          </a:prstGeom>
          <a:noFill/>
        </p:spPr>
        <p:txBody>
          <a:bodyPr wrap="square" anchor="t" lIns="0" rIns="0" tIns="0" bIns="0">
            <a:noAutofit/>
          </a:bodyPr>
          <a:lstStyle/>
          <a:p>
            <a:pPr algn="l">
              <a:lnSpc>
                <a:spcPct val="112000"/>
              </a:lnSpc>
            </a:pPr>
            <a:r>
              <a:rPr sz="3200" b="0" i="0">
                <a:solidFill>
                  <a:srgbClr val="111111"/>
                </a:solidFill>
                <a:latin typeface="Inter"/>
              </a:rPr>
              <a:t>Shared? Add a fix card.</a:t>
            </a:r>
          </a:p>
          <a:p>
            <a:pPr algn="l">
              <a:lnSpc>
                <a:spcPct val="112000"/>
              </a:lnSpc>
            </a:pPr>
            <a:r>
              <a:rPr sz="3200" b="0" i="0">
                <a:solidFill>
                  <a:srgbClr val="111111"/>
                </a:solidFill>
                <a:latin typeface="Inter"/>
              </a:rPr>
              <a:t>Private? You may move the flag back (</a:t>
            </a:r>
            <a:r>
              <a:rPr sz="3200" b="0" i="0">
                <a:solidFill>
                  <a:srgbClr val="9437FF"/>
                </a:solidFill>
                <a:latin typeface="Noto Sans Mono"/>
              </a:rPr>
              <a:t>reset</a:t>
            </a:r>
            <a:r>
              <a:rPr sz="3200" b="0" i="0">
                <a:solidFill>
                  <a:srgbClr val="111111"/>
                </a:solidFill>
                <a:latin typeface="Inter"/>
              </a:rPr>
              <a:t>).</a:t>
            </a:r>
          </a:p>
        </p:txBody>
      </p:sp>
      <p:sp>
        <p:nvSpPr>
          <p:cNvPr id="5" name="Rounded Rectangle 4"/>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7" name="TextBox 6"/>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Where did the ripped-off card go? Can you get it back?</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D6D6D6"/>
          </a:solidFill>
          <a:ln>
            <a:noFill/>
          </a:ln>
          <a:effectLst/>
        </p:spPr>
        <p:txBody>
          <a:bodyPr rtlCol="0" anchor="ctr" wrap="square" lIns="36576" rIns="36576" tIns="0" bIns="0">
            <a:noAutofit/>
          </a:bodyPr>
          <a:lstStyle/>
          <a:p>
            <a:pPr algn="ctr"/>
          </a:p>
        </p:txBody>
      </p:sp>
      <p:cxnSp>
        <p:nvCxnSpPr>
          <p:cNvPr id="17" name="Connector 16"/>
          <p:cNvCxnSpPr/>
          <p:nvPr/>
        </p:nvCxnSpPr>
        <p:spPr>
          <a:xfrm>
            <a:off x="6099048" y="3346704"/>
            <a:ext cx="0" cy="2157984"/>
          </a:xfrm>
          <a:prstGeom prst="line">
            <a:avLst/>
          </a:prstGeom>
          <a:ln w="12700">
            <a:solidFill>
              <a:srgbClr val="E3E3E3"/>
            </a:solidFill>
          </a:ln>
          <a:effectLst/>
        </p:spPr>
      </p:cxnSp>
      <p:sp>
        <p:nvSpPr>
          <p:cNvPr id="18" name="TextBox 17"/>
          <p:cNvSpPr txBox="1"/>
          <p:nvPr/>
        </p:nvSpPr>
        <p:spPr>
          <a:xfrm>
            <a:off x="685800" y="3346704"/>
            <a:ext cx="5166360" cy="365760"/>
          </a:xfrm>
          <a:prstGeom prst="rect">
            <a:avLst/>
          </a:prstGeom>
          <a:noFill/>
        </p:spPr>
        <p:txBody>
          <a:bodyPr wrap="square" anchor="ctr" lIns="0" rIns="0" tIns="0" bIns="0">
            <a:noAutofit/>
          </a:bodyPr>
          <a:lstStyle/>
          <a:p>
            <a:pPr algn="l"/>
            <a:r>
              <a:rPr sz="2000" b="1" i="0">
                <a:solidFill>
                  <a:srgbClr val="1E9E4A"/>
                </a:solidFill>
                <a:latin typeface="Inter"/>
              </a:rPr>
              <a:t>revert · safe when shared</a:t>
            </a:r>
          </a:p>
        </p:txBody>
      </p:sp>
      <p:sp>
        <p:nvSpPr>
          <p:cNvPr id="19" name="TextBox 18"/>
          <p:cNvSpPr txBox="1"/>
          <p:nvPr/>
        </p:nvSpPr>
        <p:spPr>
          <a:xfrm>
            <a:off x="6355080" y="3346704"/>
            <a:ext cx="5150815" cy="365760"/>
          </a:xfrm>
          <a:prstGeom prst="rect">
            <a:avLst/>
          </a:prstGeom>
          <a:noFill/>
        </p:spPr>
        <p:txBody>
          <a:bodyPr wrap="square" anchor="ctr" lIns="0" rIns="0" tIns="0" bIns="0">
            <a:noAutofit/>
          </a:bodyPr>
          <a:lstStyle/>
          <a:p>
            <a:pPr algn="l"/>
            <a:r>
              <a:rPr sz="2000" b="1" i="0">
                <a:solidFill>
                  <a:srgbClr val="FF9300"/>
                </a:solidFill>
                <a:latin typeface="Inter"/>
              </a:rPr>
              <a:t>reset · only if nobody copied it</a:t>
            </a:r>
          </a:p>
        </p:txBody>
      </p:sp>
      <p:sp>
        <p:nvSpPr>
          <p:cNvPr id="20" name="Rounded Rectangle 19"/>
          <p:cNvSpPr/>
          <p:nvPr/>
        </p:nvSpPr>
        <p:spPr>
          <a:xfrm>
            <a:off x="1366113" y="4097426"/>
            <a:ext cx="963777" cy="1388973"/>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1" name="Rounded Rectangle 20"/>
          <p:cNvSpPr/>
          <p:nvPr/>
        </p:nvSpPr>
        <p:spPr>
          <a:xfrm>
            <a:off x="1434144" y="4165457"/>
            <a:ext cx="564489" cy="201168"/>
          </a:xfrm>
          <a:prstGeom prst="roundRect">
            <a:avLst>
              <a:gd name="adj" fmla="val 16909"/>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ddr2</a:t>
            </a:r>
          </a:p>
        </p:txBody>
      </p:sp>
      <p:sp>
        <p:nvSpPr>
          <p:cNvPr id="22" name="Rounded Rectangle 21"/>
          <p:cNvSpPr/>
          <p:nvPr/>
        </p:nvSpPr>
        <p:spPr>
          <a:xfrm>
            <a:off x="1434144" y="4414906"/>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23" name="Rounded Rectangle 22"/>
          <p:cNvSpPr/>
          <p:nvPr/>
        </p:nvSpPr>
        <p:spPr>
          <a:xfrm>
            <a:off x="1434144" y="4716335"/>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24" name="Rounded Rectangle 23"/>
          <p:cNvSpPr/>
          <p:nvPr/>
        </p:nvSpPr>
        <p:spPr>
          <a:xfrm>
            <a:off x="1434144" y="5017764"/>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25" name="TextBox 24"/>
          <p:cNvSpPr txBox="1"/>
          <p:nvPr/>
        </p:nvSpPr>
        <p:spPr>
          <a:xfrm>
            <a:off x="1402689" y="5285701"/>
            <a:ext cx="890625"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cdr2</a:t>
            </a:r>
          </a:p>
        </p:txBody>
      </p:sp>
      <p:sp>
        <p:nvSpPr>
          <p:cNvPr id="26" name="Rounded Rectangle 25"/>
          <p:cNvSpPr/>
          <p:nvPr/>
        </p:nvSpPr>
        <p:spPr>
          <a:xfrm>
            <a:off x="2787091" y="4097426"/>
            <a:ext cx="963777" cy="1388973"/>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27" name="Rounded Rectangle 26"/>
          <p:cNvSpPr/>
          <p:nvPr/>
        </p:nvSpPr>
        <p:spPr>
          <a:xfrm>
            <a:off x="2855122" y="4165457"/>
            <a:ext cx="564489" cy="201168"/>
          </a:xfrm>
          <a:prstGeom prst="roundRect">
            <a:avLst>
              <a:gd name="adj" fmla="val 16909"/>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mdr1</a:t>
            </a:r>
          </a:p>
        </p:txBody>
      </p:sp>
      <p:sp>
        <p:nvSpPr>
          <p:cNvPr id="28" name="Rounded Rectangle 27"/>
          <p:cNvSpPr/>
          <p:nvPr/>
        </p:nvSpPr>
        <p:spPr>
          <a:xfrm>
            <a:off x="2855122" y="4414906"/>
            <a:ext cx="827714" cy="267937"/>
          </a:xfrm>
          <a:prstGeom prst="roundRect">
            <a:avLst>
              <a:gd name="adj" fmla="val 10579"/>
            </a:avLst>
          </a:prstGeom>
          <a:solidFill>
            <a:srgbClr val="FFF6C7"/>
          </a:solidFill>
          <a:ln w="9525">
            <a:solidFill>
              <a:srgbClr val="E8C547"/>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29" name="Rounded Rectangle 28"/>
          <p:cNvSpPr/>
          <p:nvPr/>
        </p:nvSpPr>
        <p:spPr>
          <a:xfrm>
            <a:off x="2855122" y="4716335"/>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30" name="Rounded Rectangle 29"/>
          <p:cNvSpPr/>
          <p:nvPr/>
        </p:nvSpPr>
        <p:spPr>
          <a:xfrm>
            <a:off x="2855122" y="5017764"/>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31" name="TextBox 30"/>
          <p:cNvSpPr txBox="1"/>
          <p:nvPr/>
        </p:nvSpPr>
        <p:spPr>
          <a:xfrm>
            <a:off x="2823667" y="5285701"/>
            <a:ext cx="890625"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ddr2</a:t>
            </a:r>
          </a:p>
        </p:txBody>
      </p:sp>
      <p:sp>
        <p:nvSpPr>
          <p:cNvPr id="32" name="Rounded Rectangle 31"/>
          <p:cNvSpPr/>
          <p:nvPr/>
        </p:nvSpPr>
        <p:spPr>
          <a:xfrm>
            <a:off x="4208068" y="4097426"/>
            <a:ext cx="963777" cy="1388973"/>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33" name="Rounded Rectangle 32"/>
          <p:cNvSpPr/>
          <p:nvPr/>
        </p:nvSpPr>
        <p:spPr>
          <a:xfrm>
            <a:off x="4276100" y="4165457"/>
            <a:ext cx="564489" cy="201168"/>
          </a:xfrm>
          <a:prstGeom prst="roundRect">
            <a:avLst>
              <a:gd name="adj" fmla="val 16909"/>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ddr8</a:t>
            </a:r>
          </a:p>
        </p:txBody>
      </p:sp>
      <p:sp>
        <p:nvSpPr>
          <p:cNvPr id="34" name="Rounded Rectangle 33"/>
          <p:cNvSpPr/>
          <p:nvPr/>
        </p:nvSpPr>
        <p:spPr>
          <a:xfrm>
            <a:off x="4276100" y="4414906"/>
            <a:ext cx="827714" cy="267937"/>
          </a:xfrm>
          <a:prstGeom prst="roundRect">
            <a:avLst>
              <a:gd name="adj" fmla="val 10579"/>
            </a:avLst>
          </a:prstGeom>
          <a:solidFill>
            <a:srgbClr val="FFF6C7"/>
          </a:solidFill>
          <a:ln w="9525">
            <a:solidFill>
              <a:srgbClr val="E8C547"/>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35" name="Rounded Rectangle 34"/>
          <p:cNvSpPr/>
          <p:nvPr/>
        </p:nvSpPr>
        <p:spPr>
          <a:xfrm>
            <a:off x="4276100" y="4716335"/>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36" name="Rounded Rectangle 35"/>
          <p:cNvSpPr/>
          <p:nvPr/>
        </p:nvSpPr>
        <p:spPr>
          <a:xfrm>
            <a:off x="4276100" y="5017764"/>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37" name="TextBox 36"/>
          <p:cNvSpPr txBox="1"/>
          <p:nvPr/>
        </p:nvSpPr>
        <p:spPr>
          <a:xfrm>
            <a:off x="4244644" y="5285701"/>
            <a:ext cx="890625"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mdr1</a:t>
            </a:r>
          </a:p>
        </p:txBody>
      </p:sp>
      <p:cxnSp>
        <p:nvCxnSpPr>
          <p:cNvPr id="38" name="Connector 37"/>
          <p:cNvCxnSpPr/>
          <p:nvPr/>
        </p:nvCxnSpPr>
        <p:spPr>
          <a:xfrm flipH="1">
            <a:off x="2384755" y="4791913"/>
            <a:ext cx="347472" cy="0"/>
          </a:xfrm>
          <a:prstGeom prst="line">
            <a:avLst/>
          </a:prstGeom>
          <a:ln w="25400">
            <a:solidFill>
              <a:srgbClr val="555555"/>
            </a:solidFill>
            <a:tailEnd type="triangle" w="med" len="med"/>
          </a:ln>
          <a:effectLst/>
        </p:spPr>
      </p:cxnSp>
      <p:cxnSp>
        <p:nvCxnSpPr>
          <p:cNvPr id="39" name="Connector 38"/>
          <p:cNvCxnSpPr/>
          <p:nvPr/>
        </p:nvCxnSpPr>
        <p:spPr>
          <a:xfrm flipH="1">
            <a:off x="3805732" y="4791913"/>
            <a:ext cx="347472" cy="0"/>
          </a:xfrm>
          <a:prstGeom prst="line">
            <a:avLst/>
          </a:prstGeom>
          <a:ln w="25400">
            <a:solidFill>
              <a:srgbClr val="555555"/>
            </a:solidFill>
            <a:tailEnd type="triangle" w="med" len="med"/>
          </a:ln>
          <a:effectLst/>
        </p:spPr>
      </p:cxnSp>
      <p:sp>
        <p:nvSpPr>
          <p:cNvPr id="40" name="Rounded Rectangle 39"/>
          <p:cNvSpPr/>
          <p:nvPr/>
        </p:nvSpPr>
        <p:spPr>
          <a:xfrm rot="21360000">
            <a:off x="4331529" y="3813596"/>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41" name="Rounded Rectangle 40"/>
          <p:cNvSpPr/>
          <p:nvPr/>
        </p:nvSpPr>
        <p:spPr>
          <a:xfrm>
            <a:off x="6700266" y="4097426"/>
            <a:ext cx="963777" cy="1388973"/>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42" name="Rounded Rectangle 41"/>
          <p:cNvSpPr/>
          <p:nvPr/>
        </p:nvSpPr>
        <p:spPr>
          <a:xfrm>
            <a:off x="6768297" y="4165457"/>
            <a:ext cx="564489" cy="201168"/>
          </a:xfrm>
          <a:prstGeom prst="roundRect">
            <a:avLst>
              <a:gd name="adj" fmla="val 16909"/>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ddr2</a:t>
            </a:r>
          </a:p>
        </p:txBody>
      </p:sp>
      <p:sp>
        <p:nvSpPr>
          <p:cNvPr id="43" name="Rounded Rectangle 42"/>
          <p:cNvSpPr/>
          <p:nvPr/>
        </p:nvSpPr>
        <p:spPr>
          <a:xfrm>
            <a:off x="6768297" y="4414906"/>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44" name="Rounded Rectangle 43"/>
          <p:cNvSpPr/>
          <p:nvPr/>
        </p:nvSpPr>
        <p:spPr>
          <a:xfrm>
            <a:off x="6768297" y="4716335"/>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45" name="Rounded Rectangle 44"/>
          <p:cNvSpPr/>
          <p:nvPr/>
        </p:nvSpPr>
        <p:spPr>
          <a:xfrm>
            <a:off x="6768297" y="5017764"/>
            <a:ext cx="827714" cy="267937"/>
          </a:xfrm>
          <a:prstGeom prst="roundRect">
            <a:avLst>
              <a:gd name="adj" fmla="val 10579"/>
            </a:avLst>
          </a:prstGeom>
          <a:solidFill>
            <a:srgbClr val="FAFAFA"/>
          </a:solidFill>
          <a:ln w="9525">
            <a:solidFill>
              <a:srgbClr val="DDDDDD"/>
            </a:solidFill>
          </a:ln>
          <a:effectLst/>
        </p:spPr>
        <p:txBody>
          <a:bodyPr rtlCol="0" anchor="ctr" wrap="square" lIns="36576" rIns="36576" tIns="0" bIns="0">
            <a:noAutofit/>
          </a:bodyPr>
          <a:lstStyle/>
          <a:p>
            <a:pPr algn="ctr"/>
            <a:r>
              <a:rPr sz="1590" b="0" i="0">
                <a:solidFill>
                  <a:srgbClr val="111111"/>
                </a:solidFill>
                <a:latin typeface="Inter"/>
              </a:rPr>
              <a:t>🛼</a:t>
            </a:r>
          </a:p>
        </p:txBody>
      </p:sp>
      <p:sp>
        <p:nvSpPr>
          <p:cNvPr id="46" name="TextBox 45"/>
          <p:cNvSpPr txBox="1"/>
          <p:nvPr/>
        </p:nvSpPr>
        <p:spPr>
          <a:xfrm>
            <a:off x="6736842" y="5285701"/>
            <a:ext cx="890625" cy="174625"/>
          </a:xfrm>
          <a:prstGeom prst="rect">
            <a:avLst/>
          </a:prstGeom>
          <a:noFill/>
        </p:spPr>
        <p:txBody>
          <a:bodyPr wrap="square" anchor="ctr" lIns="0" rIns="0" tIns="0" bIns="0">
            <a:noAutofit/>
          </a:bodyPr>
          <a:lstStyle/>
          <a:p>
            <a:pPr algn="ctr"/>
            <a:r>
              <a:rPr sz="1100" b="0" i="0">
                <a:solidFill>
                  <a:srgbClr val="555555"/>
                </a:solidFill>
                <a:latin typeface="Inter"/>
              </a:rPr>
              <a:t>← </a:t>
            </a:r>
            <a:r>
              <a:rPr sz="1100" b="0" i="0">
                <a:solidFill>
                  <a:srgbClr val="555555"/>
                </a:solidFill>
                <a:latin typeface="Noto Sans Mono"/>
              </a:rPr>
              <a:t>cdr2</a:t>
            </a:r>
          </a:p>
        </p:txBody>
      </p:sp>
      <p:sp>
        <p:nvSpPr>
          <p:cNvPr id="47" name="Rounded Rectangle 46"/>
          <p:cNvSpPr/>
          <p:nvPr/>
        </p:nvSpPr>
        <p:spPr>
          <a:xfrm>
            <a:off x="8121243" y="4097426"/>
            <a:ext cx="963777" cy="1388973"/>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48" name="Rounded Rectangle 47"/>
          <p:cNvSpPr/>
          <p:nvPr/>
        </p:nvSpPr>
        <p:spPr>
          <a:xfrm>
            <a:off x="8189274" y="4165457"/>
            <a:ext cx="564489" cy="201168"/>
          </a:xfrm>
          <a:prstGeom prst="roundRect">
            <a:avLst>
              <a:gd name="adj" fmla="val 16909"/>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mdr1</a:t>
            </a:r>
          </a:p>
        </p:txBody>
      </p:sp>
      <p:sp>
        <p:nvSpPr>
          <p:cNvPr id="49" name="Rounded Rectangle 48"/>
          <p:cNvSpPr/>
          <p:nvPr/>
        </p:nvSpPr>
        <p:spPr>
          <a:xfrm>
            <a:off x="8189274" y="4414906"/>
            <a:ext cx="827714" cy="267937"/>
          </a:xfrm>
          <a:prstGeom prst="roundRect">
            <a:avLst>
              <a:gd name="adj" fmla="val 10579"/>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50" name="Rounded Rectangle 49"/>
          <p:cNvSpPr/>
          <p:nvPr/>
        </p:nvSpPr>
        <p:spPr>
          <a:xfrm>
            <a:off x="8189274" y="4716335"/>
            <a:ext cx="827714" cy="267937"/>
          </a:xfrm>
          <a:prstGeom prst="roundRect">
            <a:avLst>
              <a:gd name="adj" fmla="val 10579"/>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51" name="Rounded Rectangle 50"/>
          <p:cNvSpPr/>
          <p:nvPr/>
        </p:nvSpPr>
        <p:spPr>
          <a:xfrm>
            <a:off x="8189274" y="5017764"/>
            <a:ext cx="827714" cy="267937"/>
          </a:xfrm>
          <a:prstGeom prst="roundRect">
            <a:avLst>
              <a:gd name="adj" fmla="val 10579"/>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52" name="TextBox 51"/>
          <p:cNvSpPr txBox="1"/>
          <p:nvPr/>
        </p:nvSpPr>
        <p:spPr>
          <a:xfrm>
            <a:off x="8157819" y="5285701"/>
            <a:ext cx="890625" cy="174625"/>
          </a:xfrm>
          <a:prstGeom prst="rect">
            <a:avLst/>
          </a:prstGeom>
          <a:noFill/>
        </p:spPr>
        <p:txBody>
          <a:bodyPr wrap="square" anchor="ctr" lIns="0" rIns="0" tIns="0" bIns="0">
            <a:noAutofit/>
          </a:bodyPr>
          <a:lstStyle/>
          <a:p>
            <a:pPr algn="ctr"/>
            <a:r>
              <a:rPr sz="1100" b="0" i="0">
                <a:solidFill>
                  <a:srgbClr val="919191"/>
                </a:solidFill>
                <a:latin typeface="Inter"/>
              </a:rPr>
              <a:t>← </a:t>
            </a:r>
            <a:r>
              <a:rPr sz="1100" b="0" i="0">
                <a:solidFill>
                  <a:srgbClr val="919191"/>
                </a:solidFill>
                <a:latin typeface="Noto Sans Mono"/>
              </a:rPr>
              <a:t>ddr2</a:t>
            </a:r>
          </a:p>
        </p:txBody>
      </p:sp>
      <p:cxnSp>
        <p:nvCxnSpPr>
          <p:cNvPr id="53" name="Connector 52"/>
          <p:cNvCxnSpPr/>
          <p:nvPr/>
        </p:nvCxnSpPr>
        <p:spPr>
          <a:xfrm flipH="1">
            <a:off x="7718907" y="4791913"/>
            <a:ext cx="347472" cy="0"/>
          </a:xfrm>
          <a:prstGeom prst="line">
            <a:avLst/>
          </a:prstGeom>
          <a:ln w="25400">
            <a:solidFill>
              <a:srgbClr val="BDBDBD"/>
            </a:solidFill>
            <a:prstDash val="dash"/>
            <a:tailEnd type="triangle" w="med" len="med"/>
          </a:ln>
          <a:effectLst/>
        </p:spPr>
      </p:cxnSp>
      <p:sp>
        <p:nvSpPr>
          <p:cNvPr id="54" name="Rounded Rectangle 53"/>
          <p:cNvSpPr/>
          <p:nvPr/>
        </p:nvSpPr>
        <p:spPr>
          <a:xfrm rot="21360000">
            <a:off x="6823727" y="3813596"/>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55" name="TextBox 54"/>
          <p:cNvSpPr txBox="1"/>
          <p:nvPr/>
        </p:nvSpPr>
        <p:spPr>
          <a:xfrm>
            <a:off x="9286189" y="4407865"/>
            <a:ext cx="1874519" cy="768096"/>
          </a:xfrm>
          <a:prstGeom prst="rect">
            <a:avLst/>
          </a:prstGeom>
          <a:noFill/>
        </p:spPr>
        <p:txBody>
          <a:bodyPr wrap="square" anchor="ctr" lIns="0" rIns="0" tIns="0" bIns="0">
            <a:noAutofit/>
          </a:bodyPr>
          <a:lstStyle/>
          <a:p>
            <a:pPr algn="l">
              <a:lnSpc>
                <a:spcPct val="110000"/>
              </a:lnSpc>
            </a:pPr>
            <a:r>
              <a:rPr sz="2000" b="1" i="0">
                <a:solidFill>
                  <a:srgbClr val="FF9300"/>
                </a:solidFill>
                <a:latin typeface="Inter"/>
              </a:rPr>
              <a:t>unreachable,</a:t>
            </a:r>
          </a:p>
          <a:p>
            <a:pPr algn="l">
              <a:lnSpc>
                <a:spcPct val="110000"/>
              </a:lnSpc>
            </a:pPr>
            <a:r>
              <a:rPr sz="2000" b="1" i="0">
                <a:solidFill>
                  <a:srgbClr val="FF9300"/>
                </a:solidFill>
                <a:latin typeface="Inter"/>
              </a:rPr>
              <a:t>not deleted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ECF8"/>
        </a:solidFill>
        <a:effectLst/>
      </p:bgPr>
    </p:bg>
    <p:spTree>
      <p:nvGrpSpPr>
        <p:cNvPr id="1" name=""/>
        <p:cNvGrpSpPr/>
        <p:nvPr/>
      </p:nvGrpSpPr>
      <p:grpSpPr/>
      <p:sp>
        <p:nvSpPr>
          <p:cNvPr id="2" name="Rounded Rectangle 1"/>
          <p:cNvSpPr/>
          <p:nvPr/>
        </p:nvSpPr>
        <p:spPr>
          <a:xfrm>
            <a:off x="685800" y="548640"/>
            <a:ext cx="1417320" cy="45720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STEP 8</a:t>
            </a:r>
          </a:p>
        </p:txBody>
      </p:sp>
      <p:sp>
        <p:nvSpPr>
          <p:cNvPr id="3" name="Rounded Rectangle 2"/>
          <p:cNvSpPr/>
          <p:nvPr/>
        </p:nvSpPr>
        <p:spPr>
          <a:xfrm>
            <a:off x="9905695" y="548640"/>
            <a:ext cx="1600200" cy="457200"/>
          </a:xfrm>
          <a:prstGeom prst="roundRect">
            <a:avLst>
              <a:gd name="adj" fmla="val 50000"/>
            </a:avLst>
          </a:prstGeom>
          <a:solidFill>
            <a:srgbClr val="FFFFFF"/>
          </a:solidFill>
          <a:ln w="19050">
            <a:solidFill>
              <a:srgbClr val="111111"/>
            </a:solidFill>
          </a:ln>
          <a:effectLst/>
        </p:spPr>
        <p:txBody>
          <a:bodyPr rtlCol="0" anchor="ctr" wrap="square" lIns="36576" rIns="36576" tIns="0" bIns="0">
            <a:noAutofit/>
          </a:bodyPr>
          <a:lstStyle/>
          <a:p>
            <a:pPr algn="ctr"/>
            <a:r>
              <a:rPr sz="2000" b="1" i="0">
                <a:solidFill>
                  <a:srgbClr val="111111"/>
                </a:solidFill>
                <a:latin typeface="Inter"/>
              </a:rPr>
              <a:t>⏱  3:00</a:t>
            </a:r>
          </a:p>
        </p:txBody>
      </p:sp>
      <p:sp>
        <p:nvSpPr>
          <p:cNvPr id="4" name="TextBox 3"/>
          <p:cNvSpPr txBox="1"/>
          <p:nvPr/>
        </p:nvSpPr>
        <p:spPr>
          <a:xfrm>
            <a:off x="685800" y="1417320"/>
            <a:ext cx="10820095" cy="2057400"/>
          </a:xfrm>
          <a:prstGeom prst="rect">
            <a:avLst/>
          </a:prstGeom>
          <a:noFill/>
        </p:spPr>
        <p:txBody>
          <a:bodyPr wrap="square" anchor="t" lIns="0" rIns="0" tIns="0" bIns="0">
            <a:noAutofit/>
          </a:bodyPr>
          <a:lstStyle/>
          <a:p>
            <a:pPr algn="l">
              <a:lnSpc>
                <a:spcPct val="105000"/>
              </a:lnSpc>
            </a:pPr>
            <a:r>
              <a:rPr sz="4400" b="1" i="0">
                <a:solidFill>
                  <a:srgbClr val="111111"/>
                </a:solidFill>
                <a:latin typeface="Inter"/>
              </a:rPr>
              <a:t>Boss: “This history is a mess.</a:t>
            </a:r>
          </a:p>
          <a:p>
            <a:pPr algn="l">
              <a:lnSpc>
                <a:spcPct val="105000"/>
              </a:lnSpc>
            </a:pPr>
            <a:r>
              <a:rPr sz="4400" b="1" i="0">
                <a:solidFill>
                  <a:srgbClr val="111111"/>
                </a:solidFill>
                <a:latin typeface="Inter"/>
              </a:rPr>
              <a:t>One clean card. Bin the rest.”</a:t>
            </a:r>
          </a:p>
        </p:txBody>
      </p:sp>
      <p:sp>
        <p:nvSpPr>
          <p:cNvPr id="5" name="Oval 4"/>
          <p:cNvSpPr/>
          <p:nvPr/>
        </p:nvSpPr>
        <p:spPr>
          <a:xfrm>
            <a:off x="963137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6" name="Oval 5"/>
          <p:cNvSpPr/>
          <p:nvPr/>
        </p:nvSpPr>
        <p:spPr>
          <a:xfrm>
            <a:off x="985083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7" name="Oval 6"/>
          <p:cNvSpPr/>
          <p:nvPr/>
        </p:nvSpPr>
        <p:spPr>
          <a:xfrm>
            <a:off x="1007028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8" name="Oval 7"/>
          <p:cNvSpPr/>
          <p:nvPr/>
        </p:nvSpPr>
        <p:spPr>
          <a:xfrm>
            <a:off x="10289743"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10509199"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728655"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948111"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1167567" y="632764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3" name="Oval 12"/>
          <p:cNvSpPr/>
          <p:nvPr/>
        </p:nvSpPr>
        <p:spPr>
          <a:xfrm>
            <a:off x="11387023" y="632764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4" name="TextBox 13"/>
          <p:cNvSpPr txBox="1"/>
          <p:nvPr/>
        </p:nvSpPr>
        <p:spPr>
          <a:xfrm>
            <a:off x="685800" y="3657600"/>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1</a:t>
            </a:r>
          </a:p>
        </p:txBody>
      </p:sp>
      <p:sp>
        <p:nvSpPr>
          <p:cNvPr id="15" name="TextBox 14"/>
          <p:cNvSpPr txBox="1"/>
          <p:nvPr/>
        </p:nvSpPr>
        <p:spPr>
          <a:xfrm>
            <a:off x="1112520" y="3657600"/>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Lab 3: open BOSS</a:t>
            </a:r>
          </a:p>
        </p:txBody>
      </p:sp>
      <p:sp>
        <p:nvSpPr>
          <p:cNvPr id="16" name="TextBox 15"/>
          <p:cNvSpPr txBox="1"/>
          <p:nvPr/>
        </p:nvSpPr>
        <p:spPr>
          <a:xfrm>
            <a:off x="685800" y="4213738"/>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2</a:t>
            </a:r>
          </a:p>
        </p:txBody>
      </p:sp>
      <p:sp>
        <p:nvSpPr>
          <p:cNvPr id="17" name="TextBox 16"/>
          <p:cNvSpPr txBox="1"/>
          <p:nvPr/>
        </p:nvSpPr>
        <p:spPr>
          <a:xfrm>
            <a:off x="1112520" y="4213738"/>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Lab 1: open AUDIT again</a:t>
            </a:r>
          </a:p>
        </p:txBody>
      </p:sp>
      <p:sp>
        <p:nvSpPr>
          <p:cNvPr id="18" name="TextBox 17"/>
          <p:cNvSpPr txBox="1"/>
          <p:nvPr/>
        </p:nvSpPr>
        <p:spPr>
          <a:xfrm>
            <a:off x="685800" y="4769876"/>
            <a:ext cx="426720" cy="482986"/>
          </a:xfrm>
          <a:prstGeom prst="rect">
            <a:avLst/>
          </a:prstGeom>
          <a:noFill/>
        </p:spPr>
        <p:txBody>
          <a:bodyPr wrap="square" anchor="t" lIns="0" rIns="0" tIns="0" bIns="0">
            <a:noAutofit/>
          </a:bodyPr>
          <a:lstStyle/>
          <a:p>
            <a:pPr algn="l">
              <a:lnSpc>
                <a:spcPct val="108000"/>
              </a:lnSpc>
            </a:pPr>
            <a:r>
              <a:rPr sz="2800" b="1" i="0">
                <a:solidFill>
                  <a:srgbClr val="9437FF"/>
                </a:solidFill>
                <a:latin typeface="Inter"/>
              </a:rPr>
              <a:t>3</a:t>
            </a:r>
          </a:p>
        </p:txBody>
      </p:sp>
      <p:sp>
        <p:nvSpPr>
          <p:cNvPr id="19" name="TextBox 18"/>
          <p:cNvSpPr txBox="1"/>
          <p:nvPr/>
        </p:nvSpPr>
        <p:spPr>
          <a:xfrm>
            <a:off x="1112520" y="4769876"/>
            <a:ext cx="10393375" cy="556138"/>
          </a:xfrm>
          <a:prstGeom prst="rect">
            <a:avLst/>
          </a:prstGeom>
          <a:noFill/>
        </p:spPr>
        <p:txBody>
          <a:bodyPr wrap="square" anchor="t" lIns="0" rIns="0" tIns="0" bIns="0">
            <a:noAutofit/>
          </a:bodyPr>
          <a:lstStyle/>
          <a:p>
            <a:pPr algn="l">
              <a:lnSpc>
                <a:spcPct val="108000"/>
              </a:lnSpc>
            </a:pPr>
            <a:r>
              <a:rPr sz="2800" b="0" i="0">
                <a:solidFill>
                  <a:srgbClr val="111111"/>
                </a:solidFill>
                <a:latin typeface="Inter"/>
              </a:rPr>
              <a:t>Lab 2: does your newest card still fit?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10820095" cy="457200"/>
          </a:xfrm>
          <a:prstGeom prst="rect">
            <a:avLst/>
          </a:prstGeom>
          <a:noFill/>
        </p:spPr>
        <p:txBody>
          <a:bodyPr wrap="square" anchor="ctr" lIns="0" rIns="0" tIns="0" bIns="0">
            <a:noAutofit/>
          </a:bodyPr>
          <a:lstStyle/>
          <a:p>
            <a:pPr algn="l"/>
            <a:r>
              <a:rPr sz="2400" b="0" i="0">
                <a:solidFill>
                  <a:srgbClr val="555555"/>
                </a:solidFill>
                <a:latin typeface="Inter"/>
              </a:rPr>
              <a:t>You just invented</a:t>
            </a:r>
          </a:p>
        </p:txBody>
      </p:sp>
      <p:sp>
        <p:nvSpPr>
          <p:cNvPr id="3" name="TextBox 2"/>
          <p:cNvSpPr txBox="1"/>
          <p:nvPr/>
        </p:nvSpPr>
        <p:spPr>
          <a:xfrm>
            <a:off x="685800" y="1024128"/>
            <a:ext cx="10820095" cy="960120"/>
          </a:xfrm>
          <a:prstGeom prst="rect">
            <a:avLst/>
          </a:prstGeom>
          <a:noFill/>
        </p:spPr>
        <p:txBody>
          <a:bodyPr wrap="square" anchor="ctr" lIns="0" rIns="0" tIns="0" bIns="0">
            <a:noAutofit/>
          </a:bodyPr>
          <a:lstStyle/>
          <a:p>
            <a:pPr algn="l"/>
            <a:r>
              <a:rPr sz="5400" b="1" i="0">
                <a:solidFill>
                  <a:srgbClr val="9437FF"/>
                </a:solidFill>
                <a:latin typeface="Noto Sans Mono"/>
              </a:rPr>
              <a:t>git push --force</a:t>
            </a:r>
          </a:p>
        </p:txBody>
      </p:sp>
      <p:sp>
        <p:nvSpPr>
          <p:cNvPr id="4" name="TextBox 3"/>
          <p:cNvSpPr txBox="1"/>
          <p:nvPr/>
        </p:nvSpPr>
        <p:spPr>
          <a:xfrm>
            <a:off x="685800" y="2103120"/>
            <a:ext cx="10820095" cy="1097280"/>
          </a:xfrm>
          <a:prstGeom prst="rect">
            <a:avLst/>
          </a:prstGeom>
          <a:noFill/>
        </p:spPr>
        <p:txBody>
          <a:bodyPr wrap="square" anchor="t" lIns="0" rIns="0" tIns="0" bIns="0">
            <a:noAutofit/>
          </a:bodyPr>
          <a:lstStyle/>
          <a:p>
            <a:pPr algn="l">
              <a:lnSpc>
                <a:spcPct val="112000"/>
              </a:lnSpc>
            </a:pPr>
            <a:r>
              <a:rPr sz="3200" b="0" i="0">
                <a:solidFill>
                  <a:srgbClr val="111111"/>
                </a:solidFill>
                <a:latin typeface="Inter"/>
              </a:rPr>
              <a:t>Rebase and squash draw NEW cards.</a:t>
            </a:r>
            <a:br>
              <a:rPr sz="3200"/>
            </a:br>
            <a:r>
              <a:rPr sz="3200" b="0" i="0">
                <a:solidFill>
                  <a:srgbClr val="111111"/>
                </a:solidFill>
                <a:latin typeface="Inter"/>
              </a:rPr>
              <a:t>--force makes the wall forget the old ones.</a:t>
            </a:r>
          </a:p>
        </p:txBody>
      </p:sp>
      <p:sp>
        <p:nvSpPr>
          <p:cNvPr id="5" name="Rounded Rectangle 4"/>
          <p:cNvSpPr/>
          <p:nvPr/>
        </p:nvSpPr>
        <p:spPr>
          <a:xfrm>
            <a:off x="685800" y="5669280"/>
            <a:ext cx="10820095" cy="658368"/>
          </a:xfrm>
          <a:prstGeom prst="roundRect">
            <a:avLst>
              <a:gd name="adj" fmla="val 19444"/>
            </a:avLst>
          </a:prstGeom>
          <a:solidFill>
            <a:srgbClr val="F6ECF8"/>
          </a:solidFill>
          <a:ln>
            <a:noFill/>
          </a:ln>
          <a:effectLst/>
        </p:spPr>
        <p:txBody>
          <a:bodyPr rtlCol="0" anchor="ctr" wrap="square" lIns="36576" rIns="36576" tIns="0" bIns="0">
            <a:noAutofit/>
          </a:bodyPr>
          <a:lstStyle/>
          <a:p>
            <a:pPr algn="ctr"/>
          </a:p>
        </p:txBody>
      </p:sp>
      <p:sp>
        <p:nvSpPr>
          <p:cNvPr id="6" name="TextBox 5"/>
          <p:cNvSpPr txBox="1"/>
          <p:nvPr/>
        </p:nvSpPr>
        <p:spPr>
          <a:xfrm>
            <a:off x="960120" y="5669280"/>
            <a:ext cx="548640" cy="658368"/>
          </a:xfrm>
          <a:prstGeom prst="rect">
            <a:avLst/>
          </a:prstGeom>
          <a:noFill/>
        </p:spPr>
        <p:txBody>
          <a:bodyPr wrap="square" anchor="ctr" lIns="0" rIns="0" tIns="0" bIns="0">
            <a:noAutofit/>
          </a:bodyPr>
          <a:lstStyle/>
          <a:p>
            <a:pPr algn="l"/>
            <a:r>
              <a:rPr sz="2400" b="0" i="0">
                <a:solidFill>
                  <a:srgbClr val="111111"/>
                </a:solidFill>
                <a:latin typeface="Inter"/>
              </a:rPr>
              <a:t>💬</a:t>
            </a:r>
          </a:p>
        </p:txBody>
      </p:sp>
      <p:sp>
        <p:nvSpPr>
          <p:cNvPr id="7" name="TextBox 6"/>
          <p:cNvSpPr txBox="1"/>
          <p:nvPr/>
        </p:nvSpPr>
        <p:spPr>
          <a:xfrm>
            <a:off x="1508760" y="5669280"/>
            <a:ext cx="9722815" cy="658368"/>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The wall forgot. Where in this room does the truth still exist?</a:t>
            </a:r>
          </a:p>
        </p:txBody>
      </p:sp>
      <p:sp>
        <p:nvSpPr>
          <p:cNvPr id="8" name="Oval 7"/>
          <p:cNvSpPr/>
          <p:nvPr/>
        </p:nvSpPr>
        <p:spPr>
          <a:xfrm>
            <a:off x="963137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9" name="Oval 8"/>
          <p:cNvSpPr/>
          <p:nvPr/>
        </p:nvSpPr>
        <p:spPr>
          <a:xfrm>
            <a:off x="985083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0" name="Oval 9"/>
          <p:cNvSpPr/>
          <p:nvPr/>
        </p:nvSpPr>
        <p:spPr>
          <a:xfrm>
            <a:off x="1007028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1" name="Oval 10"/>
          <p:cNvSpPr/>
          <p:nvPr/>
        </p:nvSpPr>
        <p:spPr>
          <a:xfrm>
            <a:off x="10289743"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2" name="Oval 11"/>
          <p:cNvSpPr/>
          <p:nvPr/>
        </p:nvSpPr>
        <p:spPr>
          <a:xfrm>
            <a:off x="10509199"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3" name="Oval 12"/>
          <p:cNvSpPr/>
          <p:nvPr/>
        </p:nvSpPr>
        <p:spPr>
          <a:xfrm>
            <a:off x="10728655"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4" name="Oval 13"/>
          <p:cNvSpPr/>
          <p:nvPr/>
        </p:nvSpPr>
        <p:spPr>
          <a:xfrm>
            <a:off x="10948111"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5" name="Oval 14"/>
          <p:cNvSpPr/>
          <p:nvPr/>
        </p:nvSpPr>
        <p:spPr>
          <a:xfrm>
            <a:off x="11167567" y="6510528"/>
            <a:ext cx="118872" cy="118872"/>
          </a:xfrm>
          <a:prstGeom prst="ellipse">
            <a:avLst/>
          </a:prstGeom>
          <a:solidFill>
            <a:srgbClr val="111111"/>
          </a:solidFill>
          <a:ln>
            <a:noFill/>
          </a:ln>
          <a:effectLst/>
        </p:spPr>
        <p:txBody>
          <a:bodyPr rtlCol="0" anchor="ctr" wrap="square" lIns="36576" rIns="36576" tIns="0" bIns="0">
            <a:noAutofit/>
          </a:bodyPr>
          <a:lstStyle/>
          <a:p>
            <a:pPr algn="ctr"/>
          </a:p>
        </p:txBody>
      </p:sp>
      <p:sp>
        <p:nvSpPr>
          <p:cNvPr id="16" name="Oval 15"/>
          <p:cNvSpPr/>
          <p:nvPr/>
        </p:nvSpPr>
        <p:spPr>
          <a:xfrm>
            <a:off x="11387023" y="6510528"/>
            <a:ext cx="118872" cy="118872"/>
          </a:xfrm>
          <a:prstGeom prst="ellipse">
            <a:avLst/>
          </a:prstGeom>
          <a:solidFill>
            <a:srgbClr val="9437FF"/>
          </a:solidFill>
          <a:ln>
            <a:noFill/>
          </a:ln>
          <a:effectLst/>
        </p:spPr>
        <p:txBody>
          <a:bodyPr rtlCol="0" anchor="ctr" wrap="square" lIns="36576" rIns="36576" tIns="0" bIns="0">
            <a:noAutofit/>
          </a:bodyPr>
          <a:lstStyle/>
          <a:p>
            <a:pPr algn="ctr"/>
          </a:p>
        </p:txBody>
      </p:sp>
      <p:sp>
        <p:nvSpPr>
          <p:cNvPr id="17" name="TextBox 16"/>
          <p:cNvSpPr txBox="1"/>
          <p:nvPr/>
        </p:nvSpPr>
        <p:spPr>
          <a:xfrm>
            <a:off x="685800" y="3628339"/>
            <a:ext cx="7051852" cy="365760"/>
          </a:xfrm>
          <a:prstGeom prst="rect">
            <a:avLst/>
          </a:prstGeom>
          <a:noFill/>
        </p:spPr>
        <p:txBody>
          <a:bodyPr wrap="square" anchor="ctr" lIns="0" rIns="0" tIns="0" bIns="0">
            <a:noAutofit/>
          </a:bodyPr>
          <a:lstStyle/>
          <a:p>
            <a:pPr algn="ctr"/>
            <a:r>
              <a:rPr sz="2000" b="1" i="0">
                <a:solidFill>
                  <a:srgbClr val="FF9300"/>
                </a:solidFill>
                <a:latin typeface="Inter"/>
              </a:rPr>
              <a:t>rewritten away</a:t>
            </a:r>
          </a:p>
        </p:txBody>
      </p:sp>
      <p:sp>
        <p:nvSpPr>
          <p:cNvPr id="18" name="Rounded Rectangle 17"/>
          <p:cNvSpPr/>
          <p:nvPr/>
        </p:nvSpPr>
        <p:spPr>
          <a:xfrm>
            <a:off x="685800"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19" name="Rounded Rectangle 18"/>
          <p:cNvSpPr/>
          <p:nvPr/>
        </p:nvSpPr>
        <p:spPr>
          <a:xfrm>
            <a:off x="747247" y="4146986"/>
            <a:ext cx="35539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#3</a:t>
            </a:r>
          </a:p>
        </p:txBody>
      </p:sp>
      <p:sp>
        <p:nvSpPr>
          <p:cNvPr id="20" name="Rounded Rectangle 19"/>
          <p:cNvSpPr/>
          <p:nvPr/>
        </p:nvSpPr>
        <p:spPr>
          <a:xfrm>
            <a:off x="747247"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21" name="Rounded Rectangle 20"/>
          <p:cNvSpPr/>
          <p:nvPr/>
        </p:nvSpPr>
        <p:spPr>
          <a:xfrm>
            <a:off x="747247"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22" name="Rounded Rectangle 21"/>
          <p:cNvSpPr/>
          <p:nvPr/>
        </p:nvSpPr>
        <p:spPr>
          <a:xfrm>
            <a:off x="747247"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23" name="Rounded Rectangle 22"/>
          <p:cNvSpPr/>
          <p:nvPr/>
        </p:nvSpPr>
        <p:spPr>
          <a:xfrm>
            <a:off x="1922068"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24" name="Rounded Rectangle 23"/>
          <p:cNvSpPr/>
          <p:nvPr/>
        </p:nvSpPr>
        <p:spPr>
          <a:xfrm>
            <a:off x="1983516" y="4146986"/>
            <a:ext cx="35539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#4</a:t>
            </a:r>
          </a:p>
        </p:txBody>
      </p:sp>
      <p:sp>
        <p:nvSpPr>
          <p:cNvPr id="25" name="Rounded Rectangle 24"/>
          <p:cNvSpPr/>
          <p:nvPr/>
        </p:nvSpPr>
        <p:spPr>
          <a:xfrm>
            <a:off x="1983516"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26" name="Rounded Rectangle 25"/>
          <p:cNvSpPr/>
          <p:nvPr/>
        </p:nvSpPr>
        <p:spPr>
          <a:xfrm>
            <a:off x="1983516"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27" name="Rounded Rectangle 26"/>
          <p:cNvSpPr/>
          <p:nvPr/>
        </p:nvSpPr>
        <p:spPr>
          <a:xfrm>
            <a:off x="1983516"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cxnSp>
        <p:nvCxnSpPr>
          <p:cNvPr id="28" name="Connector 27"/>
          <p:cNvCxnSpPr/>
          <p:nvPr/>
        </p:nvCxnSpPr>
        <p:spPr>
          <a:xfrm flipH="1">
            <a:off x="1611172" y="4712817"/>
            <a:ext cx="256032" cy="0"/>
          </a:xfrm>
          <a:prstGeom prst="line">
            <a:avLst/>
          </a:prstGeom>
          <a:ln w="25400">
            <a:solidFill>
              <a:srgbClr val="BDBDBD"/>
            </a:solidFill>
            <a:prstDash val="dash"/>
            <a:tailEnd type="triangle" w="med" len="med"/>
          </a:ln>
          <a:effectLst/>
        </p:spPr>
      </p:cxnSp>
      <p:sp>
        <p:nvSpPr>
          <p:cNvPr id="29" name="Rounded Rectangle 28"/>
          <p:cNvSpPr/>
          <p:nvPr/>
        </p:nvSpPr>
        <p:spPr>
          <a:xfrm>
            <a:off x="3158337"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30" name="Rounded Rectangle 29"/>
          <p:cNvSpPr/>
          <p:nvPr/>
        </p:nvSpPr>
        <p:spPr>
          <a:xfrm>
            <a:off x="3219785" y="4146986"/>
            <a:ext cx="55351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drt3</a:t>
            </a:r>
          </a:p>
        </p:txBody>
      </p:sp>
      <p:sp>
        <p:nvSpPr>
          <p:cNvPr id="31" name="Rounded Rectangle 30"/>
          <p:cNvSpPr/>
          <p:nvPr/>
        </p:nvSpPr>
        <p:spPr>
          <a:xfrm>
            <a:off x="3219785"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32" name="Rounded Rectangle 31"/>
          <p:cNvSpPr/>
          <p:nvPr/>
        </p:nvSpPr>
        <p:spPr>
          <a:xfrm>
            <a:off x="3219785"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33" name="Rounded Rectangle 32"/>
          <p:cNvSpPr/>
          <p:nvPr/>
        </p:nvSpPr>
        <p:spPr>
          <a:xfrm>
            <a:off x="3219785"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cxnSp>
        <p:nvCxnSpPr>
          <p:cNvPr id="34" name="Connector 33"/>
          <p:cNvCxnSpPr/>
          <p:nvPr/>
        </p:nvCxnSpPr>
        <p:spPr>
          <a:xfrm flipH="1">
            <a:off x="2847441" y="4712817"/>
            <a:ext cx="256032" cy="0"/>
          </a:xfrm>
          <a:prstGeom prst="line">
            <a:avLst/>
          </a:prstGeom>
          <a:ln w="25400">
            <a:solidFill>
              <a:srgbClr val="BDBDBD"/>
            </a:solidFill>
            <a:prstDash val="dash"/>
            <a:tailEnd type="triangle" w="med" len="med"/>
          </a:ln>
          <a:effectLst/>
        </p:spPr>
      </p:cxnSp>
      <p:sp>
        <p:nvSpPr>
          <p:cNvPr id="35" name="Rounded Rectangle 34"/>
          <p:cNvSpPr/>
          <p:nvPr/>
        </p:nvSpPr>
        <p:spPr>
          <a:xfrm>
            <a:off x="4394606"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36" name="Rounded Rectangle 35"/>
          <p:cNvSpPr/>
          <p:nvPr/>
        </p:nvSpPr>
        <p:spPr>
          <a:xfrm>
            <a:off x="4456054" y="4146986"/>
            <a:ext cx="55351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cdr2</a:t>
            </a:r>
          </a:p>
        </p:txBody>
      </p:sp>
      <p:sp>
        <p:nvSpPr>
          <p:cNvPr id="37" name="Rounded Rectangle 36"/>
          <p:cNvSpPr/>
          <p:nvPr/>
        </p:nvSpPr>
        <p:spPr>
          <a:xfrm>
            <a:off x="4456054"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38" name="Rounded Rectangle 37"/>
          <p:cNvSpPr/>
          <p:nvPr/>
        </p:nvSpPr>
        <p:spPr>
          <a:xfrm>
            <a:off x="4456054"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39" name="Rounded Rectangle 38"/>
          <p:cNvSpPr/>
          <p:nvPr/>
        </p:nvSpPr>
        <p:spPr>
          <a:xfrm>
            <a:off x="4456054"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cxnSp>
        <p:nvCxnSpPr>
          <p:cNvPr id="40" name="Connector 39"/>
          <p:cNvCxnSpPr/>
          <p:nvPr/>
        </p:nvCxnSpPr>
        <p:spPr>
          <a:xfrm flipH="1">
            <a:off x="4083710" y="4712817"/>
            <a:ext cx="256032" cy="0"/>
          </a:xfrm>
          <a:prstGeom prst="line">
            <a:avLst/>
          </a:prstGeom>
          <a:ln w="25400">
            <a:solidFill>
              <a:srgbClr val="BDBDBD"/>
            </a:solidFill>
            <a:prstDash val="dash"/>
            <a:tailEnd type="triangle" w="med" len="med"/>
          </a:ln>
          <a:effectLst/>
        </p:spPr>
      </p:cxnSp>
      <p:sp>
        <p:nvSpPr>
          <p:cNvPr id="41" name="Rounded Rectangle 40"/>
          <p:cNvSpPr/>
          <p:nvPr/>
        </p:nvSpPr>
        <p:spPr>
          <a:xfrm>
            <a:off x="5630875"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42" name="Rounded Rectangle 41"/>
          <p:cNvSpPr/>
          <p:nvPr/>
        </p:nvSpPr>
        <p:spPr>
          <a:xfrm>
            <a:off x="5692322" y="4146986"/>
            <a:ext cx="55351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mdr1</a:t>
            </a:r>
          </a:p>
        </p:txBody>
      </p:sp>
      <p:sp>
        <p:nvSpPr>
          <p:cNvPr id="43" name="Rounded Rectangle 42"/>
          <p:cNvSpPr/>
          <p:nvPr/>
        </p:nvSpPr>
        <p:spPr>
          <a:xfrm>
            <a:off x="5692322"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44" name="Rounded Rectangle 43"/>
          <p:cNvSpPr/>
          <p:nvPr/>
        </p:nvSpPr>
        <p:spPr>
          <a:xfrm>
            <a:off x="5692322"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45" name="Rounded Rectangle 44"/>
          <p:cNvSpPr/>
          <p:nvPr/>
        </p:nvSpPr>
        <p:spPr>
          <a:xfrm>
            <a:off x="5692322"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cxnSp>
        <p:nvCxnSpPr>
          <p:cNvPr id="46" name="Connector 45"/>
          <p:cNvCxnSpPr/>
          <p:nvPr/>
        </p:nvCxnSpPr>
        <p:spPr>
          <a:xfrm flipH="1">
            <a:off x="5319979" y="4712817"/>
            <a:ext cx="256032" cy="0"/>
          </a:xfrm>
          <a:prstGeom prst="line">
            <a:avLst/>
          </a:prstGeom>
          <a:ln w="25400">
            <a:solidFill>
              <a:srgbClr val="BDBDBD"/>
            </a:solidFill>
            <a:prstDash val="dash"/>
            <a:tailEnd type="triangle" w="med" len="med"/>
          </a:ln>
          <a:effectLst/>
        </p:spPr>
      </p:cxnSp>
      <p:sp>
        <p:nvSpPr>
          <p:cNvPr id="47" name="Rounded Rectangle 46"/>
          <p:cNvSpPr/>
          <p:nvPr/>
        </p:nvSpPr>
        <p:spPr>
          <a:xfrm>
            <a:off x="6867144" y="4085539"/>
            <a:ext cx="870508" cy="1254556"/>
          </a:xfrm>
          <a:prstGeom prst="roundRect">
            <a:avLst>
              <a:gd name="adj" fmla="val 7058"/>
            </a:avLst>
          </a:prstGeom>
          <a:solidFill>
            <a:srgbClr val="F3F3F3"/>
          </a:solidFill>
          <a:ln w="19050">
            <a:solidFill>
              <a:srgbClr val="BDBDBD"/>
            </a:solidFill>
            <a:prstDash val="dash"/>
          </a:ln>
          <a:effectLst/>
        </p:spPr>
        <p:txBody>
          <a:bodyPr rtlCol="0" anchor="ctr" wrap="square" lIns="36576" rIns="36576" tIns="0" bIns="0">
            <a:noAutofit/>
          </a:bodyPr>
          <a:lstStyle/>
          <a:p>
            <a:pPr algn="ctr"/>
          </a:p>
        </p:txBody>
      </p:sp>
      <p:sp>
        <p:nvSpPr>
          <p:cNvPr id="48" name="Rounded Rectangle 47"/>
          <p:cNvSpPr/>
          <p:nvPr/>
        </p:nvSpPr>
        <p:spPr>
          <a:xfrm>
            <a:off x="6928591" y="4146986"/>
            <a:ext cx="553516" cy="201168"/>
          </a:xfrm>
          <a:prstGeom prst="roundRect">
            <a:avLst>
              <a:gd name="adj" fmla="val 15272"/>
            </a:avLst>
          </a:prstGeom>
          <a:noFill/>
          <a:ln w="12700">
            <a:solidFill>
              <a:srgbClr val="BDBDBD"/>
            </a:solidFill>
          </a:ln>
          <a:effectLst/>
        </p:spPr>
        <p:txBody>
          <a:bodyPr rtlCol="0" anchor="ctr" wrap="square" lIns="18288" rIns="18288" tIns="0" bIns="0">
            <a:noAutofit/>
          </a:bodyPr>
          <a:lstStyle/>
          <a:p>
            <a:pPr algn="ctr"/>
            <a:r>
              <a:rPr sz="1300" b="1" i="0">
                <a:solidFill>
                  <a:srgbClr val="919191"/>
                </a:solidFill>
                <a:latin typeface="Noto Sans Mono"/>
              </a:rPr>
              <a:t>ddr8</a:t>
            </a:r>
          </a:p>
        </p:txBody>
      </p:sp>
      <p:sp>
        <p:nvSpPr>
          <p:cNvPr id="49" name="Rounded Rectangle 48"/>
          <p:cNvSpPr/>
          <p:nvPr/>
        </p:nvSpPr>
        <p:spPr>
          <a:xfrm>
            <a:off x="6928591" y="4372295"/>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50" name="Rounded Rectangle 49"/>
          <p:cNvSpPr/>
          <p:nvPr/>
        </p:nvSpPr>
        <p:spPr>
          <a:xfrm>
            <a:off x="6928591" y="4641628"/>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sp>
        <p:nvSpPr>
          <p:cNvPr id="51" name="Rounded Rectangle 50"/>
          <p:cNvSpPr/>
          <p:nvPr/>
        </p:nvSpPr>
        <p:spPr>
          <a:xfrm>
            <a:off x="6928591" y="4910962"/>
            <a:ext cx="747613" cy="239407"/>
          </a:xfrm>
          <a:prstGeom prst="roundRect">
            <a:avLst>
              <a:gd name="adj" fmla="val 10694"/>
            </a:avLst>
          </a:prstGeom>
          <a:solidFill>
            <a:srgbClr val="F3F3F3"/>
          </a:solidFill>
          <a:ln w="9525">
            <a:solidFill>
              <a:srgbClr val="DDDDDD"/>
            </a:solidFill>
          </a:ln>
          <a:effectLst/>
        </p:spPr>
        <p:txBody>
          <a:bodyPr rtlCol="0" anchor="ctr" wrap="square" lIns="36576" rIns="36576" tIns="0" bIns="0">
            <a:noAutofit/>
          </a:bodyPr>
          <a:lstStyle/>
          <a:p>
            <a:pPr algn="ctr"/>
          </a:p>
        </p:txBody>
      </p:sp>
      <p:cxnSp>
        <p:nvCxnSpPr>
          <p:cNvPr id="52" name="Connector 51"/>
          <p:cNvCxnSpPr/>
          <p:nvPr/>
        </p:nvCxnSpPr>
        <p:spPr>
          <a:xfrm flipH="1">
            <a:off x="6556248" y="4712817"/>
            <a:ext cx="256032" cy="0"/>
          </a:xfrm>
          <a:prstGeom prst="line">
            <a:avLst/>
          </a:prstGeom>
          <a:ln w="25400">
            <a:solidFill>
              <a:srgbClr val="BDBDBD"/>
            </a:solidFill>
            <a:prstDash val="dash"/>
            <a:tailEnd type="triangle" w="med" len="med"/>
          </a:ln>
          <a:effectLst/>
        </p:spPr>
      </p:cxnSp>
      <p:sp>
        <p:nvSpPr>
          <p:cNvPr id="53" name="Rounded Rectangle 52"/>
          <p:cNvSpPr/>
          <p:nvPr/>
        </p:nvSpPr>
        <p:spPr>
          <a:xfrm>
            <a:off x="8945575" y="3561242"/>
            <a:ext cx="2560319" cy="1925157"/>
          </a:xfrm>
          <a:prstGeom prst="roundRect">
            <a:avLst>
              <a:gd name="adj" fmla="val 8549"/>
            </a:avLst>
          </a:prstGeom>
          <a:solidFill>
            <a:srgbClr val="E8F6FF"/>
          </a:solidFill>
          <a:ln w="25400">
            <a:solidFill>
              <a:srgbClr val="00A2FF"/>
            </a:solidFill>
          </a:ln>
          <a:effectLst/>
        </p:spPr>
        <p:txBody>
          <a:bodyPr rtlCol="0" anchor="ctr" wrap="square" lIns="36576" rIns="36576" tIns="0" bIns="0">
            <a:noAutofit/>
          </a:bodyPr>
          <a:lstStyle/>
          <a:p>
            <a:pPr algn="ctr"/>
          </a:p>
        </p:txBody>
      </p:sp>
      <p:sp>
        <p:nvSpPr>
          <p:cNvPr id="54" name="Rounded Rectangle 53"/>
          <p:cNvSpPr/>
          <p:nvPr/>
        </p:nvSpPr>
        <p:spPr>
          <a:xfrm>
            <a:off x="9116896" y="3387506"/>
            <a:ext cx="2217677" cy="347472"/>
          </a:xfrm>
          <a:prstGeom prst="roundRect">
            <a:avLst>
              <a:gd name="adj" fmla="val 50000"/>
            </a:avLst>
          </a:prstGeom>
          <a:solidFill>
            <a:srgbClr val="00A2FF"/>
          </a:solidFill>
          <a:ln>
            <a:noFill/>
          </a:ln>
          <a:effectLst/>
        </p:spPr>
        <p:txBody>
          <a:bodyPr rtlCol="0" anchor="ctr" wrap="square" lIns="36576" rIns="36576" tIns="0" bIns="0">
            <a:noAutofit/>
          </a:bodyPr>
          <a:lstStyle/>
          <a:p>
            <a:pPr algn="ctr"/>
            <a:r>
              <a:rPr sz="1400" b="1" i="0">
                <a:solidFill>
                  <a:srgbClr val="111111"/>
                </a:solidFill>
                <a:latin typeface="Inter"/>
              </a:rPr>
              <a:t>THE WALL  ·  GitHub</a:t>
            </a:r>
          </a:p>
        </p:txBody>
      </p:sp>
      <p:cxnSp>
        <p:nvCxnSpPr>
          <p:cNvPr id="55" name="Connector 54"/>
          <p:cNvCxnSpPr/>
          <p:nvPr/>
        </p:nvCxnSpPr>
        <p:spPr>
          <a:xfrm>
            <a:off x="7883956" y="4712817"/>
            <a:ext cx="915315" cy="0"/>
          </a:xfrm>
          <a:prstGeom prst="line">
            <a:avLst/>
          </a:prstGeom>
          <a:ln w="38100">
            <a:solidFill>
              <a:srgbClr val="FF9300"/>
            </a:solidFill>
            <a:tailEnd type="triangle" w="med" len="med"/>
          </a:ln>
          <a:effectLst/>
        </p:spPr>
      </p:cxnSp>
      <p:sp>
        <p:nvSpPr>
          <p:cNvPr id="56" name="TextBox 55"/>
          <p:cNvSpPr txBox="1"/>
          <p:nvPr/>
        </p:nvSpPr>
        <p:spPr>
          <a:xfrm>
            <a:off x="7701076" y="4310481"/>
            <a:ext cx="1281074" cy="310896"/>
          </a:xfrm>
          <a:prstGeom prst="rect">
            <a:avLst/>
          </a:prstGeom>
          <a:noFill/>
        </p:spPr>
        <p:txBody>
          <a:bodyPr wrap="square" anchor="ctr" lIns="0" rIns="0" tIns="0" bIns="0">
            <a:noAutofit/>
          </a:bodyPr>
          <a:lstStyle/>
          <a:p>
            <a:pPr algn="ctr"/>
            <a:r>
              <a:rPr sz="1600" b="1" i="0">
                <a:solidFill>
                  <a:srgbClr val="FF9300"/>
                </a:solidFill>
                <a:latin typeface="Noto Sans Mono"/>
              </a:rPr>
              <a:t>squash</a:t>
            </a:r>
          </a:p>
        </p:txBody>
      </p:sp>
      <p:sp>
        <p:nvSpPr>
          <p:cNvPr id="57" name="Rounded Rectangle 56"/>
          <p:cNvSpPr/>
          <p:nvPr/>
        </p:nvSpPr>
        <p:spPr>
          <a:xfrm>
            <a:off x="9339376" y="4085539"/>
            <a:ext cx="870508" cy="1254556"/>
          </a:xfrm>
          <a:prstGeom prst="roundRect">
            <a:avLst>
              <a:gd name="adj" fmla="val 7058"/>
            </a:avLst>
          </a:prstGeom>
          <a:solidFill>
            <a:srgbClr val="FFFFFF"/>
          </a:solidFill>
          <a:ln w="19050">
            <a:solidFill>
              <a:srgbClr val="1F1F1F"/>
            </a:solidFill>
          </a:ln>
          <a:effectLst/>
        </p:spPr>
        <p:txBody>
          <a:bodyPr rtlCol="0" anchor="ctr" wrap="square" lIns="36576" rIns="36576" tIns="0" bIns="0">
            <a:noAutofit/>
          </a:bodyPr>
          <a:lstStyle/>
          <a:p>
            <a:pPr algn="ctr"/>
          </a:p>
        </p:txBody>
      </p:sp>
      <p:sp>
        <p:nvSpPr>
          <p:cNvPr id="58" name="Rounded Rectangle 57"/>
          <p:cNvSpPr/>
          <p:nvPr/>
        </p:nvSpPr>
        <p:spPr>
          <a:xfrm>
            <a:off x="9400824" y="4146986"/>
            <a:ext cx="553516" cy="201168"/>
          </a:xfrm>
          <a:prstGeom prst="roundRect">
            <a:avLst>
              <a:gd name="adj" fmla="val 15272"/>
            </a:avLst>
          </a:prstGeom>
          <a:solidFill>
            <a:srgbClr val="111111"/>
          </a:solidFill>
          <a:ln>
            <a:noFill/>
          </a:ln>
          <a:effectLst/>
        </p:spPr>
        <p:txBody>
          <a:bodyPr rtlCol="0" anchor="ctr" wrap="square" lIns="18288" rIns="18288" tIns="0" bIns="0">
            <a:noAutofit/>
          </a:bodyPr>
          <a:lstStyle/>
          <a:p>
            <a:pPr algn="ctr"/>
            <a:r>
              <a:rPr sz="1300" b="1" i="0">
                <a:solidFill>
                  <a:srgbClr val="FFFFFF"/>
                </a:solidFill>
                <a:latin typeface="Noto Sans Mono"/>
              </a:rPr>
              <a:t>ddr7</a:t>
            </a:r>
          </a:p>
        </p:txBody>
      </p:sp>
      <p:sp>
        <p:nvSpPr>
          <p:cNvPr id="59" name="Rounded Rectangle 58"/>
          <p:cNvSpPr/>
          <p:nvPr/>
        </p:nvSpPr>
        <p:spPr>
          <a:xfrm>
            <a:off x="9400824" y="4372295"/>
            <a:ext cx="747613" cy="239407"/>
          </a:xfrm>
          <a:prstGeom prst="roundRect">
            <a:avLst>
              <a:gd name="adj" fmla="val 10694"/>
            </a:avLst>
          </a:prstGeom>
          <a:solidFill>
            <a:srgbClr val="FAFAFA"/>
          </a:solidFill>
          <a:ln w="9525">
            <a:solidFill>
              <a:srgbClr val="DDDDDD"/>
            </a:solidFill>
          </a:ln>
          <a:effectLst/>
        </p:spPr>
        <p:txBody>
          <a:bodyPr rtlCol="0" anchor="ctr" wrap="square" lIns="36576" rIns="36576" tIns="0" bIns="0">
            <a:noAutofit/>
          </a:bodyPr>
          <a:lstStyle/>
          <a:p>
            <a:pPr algn="ctr"/>
            <a:r>
              <a:rPr sz="1420" b="0" i="0">
                <a:solidFill>
                  <a:srgbClr val="111111"/>
                </a:solidFill>
                <a:latin typeface="Inter"/>
              </a:rPr>
              <a:t>🐲</a:t>
            </a:r>
          </a:p>
        </p:txBody>
      </p:sp>
      <p:sp>
        <p:nvSpPr>
          <p:cNvPr id="60" name="Rounded Rectangle 59"/>
          <p:cNvSpPr/>
          <p:nvPr/>
        </p:nvSpPr>
        <p:spPr>
          <a:xfrm>
            <a:off x="9400824" y="4641628"/>
            <a:ext cx="747613" cy="239407"/>
          </a:xfrm>
          <a:prstGeom prst="roundRect">
            <a:avLst>
              <a:gd name="adj" fmla="val 10694"/>
            </a:avLst>
          </a:prstGeom>
          <a:solidFill>
            <a:srgbClr val="FAFAFA"/>
          </a:solidFill>
          <a:ln w="9525">
            <a:solidFill>
              <a:srgbClr val="DDDDDD"/>
            </a:solidFill>
          </a:ln>
          <a:effectLst/>
        </p:spPr>
        <p:txBody>
          <a:bodyPr rtlCol="0" anchor="ctr" wrap="square" lIns="36576" rIns="36576" tIns="0" bIns="0">
            <a:noAutofit/>
          </a:bodyPr>
          <a:lstStyle/>
          <a:p>
            <a:pPr algn="ctr"/>
            <a:r>
              <a:rPr sz="1420" b="0" i="0">
                <a:solidFill>
                  <a:srgbClr val="111111"/>
                </a:solidFill>
                <a:latin typeface="Inter"/>
              </a:rPr>
              <a:t>🪩</a:t>
            </a:r>
          </a:p>
        </p:txBody>
      </p:sp>
      <p:sp>
        <p:nvSpPr>
          <p:cNvPr id="61" name="Rounded Rectangle 60"/>
          <p:cNvSpPr/>
          <p:nvPr/>
        </p:nvSpPr>
        <p:spPr>
          <a:xfrm>
            <a:off x="9400824" y="4910962"/>
            <a:ext cx="747613" cy="239407"/>
          </a:xfrm>
          <a:prstGeom prst="roundRect">
            <a:avLst>
              <a:gd name="adj" fmla="val 10694"/>
            </a:avLst>
          </a:prstGeom>
          <a:solidFill>
            <a:srgbClr val="FAFAFA"/>
          </a:solidFill>
          <a:ln w="9525">
            <a:solidFill>
              <a:srgbClr val="DDDDDD"/>
            </a:solidFill>
          </a:ln>
          <a:effectLst/>
        </p:spPr>
        <p:txBody>
          <a:bodyPr rtlCol="0" anchor="ctr" wrap="square" lIns="36576" rIns="36576" tIns="0" bIns="0">
            <a:noAutofit/>
          </a:bodyPr>
          <a:lstStyle/>
          <a:p>
            <a:pPr algn="ctr"/>
            <a:r>
              <a:rPr sz="1420" b="0" i="0">
                <a:solidFill>
                  <a:srgbClr val="111111"/>
                </a:solidFill>
                <a:latin typeface="Inter"/>
              </a:rPr>
              <a:t>🛼</a:t>
            </a:r>
          </a:p>
        </p:txBody>
      </p:sp>
      <p:sp>
        <p:nvSpPr>
          <p:cNvPr id="62" name="TextBox 61"/>
          <p:cNvSpPr txBox="1"/>
          <p:nvPr/>
        </p:nvSpPr>
        <p:spPr>
          <a:xfrm>
            <a:off x="9375952" y="5150370"/>
            <a:ext cx="797356" cy="174625"/>
          </a:xfrm>
          <a:prstGeom prst="rect">
            <a:avLst/>
          </a:prstGeom>
          <a:noFill/>
        </p:spPr>
        <p:txBody>
          <a:bodyPr wrap="square" anchor="ctr" lIns="0" rIns="0" tIns="0" bIns="0">
            <a:noAutofit/>
          </a:bodyPr>
          <a:lstStyle/>
          <a:p>
            <a:pPr algn="ctr"/>
            <a:r>
              <a:rPr sz="1100" b="0" i="0">
                <a:solidFill>
                  <a:srgbClr val="555555"/>
                </a:solidFill>
                <a:latin typeface="Noto Sans Mono"/>
              </a:rPr>
              <a:t>—</a:t>
            </a:r>
          </a:p>
        </p:txBody>
      </p:sp>
      <p:sp>
        <p:nvSpPr>
          <p:cNvPr id="63" name="Rounded Rectangle 62"/>
          <p:cNvSpPr/>
          <p:nvPr/>
        </p:nvSpPr>
        <p:spPr>
          <a:xfrm rot="21360000">
            <a:off x="10072725" y="4222699"/>
            <a:ext cx="716855" cy="329184"/>
          </a:xfrm>
          <a:prstGeom prst="roundRect">
            <a:avLst>
              <a:gd name="adj" fmla="val 11111"/>
            </a:avLst>
          </a:prstGeom>
          <a:solidFill>
            <a:srgbClr val="FFE45E"/>
          </a:solidFill>
          <a:ln>
            <a:noFill/>
          </a:ln>
          <a:effectLst/>
        </p:spPr>
        <p:txBody>
          <a:bodyPr rtlCol="0" anchor="ctr" wrap="square" lIns="36576" rIns="36576" tIns="0" bIns="0">
            <a:noAutofit/>
          </a:bodyPr>
          <a:lstStyle/>
          <a:p>
            <a:pPr algn="ctr"/>
            <a:r>
              <a:rPr sz="1400" b="1" i="0">
                <a:solidFill>
                  <a:srgbClr val="111111"/>
                </a:solidFill>
                <a:latin typeface="Inter"/>
              </a:rPr>
              <a:t>main</a:t>
            </a:r>
          </a:p>
        </p:txBody>
      </p:sp>
      <p:sp>
        <p:nvSpPr>
          <p:cNvPr id="64" name="Rounded Rectangle 63"/>
          <p:cNvSpPr/>
          <p:nvPr/>
        </p:nvSpPr>
        <p:spPr>
          <a:xfrm rot="21360000">
            <a:off x="10072725" y="4606747"/>
            <a:ext cx="1039368" cy="329184"/>
          </a:xfrm>
          <a:prstGeom prst="roundRect">
            <a:avLst>
              <a:gd name="adj" fmla="val 11111"/>
            </a:avLst>
          </a:prstGeom>
          <a:solidFill>
            <a:srgbClr val="FF9300"/>
          </a:solidFill>
          <a:ln>
            <a:noFill/>
          </a:ln>
          <a:effectLst/>
        </p:spPr>
        <p:txBody>
          <a:bodyPr rtlCol="0" anchor="ctr" wrap="square" lIns="36576" rIns="36576" tIns="0" bIns="0">
            <a:noAutofit/>
          </a:bodyPr>
          <a:lstStyle/>
          <a:p>
            <a:pPr algn="ctr"/>
            <a:r>
              <a:rPr sz="1400" b="1" i="0">
                <a:solidFill>
                  <a:srgbClr val="111111"/>
                </a:solidFill>
                <a:latin typeface="Noto Sans Mono"/>
              </a:rPr>
              <a:t>--force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94360"/>
            <a:ext cx="10820095" cy="731520"/>
          </a:xfrm>
          <a:prstGeom prst="rect">
            <a:avLst/>
          </a:prstGeom>
          <a:noFill/>
        </p:spPr>
        <p:txBody>
          <a:bodyPr wrap="square" anchor="ctr" lIns="0" rIns="0" tIns="0" bIns="0">
            <a:noAutofit/>
          </a:bodyPr>
          <a:lstStyle/>
          <a:p>
            <a:pPr algn="ctr"/>
            <a:r>
              <a:rPr sz="4800" b="0" i="0">
                <a:solidFill>
                  <a:srgbClr val="111111"/>
                </a:solidFill>
                <a:latin typeface="Inter"/>
              </a:rPr>
              <a:t>💬</a:t>
            </a:r>
          </a:p>
        </p:txBody>
      </p:sp>
      <p:sp>
        <p:nvSpPr>
          <p:cNvPr id="3" name="TextBox 2"/>
          <p:cNvSpPr txBox="1"/>
          <p:nvPr/>
        </p:nvSpPr>
        <p:spPr>
          <a:xfrm>
            <a:off x="685800" y="1344168"/>
            <a:ext cx="10820095" cy="1325880"/>
          </a:xfrm>
          <a:prstGeom prst="rect">
            <a:avLst/>
          </a:prstGeom>
          <a:noFill/>
        </p:spPr>
        <p:txBody>
          <a:bodyPr wrap="square" anchor="ctr" lIns="0" rIns="0" tIns="0" bIns="0">
            <a:noAutofit/>
          </a:bodyPr>
          <a:lstStyle/>
          <a:p>
            <a:pPr algn="ctr">
              <a:lnSpc>
                <a:spcPct val="106000"/>
              </a:lnSpc>
            </a:pPr>
            <a:r>
              <a:rPr sz="3600" b="1" i="0">
                <a:solidFill>
                  <a:srgbClr val="111111"/>
                </a:solidFill>
                <a:latin typeface="Inter"/>
              </a:rPr>
              <a:t>The Boss has a real reason. So does the auditor.</a:t>
            </a:r>
            <a:br>
              <a:rPr sz="3600"/>
            </a:br>
            <a:r>
              <a:rPr sz="3600" b="1" i="0">
                <a:solidFill>
                  <a:srgbClr val="111111"/>
                </a:solidFill>
                <a:latin typeface="Inter"/>
              </a:rPr>
              <a:t>Invent ONE wall rule that serves both.</a:t>
            </a:r>
          </a:p>
        </p:txBody>
      </p:sp>
      <p:sp>
        <p:nvSpPr>
          <p:cNvPr id="4" name="TextBox 3"/>
          <p:cNvSpPr txBox="1"/>
          <p:nvPr/>
        </p:nvSpPr>
        <p:spPr>
          <a:xfrm>
            <a:off x="841714" y="2898648"/>
            <a:ext cx="10508265" cy="384048"/>
          </a:xfrm>
          <a:prstGeom prst="rect">
            <a:avLst/>
          </a:prstGeom>
          <a:noFill/>
        </p:spPr>
        <p:txBody>
          <a:bodyPr wrap="square" anchor="ctr" lIns="0" rIns="0" tIns="0" bIns="0">
            <a:noAutofit/>
          </a:bodyPr>
          <a:lstStyle/>
          <a:p>
            <a:pPr algn="l"/>
            <a:r>
              <a:rPr sz="2400" b="0" i="0">
                <a:solidFill>
                  <a:srgbClr val="555555"/>
                </a:solidFill>
                <a:latin typeface="Inter"/>
              </a:rPr>
              <a:t>Does your rule allow…</a:t>
            </a:r>
          </a:p>
        </p:txBody>
      </p:sp>
      <p:sp>
        <p:nvSpPr>
          <p:cNvPr id="5" name="TextBox 4"/>
          <p:cNvSpPr txBox="1"/>
          <p:nvPr/>
        </p:nvSpPr>
        <p:spPr>
          <a:xfrm>
            <a:off x="841714" y="3392424"/>
            <a:ext cx="566928" cy="416600"/>
          </a:xfrm>
          <a:prstGeom prst="rect">
            <a:avLst/>
          </a:prstGeom>
          <a:noFill/>
        </p:spPr>
        <p:txBody>
          <a:bodyPr wrap="square" anchor="t" lIns="0" rIns="0" tIns="0" bIns="0">
            <a:noAutofit/>
          </a:bodyPr>
          <a:lstStyle/>
          <a:p>
            <a:pPr algn="l">
              <a:lnSpc>
                <a:spcPct val="108000"/>
              </a:lnSpc>
            </a:pPr>
            <a:r>
              <a:rPr sz="2400" b="1" i="0">
                <a:solidFill>
                  <a:srgbClr val="9437FF"/>
                </a:solidFill>
                <a:latin typeface="Inter"/>
              </a:rPr>
              <a:t>a ·</a:t>
            </a:r>
          </a:p>
        </p:txBody>
      </p:sp>
      <p:sp>
        <p:nvSpPr>
          <p:cNvPr id="6" name="TextBox 5"/>
          <p:cNvSpPr txBox="1"/>
          <p:nvPr/>
        </p:nvSpPr>
        <p:spPr>
          <a:xfrm>
            <a:off x="1408642" y="3392424"/>
            <a:ext cx="9941337" cy="489752"/>
          </a:xfrm>
          <a:prstGeom prst="rect">
            <a:avLst/>
          </a:prstGeom>
          <a:noFill/>
        </p:spPr>
        <p:txBody>
          <a:bodyPr wrap="square" anchor="t" lIns="0" rIns="0" tIns="0" bIns="0">
            <a:noAutofit/>
          </a:bodyPr>
          <a:lstStyle/>
          <a:p>
            <a:pPr algn="l">
              <a:lnSpc>
                <a:spcPct val="108000"/>
              </a:lnSpc>
            </a:pPr>
            <a:r>
              <a:rPr sz="2400" b="0" i="0">
                <a:solidFill>
                  <a:srgbClr val="111111"/>
                </a:solidFill>
                <a:latin typeface="Inter"/>
              </a:rPr>
              <a:t>squashing your 5 messy cards before anyone copied them?</a:t>
            </a:r>
          </a:p>
        </p:txBody>
      </p:sp>
      <p:sp>
        <p:nvSpPr>
          <p:cNvPr id="7" name="TextBox 6"/>
          <p:cNvSpPr txBox="1"/>
          <p:nvPr/>
        </p:nvSpPr>
        <p:spPr>
          <a:xfrm>
            <a:off x="841714" y="3937040"/>
            <a:ext cx="566928" cy="416600"/>
          </a:xfrm>
          <a:prstGeom prst="rect">
            <a:avLst/>
          </a:prstGeom>
          <a:noFill/>
        </p:spPr>
        <p:txBody>
          <a:bodyPr wrap="square" anchor="t" lIns="0" rIns="0" tIns="0" bIns="0">
            <a:noAutofit/>
          </a:bodyPr>
          <a:lstStyle/>
          <a:p>
            <a:pPr algn="l">
              <a:lnSpc>
                <a:spcPct val="108000"/>
              </a:lnSpc>
            </a:pPr>
            <a:r>
              <a:rPr sz="2400" b="1" i="0">
                <a:solidFill>
                  <a:srgbClr val="9437FF"/>
                </a:solidFill>
                <a:latin typeface="Inter"/>
              </a:rPr>
              <a:t>b ·</a:t>
            </a:r>
          </a:p>
        </p:txBody>
      </p:sp>
      <p:sp>
        <p:nvSpPr>
          <p:cNvPr id="8" name="TextBox 7"/>
          <p:cNvSpPr txBox="1"/>
          <p:nvPr/>
        </p:nvSpPr>
        <p:spPr>
          <a:xfrm>
            <a:off x="1408642" y="3937040"/>
            <a:ext cx="9941337" cy="489752"/>
          </a:xfrm>
          <a:prstGeom prst="rect">
            <a:avLst/>
          </a:prstGeom>
          <a:noFill/>
        </p:spPr>
        <p:txBody>
          <a:bodyPr wrap="square" anchor="t" lIns="0" rIns="0" tIns="0" bIns="0">
            <a:noAutofit/>
          </a:bodyPr>
          <a:lstStyle/>
          <a:p>
            <a:pPr algn="l">
              <a:lnSpc>
                <a:spcPct val="108000"/>
              </a:lnSpc>
            </a:pPr>
            <a:r>
              <a:rPr sz="2400" b="0" i="0">
                <a:solidFill>
                  <a:srgbClr val="111111"/>
                </a:solidFill>
                <a:latin typeface="Inter"/>
              </a:rPr>
              <a:t>force-pushing </a:t>
            </a:r>
            <a:r>
              <a:rPr sz="2400" b="0" i="0">
                <a:solidFill>
                  <a:srgbClr val="9437FF"/>
                </a:solidFill>
                <a:latin typeface="Noto Sans Mono"/>
              </a:rPr>
              <a:t>main</a:t>
            </a:r>
            <a:r>
              <a:rPr sz="2400" b="0" i="0">
                <a:solidFill>
                  <a:srgbClr val="111111"/>
                </a:solidFill>
                <a:latin typeface="Inter"/>
              </a:rPr>
              <a:t> to drop the mustache after everyone pulled?</a:t>
            </a:r>
          </a:p>
        </p:txBody>
      </p:sp>
      <p:sp>
        <p:nvSpPr>
          <p:cNvPr id="9" name="TextBox 8"/>
          <p:cNvSpPr txBox="1"/>
          <p:nvPr/>
        </p:nvSpPr>
        <p:spPr>
          <a:xfrm>
            <a:off x="841714" y="4481657"/>
            <a:ext cx="566928" cy="416600"/>
          </a:xfrm>
          <a:prstGeom prst="rect">
            <a:avLst/>
          </a:prstGeom>
          <a:noFill/>
        </p:spPr>
        <p:txBody>
          <a:bodyPr wrap="square" anchor="t" lIns="0" rIns="0" tIns="0" bIns="0">
            <a:noAutofit/>
          </a:bodyPr>
          <a:lstStyle/>
          <a:p>
            <a:pPr algn="l">
              <a:lnSpc>
                <a:spcPct val="108000"/>
              </a:lnSpc>
            </a:pPr>
            <a:r>
              <a:rPr sz="2400" b="1" i="0">
                <a:solidFill>
                  <a:srgbClr val="9437FF"/>
                </a:solidFill>
                <a:latin typeface="Inter"/>
              </a:rPr>
              <a:t>c ·</a:t>
            </a:r>
          </a:p>
        </p:txBody>
      </p:sp>
      <p:sp>
        <p:nvSpPr>
          <p:cNvPr id="10" name="TextBox 9"/>
          <p:cNvSpPr txBox="1"/>
          <p:nvPr/>
        </p:nvSpPr>
        <p:spPr>
          <a:xfrm>
            <a:off x="1408642" y="4481657"/>
            <a:ext cx="9941337" cy="489752"/>
          </a:xfrm>
          <a:prstGeom prst="rect">
            <a:avLst/>
          </a:prstGeom>
          <a:noFill/>
        </p:spPr>
        <p:txBody>
          <a:bodyPr wrap="square" anchor="t" lIns="0" rIns="0" tIns="0" bIns="0">
            <a:noAutofit/>
          </a:bodyPr>
          <a:lstStyle/>
          <a:p>
            <a:pPr algn="l">
              <a:lnSpc>
                <a:spcPct val="108000"/>
              </a:lnSpc>
            </a:pPr>
            <a:r>
              <a:rPr sz="2400" b="0" i="0">
                <a:solidFill>
                  <a:srgbClr val="111111"/>
                </a:solidFill>
                <a:latin typeface="Inter"/>
              </a:rPr>
              <a:t>“Squash and merge” of a teammate’s 6-card idea via the PR button?</a:t>
            </a:r>
          </a:p>
        </p:txBody>
      </p:sp>
      <p:sp>
        <p:nvSpPr>
          <p:cNvPr id="11" name="Rounded Rectangle 10"/>
          <p:cNvSpPr/>
          <p:nvPr/>
        </p:nvSpPr>
        <p:spPr>
          <a:xfrm>
            <a:off x="3261207" y="5257800"/>
            <a:ext cx="5669280" cy="512064"/>
          </a:xfrm>
          <a:prstGeom prst="roundRect">
            <a:avLst>
              <a:gd name="adj" fmla="val 50000"/>
            </a:avLst>
          </a:prstGeom>
          <a:solidFill>
            <a:srgbClr val="F6ECF8"/>
          </a:solidFill>
          <a:ln>
            <a:noFill/>
          </a:ln>
          <a:effectLst/>
        </p:spPr>
        <p:txBody>
          <a:bodyPr rtlCol="0" anchor="ctr" wrap="square" lIns="36576" rIns="36576" tIns="0" bIns="0">
            <a:noAutofit/>
          </a:bodyPr>
          <a:lstStyle/>
          <a:p>
            <a:pPr algn="ctr"/>
            <a:r>
              <a:rPr sz="2000" b="1" i="0">
                <a:solidFill>
                  <a:srgbClr val="111111"/>
                </a:solidFill>
                <a:latin typeface="Inter"/>
              </a:rPr>
              <a:t>Think 1 min  ·  Pair 2 min  ·  Share 2 min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ctr" lIns="0" rIns="0" tIns="0" bIns="0">
            <a:noAutofit/>
          </a:bodyPr>
          <a:lstStyle/>
          <a:p>
            <a:pPr algn="l"/>
            <a:r>
              <a:rPr sz="3200" b="1" i="0">
                <a:solidFill>
                  <a:srgbClr val="111111"/>
                </a:solidFill>
                <a:latin typeface="Inter"/>
              </a:rPr>
              <a:t>Switching to Git: the Good, the Bad, and the Ugly</a:t>
            </a:r>
          </a:p>
        </p:txBody>
      </p:sp>
      <p:sp>
        <p:nvSpPr>
          <p:cNvPr id="3" name="TextBox 2"/>
          <p:cNvSpPr txBox="1"/>
          <p:nvPr/>
        </p:nvSpPr>
        <p:spPr>
          <a:xfrm>
            <a:off x="685800" y="1170432"/>
            <a:ext cx="10820095" cy="365760"/>
          </a:xfrm>
          <a:prstGeom prst="rect">
            <a:avLst/>
          </a:prstGeom>
          <a:noFill/>
        </p:spPr>
        <p:txBody>
          <a:bodyPr wrap="square" anchor="ctr" lIns="0" rIns="0" tIns="0" bIns="0">
            <a:noAutofit/>
          </a:bodyPr>
          <a:lstStyle/>
          <a:p>
            <a:pPr algn="l"/>
            <a:r>
              <a:rPr sz="2000" b="0" i="0">
                <a:solidFill>
                  <a:srgbClr val="919191"/>
                </a:solidFill>
                <a:latin typeface="Inter"/>
              </a:rPr>
              <a:t>Just, Herzig, Czerwonka, Murphy · ISSRE 2016 · Microsoft Research</a:t>
            </a:r>
          </a:p>
        </p:txBody>
      </p:sp>
      <p:sp>
        <p:nvSpPr>
          <p:cNvPr id="4" name="Rectangle 3"/>
          <p:cNvSpPr/>
          <p:nvPr/>
        </p:nvSpPr>
        <p:spPr>
          <a:xfrm>
            <a:off x="685800" y="1874519"/>
            <a:ext cx="3456432" cy="64008"/>
          </a:xfrm>
          <a:prstGeom prst="rect">
            <a:avLst/>
          </a:prstGeom>
          <a:solidFill>
            <a:srgbClr val="1E9E4A"/>
          </a:solidFill>
          <a:ln>
            <a:noFill/>
          </a:ln>
          <a:effectLst/>
        </p:spPr>
        <p:txBody>
          <a:bodyPr rtlCol="0" anchor="ctr" wrap="square" lIns="36576" rIns="36576" tIns="0" bIns="0">
            <a:noAutofit/>
          </a:bodyPr>
          <a:lstStyle/>
          <a:p>
            <a:pPr algn="ctr"/>
          </a:p>
        </p:txBody>
      </p:sp>
      <p:sp>
        <p:nvSpPr>
          <p:cNvPr id="5" name="TextBox 4"/>
          <p:cNvSpPr txBox="1"/>
          <p:nvPr/>
        </p:nvSpPr>
        <p:spPr>
          <a:xfrm>
            <a:off x="685800" y="2103120"/>
            <a:ext cx="3456432" cy="457200"/>
          </a:xfrm>
          <a:prstGeom prst="rect">
            <a:avLst/>
          </a:prstGeom>
          <a:noFill/>
        </p:spPr>
        <p:txBody>
          <a:bodyPr wrap="square" anchor="ctr" lIns="0" rIns="0" tIns="0" bIns="0">
            <a:noAutofit/>
          </a:bodyPr>
          <a:lstStyle/>
          <a:p>
            <a:pPr algn="l"/>
            <a:r>
              <a:rPr sz="2400" b="1" i="0">
                <a:solidFill>
                  <a:srgbClr val="1E9E4A"/>
                </a:solidFill>
                <a:latin typeface="Inter"/>
              </a:rPr>
              <a:t>GOOD</a:t>
            </a:r>
          </a:p>
        </p:txBody>
      </p:sp>
      <p:sp>
        <p:nvSpPr>
          <p:cNvPr id="6" name="TextBox 5"/>
          <p:cNvSpPr txBox="1"/>
          <p:nvPr/>
        </p:nvSpPr>
        <p:spPr>
          <a:xfrm>
            <a:off x="685800" y="2697480"/>
            <a:ext cx="3456432" cy="1737360"/>
          </a:xfrm>
          <a:prstGeom prst="rect">
            <a:avLst/>
          </a:prstGeom>
          <a:noFill/>
        </p:spPr>
        <p:txBody>
          <a:bodyPr wrap="square" anchor="t" lIns="0" rIns="0" tIns="0" bIns="0">
            <a:noAutofit/>
          </a:bodyPr>
          <a:lstStyle/>
          <a:p>
            <a:pPr algn="l">
              <a:lnSpc>
                <a:spcPct val="115000"/>
              </a:lnSpc>
            </a:pPr>
            <a:r>
              <a:rPr sz="2400" b="0" i="0">
                <a:solidFill>
                  <a:srgbClr val="111111"/>
                </a:solidFill>
                <a:latin typeface="Inter"/>
              </a:rPr>
              <a:t>Cheap branches.</a:t>
            </a:r>
          </a:p>
          <a:p>
            <a:pPr algn="l">
              <a:lnSpc>
                <a:spcPct val="115000"/>
              </a:lnSpc>
            </a:pPr>
            <a:r>
              <a:rPr sz="2400" b="0" i="0">
                <a:solidFill>
                  <a:srgbClr val="111111"/>
                </a:solidFill>
                <a:latin typeface="Inter"/>
              </a:rPr>
              <a:t>Local commits.</a:t>
            </a:r>
          </a:p>
        </p:txBody>
      </p:sp>
      <p:sp>
        <p:nvSpPr>
          <p:cNvPr id="7" name="Rectangle 6"/>
          <p:cNvSpPr/>
          <p:nvPr/>
        </p:nvSpPr>
        <p:spPr>
          <a:xfrm>
            <a:off x="4370832" y="1874519"/>
            <a:ext cx="3456432" cy="64008"/>
          </a:xfrm>
          <a:prstGeom prst="rect">
            <a:avLst/>
          </a:prstGeom>
          <a:solidFill>
            <a:srgbClr val="111111"/>
          </a:solidFill>
          <a:ln>
            <a:noFill/>
          </a:ln>
          <a:effectLst/>
        </p:spPr>
        <p:txBody>
          <a:bodyPr rtlCol="0" anchor="ctr" wrap="square" lIns="36576" rIns="36576" tIns="0" bIns="0">
            <a:noAutofit/>
          </a:bodyPr>
          <a:lstStyle/>
          <a:p>
            <a:pPr algn="ctr"/>
          </a:p>
        </p:txBody>
      </p:sp>
      <p:sp>
        <p:nvSpPr>
          <p:cNvPr id="8" name="TextBox 7"/>
          <p:cNvSpPr txBox="1"/>
          <p:nvPr/>
        </p:nvSpPr>
        <p:spPr>
          <a:xfrm>
            <a:off x="4370832" y="2103120"/>
            <a:ext cx="3456432" cy="457200"/>
          </a:xfrm>
          <a:prstGeom prst="rect">
            <a:avLst/>
          </a:prstGeom>
          <a:noFill/>
        </p:spPr>
        <p:txBody>
          <a:bodyPr wrap="square" anchor="ctr" lIns="0" rIns="0" tIns="0" bIns="0">
            <a:noAutofit/>
          </a:bodyPr>
          <a:lstStyle/>
          <a:p>
            <a:pPr algn="l"/>
            <a:r>
              <a:rPr sz="2400" b="1" i="0">
                <a:solidFill>
                  <a:srgbClr val="111111"/>
                </a:solidFill>
                <a:latin typeface="Inter"/>
              </a:rPr>
              <a:t>BAD</a:t>
            </a:r>
          </a:p>
        </p:txBody>
      </p:sp>
      <p:sp>
        <p:nvSpPr>
          <p:cNvPr id="9" name="TextBox 8"/>
          <p:cNvSpPr txBox="1"/>
          <p:nvPr/>
        </p:nvSpPr>
        <p:spPr>
          <a:xfrm>
            <a:off x="4370832" y="2697480"/>
            <a:ext cx="3456432" cy="1737360"/>
          </a:xfrm>
          <a:prstGeom prst="rect">
            <a:avLst/>
          </a:prstGeom>
          <a:noFill/>
        </p:spPr>
        <p:txBody>
          <a:bodyPr wrap="square" anchor="t" lIns="0" rIns="0" tIns="0" bIns="0">
            <a:noAutofit/>
          </a:bodyPr>
          <a:lstStyle/>
          <a:p>
            <a:pPr algn="l">
              <a:lnSpc>
                <a:spcPct val="115000"/>
              </a:lnSpc>
            </a:pPr>
            <a:r>
              <a:rPr sz="2400" b="0" i="0">
                <a:solidFill>
                  <a:srgbClr val="111111"/>
                </a:solidFill>
                <a:latin typeface="Inter"/>
              </a:rPr>
              <a:t>Many routes to main.</a:t>
            </a:r>
          </a:p>
          <a:p>
            <a:pPr algn="l">
              <a:lnSpc>
                <a:spcPct val="115000"/>
              </a:lnSpc>
            </a:pPr>
            <a:r>
              <a:rPr sz="2400" b="0" i="0">
                <a:solidFill>
                  <a:srgbClr val="111111"/>
                </a:solidFill>
                <a:latin typeface="Inter"/>
              </a:rPr>
              <a:t>Hard to trace.</a:t>
            </a:r>
          </a:p>
        </p:txBody>
      </p:sp>
      <p:sp>
        <p:nvSpPr>
          <p:cNvPr id="10" name="Rectangle 9"/>
          <p:cNvSpPr/>
          <p:nvPr/>
        </p:nvSpPr>
        <p:spPr>
          <a:xfrm>
            <a:off x="8046720" y="1874519"/>
            <a:ext cx="3456432" cy="64008"/>
          </a:xfrm>
          <a:prstGeom prst="rect">
            <a:avLst/>
          </a:prstGeom>
          <a:solidFill>
            <a:srgbClr val="FF9300"/>
          </a:solidFill>
          <a:ln>
            <a:noFill/>
          </a:ln>
          <a:effectLst/>
        </p:spPr>
        <p:txBody>
          <a:bodyPr rtlCol="0" anchor="ctr" wrap="square" lIns="36576" rIns="36576" tIns="0" bIns="0">
            <a:noAutofit/>
          </a:bodyPr>
          <a:lstStyle/>
          <a:p>
            <a:pPr algn="ctr"/>
          </a:p>
        </p:txBody>
      </p:sp>
      <p:sp>
        <p:nvSpPr>
          <p:cNvPr id="11" name="TextBox 10"/>
          <p:cNvSpPr txBox="1"/>
          <p:nvPr/>
        </p:nvSpPr>
        <p:spPr>
          <a:xfrm>
            <a:off x="8046720" y="2103120"/>
            <a:ext cx="3456432" cy="457200"/>
          </a:xfrm>
          <a:prstGeom prst="rect">
            <a:avLst/>
          </a:prstGeom>
          <a:noFill/>
        </p:spPr>
        <p:txBody>
          <a:bodyPr wrap="square" anchor="ctr" lIns="0" rIns="0" tIns="0" bIns="0">
            <a:noAutofit/>
          </a:bodyPr>
          <a:lstStyle/>
          <a:p>
            <a:pPr algn="l"/>
            <a:r>
              <a:rPr sz="2400" b="1" i="0">
                <a:solidFill>
                  <a:srgbClr val="FF9300"/>
                </a:solidFill>
                <a:latin typeface="Inter"/>
              </a:rPr>
              <a:t>UGLY</a:t>
            </a:r>
          </a:p>
        </p:txBody>
      </p:sp>
      <p:sp>
        <p:nvSpPr>
          <p:cNvPr id="12" name="TextBox 11"/>
          <p:cNvSpPr txBox="1"/>
          <p:nvPr/>
        </p:nvSpPr>
        <p:spPr>
          <a:xfrm>
            <a:off x="8046720" y="2697480"/>
            <a:ext cx="3456432" cy="1737360"/>
          </a:xfrm>
          <a:prstGeom prst="rect">
            <a:avLst/>
          </a:prstGeom>
          <a:noFill/>
        </p:spPr>
        <p:txBody>
          <a:bodyPr wrap="square" anchor="t" lIns="0" rIns="0" tIns="0" bIns="0">
            <a:noAutofit/>
          </a:bodyPr>
          <a:lstStyle/>
          <a:p>
            <a:pPr algn="l">
              <a:lnSpc>
                <a:spcPct val="115000"/>
              </a:lnSpc>
            </a:pPr>
            <a:r>
              <a:rPr sz="2400" b="0" i="0">
                <a:solidFill>
                  <a:srgbClr val="111111"/>
                </a:solidFill>
                <a:latin typeface="Inter"/>
              </a:rPr>
              <a:t>Rebase, squash,</a:t>
            </a:r>
          </a:p>
          <a:p>
            <a:pPr algn="l">
              <a:lnSpc>
                <a:spcPct val="115000"/>
              </a:lnSpc>
            </a:pPr>
            <a:r>
              <a:rPr sz="2400" b="0" i="0">
                <a:solidFill>
                  <a:srgbClr val="111111"/>
                </a:solidFill>
                <a:latin typeface="Inter"/>
              </a:rPr>
              <a:t>force-push</a:t>
            </a:r>
          </a:p>
          <a:p>
            <a:pPr algn="l">
              <a:lnSpc>
                <a:spcPct val="115000"/>
              </a:lnSpc>
            </a:pPr>
            <a:r>
              <a:rPr sz="2400" b="0" i="0">
                <a:solidFill>
                  <a:srgbClr val="111111"/>
                </a:solidFill>
                <a:latin typeface="Inter"/>
              </a:rPr>
              <a:t>erase history.</a:t>
            </a:r>
          </a:p>
        </p:txBody>
      </p:sp>
      <p:cxnSp>
        <p:nvCxnSpPr>
          <p:cNvPr id="13" name="Connector 12"/>
          <p:cNvCxnSpPr/>
          <p:nvPr/>
        </p:nvCxnSpPr>
        <p:spPr>
          <a:xfrm>
            <a:off x="685800" y="5257800"/>
            <a:ext cx="10820095" cy="0"/>
          </a:xfrm>
          <a:prstGeom prst="line">
            <a:avLst/>
          </a:prstGeom>
          <a:ln w="12700">
            <a:solidFill>
              <a:srgbClr val="E3E3E3"/>
            </a:solidFill>
          </a:ln>
          <a:effectLst/>
        </p:spPr>
      </p:cxnSp>
      <p:sp>
        <p:nvSpPr>
          <p:cNvPr id="14" name="TextBox 13"/>
          <p:cNvSpPr txBox="1"/>
          <p:nvPr/>
        </p:nvSpPr>
        <p:spPr>
          <a:xfrm>
            <a:off x="685800" y="5440680"/>
            <a:ext cx="10820095" cy="502920"/>
          </a:xfrm>
          <a:prstGeom prst="rect">
            <a:avLst/>
          </a:prstGeom>
          <a:noFill/>
        </p:spPr>
        <p:txBody>
          <a:bodyPr wrap="square" anchor="ctr" lIns="0" rIns="0" tIns="0" bIns="0">
            <a:noAutofit/>
          </a:bodyPr>
          <a:lstStyle/>
          <a:p>
            <a:pPr algn="l"/>
            <a:r>
              <a:rPr sz="2400" b="0" i="0">
                <a:solidFill>
                  <a:srgbClr val="111111"/>
                </a:solidFill>
                <a:latin typeface="Inter"/>
              </a:rPr>
              <a:t>Their algorithm: rebuild </a:t>
            </a:r>
            <a:r>
              <a:rPr sz="2400" b="1" i="0">
                <a:solidFill>
                  <a:srgbClr val="111111"/>
                </a:solidFill>
                <a:latin typeface="Inter"/>
              </a:rPr>
              <a:t>integration paths</a:t>
            </a:r>
            <a:r>
              <a:rPr sz="2400" b="0" i="0">
                <a:solidFill>
                  <a:srgbClr val="111111"/>
                </a:solidFill>
                <a:latin typeface="Inter"/>
              </a:rPr>
              <a:t> from what’s left.</a:t>
            </a:r>
          </a:p>
        </p:txBody>
      </p:sp>
      <p:sp>
        <p:nvSpPr>
          <p:cNvPr id="15" name="TextBox 14"/>
          <p:cNvSpPr txBox="1"/>
          <p:nvPr/>
        </p:nvSpPr>
        <p:spPr>
          <a:xfrm>
            <a:off x="685800" y="4498848"/>
            <a:ext cx="3456432" cy="384048"/>
          </a:xfrm>
          <a:prstGeom prst="rect">
            <a:avLst/>
          </a:prstGeom>
          <a:noFill/>
        </p:spPr>
        <p:txBody>
          <a:bodyPr wrap="square" anchor="ctr" lIns="0" rIns="0" tIns="0" bIns="0">
            <a:noAutofit/>
          </a:bodyPr>
          <a:lstStyle/>
          <a:p>
            <a:pPr algn="l"/>
            <a:r>
              <a:rPr sz="2000" b="0" i="0">
                <a:solidFill>
                  <a:srgbClr val="555555"/>
                </a:solidFill>
                <a:latin typeface="Inter"/>
              </a:rPr>
              <a:t>Steps 2–3</a:t>
            </a:r>
          </a:p>
        </p:txBody>
      </p:sp>
      <p:sp>
        <p:nvSpPr>
          <p:cNvPr id="16" name="TextBox 15"/>
          <p:cNvSpPr txBox="1"/>
          <p:nvPr/>
        </p:nvSpPr>
        <p:spPr>
          <a:xfrm>
            <a:off x="4370832" y="4498848"/>
            <a:ext cx="3456432" cy="384048"/>
          </a:xfrm>
          <a:prstGeom prst="rect">
            <a:avLst/>
          </a:prstGeom>
          <a:noFill/>
        </p:spPr>
        <p:txBody>
          <a:bodyPr wrap="square" anchor="ctr" lIns="0" rIns="0" tIns="0" bIns="0">
            <a:noAutofit/>
          </a:bodyPr>
          <a:lstStyle/>
          <a:p>
            <a:pPr algn="l"/>
            <a:r>
              <a:rPr sz="2000" b="0" i="0">
                <a:solidFill>
                  <a:srgbClr val="555555"/>
                </a:solidFill>
                <a:latin typeface="Inter"/>
              </a:rPr>
              <a:t>Step 6</a:t>
            </a:r>
          </a:p>
        </p:txBody>
      </p:sp>
      <p:sp>
        <p:nvSpPr>
          <p:cNvPr id="17" name="TextBox 16"/>
          <p:cNvSpPr txBox="1"/>
          <p:nvPr/>
        </p:nvSpPr>
        <p:spPr>
          <a:xfrm>
            <a:off x="8046720" y="4498848"/>
            <a:ext cx="3456432" cy="384048"/>
          </a:xfrm>
          <a:prstGeom prst="rect">
            <a:avLst/>
          </a:prstGeom>
          <a:noFill/>
        </p:spPr>
        <p:txBody>
          <a:bodyPr wrap="square" anchor="ctr" lIns="0" rIns="0" tIns="0" bIns="0">
            <a:noAutofit/>
          </a:bodyPr>
          <a:lstStyle/>
          <a:p>
            <a:pPr algn="l"/>
            <a:r>
              <a:rPr sz="2000" b="0" i="0">
                <a:solidFill>
                  <a:srgbClr val="555555"/>
                </a:solidFill>
                <a:latin typeface="Inter"/>
              </a:rPr>
              <a:t>Step 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85800" y="548640"/>
            <a:ext cx="2011680" cy="438912"/>
          </a:xfrm>
          <a:prstGeom prst="roundRect">
            <a:avLst>
              <a:gd name="adj" fmla="val 50000"/>
            </a:avLst>
          </a:prstGeom>
          <a:solidFill>
            <a:srgbClr val="9437FF"/>
          </a:solidFill>
          <a:ln>
            <a:noFill/>
          </a:ln>
          <a:effectLst/>
        </p:spPr>
        <p:txBody>
          <a:bodyPr rtlCol="0" anchor="ctr" wrap="square" lIns="36576" rIns="36576" tIns="0" bIns="0">
            <a:noAutofit/>
          </a:bodyPr>
          <a:lstStyle/>
          <a:p>
            <a:pPr algn="ctr"/>
            <a:r>
              <a:rPr sz="1800" b="1" i="0">
                <a:solidFill>
                  <a:srgbClr val="FFFFFF"/>
                </a:solidFill>
                <a:latin typeface="Inter"/>
              </a:rPr>
              <a:t>📊  Live poll</a:t>
            </a:r>
          </a:p>
        </p:txBody>
      </p:sp>
      <p:sp>
        <p:nvSpPr>
          <p:cNvPr id="3" name="TextBox 2"/>
          <p:cNvSpPr txBox="1"/>
          <p:nvPr/>
        </p:nvSpPr>
        <p:spPr>
          <a:xfrm>
            <a:off x="685800" y="1161288"/>
            <a:ext cx="7406640" cy="731520"/>
          </a:xfrm>
          <a:prstGeom prst="rect">
            <a:avLst/>
          </a:prstGeom>
          <a:noFill/>
        </p:spPr>
        <p:txBody>
          <a:bodyPr wrap="square" anchor="t" lIns="0" rIns="0" tIns="0" bIns="0">
            <a:noAutofit/>
          </a:bodyPr>
          <a:lstStyle/>
          <a:p>
            <a:pPr algn="l">
              <a:lnSpc>
                <a:spcPct val="100000"/>
              </a:lnSpc>
            </a:pPr>
            <a:r>
              <a:rPr sz="4400" b="1" i="0">
                <a:solidFill>
                  <a:srgbClr val="111111"/>
                </a:solidFill>
                <a:latin typeface="Inter"/>
              </a:rPr>
              <a:t>Exit ticket</a:t>
            </a:r>
          </a:p>
        </p:txBody>
      </p:sp>
      <p:sp>
        <p:nvSpPr>
          <p:cNvPr id="4" name="TextBox 3"/>
          <p:cNvSpPr txBox="1"/>
          <p:nvPr/>
        </p:nvSpPr>
        <p:spPr>
          <a:xfrm>
            <a:off x="685800" y="2029968"/>
            <a:ext cx="7406640" cy="457200"/>
          </a:xfrm>
          <a:prstGeom prst="rect">
            <a:avLst/>
          </a:prstGeom>
          <a:noFill/>
        </p:spPr>
        <p:txBody>
          <a:bodyPr wrap="square" anchor="t" lIns="0" rIns="0" tIns="0" bIns="0">
            <a:noAutofit/>
          </a:bodyPr>
          <a:lstStyle/>
          <a:p>
            <a:pPr algn="l"/>
            <a:r>
              <a:rPr sz="2600" b="0" i="0">
                <a:solidFill>
                  <a:srgbClr val="555555"/>
                </a:solidFill>
                <a:latin typeface="Inter"/>
              </a:rPr>
              <a:t>4 questions  ·  laptops closed</a:t>
            </a:r>
          </a:p>
        </p:txBody>
      </p:sp>
      <p:sp>
        <p:nvSpPr>
          <p:cNvPr id="5" name="Rounded Rectangle 4"/>
          <p:cNvSpPr/>
          <p:nvPr/>
        </p:nvSpPr>
        <p:spPr>
          <a:xfrm>
            <a:off x="8534095" y="1280160"/>
            <a:ext cx="2971800" cy="2971800"/>
          </a:xfrm>
          <a:prstGeom prst="roundRect">
            <a:avLst>
              <a:gd name="adj" fmla="val 3692"/>
            </a:avLst>
          </a:prstGeom>
          <a:solidFill>
            <a:srgbClr val="FFFFFF"/>
          </a:solidFill>
          <a:ln w="25400">
            <a:solidFill>
              <a:srgbClr val="BBBBBB"/>
            </a:solidFill>
            <a:prstDash val="dash"/>
          </a:ln>
          <a:effectLst/>
        </p:spPr>
        <p:txBody>
          <a:bodyPr rtlCol="0" anchor="ctr" wrap="square" lIns="36576" rIns="36576" tIns="0" bIns="0">
            <a:noAutofit/>
          </a:bodyPr>
          <a:lstStyle/>
          <a:p>
            <a:pPr algn="ctr"/>
            <a:r>
              <a:rPr sz="2400" b="1" i="0">
                <a:solidFill>
                  <a:srgbClr val="919191"/>
                </a:solidFill>
                <a:latin typeface="Inter"/>
              </a:rPr>
              <a:t>QR</a:t>
            </a:r>
          </a:p>
        </p:txBody>
      </p:sp>
      <p:sp>
        <p:nvSpPr>
          <p:cNvPr id="6" name="Rounded Rectangle 5"/>
          <p:cNvSpPr/>
          <p:nvPr/>
        </p:nvSpPr>
        <p:spPr>
          <a:xfrm>
            <a:off x="8534095" y="4434840"/>
            <a:ext cx="2971800" cy="548640"/>
          </a:xfrm>
          <a:prstGeom prst="roundRect">
            <a:avLst>
              <a:gd name="adj" fmla="val 50000"/>
            </a:avLst>
          </a:prstGeom>
          <a:solidFill>
            <a:srgbClr val="111111"/>
          </a:solidFill>
          <a:ln>
            <a:noFill/>
          </a:ln>
          <a:effectLst/>
        </p:spPr>
        <p:txBody>
          <a:bodyPr rtlCol="0" anchor="ctr" wrap="square" lIns="36576" rIns="36576" tIns="0" bIns="0">
            <a:noAutofit/>
          </a:bodyPr>
          <a:lstStyle/>
          <a:p>
            <a:pPr algn="ctr"/>
            <a:r>
              <a:rPr sz="1800" b="1" i="0">
                <a:solidFill>
                  <a:srgbClr val="FFFFFF"/>
                </a:solidFill>
                <a:latin typeface="Inter"/>
              </a:rPr>
              <a:t>menti.com  ·  ____</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ctr" lIns="0" rIns="0" tIns="0" bIns="0">
            <a:noAutofit/>
          </a:bodyPr>
          <a:lstStyle/>
          <a:p>
            <a:pPr algn="l"/>
            <a:r>
              <a:rPr sz="4000" b="1" i="0">
                <a:solidFill>
                  <a:srgbClr val="111111"/>
                </a:solidFill>
                <a:latin typeface="Inter"/>
              </a:rPr>
              <a:t>Every Git tool fixes one problem you felt</a:t>
            </a:r>
          </a:p>
        </p:txBody>
      </p:sp>
      <p:sp>
        <p:nvSpPr>
          <p:cNvPr id="3" name="TextBox 2"/>
          <p:cNvSpPr txBox="1"/>
          <p:nvPr/>
        </p:nvSpPr>
        <p:spPr>
          <a:xfrm>
            <a:off x="685800" y="1417320"/>
            <a:ext cx="3611880" cy="365760"/>
          </a:xfrm>
          <a:prstGeom prst="rect">
            <a:avLst/>
          </a:prstGeom>
          <a:noFill/>
        </p:spPr>
        <p:txBody>
          <a:bodyPr wrap="square" anchor="ctr" lIns="0" rIns="0" tIns="0" bIns="0">
            <a:noAutofit/>
          </a:bodyPr>
          <a:lstStyle/>
          <a:p>
            <a:pPr algn="l"/>
            <a:r>
              <a:rPr sz="1500" b="1" i="0">
                <a:solidFill>
                  <a:srgbClr val="919191"/>
                </a:solidFill>
                <a:latin typeface="Inter"/>
              </a:rPr>
              <a:t>WE FELT…</a:t>
            </a:r>
          </a:p>
        </p:txBody>
      </p:sp>
      <p:sp>
        <p:nvSpPr>
          <p:cNvPr id="4" name="TextBox 3"/>
          <p:cNvSpPr txBox="1"/>
          <p:nvPr/>
        </p:nvSpPr>
        <p:spPr>
          <a:xfrm>
            <a:off x="4480560" y="1417320"/>
            <a:ext cx="3520440" cy="365760"/>
          </a:xfrm>
          <a:prstGeom prst="rect">
            <a:avLst/>
          </a:prstGeom>
          <a:noFill/>
        </p:spPr>
        <p:txBody>
          <a:bodyPr wrap="square" anchor="ctr" lIns="0" rIns="0" tIns="0" bIns="0">
            <a:noAutofit/>
          </a:bodyPr>
          <a:lstStyle/>
          <a:p>
            <a:pPr algn="l"/>
            <a:r>
              <a:rPr sz="1500" b="1" i="0">
                <a:solidFill>
                  <a:srgbClr val="919191"/>
                </a:solidFill>
                <a:latin typeface="Inter"/>
              </a:rPr>
              <a:t>WE INVENTED…</a:t>
            </a:r>
          </a:p>
        </p:txBody>
      </p:sp>
      <p:sp>
        <p:nvSpPr>
          <p:cNvPr id="5" name="TextBox 4"/>
          <p:cNvSpPr txBox="1"/>
          <p:nvPr/>
        </p:nvSpPr>
        <p:spPr>
          <a:xfrm>
            <a:off x="8183879" y="1417320"/>
            <a:ext cx="3319272" cy="365760"/>
          </a:xfrm>
          <a:prstGeom prst="rect">
            <a:avLst/>
          </a:prstGeom>
          <a:noFill/>
        </p:spPr>
        <p:txBody>
          <a:bodyPr wrap="square" anchor="ctr" lIns="0" rIns="0" tIns="0" bIns="0">
            <a:noAutofit/>
          </a:bodyPr>
          <a:lstStyle/>
          <a:p>
            <a:pPr algn="l"/>
            <a:r>
              <a:rPr sz="1500" b="1" i="0">
                <a:solidFill>
                  <a:srgbClr val="919191"/>
                </a:solidFill>
                <a:latin typeface="Inter"/>
              </a:rPr>
              <a:t>GIT CALLS IT</a:t>
            </a:r>
          </a:p>
        </p:txBody>
      </p:sp>
      <p:cxnSp>
        <p:nvCxnSpPr>
          <p:cNvPr id="6" name="Connector 5"/>
          <p:cNvCxnSpPr/>
          <p:nvPr/>
        </p:nvCxnSpPr>
        <p:spPr>
          <a:xfrm>
            <a:off x="685800" y="1828800"/>
            <a:ext cx="10817351" cy="0"/>
          </a:xfrm>
          <a:prstGeom prst="line">
            <a:avLst/>
          </a:prstGeom>
          <a:ln w="12700">
            <a:solidFill>
              <a:srgbClr val="E3E3E3"/>
            </a:solidFill>
          </a:ln>
          <a:effectLst/>
        </p:spPr>
      </p:cxnSp>
      <p:sp>
        <p:nvSpPr>
          <p:cNvPr id="7" name="TextBox 6"/>
          <p:cNvSpPr txBox="1"/>
          <p:nvPr/>
        </p:nvSpPr>
        <p:spPr>
          <a:xfrm>
            <a:off x="685800" y="1828800"/>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Can’t go back</a:t>
            </a:r>
          </a:p>
        </p:txBody>
      </p:sp>
      <p:sp>
        <p:nvSpPr>
          <p:cNvPr id="8" name="TextBox 7"/>
          <p:cNvSpPr txBox="1"/>
          <p:nvPr/>
        </p:nvSpPr>
        <p:spPr>
          <a:xfrm>
            <a:off x="4480560" y="1828800"/>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Never erase: new card</a:t>
            </a:r>
          </a:p>
        </p:txBody>
      </p:sp>
      <p:sp>
        <p:nvSpPr>
          <p:cNvPr id="9" name="TextBox 8"/>
          <p:cNvSpPr txBox="1"/>
          <p:nvPr/>
        </p:nvSpPr>
        <p:spPr>
          <a:xfrm>
            <a:off x="8183879" y="1828800"/>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git commit</a:t>
            </a:r>
          </a:p>
        </p:txBody>
      </p:sp>
      <p:cxnSp>
        <p:nvCxnSpPr>
          <p:cNvPr id="10" name="Connector 9"/>
          <p:cNvCxnSpPr/>
          <p:nvPr/>
        </p:nvCxnSpPr>
        <p:spPr>
          <a:xfrm>
            <a:off x="685800" y="2338349"/>
            <a:ext cx="10817351" cy="0"/>
          </a:xfrm>
          <a:prstGeom prst="line">
            <a:avLst/>
          </a:prstGeom>
          <a:ln w="12700">
            <a:solidFill>
              <a:srgbClr val="E3E3E3"/>
            </a:solidFill>
          </a:ln>
          <a:effectLst/>
        </p:spPr>
      </p:cxnSp>
      <p:sp>
        <p:nvSpPr>
          <p:cNvPr id="11" name="TextBox 10"/>
          <p:cNvSpPr txBox="1"/>
          <p:nvPr/>
        </p:nvSpPr>
        <p:spPr>
          <a:xfrm>
            <a:off x="685800" y="2338349"/>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Shuffled pile</a:t>
            </a:r>
          </a:p>
        </p:txBody>
      </p:sp>
      <p:sp>
        <p:nvSpPr>
          <p:cNvPr id="12" name="TextBox 11"/>
          <p:cNvSpPr txBox="1"/>
          <p:nvPr/>
        </p:nvSpPr>
        <p:spPr>
          <a:xfrm>
            <a:off x="4480560" y="2338349"/>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“came from __”</a:t>
            </a:r>
          </a:p>
        </p:txBody>
      </p:sp>
      <p:sp>
        <p:nvSpPr>
          <p:cNvPr id="13" name="TextBox 12"/>
          <p:cNvSpPr txBox="1"/>
          <p:nvPr/>
        </p:nvSpPr>
        <p:spPr>
          <a:xfrm>
            <a:off x="8183879" y="2338349"/>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git log</a:t>
            </a:r>
          </a:p>
        </p:txBody>
      </p:sp>
      <p:cxnSp>
        <p:nvCxnSpPr>
          <p:cNvPr id="14" name="Connector 13"/>
          <p:cNvCxnSpPr/>
          <p:nvPr/>
        </p:nvCxnSpPr>
        <p:spPr>
          <a:xfrm>
            <a:off x="685800" y="2847898"/>
            <a:ext cx="10817351" cy="0"/>
          </a:xfrm>
          <a:prstGeom prst="line">
            <a:avLst/>
          </a:prstGeom>
          <a:ln w="12700">
            <a:solidFill>
              <a:srgbClr val="E3E3E3"/>
            </a:solidFill>
          </a:ln>
          <a:effectLst/>
        </p:spPr>
      </p:cxnSp>
      <p:sp>
        <p:nvSpPr>
          <p:cNvPr id="15" name="TextBox 14"/>
          <p:cNvSpPr txBox="1"/>
          <p:nvPr/>
        </p:nvSpPr>
        <p:spPr>
          <a:xfrm>
            <a:off x="685800" y="2847898"/>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Risky ideas</a:t>
            </a:r>
          </a:p>
        </p:txBody>
      </p:sp>
      <p:sp>
        <p:nvSpPr>
          <p:cNvPr id="16" name="TextBox 15"/>
          <p:cNvSpPr txBox="1"/>
          <p:nvPr/>
        </p:nvSpPr>
        <p:spPr>
          <a:xfrm>
            <a:off x="4480560" y="2847898"/>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flags; you are here</a:t>
            </a:r>
          </a:p>
        </p:txBody>
      </p:sp>
      <p:sp>
        <p:nvSpPr>
          <p:cNvPr id="17" name="TextBox 16"/>
          <p:cNvSpPr txBox="1"/>
          <p:nvPr/>
        </p:nvSpPr>
        <p:spPr>
          <a:xfrm>
            <a:off x="8183879" y="2847898"/>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branch · HEAD</a:t>
            </a:r>
          </a:p>
        </p:txBody>
      </p:sp>
      <p:cxnSp>
        <p:nvCxnSpPr>
          <p:cNvPr id="18" name="Connector 17"/>
          <p:cNvCxnSpPr/>
          <p:nvPr/>
        </p:nvCxnSpPr>
        <p:spPr>
          <a:xfrm>
            <a:off x="685800" y="3357448"/>
            <a:ext cx="10817351" cy="0"/>
          </a:xfrm>
          <a:prstGeom prst="line">
            <a:avLst/>
          </a:prstGeom>
          <a:ln w="12700">
            <a:solidFill>
              <a:srgbClr val="E3E3E3"/>
            </a:solidFill>
          </a:ln>
          <a:effectLst/>
        </p:spPr>
      </p:cxnSp>
      <p:sp>
        <p:nvSpPr>
          <p:cNvPr id="19" name="TextBox 18"/>
          <p:cNvSpPr txBox="1"/>
          <p:nvPr/>
        </p:nvSpPr>
        <p:spPr>
          <a:xfrm>
            <a:off x="685800" y="3357448"/>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Two ideas, one monster</a:t>
            </a:r>
          </a:p>
        </p:txBody>
      </p:sp>
      <p:sp>
        <p:nvSpPr>
          <p:cNvPr id="20" name="TextBox 19"/>
          <p:cNvSpPr txBox="1"/>
          <p:nvPr/>
        </p:nvSpPr>
        <p:spPr>
          <a:xfrm>
            <a:off x="4480560" y="3357448"/>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card with two parents</a:t>
            </a:r>
          </a:p>
        </p:txBody>
      </p:sp>
      <p:sp>
        <p:nvSpPr>
          <p:cNvPr id="21" name="TextBox 20"/>
          <p:cNvSpPr txBox="1"/>
          <p:nvPr/>
        </p:nvSpPr>
        <p:spPr>
          <a:xfrm>
            <a:off x="8183879" y="3357448"/>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git merge</a:t>
            </a:r>
          </a:p>
        </p:txBody>
      </p:sp>
      <p:cxnSp>
        <p:nvCxnSpPr>
          <p:cNvPr id="22" name="Connector 21"/>
          <p:cNvCxnSpPr/>
          <p:nvPr/>
        </p:nvCxnSpPr>
        <p:spPr>
          <a:xfrm>
            <a:off x="685800" y="3866997"/>
            <a:ext cx="10817351" cy="0"/>
          </a:xfrm>
          <a:prstGeom prst="line">
            <a:avLst/>
          </a:prstGeom>
          <a:ln w="12700">
            <a:solidFill>
              <a:srgbClr val="E3E3E3"/>
            </a:solidFill>
          </a:ln>
          <a:effectLst/>
        </p:spPr>
      </p:cxnSp>
      <p:sp>
        <p:nvSpPr>
          <p:cNvPr id="23" name="TextBox 22"/>
          <p:cNvSpPr txBox="1"/>
          <p:nvPr/>
        </p:nvSpPr>
        <p:spPr>
          <a:xfrm>
            <a:off x="685800" y="3866997"/>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Work from my table</a:t>
            </a:r>
          </a:p>
        </p:txBody>
      </p:sp>
      <p:sp>
        <p:nvSpPr>
          <p:cNvPr id="24" name="TextBox 23"/>
          <p:cNvSpPr txBox="1"/>
          <p:nvPr/>
        </p:nvSpPr>
        <p:spPr>
          <a:xfrm>
            <a:off x="4480560" y="3866997"/>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copy every card</a:t>
            </a:r>
          </a:p>
        </p:txBody>
      </p:sp>
      <p:sp>
        <p:nvSpPr>
          <p:cNvPr id="25" name="TextBox 24"/>
          <p:cNvSpPr txBox="1"/>
          <p:nvPr/>
        </p:nvSpPr>
        <p:spPr>
          <a:xfrm>
            <a:off x="8183879" y="3866997"/>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clone · origin/main</a:t>
            </a:r>
          </a:p>
        </p:txBody>
      </p:sp>
      <p:cxnSp>
        <p:nvCxnSpPr>
          <p:cNvPr id="26" name="Connector 25"/>
          <p:cNvCxnSpPr/>
          <p:nvPr/>
        </p:nvCxnSpPr>
        <p:spPr>
          <a:xfrm>
            <a:off x="685800" y="4376546"/>
            <a:ext cx="10817351" cy="0"/>
          </a:xfrm>
          <a:prstGeom prst="line">
            <a:avLst/>
          </a:prstGeom>
          <a:ln w="12700">
            <a:solidFill>
              <a:srgbClr val="E3E3E3"/>
            </a:solidFill>
          </a:ln>
          <a:effectLst/>
        </p:spPr>
      </p:cxnSp>
      <p:sp>
        <p:nvSpPr>
          <p:cNvPr id="27" name="TextBox 26"/>
          <p:cNvSpPr txBox="1"/>
          <p:nvPr/>
        </p:nvSpPr>
        <p:spPr>
          <a:xfrm>
            <a:off x="685800" y="4376546"/>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Two #5s</a:t>
            </a:r>
          </a:p>
        </p:txBody>
      </p:sp>
      <p:sp>
        <p:nvSpPr>
          <p:cNvPr id="28" name="TextBox 27"/>
          <p:cNvSpPr txBox="1"/>
          <p:nvPr/>
        </p:nvSpPr>
        <p:spPr>
          <a:xfrm>
            <a:off x="4480560" y="4376546"/>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ID from the card itself</a:t>
            </a:r>
          </a:p>
        </p:txBody>
      </p:sp>
      <p:sp>
        <p:nvSpPr>
          <p:cNvPr id="29" name="TextBox 28"/>
          <p:cNvSpPr txBox="1"/>
          <p:nvPr/>
        </p:nvSpPr>
        <p:spPr>
          <a:xfrm>
            <a:off x="8183879" y="4376546"/>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SHA-1 hash</a:t>
            </a:r>
          </a:p>
        </p:txBody>
      </p:sp>
      <p:cxnSp>
        <p:nvCxnSpPr>
          <p:cNvPr id="30" name="Connector 29"/>
          <p:cNvCxnSpPr/>
          <p:nvPr/>
        </p:nvCxnSpPr>
        <p:spPr>
          <a:xfrm>
            <a:off x="685800" y="4886096"/>
            <a:ext cx="10817351" cy="0"/>
          </a:xfrm>
          <a:prstGeom prst="line">
            <a:avLst/>
          </a:prstGeom>
          <a:ln w="12700">
            <a:solidFill>
              <a:srgbClr val="E3E3E3"/>
            </a:solidFill>
          </a:ln>
          <a:effectLst/>
        </p:spPr>
      </p:cxnSp>
      <p:sp>
        <p:nvSpPr>
          <p:cNvPr id="31" name="TextBox 30"/>
          <p:cNvSpPr txBox="1"/>
          <p:nvPr/>
        </p:nvSpPr>
        <p:spPr>
          <a:xfrm>
            <a:off x="685800" y="4886096"/>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My card fell off</a:t>
            </a:r>
          </a:p>
        </p:txBody>
      </p:sp>
      <p:sp>
        <p:nvSpPr>
          <p:cNvPr id="32" name="TextBox 31"/>
          <p:cNvSpPr txBox="1"/>
          <p:nvPr/>
        </p:nvSpPr>
        <p:spPr>
          <a:xfrm>
            <a:off x="4480560" y="4886096"/>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look, combine, post</a:t>
            </a:r>
          </a:p>
        </p:txBody>
      </p:sp>
      <p:sp>
        <p:nvSpPr>
          <p:cNvPr id="33" name="TextBox 32"/>
          <p:cNvSpPr txBox="1"/>
          <p:nvPr/>
        </p:nvSpPr>
        <p:spPr>
          <a:xfrm>
            <a:off x="8183879" y="4886096"/>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fetch · pull · push</a:t>
            </a:r>
          </a:p>
        </p:txBody>
      </p:sp>
      <p:cxnSp>
        <p:nvCxnSpPr>
          <p:cNvPr id="34" name="Connector 33"/>
          <p:cNvCxnSpPr/>
          <p:nvPr/>
        </p:nvCxnSpPr>
        <p:spPr>
          <a:xfrm>
            <a:off x="685800" y="5395645"/>
            <a:ext cx="10817351" cy="0"/>
          </a:xfrm>
          <a:prstGeom prst="line">
            <a:avLst/>
          </a:prstGeom>
          <a:ln w="12700">
            <a:solidFill>
              <a:srgbClr val="E3E3E3"/>
            </a:solidFill>
          </a:ln>
          <a:effectLst/>
        </p:spPr>
      </p:cxnSp>
      <p:sp>
        <p:nvSpPr>
          <p:cNvPr id="35" name="TextBox 34"/>
          <p:cNvSpPr txBox="1"/>
          <p:nvPr/>
        </p:nvSpPr>
        <p:spPr>
          <a:xfrm>
            <a:off x="685800" y="5395645"/>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Bad card, already copied</a:t>
            </a:r>
          </a:p>
        </p:txBody>
      </p:sp>
      <p:sp>
        <p:nvSpPr>
          <p:cNvPr id="36" name="TextBox 35"/>
          <p:cNvSpPr txBox="1"/>
          <p:nvPr/>
        </p:nvSpPr>
        <p:spPr>
          <a:xfrm>
            <a:off x="4480560" y="5395645"/>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fix card</a:t>
            </a:r>
          </a:p>
        </p:txBody>
      </p:sp>
      <p:sp>
        <p:nvSpPr>
          <p:cNvPr id="37" name="TextBox 36"/>
          <p:cNvSpPr txBox="1"/>
          <p:nvPr/>
        </p:nvSpPr>
        <p:spPr>
          <a:xfrm>
            <a:off x="8183879" y="5395645"/>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git revert</a:t>
            </a:r>
          </a:p>
        </p:txBody>
      </p:sp>
      <p:cxnSp>
        <p:nvCxnSpPr>
          <p:cNvPr id="38" name="Connector 37"/>
          <p:cNvCxnSpPr/>
          <p:nvPr/>
        </p:nvCxnSpPr>
        <p:spPr>
          <a:xfrm>
            <a:off x="685800" y="5905195"/>
            <a:ext cx="10817351" cy="0"/>
          </a:xfrm>
          <a:prstGeom prst="line">
            <a:avLst/>
          </a:prstGeom>
          <a:ln w="12700">
            <a:solidFill>
              <a:srgbClr val="E3E3E3"/>
            </a:solidFill>
          </a:ln>
          <a:effectLst/>
        </p:spPr>
      </p:cxnSp>
      <p:sp>
        <p:nvSpPr>
          <p:cNvPr id="39" name="TextBox 38"/>
          <p:cNvSpPr txBox="1"/>
          <p:nvPr/>
        </p:nvSpPr>
        <p:spPr>
          <a:xfrm>
            <a:off x="685800" y="5905195"/>
            <a:ext cx="3611880" cy="509549"/>
          </a:xfrm>
          <a:prstGeom prst="rect">
            <a:avLst/>
          </a:prstGeom>
          <a:noFill/>
        </p:spPr>
        <p:txBody>
          <a:bodyPr wrap="square" anchor="ctr" lIns="0" rIns="0" tIns="0" bIns="0">
            <a:noAutofit/>
          </a:bodyPr>
          <a:lstStyle/>
          <a:p>
            <a:pPr algn="l">
              <a:lnSpc>
                <a:spcPct val="105000"/>
              </a:lnSpc>
            </a:pPr>
            <a:r>
              <a:rPr sz="2000" b="0" i="0">
                <a:solidFill>
                  <a:srgbClr val="111111"/>
                </a:solidFill>
                <a:latin typeface="Inter"/>
              </a:rPr>
              <a:t>Boss wants it neat</a:t>
            </a:r>
          </a:p>
        </p:txBody>
      </p:sp>
      <p:sp>
        <p:nvSpPr>
          <p:cNvPr id="40" name="TextBox 39"/>
          <p:cNvSpPr txBox="1"/>
          <p:nvPr/>
        </p:nvSpPr>
        <p:spPr>
          <a:xfrm>
            <a:off x="4480560" y="5905195"/>
            <a:ext cx="3520440" cy="509549"/>
          </a:xfrm>
          <a:prstGeom prst="rect">
            <a:avLst/>
          </a:prstGeom>
          <a:noFill/>
        </p:spPr>
        <p:txBody>
          <a:bodyPr wrap="square" anchor="ctr" lIns="0" rIns="0" tIns="0" bIns="0">
            <a:noAutofit/>
          </a:bodyPr>
          <a:lstStyle/>
          <a:p>
            <a:pPr algn="l">
              <a:lnSpc>
                <a:spcPct val="105000"/>
              </a:lnSpc>
            </a:pPr>
            <a:r>
              <a:rPr sz="2000" b="0" i="0">
                <a:solidFill>
                  <a:srgbClr val="555555"/>
                </a:solidFill>
                <a:latin typeface="Inter"/>
              </a:rPr>
              <a:t>bin + FORCE</a:t>
            </a:r>
          </a:p>
        </p:txBody>
      </p:sp>
      <p:sp>
        <p:nvSpPr>
          <p:cNvPr id="41" name="TextBox 40"/>
          <p:cNvSpPr txBox="1"/>
          <p:nvPr/>
        </p:nvSpPr>
        <p:spPr>
          <a:xfrm>
            <a:off x="8183879" y="5905195"/>
            <a:ext cx="3319272" cy="509549"/>
          </a:xfrm>
          <a:prstGeom prst="rect">
            <a:avLst/>
          </a:prstGeom>
          <a:noFill/>
        </p:spPr>
        <p:txBody>
          <a:bodyPr wrap="square" anchor="ctr" lIns="0" rIns="0" tIns="0" bIns="0">
            <a:noAutofit/>
          </a:bodyPr>
          <a:lstStyle/>
          <a:p>
            <a:pPr algn="l">
              <a:lnSpc>
                <a:spcPct val="105000"/>
              </a:lnSpc>
            </a:pPr>
            <a:r>
              <a:rPr sz="2000" b="1" i="0">
                <a:solidFill>
                  <a:srgbClr val="9437FF"/>
                </a:solidFill>
                <a:latin typeface="Noto Sans Mono"/>
              </a:rPr>
              <a:t>rebase · --force</a:t>
            </a:r>
          </a:p>
        </p:txBody>
      </p:sp>
      <p:cxnSp>
        <p:nvCxnSpPr>
          <p:cNvPr id="42" name="Connector 41"/>
          <p:cNvCxnSpPr/>
          <p:nvPr/>
        </p:nvCxnSpPr>
        <p:spPr>
          <a:xfrm>
            <a:off x="685800" y="6414744"/>
            <a:ext cx="10817351" cy="0"/>
          </a:xfrm>
          <a:prstGeom prst="line">
            <a:avLst/>
          </a:prstGeom>
          <a:ln w="12700">
            <a:solidFill>
              <a:srgbClr val="E3E3E3"/>
            </a:solidFill>
          </a:ln>
          <a:effectLst/>
        </p:spPr>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914400"/>
            <a:ext cx="10820095" cy="914400"/>
          </a:xfrm>
          <a:prstGeom prst="rect">
            <a:avLst/>
          </a:prstGeom>
          <a:noFill/>
        </p:spPr>
        <p:txBody>
          <a:bodyPr wrap="square" anchor="ctr" lIns="0" rIns="0" tIns="0" bIns="0">
            <a:noAutofit/>
          </a:bodyPr>
          <a:lstStyle/>
          <a:p>
            <a:pPr algn="ctr"/>
            <a:r>
              <a:rPr sz="6000" b="0" i="0">
                <a:solidFill>
                  <a:srgbClr val="111111"/>
                </a:solidFill>
                <a:latin typeface="Inter"/>
              </a:rPr>
              <a:t>💬</a:t>
            </a:r>
          </a:p>
        </p:txBody>
      </p:sp>
      <p:sp>
        <p:nvSpPr>
          <p:cNvPr id="3" name="TextBox 2"/>
          <p:cNvSpPr txBox="1"/>
          <p:nvPr/>
        </p:nvSpPr>
        <p:spPr>
          <a:xfrm>
            <a:off x="1280160" y="2011680"/>
            <a:ext cx="9631375" cy="2651760"/>
          </a:xfrm>
          <a:prstGeom prst="rect">
            <a:avLst/>
          </a:prstGeom>
          <a:noFill/>
        </p:spPr>
        <p:txBody>
          <a:bodyPr wrap="square" anchor="ctr" lIns="0" rIns="0" tIns="0" bIns="0">
            <a:noAutofit/>
          </a:bodyPr>
          <a:lstStyle/>
          <a:p>
            <a:pPr algn="ctr">
              <a:lnSpc>
                <a:spcPct val="108000"/>
              </a:lnSpc>
            </a:pPr>
            <a:r>
              <a:rPr sz="4400" b="1" i="0">
                <a:solidFill>
                  <a:srgbClr val="111111"/>
                </a:solidFill>
                <a:latin typeface="Inter"/>
              </a:rPr>
              <a:t>Name one place our</a:t>
            </a:r>
            <a:br>
              <a:rPr sz="4400"/>
            </a:br>
            <a:r>
              <a:rPr sz="4400" b="1" i="0">
                <a:solidFill>
                  <a:srgbClr val="111111"/>
                </a:solidFill>
                <a:latin typeface="Inter"/>
              </a:rPr>
              <a:t>paper model lies.</a:t>
            </a:r>
          </a:p>
        </p:txBody>
      </p:sp>
      <p:sp>
        <p:nvSpPr>
          <p:cNvPr id="4" name="Rounded Rectangle 3"/>
          <p:cNvSpPr/>
          <p:nvPr/>
        </p:nvSpPr>
        <p:spPr>
          <a:xfrm>
            <a:off x="3261207" y="5029200"/>
            <a:ext cx="5669280" cy="512064"/>
          </a:xfrm>
          <a:prstGeom prst="roundRect">
            <a:avLst>
              <a:gd name="adj" fmla="val 50000"/>
            </a:avLst>
          </a:prstGeom>
          <a:solidFill>
            <a:srgbClr val="F6ECF8"/>
          </a:solidFill>
          <a:ln>
            <a:noFill/>
          </a:ln>
          <a:effectLst/>
        </p:spPr>
        <p:txBody>
          <a:bodyPr rtlCol="0" anchor="ctr" wrap="square" lIns="36576" rIns="36576" tIns="0" bIns="0">
            <a:noAutofit/>
          </a:bodyPr>
          <a:lstStyle/>
          <a:p>
            <a:pPr algn="ctr"/>
            <a:r>
              <a:rPr sz="2000" b="1" i="0">
                <a:solidFill>
                  <a:srgbClr val="111111"/>
                </a:solidFill>
                <a:latin typeface="Inter"/>
              </a:rPr>
              <a:t>Model Critics  ·  30 s each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31"/>
        </a:solidFill>
        <a:effectLst/>
      </p:bgPr>
    </p:bg>
    <p:spTree>
      <p:nvGrpSpPr>
        <p:cNvPr id="1" name=""/>
        <p:cNvGrpSpPr/>
        <p:nvPr/>
      </p:nvGrpSpPr>
      <p:grpSpPr/>
      <p:sp>
        <p:nvSpPr>
          <p:cNvPr id="2" name="Oval 1"/>
          <p:cNvSpPr/>
          <p:nvPr/>
        </p:nvSpPr>
        <p:spPr>
          <a:xfrm>
            <a:off x="2377440" y="4892040"/>
            <a:ext cx="7498079" cy="1188720"/>
          </a:xfrm>
          <a:prstGeom prst="ellipse">
            <a:avLst/>
          </a:prstGeom>
          <a:solidFill>
            <a:srgbClr val="12345A"/>
          </a:solidFill>
          <a:ln>
            <a:noFill/>
          </a:ln>
          <a:effectLst/>
        </p:spPr>
        <p:txBody>
          <a:bodyPr rtlCol="0" anchor="ctr" wrap="square" lIns="36576" rIns="36576" tIns="0" bIns="0">
            <a:noAutofit/>
          </a:bodyPr>
          <a:lstStyle/>
          <a:p>
            <a:pPr algn="ctr"/>
          </a:p>
        </p:txBody>
      </p:sp>
      <p:sp>
        <p:nvSpPr>
          <p:cNvPr id="3" name="Oval 2"/>
          <p:cNvSpPr/>
          <p:nvPr/>
        </p:nvSpPr>
        <p:spPr>
          <a:xfrm>
            <a:off x="-2286000" y="5257800"/>
            <a:ext cx="9601200" cy="3840480"/>
          </a:xfrm>
          <a:prstGeom prst="ellipse">
            <a:avLst/>
          </a:prstGeom>
          <a:solidFill>
            <a:srgbClr val="071021"/>
          </a:solidFill>
          <a:ln>
            <a:noFill/>
          </a:ln>
          <a:effectLst/>
        </p:spPr>
        <p:txBody>
          <a:bodyPr rtlCol="0" anchor="ctr" wrap="square" lIns="36576" rIns="36576" tIns="0" bIns="0">
            <a:noAutofit/>
          </a:bodyPr>
          <a:lstStyle/>
          <a:p>
            <a:pPr algn="ctr"/>
          </a:p>
        </p:txBody>
      </p:sp>
      <p:sp>
        <p:nvSpPr>
          <p:cNvPr id="4" name="Oval 3"/>
          <p:cNvSpPr/>
          <p:nvPr/>
        </p:nvSpPr>
        <p:spPr>
          <a:xfrm>
            <a:off x="4572000" y="5074920"/>
            <a:ext cx="10058400" cy="4206240"/>
          </a:xfrm>
          <a:prstGeom prst="ellipse">
            <a:avLst/>
          </a:prstGeom>
          <a:solidFill>
            <a:srgbClr val="050B18"/>
          </a:solidFill>
          <a:ln>
            <a:noFill/>
          </a:ln>
          <a:effectLst/>
        </p:spPr>
        <p:txBody>
          <a:bodyPr rtlCol="0" anchor="ctr" wrap="square" lIns="36576" rIns="36576" tIns="0" bIns="0">
            <a:noAutofit/>
          </a:bodyPr>
          <a:lstStyle/>
          <a:p>
            <a:pPr algn="ctr"/>
          </a:p>
        </p:txBody>
      </p:sp>
      <p:sp>
        <p:nvSpPr>
          <p:cNvPr id="5" name="Oval 4"/>
          <p:cNvSpPr/>
          <p:nvPr/>
        </p:nvSpPr>
        <p:spPr>
          <a:xfrm>
            <a:off x="11240683" y="4627344"/>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6" name="Oval 5"/>
          <p:cNvSpPr/>
          <p:nvPr/>
        </p:nvSpPr>
        <p:spPr>
          <a:xfrm>
            <a:off x="10552463" y="3240296"/>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7" name="Oval 6"/>
          <p:cNvSpPr/>
          <p:nvPr/>
        </p:nvSpPr>
        <p:spPr>
          <a:xfrm>
            <a:off x="10313477" y="4189702"/>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8" name="Oval 7"/>
          <p:cNvSpPr/>
          <p:nvPr/>
        </p:nvSpPr>
        <p:spPr>
          <a:xfrm>
            <a:off x="823110" y="4568831"/>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 name="Oval 8"/>
          <p:cNvSpPr/>
          <p:nvPr/>
        </p:nvSpPr>
        <p:spPr>
          <a:xfrm>
            <a:off x="9132739" y="378462"/>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10" name="Oval 9"/>
          <p:cNvSpPr/>
          <p:nvPr/>
        </p:nvSpPr>
        <p:spPr>
          <a:xfrm>
            <a:off x="196091" y="4442041"/>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11" name="Oval 10"/>
          <p:cNvSpPr/>
          <p:nvPr/>
        </p:nvSpPr>
        <p:spPr>
          <a:xfrm>
            <a:off x="11528520" y="3172036"/>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12" name="Oval 11"/>
          <p:cNvSpPr/>
          <p:nvPr/>
        </p:nvSpPr>
        <p:spPr>
          <a:xfrm>
            <a:off x="1133859" y="3173440"/>
            <a:ext cx="27432" cy="27432"/>
          </a:xfrm>
          <a:prstGeom prst="ellipse">
            <a:avLst/>
          </a:prstGeom>
          <a:solidFill>
            <a:srgbClr val="7F94B8"/>
          </a:solidFill>
          <a:ln>
            <a:noFill/>
          </a:ln>
          <a:effectLst/>
        </p:spPr>
        <p:txBody>
          <a:bodyPr rtlCol="0" anchor="ctr" wrap="square" lIns="36576" rIns="36576" tIns="0" bIns="0">
            <a:noAutofit/>
          </a:bodyPr>
          <a:lstStyle/>
          <a:p>
            <a:pPr algn="ctr"/>
          </a:p>
        </p:txBody>
      </p:sp>
      <p:sp>
        <p:nvSpPr>
          <p:cNvPr id="13" name="Oval 12"/>
          <p:cNvSpPr/>
          <p:nvPr/>
        </p:nvSpPr>
        <p:spPr>
          <a:xfrm>
            <a:off x="9907376" y="3491424"/>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14" name="Oval 13"/>
          <p:cNvSpPr/>
          <p:nvPr/>
        </p:nvSpPr>
        <p:spPr>
          <a:xfrm>
            <a:off x="10576250" y="497209"/>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15" name="Oval 14"/>
          <p:cNvSpPr/>
          <p:nvPr/>
        </p:nvSpPr>
        <p:spPr>
          <a:xfrm>
            <a:off x="2400092" y="2194778"/>
            <a:ext cx="41148" cy="41148"/>
          </a:xfrm>
          <a:prstGeom prst="ellipse">
            <a:avLst/>
          </a:prstGeom>
          <a:solidFill>
            <a:srgbClr val="7F94B8"/>
          </a:solidFill>
          <a:ln>
            <a:noFill/>
          </a:ln>
          <a:effectLst/>
        </p:spPr>
        <p:txBody>
          <a:bodyPr rtlCol="0" anchor="ctr" wrap="square" lIns="36576" rIns="36576" tIns="0" bIns="0">
            <a:noAutofit/>
          </a:bodyPr>
          <a:lstStyle/>
          <a:p>
            <a:pPr algn="ctr"/>
          </a:p>
        </p:txBody>
      </p:sp>
      <p:sp>
        <p:nvSpPr>
          <p:cNvPr id="16" name="Oval 15"/>
          <p:cNvSpPr/>
          <p:nvPr/>
        </p:nvSpPr>
        <p:spPr>
          <a:xfrm>
            <a:off x="11408747" y="3616811"/>
            <a:ext cx="32004" cy="32004"/>
          </a:xfrm>
          <a:prstGeom prst="ellipse">
            <a:avLst/>
          </a:prstGeom>
          <a:solidFill>
            <a:srgbClr val="FFFFFF"/>
          </a:solidFill>
          <a:ln>
            <a:noFill/>
          </a:ln>
          <a:effectLst/>
        </p:spPr>
        <p:txBody>
          <a:bodyPr rtlCol="0" anchor="ctr" wrap="square" lIns="36576" rIns="36576" tIns="0" bIns="0">
            <a:noAutofit/>
          </a:bodyPr>
          <a:lstStyle/>
          <a:p>
            <a:pPr algn="ctr"/>
          </a:p>
        </p:txBody>
      </p:sp>
      <p:sp>
        <p:nvSpPr>
          <p:cNvPr id="17" name="Oval 16"/>
          <p:cNvSpPr/>
          <p:nvPr/>
        </p:nvSpPr>
        <p:spPr>
          <a:xfrm>
            <a:off x="1936378" y="3520067"/>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18" name="Oval 17"/>
          <p:cNvSpPr/>
          <p:nvPr/>
        </p:nvSpPr>
        <p:spPr>
          <a:xfrm>
            <a:off x="439835" y="903748"/>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19" name="Oval 18"/>
          <p:cNvSpPr/>
          <p:nvPr/>
        </p:nvSpPr>
        <p:spPr>
          <a:xfrm>
            <a:off x="10034557" y="2860328"/>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20" name="Oval 19"/>
          <p:cNvSpPr/>
          <p:nvPr/>
        </p:nvSpPr>
        <p:spPr>
          <a:xfrm>
            <a:off x="10987137" y="819177"/>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21" name="Oval 20"/>
          <p:cNvSpPr/>
          <p:nvPr/>
        </p:nvSpPr>
        <p:spPr>
          <a:xfrm>
            <a:off x="7735674" y="295901"/>
            <a:ext cx="22860" cy="22860"/>
          </a:xfrm>
          <a:prstGeom prst="ellipse">
            <a:avLst/>
          </a:prstGeom>
          <a:solidFill>
            <a:srgbClr val="CADCFF"/>
          </a:solidFill>
          <a:ln>
            <a:noFill/>
          </a:ln>
          <a:effectLst/>
        </p:spPr>
        <p:txBody>
          <a:bodyPr rtlCol="0" anchor="ctr" wrap="square" lIns="36576" rIns="36576" tIns="0" bIns="0">
            <a:noAutofit/>
          </a:bodyPr>
          <a:lstStyle/>
          <a:p>
            <a:pPr algn="ctr"/>
          </a:p>
        </p:txBody>
      </p:sp>
      <p:sp>
        <p:nvSpPr>
          <p:cNvPr id="22" name="Oval 21"/>
          <p:cNvSpPr/>
          <p:nvPr/>
        </p:nvSpPr>
        <p:spPr>
          <a:xfrm>
            <a:off x="10756751" y="3573517"/>
            <a:ext cx="22860" cy="22860"/>
          </a:xfrm>
          <a:prstGeom prst="ellipse">
            <a:avLst/>
          </a:prstGeom>
          <a:solidFill>
            <a:srgbClr val="7F94B8"/>
          </a:solidFill>
          <a:ln>
            <a:noFill/>
          </a:ln>
          <a:effectLst/>
        </p:spPr>
        <p:txBody>
          <a:bodyPr rtlCol="0" anchor="ctr" wrap="square" lIns="36576" rIns="36576" tIns="0" bIns="0">
            <a:noAutofit/>
          </a:bodyPr>
          <a:lstStyle/>
          <a:p>
            <a:pPr algn="ctr"/>
          </a:p>
        </p:txBody>
      </p:sp>
      <p:sp>
        <p:nvSpPr>
          <p:cNvPr id="23" name="Oval 22"/>
          <p:cNvSpPr/>
          <p:nvPr/>
        </p:nvSpPr>
        <p:spPr>
          <a:xfrm>
            <a:off x="1871931" y="2694737"/>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24" name="Oval 23"/>
          <p:cNvSpPr/>
          <p:nvPr/>
        </p:nvSpPr>
        <p:spPr>
          <a:xfrm>
            <a:off x="10446430" y="3117588"/>
            <a:ext cx="54864" cy="54864"/>
          </a:xfrm>
          <a:prstGeom prst="ellipse">
            <a:avLst/>
          </a:prstGeom>
          <a:solidFill>
            <a:srgbClr val="7F94B8"/>
          </a:solidFill>
          <a:ln>
            <a:noFill/>
          </a:ln>
          <a:effectLst/>
        </p:spPr>
        <p:txBody>
          <a:bodyPr rtlCol="0" anchor="ctr" wrap="square" lIns="36576" rIns="36576" tIns="0" bIns="0">
            <a:noAutofit/>
          </a:bodyPr>
          <a:lstStyle/>
          <a:p>
            <a:pPr algn="ctr"/>
          </a:p>
        </p:txBody>
      </p:sp>
      <p:sp>
        <p:nvSpPr>
          <p:cNvPr id="25" name="Oval 24"/>
          <p:cNvSpPr/>
          <p:nvPr/>
        </p:nvSpPr>
        <p:spPr>
          <a:xfrm>
            <a:off x="1520976" y="4437190"/>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26" name="Oval 25"/>
          <p:cNvSpPr/>
          <p:nvPr/>
        </p:nvSpPr>
        <p:spPr>
          <a:xfrm>
            <a:off x="1219943" y="4358812"/>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27" name="Oval 26"/>
          <p:cNvSpPr/>
          <p:nvPr/>
        </p:nvSpPr>
        <p:spPr>
          <a:xfrm>
            <a:off x="9771812" y="3420229"/>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28" name="Oval 27"/>
          <p:cNvSpPr/>
          <p:nvPr/>
        </p:nvSpPr>
        <p:spPr>
          <a:xfrm>
            <a:off x="398417" y="141553"/>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29" name="Oval 28"/>
          <p:cNvSpPr/>
          <p:nvPr/>
        </p:nvSpPr>
        <p:spPr>
          <a:xfrm>
            <a:off x="11714460" y="2294543"/>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30" name="Oval 29"/>
          <p:cNvSpPr/>
          <p:nvPr/>
        </p:nvSpPr>
        <p:spPr>
          <a:xfrm>
            <a:off x="2296241" y="4250232"/>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31" name="Oval 30"/>
          <p:cNvSpPr/>
          <p:nvPr/>
        </p:nvSpPr>
        <p:spPr>
          <a:xfrm>
            <a:off x="1611564" y="2293360"/>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32" name="Oval 31"/>
          <p:cNvSpPr/>
          <p:nvPr/>
        </p:nvSpPr>
        <p:spPr>
          <a:xfrm>
            <a:off x="131085" y="1030296"/>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33" name="Oval 32"/>
          <p:cNvSpPr/>
          <p:nvPr/>
        </p:nvSpPr>
        <p:spPr>
          <a:xfrm>
            <a:off x="1153373" y="355050"/>
            <a:ext cx="41148" cy="41148"/>
          </a:xfrm>
          <a:prstGeom prst="ellipse">
            <a:avLst/>
          </a:prstGeom>
          <a:solidFill>
            <a:srgbClr val="7F94B8"/>
          </a:solidFill>
          <a:ln>
            <a:noFill/>
          </a:ln>
          <a:effectLst/>
        </p:spPr>
        <p:txBody>
          <a:bodyPr rtlCol="0" anchor="ctr" wrap="square" lIns="36576" rIns="36576" tIns="0" bIns="0">
            <a:noAutofit/>
          </a:bodyPr>
          <a:lstStyle/>
          <a:p>
            <a:pPr algn="ctr"/>
          </a:p>
        </p:txBody>
      </p:sp>
      <p:sp>
        <p:nvSpPr>
          <p:cNvPr id="34" name="Oval 33"/>
          <p:cNvSpPr/>
          <p:nvPr/>
        </p:nvSpPr>
        <p:spPr>
          <a:xfrm>
            <a:off x="2445050" y="3849082"/>
            <a:ext cx="22860" cy="22860"/>
          </a:xfrm>
          <a:prstGeom prst="ellipse">
            <a:avLst/>
          </a:prstGeom>
          <a:solidFill>
            <a:srgbClr val="CADCFF"/>
          </a:solidFill>
          <a:ln>
            <a:noFill/>
          </a:ln>
          <a:effectLst/>
        </p:spPr>
        <p:txBody>
          <a:bodyPr rtlCol="0" anchor="ctr" wrap="square" lIns="36576" rIns="36576" tIns="0" bIns="0">
            <a:noAutofit/>
          </a:bodyPr>
          <a:lstStyle/>
          <a:p>
            <a:pPr algn="ctr"/>
          </a:p>
        </p:txBody>
      </p:sp>
      <p:sp>
        <p:nvSpPr>
          <p:cNvPr id="35" name="Oval 34"/>
          <p:cNvSpPr/>
          <p:nvPr/>
        </p:nvSpPr>
        <p:spPr>
          <a:xfrm>
            <a:off x="10766566" y="982584"/>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36" name="Oval 35"/>
          <p:cNvSpPr/>
          <p:nvPr/>
        </p:nvSpPr>
        <p:spPr>
          <a:xfrm>
            <a:off x="7109638" y="1405329"/>
            <a:ext cx="54864" cy="54864"/>
          </a:xfrm>
          <a:prstGeom prst="ellipse">
            <a:avLst/>
          </a:prstGeom>
          <a:solidFill>
            <a:srgbClr val="7F94B8"/>
          </a:solidFill>
          <a:ln>
            <a:noFill/>
          </a:ln>
          <a:effectLst/>
        </p:spPr>
        <p:txBody>
          <a:bodyPr rtlCol="0" anchor="ctr" wrap="square" lIns="36576" rIns="36576" tIns="0" bIns="0">
            <a:noAutofit/>
          </a:bodyPr>
          <a:lstStyle/>
          <a:p>
            <a:pPr algn="ctr"/>
          </a:p>
        </p:txBody>
      </p:sp>
      <p:sp>
        <p:nvSpPr>
          <p:cNvPr id="37" name="Oval 36"/>
          <p:cNvSpPr/>
          <p:nvPr/>
        </p:nvSpPr>
        <p:spPr>
          <a:xfrm>
            <a:off x="1340615" y="212388"/>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38" name="Oval 37"/>
          <p:cNvSpPr/>
          <p:nvPr/>
        </p:nvSpPr>
        <p:spPr>
          <a:xfrm>
            <a:off x="10549885" y="1711002"/>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39" name="Oval 38"/>
          <p:cNvSpPr/>
          <p:nvPr/>
        </p:nvSpPr>
        <p:spPr>
          <a:xfrm>
            <a:off x="11361230" y="2727805"/>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40" name="Oval 39"/>
          <p:cNvSpPr/>
          <p:nvPr/>
        </p:nvSpPr>
        <p:spPr>
          <a:xfrm>
            <a:off x="10088814" y="3610765"/>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41" name="Oval 40"/>
          <p:cNvSpPr/>
          <p:nvPr/>
        </p:nvSpPr>
        <p:spPr>
          <a:xfrm>
            <a:off x="12057920" y="4630923"/>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42" name="Oval 41"/>
          <p:cNvSpPr/>
          <p:nvPr/>
        </p:nvSpPr>
        <p:spPr>
          <a:xfrm>
            <a:off x="10921224" y="1147430"/>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43" name="Oval 42"/>
          <p:cNvSpPr/>
          <p:nvPr/>
        </p:nvSpPr>
        <p:spPr>
          <a:xfrm>
            <a:off x="5417294" y="1426314"/>
            <a:ext cx="22860" cy="22860"/>
          </a:xfrm>
          <a:prstGeom prst="ellipse">
            <a:avLst/>
          </a:prstGeom>
          <a:solidFill>
            <a:srgbClr val="7F94B8"/>
          </a:solidFill>
          <a:ln>
            <a:noFill/>
          </a:ln>
          <a:effectLst/>
        </p:spPr>
        <p:txBody>
          <a:bodyPr rtlCol="0" anchor="ctr" wrap="square" lIns="36576" rIns="36576" tIns="0" bIns="0">
            <a:noAutofit/>
          </a:bodyPr>
          <a:lstStyle/>
          <a:p>
            <a:pPr algn="ctr"/>
          </a:p>
        </p:txBody>
      </p:sp>
      <p:sp>
        <p:nvSpPr>
          <p:cNvPr id="44" name="Oval 43"/>
          <p:cNvSpPr/>
          <p:nvPr/>
        </p:nvSpPr>
        <p:spPr>
          <a:xfrm>
            <a:off x="10434127" y="2719615"/>
            <a:ext cx="54864" cy="54864"/>
          </a:xfrm>
          <a:prstGeom prst="ellipse">
            <a:avLst/>
          </a:prstGeom>
          <a:solidFill>
            <a:srgbClr val="7F94B8"/>
          </a:solidFill>
          <a:ln>
            <a:noFill/>
          </a:ln>
          <a:effectLst/>
        </p:spPr>
        <p:txBody>
          <a:bodyPr rtlCol="0" anchor="ctr" wrap="square" lIns="36576" rIns="36576" tIns="0" bIns="0">
            <a:noAutofit/>
          </a:bodyPr>
          <a:lstStyle/>
          <a:p>
            <a:pPr algn="ctr"/>
          </a:p>
        </p:txBody>
      </p:sp>
      <p:sp>
        <p:nvSpPr>
          <p:cNvPr id="45" name="Oval 44"/>
          <p:cNvSpPr/>
          <p:nvPr/>
        </p:nvSpPr>
        <p:spPr>
          <a:xfrm>
            <a:off x="9377419" y="1397744"/>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46" name="Oval 45"/>
          <p:cNvSpPr/>
          <p:nvPr/>
        </p:nvSpPr>
        <p:spPr>
          <a:xfrm>
            <a:off x="3847543" y="515646"/>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47" name="Oval 46"/>
          <p:cNvSpPr/>
          <p:nvPr/>
        </p:nvSpPr>
        <p:spPr>
          <a:xfrm>
            <a:off x="2800268" y="201408"/>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48" name="Oval 47"/>
          <p:cNvSpPr/>
          <p:nvPr/>
        </p:nvSpPr>
        <p:spPr>
          <a:xfrm>
            <a:off x="12011258" y="3019059"/>
            <a:ext cx="41148" cy="41148"/>
          </a:xfrm>
          <a:prstGeom prst="ellipse">
            <a:avLst/>
          </a:prstGeom>
          <a:solidFill>
            <a:srgbClr val="7F94B8"/>
          </a:solidFill>
          <a:ln>
            <a:noFill/>
          </a:ln>
          <a:effectLst/>
        </p:spPr>
        <p:txBody>
          <a:bodyPr rtlCol="0" anchor="ctr" wrap="square" lIns="36576" rIns="36576" tIns="0" bIns="0">
            <a:noAutofit/>
          </a:bodyPr>
          <a:lstStyle/>
          <a:p>
            <a:pPr algn="ctr"/>
          </a:p>
        </p:txBody>
      </p:sp>
      <p:sp>
        <p:nvSpPr>
          <p:cNvPr id="49" name="Oval 48"/>
          <p:cNvSpPr/>
          <p:nvPr/>
        </p:nvSpPr>
        <p:spPr>
          <a:xfrm>
            <a:off x="7285971" y="435397"/>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50" name="Oval 49"/>
          <p:cNvSpPr/>
          <p:nvPr/>
        </p:nvSpPr>
        <p:spPr>
          <a:xfrm>
            <a:off x="9980263" y="217309"/>
            <a:ext cx="32004" cy="32004"/>
          </a:xfrm>
          <a:prstGeom prst="ellipse">
            <a:avLst/>
          </a:prstGeom>
          <a:solidFill>
            <a:srgbClr val="7F94B8"/>
          </a:solidFill>
          <a:ln>
            <a:noFill/>
          </a:ln>
          <a:effectLst/>
        </p:spPr>
        <p:txBody>
          <a:bodyPr rtlCol="0" anchor="ctr" wrap="square" lIns="36576" rIns="36576" tIns="0" bIns="0">
            <a:noAutofit/>
          </a:bodyPr>
          <a:lstStyle/>
          <a:p>
            <a:pPr algn="ctr"/>
          </a:p>
        </p:txBody>
      </p:sp>
      <p:sp>
        <p:nvSpPr>
          <p:cNvPr id="51" name="Oval 50"/>
          <p:cNvSpPr/>
          <p:nvPr/>
        </p:nvSpPr>
        <p:spPr>
          <a:xfrm>
            <a:off x="10684665" y="3564609"/>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52" name="Oval 51"/>
          <p:cNvSpPr/>
          <p:nvPr/>
        </p:nvSpPr>
        <p:spPr>
          <a:xfrm>
            <a:off x="136085" y="1544587"/>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53" name="Oval 52"/>
          <p:cNvSpPr/>
          <p:nvPr/>
        </p:nvSpPr>
        <p:spPr>
          <a:xfrm>
            <a:off x="2030018" y="2639593"/>
            <a:ext cx="32004" cy="32004"/>
          </a:xfrm>
          <a:prstGeom prst="ellipse">
            <a:avLst/>
          </a:prstGeom>
          <a:solidFill>
            <a:srgbClr val="7F94B8"/>
          </a:solidFill>
          <a:ln>
            <a:noFill/>
          </a:ln>
          <a:effectLst/>
        </p:spPr>
        <p:txBody>
          <a:bodyPr rtlCol="0" anchor="ctr" wrap="square" lIns="36576" rIns="36576" tIns="0" bIns="0">
            <a:noAutofit/>
          </a:bodyPr>
          <a:lstStyle/>
          <a:p>
            <a:pPr algn="ctr"/>
          </a:p>
        </p:txBody>
      </p:sp>
      <p:sp>
        <p:nvSpPr>
          <p:cNvPr id="54" name="Oval 53"/>
          <p:cNvSpPr/>
          <p:nvPr/>
        </p:nvSpPr>
        <p:spPr>
          <a:xfrm>
            <a:off x="11653552" y="4305622"/>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55" name="Oval 54"/>
          <p:cNvSpPr/>
          <p:nvPr/>
        </p:nvSpPr>
        <p:spPr>
          <a:xfrm>
            <a:off x="11442378" y="2558840"/>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56" name="Oval 55"/>
          <p:cNvSpPr/>
          <p:nvPr/>
        </p:nvSpPr>
        <p:spPr>
          <a:xfrm>
            <a:off x="3040374" y="322010"/>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57" name="Oval 56"/>
          <p:cNvSpPr/>
          <p:nvPr/>
        </p:nvSpPr>
        <p:spPr>
          <a:xfrm>
            <a:off x="607335" y="3938352"/>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58" name="Oval 57"/>
          <p:cNvSpPr/>
          <p:nvPr/>
        </p:nvSpPr>
        <p:spPr>
          <a:xfrm>
            <a:off x="540566" y="4206553"/>
            <a:ext cx="27432" cy="27432"/>
          </a:xfrm>
          <a:prstGeom prst="ellipse">
            <a:avLst/>
          </a:prstGeom>
          <a:solidFill>
            <a:srgbClr val="7F94B8"/>
          </a:solidFill>
          <a:ln>
            <a:noFill/>
          </a:ln>
          <a:effectLst/>
        </p:spPr>
        <p:txBody>
          <a:bodyPr rtlCol="0" anchor="ctr" wrap="square" lIns="36576" rIns="36576" tIns="0" bIns="0">
            <a:noAutofit/>
          </a:bodyPr>
          <a:lstStyle/>
          <a:p>
            <a:pPr algn="ctr"/>
          </a:p>
        </p:txBody>
      </p:sp>
      <p:sp>
        <p:nvSpPr>
          <p:cNvPr id="59" name="Oval 58"/>
          <p:cNvSpPr/>
          <p:nvPr/>
        </p:nvSpPr>
        <p:spPr>
          <a:xfrm>
            <a:off x="11573653" y="1340479"/>
            <a:ext cx="32004" cy="32004"/>
          </a:xfrm>
          <a:prstGeom prst="ellipse">
            <a:avLst/>
          </a:prstGeom>
          <a:solidFill>
            <a:srgbClr val="FFFFFF"/>
          </a:solidFill>
          <a:ln>
            <a:noFill/>
          </a:ln>
          <a:effectLst/>
        </p:spPr>
        <p:txBody>
          <a:bodyPr rtlCol="0" anchor="ctr" wrap="square" lIns="36576" rIns="36576" tIns="0" bIns="0">
            <a:noAutofit/>
          </a:bodyPr>
          <a:lstStyle/>
          <a:p>
            <a:pPr algn="ctr"/>
          </a:p>
        </p:txBody>
      </p:sp>
      <p:sp>
        <p:nvSpPr>
          <p:cNvPr id="60" name="Oval 59"/>
          <p:cNvSpPr/>
          <p:nvPr/>
        </p:nvSpPr>
        <p:spPr>
          <a:xfrm>
            <a:off x="1482127" y="362970"/>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61" name="Oval 60"/>
          <p:cNvSpPr/>
          <p:nvPr/>
        </p:nvSpPr>
        <p:spPr>
          <a:xfrm>
            <a:off x="11584044" y="3247574"/>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62" name="Oval 61"/>
          <p:cNvSpPr/>
          <p:nvPr/>
        </p:nvSpPr>
        <p:spPr>
          <a:xfrm>
            <a:off x="11564508" y="1669723"/>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63" name="Oval 62"/>
          <p:cNvSpPr/>
          <p:nvPr/>
        </p:nvSpPr>
        <p:spPr>
          <a:xfrm>
            <a:off x="1887094" y="4939932"/>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64" name="Oval 63"/>
          <p:cNvSpPr/>
          <p:nvPr/>
        </p:nvSpPr>
        <p:spPr>
          <a:xfrm>
            <a:off x="11534608" y="2496974"/>
            <a:ext cx="22860" cy="22860"/>
          </a:xfrm>
          <a:prstGeom prst="ellipse">
            <a:avLst/>
          </a:prstGeom>
          <a:solidFill>
            <a:srgbClr val="7F94B8"/>
          </a:solidFill>
          <a:ln>
            <a:noFill/>
          </a:ln>
          <a:effectLst/>
        </p:spPr>
        <p:txBody>
          <a:bodyPr rtlCol="0" anchor="ctr" wrap="square" lIns="36576" rIns="36576" tIns="0" bIns="0">
            <a:noAutofit/>
          </a:bodyPr>
          <a:lstStyle/>
          <a:p>
            <a:pPr algn="ctr"/>
          </a:p>
        </p:txBody>
      </p:sp>
      <p:sp>
        <p:nvSpPr>
          <p:cNvPr id="65" name="Oval 64"/>
          <p:cNvSpPr/>
          <p:nvPr/>
        </p:nvSpPr>
        <p:spPr>
          <a:xfrm>
            <a:off x="12060494" y="3342579"/>
            <a:ext cx="54864" cy="54864"/>
          </a:xfrm>
          <a:prstGeom prst="ellipse">
            <a:avLst/>
          </a:prstGeom>
          <a:solidFill>
            <a:srgbClr val="7F94B8"/>
          </a:solidFill>
          <a:ln>
            <a:noFill/>
          </a:ln>
          <a:effectLst/>
        </p:spPr>
        <p:txBody>
          <a:bodyPr rtlCol="0" anchor="ctr" wrap="square" lIns="36576" rIns="36576" tIns="0" bIns="0">
            <a:noAutofit/>
          </a:bodyPr>
          <a:lstStyle/>
          <a:p>
            <a:pPr algn="ctr"/>
          </a:p>
        </p:txBody>
      </p:sp>
      <p:sp>
        <p:nvSpPr>
          <p:cNvPr id="66" name="Oval 65"/>
          <p:cNvSpPr/>
          <p:nvPr/>
        </p:nvSpPr>
        <p:spPr>
          <a:xfrm>
            <a:off x="11486248" y="653039"/>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67" name="Oval 66"/>
          <p:cNvSpPr/>
          <p:nvPr/>
        </p:nvSpPr>
        <p:spPr>
          <a:xfrm>
            <a:off x="3074042" y="522475"/>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68" name="Oval 67"/>
          <p:cNvSpPr/>
          <p:nvPr/>
        </p:nvSpPr>
        <p:spPr>
          <a:xfrm>
            <a:off x="4302207" y="435033"/>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69" name="Oval 68"/>
          <p:cNvSpPr/>
          <p:nvPr/>
        </p:nvSpPr>
        <p:spPr>
          <a:xfrm>
            <a:off x="9842018" y="1443798"/>
            <a:ext cx="32004" cy="32004"/>
          </a:xfrm>
          <a:prstGeom prst="ellipse">
            <a:avLst/>
          </a:prstGeom>
          <a:solidFill>
            <a:srgbClr val="FFFFFF"/>
          </a:solidFill>
          <a:ln>
            <a:noFill/>
          </a:ln>
          <a:effectLst/>
        </p:spPr>
        <p:txBody>
          <a:bodyPr rtlCol="0" anchor="ctr" wrap="square" lIns="36576" rIns="36576" tIns="0" bIns="0">
            <a:noAutofit/>
          </a:bodyPr>
          <a:lstStyle/>
          <a:p>
            <a:pPr algn="ctr"/>
          </a:p>
        </p:txBody>
      </p:sp>
      <p:sp>
        <p:nvSpPr>
          <p:cNvPr id="70" name="Oval 69"/>
          <p:cNvSpPr/>
          <p:nvPr/>
        </p:nvSpPr>
        <p:spPr>
          <a:xfrm>
            <a:off x="10513905" y="3891534"/>
            <a:ext cx="41148" cy="41148"/>
          </a:xfrm>
          <a:prstGeom prst="ellipse">
            <a:avLst/>
          </a:prstGeom>
          <a:solidFill>
            <a:srgbClr val="7F94B8"/>
          </a:solidFill>
          <a:ln>
            <a:noFill/>
          </a:ln>
          <a:effectLst/>
        </p:spPr>
        <p:txBody>
          <a:bodyPr rtlCol="0" anchor="ctr" wrap="square" lIns="36576" rIns="36576" tIns="0" bIns="0">
            <a:noAutofit/>
          </a:bodyPr>
          <a:lstStyle/>
          <a:p>
            <a:pPr algn="ctr"/>
          </a:p>
        </p:txBody>
      </p:sp>
      <p:sp>
        <p:nvSpPr>
          <p:cNvPr id="71" name="Oval 70"/>
          <p:cNvSpPr/>
          <p:nvPr/>
        </p:nvSpPr>
        <p:spPr>
          <a:xfrm>
            <a:off x="1883792" y="2993302"/>
            <a:ext cx="54864" cy="54864"/>
          </a:xfrm>
          <a:prstGeom prst="ellipse">
            <a:avLst/>
          </a:prstGeom>
          <a:solidFill>
            <a:srgbClr val="7F94B8"/>
          </a:solidFill>
          <a:ln>
            <a:noFill/>
          </a:ln>
          <a:effectLst/>
        </p:spPr>
        <p:txBody>
          <a:bodyPr rtlCol="0" anchor="ctr" wrap="square" lIns="36576" rIns="36576" tIns="0" bIns="0">
            <a:noAutofit/>
          </a:bodyPr>
          <a:lstStyle/>
          <a:p>
            <a:pPr algn="ctr"/>
          </a:p>
        </p:txBody>
      </p:sp>
      <p:sp>
        <p:nvSpPr>
          <p:cNvPr id="72" name="Oval 71"/>
          <p:cNvSpPr/>
          <p:nvPr/>
        </p:nvSpPr>
        <p:spPr>
          <a:xfrm>
            <a:off x="10999072" y="1571070"/>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73" name="Oval 72"/>
          <p:cNvSpPr/>
          <p:nvPr/>
        </p:nvSpPr>
        <p:spPr>
          <a:xfrm>
            <a:off x="3405634" y="477200"/>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74" name="Oval 73"/>
          <p:cNvSpPr/>
          <p:nvPr/>
        </p:nvSpPr>
        <p:spPr>
          <a:xfrm>
            <a:off x="975813" y="540810"/>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75" name="Oval 74"/>
          <p:cNvSpPr/>
          <p:nvPr/>
        </p:nvSpPr>
        <p:spPr>
          <a:xfrm>
            <a:off x="1623583" y="2206519"/>
            <a:ext cx="22860" cy="22860"/>
          </a:xfrm>
          <a:prstGeom prst="ellipse">
            <a:avLst/>
          </a:prstGeom>
          <a:solidFill>
            <a:srgbClr val="7F94B8"/>
          </a:solidFill>
          <a:ln>
            <a:noFill/>
          </a:ln>
          <a:effectLst/>
        </p:spPr>
        <p:txBody>
          <a:bodyPr rtlCol="0" anchor="ctr" wrap="square" lIns="36576" rIns="36576" tIns="0" bIns="0">
            <a:noAutofit/>
          </a:bodyPr>
          <a:lstStyle/>
          <a:p>
            <a:pPr algn="ctr"/>
          </a:p>
        </p:txBody>
      </p:sp>
      <p:sp>
        <p:nvSpPr>
          <p:cNvPr id="76" name="Oval 75"/>
          <p:cNvSpPr/>
          <p:nvPr/>
        </p:nvSpPr>
        <p:spPr>
          <a:xfrm>
            <a:off x="1433291" y="900399"/>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77" name="Oval 76"/>
          <p:cNvSpPr/>
          <p:nvPr/>
        </p:nvSpPr>
        <p:spPr>
          <a:xfrm>
            <a:off x="1778255" y="3581362"/>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78" name="Oval 77"/>
          <p:cNvSpPr/>
          <p:nvPr/>
        </p:nvSpPr>
        <p:spPr>
          <a:xfrm>
            <a:off x="1844359" y="2888463"/>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79" name="Oval 78"/>
          <p:cNvSpPr/>
          <p:nvPr/>
        </p:nvSpPr>
        <p:spPr>
          <a:xfrm>
            <a:off x="11402068" y="3771693"/>
            <a:ext cx="22860" cy="22860"/>
          </a:xfrm>
          <a:prstGeom prst="ellipse">
            <a:avLst/>
          </a:prstGeom>
          <a:solidFill>
            <a:srgbClr val="CADCFF"/>
          </a:solidFill>
          <a:ln>
            <a:noFill/>
          </a:ln>
          <a:effectLst/>
        </p:spPr>
        <p:txBody>
          <a:bodyPr rtlCol="0" anchor="ctr" wrap="square" lIns="36576" rIns="36576" tIns="0" bIns="0">
            <a:noAutofit/>
          </a:bodyPr>
          <a:lstStyle/>
          <a:p>
            <a:pPr algn="ctr"/>
          </a:p>
        </p:txBody>
      </p:sp>
      <p:sp>
        <p:nvSpPr>
          <p:cNvPr id="80" name="Oval 79"/>
          <p:cNvSpPr/>
          <p:nvPr/>
        </p:nvSpPr>
        <p:spPr>
          <a:xfrm>
            <a:off x="3318739" y="290923"/>
            <a:ext cx="22860" cy="22860"/>
          </a:xfrm>
          <a:prstGeom prst="ellipse">
            <a:avLst/>
          </a:prstGeom>
          <a:solidFill>
            <a:srgbClr val="FFFFFF"/>
          </a:solidFill>
          <a:ln>
            <a:noFill/>
          </a:ln>
          <a:effectLst/>
        </p:spPr>
        <p:txBody>
          <a:bodyPr rtlCol="0" anchor="ctr" wrap="square" lIns="36576" rIns="36576" tIns="0" bIns="0">
            <a:noAutofit/>
          </a:bodyPr>
          <a:lstStyle/>
          <a:p>
            <a:pPr algn="ctr"/>
          </a:p>
        </p:txBody>
      </p:sp>
      <p:sp>
        <p:nvSpPr>
          <p:cNvPr id="81" name="Oval 80"/>
          <p:cNvSpPr/>
          <p:nvPr/>
        </p:nvSpPr>
        <p:spPr>
          <a:xfrm>
            <a:off x="571485" y="3631401"/>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82" name="Oval 81"/>
          <p:cNvSpPr/>
          <p:nvPr/>
        </p:nvSpPr>
        <p:spPr>
          <a:xfrm>
            <a:off x="2050325" y="1851017"/>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83" name="Oval 82"/>
          <p:cNvSpPr/>
          <p:nvPr/>
        </p:nvSpPr>
        <p:spPr>
          <a:xfrm>
            <a:off x="144674" y="2906042"/>
            <a:ext cx="41148" cy="41148"/>
          </a:xfrm>
          <a:prstGeom prst="ellipse">
            <a:avLst/>
          </a:prstGeom>
          <a:solidFill>
            <a:srgbClr val="CADCFF"/>
          </a:solidFill>
          <a:ln>
            <a:noFill/>
          </a:ln>
          <a:effectLst/>
        </p:spPr>
        <p:txBody>
          <a:bodyPr rtlCol="0" anchor="ctr" wrap="square" lIns="36576" rIns="36576" tIns="0" bIns="0">
            <a:noAutofit/>
          </a:bodyPr>
          <a:lstStyle/>
          <a:p>
            <a:pPr algn="ctr"/>
          </a:p>
        </p:txBody>
      </p:sp>
      <p:sp>
        <p:nvSpPr>
          <p:cNvPr id="84" name="Oval 83"/>
          <p:cNvSpPr/>
          <p:nvPr/>
        </p:nvSpPr>
        <p:spPr>
          <a:xfrm>
            <a:off x="1301827" y="2182425"/>
            <a:ext cx="41148" cy="41148"/>
          </a:xfrm>
          <a:prstGeom prst="ellipse">
            <a:avLst/>
          </a:prstGeom>
          <a:solidFill>
            <a:srgbClr val="7F94B8"/>
          </a:solidFill>
          <a:ln>
            <a:noFill/>
          </a:ln>
          <a:effectLst/>
        </p:spPr>
        <p:txBody>
          <a:bodyPr rtlCol="0" anchor="ctr" wrap="square" lIns="36576" rIns="36576" tIns="0" bIns="0">
            <a:noAutofit/>
          </a:bodyPr>
          <a:lstStyle/>
          <a:p>
            <a:pPr algn="ctr"/>
          </a:p>
        </p:txBody>
      </p:sp>
      <p:sp>
        <p:nvSpPr>
          <p:cNvPr id="85" name="Oval 84"/>
          <p:cNvSpPr/>
          <p:nvPr/>
        </p:nvSpPr>
        <p:spPr>
          <a:xfrm>
            <a:off x="10085355" y="1652269"/>
            <a:ext cx="41148" cy="41148"/>
          </a:xfrm>
          <a:prstGeom prst="ellipse">
            <a:avLst/>
          </a:prstGeom>
          <a:solidFill>
            <a:srgbClr val="FFFFFF"/>
          </a:solidFill>
          <a:ln>
            <a:noFill/>
          </a:ln>
          <a:effectLst/>
        </p:spPr>
        <p:txBody>
          <a:bodyPr rtlCol="0" anchor="ctr" wrap="square" lIns="36576" rIns="36576" tIns="0" bIns="0">
            <a:noAutofit/>
          </a:bodyPr>
          <a:lstStyle/>
          <a:p>
            <a:pPr algn="ctr"/>
          </a:p>
        </p:txBody>
      </p:sp>
      <p:sp>
        <p:nvSpPr>
          <p:cNvPr id="86" name="Oval 85"/>
          <p:cNvSpPr/>
          <p:nvPr/>
        </p:nvSpPr>
        <p:spPr>
          <a:xfrm>
            <a:off x="11971311" y="3654478"/>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87" name="Oval 86"/>
          <p:cNvSpPr/>
          <p:nvPr/>
        </p:nvSpPr>
        <p:spPr>
          <a:xfrm>
            <a:off x="3933924" y="381864"/>
            <a:ext cx="22860" cy="22860"/>
          </a:xfrm>
          <a:prstGeom prst="ellipse">
            <a:avLst/>
          </a:prstGeom>
          <a:solidFill>
            <a:srgbClr val="7F94B8"/>
          </a:solidFill>
          <a:ln>
            <a:noFill/>
          </a:ln>
          <a:effectLst/>
        </p:spPr>
        <p:txBody>
          <a:bodyPr rtlCol="0" anchor="ctr" wrap="square" lIns="36576" rIns="36576" tIns="0" bIns="0">
            <a:noAutofit/>
          </a:bodyPr>
          <a:lstStyle/>
          <a:p>
            <a:pPr algn="ctr"/>
          </a:p>
        </p:txBody>
      </p:sp>
      <p:sp>
        <p:nvSpPr>
          <p:cNvPr id="88" name="Oval 87"/>
          <p:cNvSpPr/>
          <p:nvPr/>
        </p:nvSpPr>
        <p:spPr>
          <a:xfrm>
            <a:off x="1289084" y="3566683"/>
            <a:ext cx="22860" cy="22860"/>
          </a:xfrm>
          <a:prstGeom prst="ellipse">
            <a:avLst/>
          </a:prstGeom>
          <a:solidFill>
            <a:srgbClr val="CADCFF"/>
          </a:solidFill>
          <a:ln>
            <a:noFill/>
          </a:ln>
          <a:effectLst/>
        </p:spPr>
        <p:txBody>
          <a:bodyPr rtlCol="0" anchor="ctr" wrap="square" lIns="36576" rIns="36576" tIns="0" bIns="0">
            <a:noAutofit/>
          </a:bodyPr>
          <a:lstStyle/>
          <a:p>
            <a:pPr algn="ctr"/>
          </a:p>
        </p:txBody>
      </p:sp>
      <p:sp>
        <p:nvSpPr>
          <p:cNvPr id="89" name="Oval 88"/>
          <p:cNvSpPr/>
          <p:nvPr/>
        </p:nvSpPr>
        <p:spPr>
          <a:xfrm>
            <a:off x="8157624" y="271741"/>
            <a:ext cx="32004" cy="32004"/>
          </a:xfrm>
          <a:prstGeom prst="ellipse">
            <a:avLst/>
          </a:prstGeom>
          <a:solidFill>
            <a:srgbClr val="7F94B8"/>
          </a:solidFill>
          <a:ln>
            <a:noFill/>
          </a:ln>
          <a:effectLst/>
        </p:spPr>
        <p:txBody>
          <a:bodyPr rtlCol="0" anchor="ctr" wrap="square" lIns="36576" rIns="36576" tIns="0" bIns="0">
            <a:noAutofit/>
          </a:bodyPr>
          <a:lstStyle/>
          <a:p>
            <a:pPr algn="ctr"/>
          </a:p>
        </p:txBody>
      </p:sp>
      <p:sp>
        <p:nvSpPr>
          <p:cNvPr id="90" name="Oval 89"/>
          <p:cNvSpPr/>
          <p:nvPr/>
        </p:nvSpPr>
        <p:spPr>
          <a:xfrm>
            <a:off x="4057247" y="323174"/>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1" name="Oval 90"/>
          <p:cNvSpPr/>
          <p:nvPr/>
        </p:nvSpPr>
        <p:spPr>
          <a:xfrm>
            <a:off x="2535808" y="1474776"/>
            <a:ext cx="54864" cy="54864"/>
          </a:xfrm>
          <a:prstGeom prst="ellipse">
            <a:avLst/>
          </a:prstGeom>
          <a:solidFill>
            <a:srgbClr val="FFFFFF"/>
          </a:solidFill>
          <a:ln>
            <a:noFill/>
          </a:ln>
          <a:effectLst/>
        </p:spPr>
        <p:txBody>
          <a:bodyPr rtlCol="0" anchor="ctr" wrap="square" lIns="36576" rIns="36576" tIns="0" bIns="0">
            <a:noAutofit/>
          </a:bodyPr>
          <a:lstStyle/>
          <a:p>
            <a:pPr algn="ctr"/>
          </a:p>
        </p:txBody>
      </p:sp>
      <p:sp>
        <p:nvSpPr>
          <p:cNvPr id="92" name="Oval 91"/>
          <p:cNvSpPr/>
          <p:nvPr/>
        </p:nvSpPr>
        <p:spPr>
          <a:xfrm>
            <a:off x="689035" y="1334243"/>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3" name="Oval 92"/>
          <p:cNvSpPr/>
          <p:nvPr/>
        </p:nvSpPr>
        <p:spPr>
          <a:xfrm>
            <a:off x="11099104" y="4814156"/>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4" name="Oval 93"/>
          <p:cNvSpPr/>
          <p:nvPr/>
        </p:nvSpPr>
        <p:spPr>
          <a:xfrm>
            <a:off x="1799219" y="4007966"/>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95" name="Oval 94"/>
          <p:cNvSpPr/>
          <p:nvPr/>
        </p:nvSpPr>
        <p:spPr>
          <a:xfrm>
            <a:off x="11314760" y="816240"/>
            <a:ext cx="32004" cy="3200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6" name="Oval 95"/>
          <p:cNvSpPr/>
          <p:nvPr/>
        </p:nvSpPr>
        <p:spPr>
          <a:xfrm>
            <a:off x="7194697" y="230210"/>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97" name="Oval 96"/>
          <p:cNvSpPr/>
          <p:nvPr/>
        </p:nvSpPr>
        <p:spPr>
          <a:xfrm>
            <a:off x="212034" y="4095700"/>
            <a:ext cx="54864" cy="54864"/>
          </a:xfrm>
          <a:prstGeom prst="ellipse">
            <a:avLst/>
          </a:prstGeom>
          <a:solidFill>
            <a:srgbClr val="CADCFF"/>
          </a:solidFill>
          <a:ln>
            <a:noFill/>
          </a:ln>
          <a:effectLst/>
        </p:spPr>
        <p:txBody>
          <a:bodyPr rtlCol="0" anchor="ctr" wrap="square" lIns="36576" rIns="36576" tIns="0" bIns="0">
            <a:noAutofit/>
          </a:bodyPr>
          <a:lstStyle/>
          <a:p>
            <a:pPr algn="ctr"/>
          </a:p>
        </p:txBody>
      </p:sp>
      <p:sp>
        <p:nvSpPr>
          <p:cNvPr id="98" name="Oval 97"/>
          <p:cNvSpPr/>
          <p:nvPr/>
        </p:nvSpPr>
        <p:spPr>
          <a:xfrm>
            <a:off x="11462296" y="2932008"/>
            <a:ext cx="27432" cy="27432"/>
          </a:xfrm>
          <a:prstGeom prst="ellipse">
            <a:avLst/>
          </a:prstGeom>
          <a:solidFill>
            <a:srgbClr val="FFFFFF"/>
          </a:solidFill>
          <a:ln>
            <a:noFill/>
          </a:ln>
          <a:effectLst/>
        </p:spPr>
        <p:txBody>
          <a:bodyPr rtlCol="0" anchor="ctr" wrap="square" lIns="36576" rIns="36576" tIns="0" bIns="0">
            <a:noAutofit/>
          </a:bodyPr>
          <a:lstStyle/>
          <a:p>
            <a:pPr algn="ctr"/>
          </a:p>
        </p:txBody>
      </p:sp>
      <p:sp>
        <p:nvSpPr>
          <p:cNvPr id="99" name="Oval 98"/>
          <p:cNvSpPr/>
          <p:nvPr/>
        </p:nvSpPr>
        <p:spPr>
          <a:xfrm>
            <a:off x="125528" y="4725233"/>
            <a:ext cx="27432" cy="27432"/>
          </a:xfrm>
          <a:prstGeom prst="ellipse">
            <a:avLst/>
          </a:prstGeom>
          <a:solidFill>
            <a:srgbClr val="CADCFF"/>
          </a:solidFill>
          <a:ln>
            <a:noFill/>
          </a:ln>
          <a:effectLst/>
        </p:spPr>
        <p:txBody>
          <a:bodyPr rtlCol="0" anchor="ctr" wrap="square" lIns="36576" rIns="36576" tIns="0" bIns="0">
            <a:noAutofit/>
          </a:bodyPr>
          <a:lstStyle/>
          <a:p>
            <a:pPr algn="ctr"/>
          </a:p>
        </p:txBody>
      </p:sp>
      <p:sp>
        <p:nvSpPr>
          <p:cNvPr id="100" name="TextBox 99"/>
          <p:cNvSpPr txBox="1"/>
          <p:nvPr/>
        </p:nvSpPr>
        <p:spPr>
          <a:xfrm>
            <a:off x="685800" y="548640"/>
            <a:ext cx="10820095" cy="822960"/>
          </a:xfrm>
          <a:prstGeom prst="rect">
            <a:avLst/>
          </a:prstGeom>
          <a:noFill/>
        </p:spPr>
        <p:txBody>
          <a:bodyPr wrap="square" anchor="ctr" lIns="0" rIns="0" tIns="0" bIns="0">
            <a:noAutofit/>
          </a:bodyPr>
          <a:lstStyle/>
          <a:p>
            <a:pPr algn="ctr"/>
            <a:r>
              <a:rPr sz="3600" b="0" i="0">
                <a:solidFill>
                  <a:srgbClr val="FFFFFF"/>
                </a:solidFill>
                <a:latin typeface="Inter"/>
              </a:rPr>
              <a:t>If you’re going to remember one thing…</a:t>
            </a:r>
          </a:p>
        </p:txBody>
      </p:sp>
      <p:sp>
        <p:nvSpPr>
          <p:cNvPr id="101" name="TextBox 100"/>
          <p:cNvSpPr txBox="1"/>
          <p:nvPr/>
        </p:nvSpPr>
        <p:spPr>
          <a:xfrm>
            <a:off x="685800" y="1691640"/>
            <a:ext cx="10820095" cy="2743200"/>
          </a:xfrm>
          <a:prstGeom prst="rect">
            <a:avLst/>
          </a:prstGeom>
          <a:noFill/>
        </p:spPr>
        <p:txBody>
          <a:bodyPr wrap="square" anchor="ctr" lIns="0" rIns="0" tIns="0" bIns="0">
            <a:noAutofit/>
          </a:bodyPr>
          <a:lstStyle/>
          <a:p>
            <a:pPr algn="ctr">
              <a:lnSpc>
                <a:spcPct val="110000"/>
              </a:lnSpc>
            </a:pPr>
            <a:r>
              <a:rPr sz="5400" b="1" i="0">
                <a:solidFill>
                  <a:srgbClr val="FFFFFF"/>
                </a:solidFill>
                <a:latin typeface="Inter"/>
              </a:rPr>
              <a:t>Cards never change.</a:t>
            </a:r>
          </a:p>
          <a:p>
            <a:pPr algn="ctr">
              <a:lnSpc>
                <a:spcPct val="110000"/>
              </a:lnSpc>
            </a:pPr>
            <a:r>
              <a:rPr sz="5400" b="1" i="0">
                <a:solidFill>
                  <a:srgbClr val="FFFFFF"/>
                </a:solidFill>
                <a:latin typeface="Inter"/>
              </a:rPr>
              <a:t>Flags move.</a:t>
            </a:r>
          </a:p>
          <a:p>
            <a:pPr algn="ctr">
              <a:lnSpc>
                <a:spcPct val="110000"/>
              </a:lnSpc>
            </a:pPr>
            <a:r>
              <a:rPr sz="5400" b="1" i="0">
                <a:solidFill>
                  <a:srgbClr val="FFFFFF"/>
                </a:solidFill>
                <a:latin typeface="Inter"/>
              </a:rPr>
              <a:t>Walls copy cards.</a:t>
            </a:r>
          </a:p>
        </p:txBody>
      </p:sp>
      <p:sp>
        <p:nvSpPr>
          <p:cNvPr id="102" name="TextBox 101"/>
          <p:cNvSpPr txBox="1"/>
          <p:nvPr/>
        </p:nvSpPr>
        <p:spPr>
          <a:xfrm>
            <a:off x="685800" y="4526280"/>
            <a:ext cx="10820095" cy="548640"/>
          </a:xfrm>
          <a:prstGeom prst="rect">
            <a:avLst/>
          </a:prstGeom>
          <a:noFill/>
        </p:spPr>
        <p:txBody>
          <a:bodyPr wrap="square" anchor="ctr" lIns="0" rIns="0" tIns="0" bIns="0">
            <a:noAutofit/>
          </a:bodyPr>
          <a:lstStyle/>
          <a:p>
            <a:pPr algn="ctr"/>
            <a:r>
              <a:rPr sz="2400" b="0" i="0">
                <a:solidFill>
                  <a:srgbClr val="CADCFF"/>
                </a:solidFill>
                <a:latin typeface="Inter"/>
              </a:rPr>
              <a:t>…and Git never erases, until you force it 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685800" y="502920"/>
            <a:ext cx="10820095" cy="731520"/>
          </a:xfrm>
          <a:prstGeom prst="rect">
            <a:avLst/>
          </a:prstGeom>
          <a:noFill/>
        </p:spPr>
        <p:txBody>
          <a:bodyPr wrap="square" anchor="ctr" lIns="0" rIns="0" tIns="0" bIns="0">
            <a:noAutofit/>
          </a:bodyPr>
          <a:lstStyle/>
          <a:p>
            <a:pPr algn="l"/>
            <a:r>
              <a:rPr sz="3600" b="1" i="0">
                <a:solidFill>
                  <a:srgbClr val="111111"/>
                </a:solidFill>
                <a:latin typeface="Inter"/>
              </a:rPr>
              <a:t>Step 6 in real Git</a:t>
            </a:r>
          </a:p>
        </p:txBody>
      </p:sp>
      <p:sp>
        <p:nvSpPr>
          <p:cNvPr id="3" name="Rounded Rectangle 2"/>
          <p:cNvSpPr/>
          <p:nvPr/>
        </p:nvSpPr>
        <p:spPr>
          <a:xfrm>
            <a:off x="685800" y="1463040"/>
            <a:ext cx="10820095" cy="4663440"/>
          </a:xfrm>
          <a:prstGeom prst="roundRect">
            <a:avLst>
              <a:gd name="adj" fmla="val 3137"/>
            </a:avLst>
          </a:prstGeom>
          <a:solidFill>
            <a:srgbClr val="16181D"/>
          </a:solidFill>
          <a:ln>
            <a:noFill/>
          </a:ln>
          <a:effectLst/>
        </p:spPr>
        <p:txBody>
          <a:bodyPr rtlCol="0" anchor="ctr" wrap="square" lIns="36576" rIns="36576" tIns="0" bIns="0">
            <a:noAutofit/>
          </a:bodyPr>
          <a:lstStyle/>
          <a:p>
            <a:pPr algn="ctr"/>
          </a:p>
        </p:txBody>
      </p:sp>
      <p:sp>
        <p:nvSpPr>
          <p:cNvPr id="4" name="Oval 3"/>
          <p:cNvSpPr/>
          <p:nvPr/>
        </p:nvSpPr>
        <p:spPr>
          <a:xfrm>
            <a:off x="914400" y="1645920"/>
            <a:ext cx="137160" cy="137160"/>
          </a:xfrm>
          <a:prstGeom prst="ellipse">
            <a:avLst/>
          </a:prstGeom>
          <a:solidFill>
            <a:srgbClr val="FF5F57"/>
          </a:solidFill>
          <a:ln>
            <a:noFill/>
          </a:ln>
          <a:effectLst/>
        </p:spPr>
        <p:txBody>
          <a:bodyPr rtlCol="0" anchor="ctr" wrap="square" lIns="36576" rIns="36576" tIns="0" bIns="0">
            <a:noAutofit/>
          </a:bodyPr>
          <a:lstStyle/>
          <a:p>
            <a:pPr algn="ctr"/>
          </a:p>
        </p:txBody>
      </p:sp>
      <p:sp>
        <p:nvSpPr>
          <p:cNvPr id="5" name="Oval 4"/>
          <p:cNvSpPr/>
          <p:nvPr/>
        </p:nvSpPr>
        <p:spPr>
          <a:xfrm>
            <a:off x="1143000" y="1645920"/>
            <a:ext cx="137160" cy="137160"/>
          </a:xfrm>
          <a:prstGeom prst="ellipse">
            <a:avLst/>
          </a:prstGeom>
          <a:solidFill>
            <a:srgbClr val="FEBC2E"/>
          </a:solidFill>
          <a:ln>
            <a:noFill/>
          </a:ln>
          <a:effectLst/>
        </p:spPr>
        <p:txBody>
          <a:bodyPr rtlCol="0" anchor="ctr" wrap="square" lIns="36576" rIns="36576" tIns="0" bIns="0">
            <a:noAutofit/>
          </a:bodyPr>
          <a:lstStyle/>
          <a:p>
            <a:pPr algn="ctr"/>
          </a:p>
        </p:txBody>
      </p:sp>
      <p:sp>
        <p:nvSpPr>
          <p:cNvPr id="6" name="Oval 5"/>
          <p:cNvSpPr/>
          <p:nvPr/>
        </p:nvSpPr>
        <p:spPr>
          <a:xfrm>
            <a:off x="1371600" y="1645920"/>
            <a:ext cx="137160" cy="137160"/>
          </a:xfrm>
          <a:prstGeom prst="ellipse">
            <a:avLst/>
          </a:prstGeom>
          <a:solidFill>
            <a:srgbClr val="28C840"/>
          </a:solidFill>
          <a:ln>
            <a:noFill/>
          </a:ln>
          <a:effectLst/>
        </p:spPr>
        <p:txBody>
          <a:bodyPr rtlCol="0" anchor="ctr" wrap="square" lIns="36576" rIns="36576" tIns="0" bIns="0">
            <a:noAutofit/>
          </a:bodyPr>
          <a:lstStyle/>
          <a:p>
            <a:pPr algn="ctr"/>
          </a:p>
        </p:txBody>
      </p:sp>
      <p:sp>
        <p:nvSpPr>
          <p:cNvPr id="7" name="TextBox 6"/>
          <p:cNvSpPr txBox="1"/>
          <p:nvPr/>
        </p:nvSpPr>
        <p:spPr>
          <a:xfrm>
            <a:off x="960120" y="1993392"/>
            <a:ext cx="10317175" cy="4023359"/>
          </a:xfrm>
          <a:prstGeom prst="rect">
            <a:avLst/>
          </a:prstGeom>
          <a:noFill/>
        </p:spPr>
        <p:txBody>
          <a:bodyPr wrap="square" anchor="t" lIns="0" rIns="0" tIns="0" bIns="0">
            <a:noAutofit/>
          </a:bodyPr>
          <a:lstStyle/>
          <a:p>
            <a:pPr algn="l">
              <a:lnSpc>
                <a:spcPts val="2600"/>
              </a:lnSpc>
            </a:pPr>
            <a:r>
              <a:rPr sz="2000" b="0" i="0">
                <a:solidFill>
                  <a:srgbClr val="7C8594"/>
                </a:solidFill>
                <a:latin typeface="Noto Sans Mono"/>
              </a:rPr>
              <a:t>$ </a:t>
            </a:r>
            <a:r>
              <a:rPr sz="2000" b="0" i="0">
                <a:solidFill>
                  <a:srgbClr val="F5F5F5"/>
                </a:solidFill>
                <a:latin typeface="Noto Sans Mono"/>
              </a:rPr>
              <a:t>git push</a:t>
            </a:r>
          </a:p>
          <a:p>
            <a:pPr algn="l">
              <a:lnSpc>
                <a:spcPts val="2600"/>
              </a:lnSpc>
            </a:pPr>
            <a:r>
              <a:rPr sz="2000" b="0" i="0">
                <a:solidFill>
                  <a:srgbClr val="FF6B6B"/>
                </a:solidFill>
                <a:latin typeface="Noto Sans Mono"/>
              </a:rPr>
              <a:t> ! [rejected]        main -&gt; main (fetch first)</a:t>
            </a:r>
          </a:p>
          <a:p>
            <a:pPr algn="l">
              <a:lnSpc>
                <a:spcPts val="2600"/>
              </a:lnSpc>
            </a:pPr>
            <a:r>
              <a:rPr sz="2000" b="0" i="0">
                <a:solidFill>
                  <a:srgbClr val="7C8594"/>
                </a:solidFill>
                <a:latin typeface="Noto Sans Mono"/>
              </a:rPr>
              <a:t>$ </a:t>
            </a:r>
            <a:r>
              <a:rPr sz="2000" b="0" i="0">
                <a:solidFill>
                  <a:srgbClr val="F5F5F5"/>
                </a:solidFill>
                <a:latin typeface="Noto Sans Mono"/>
              </a:rPr>
              <a:t>git fetch</a:t>
            </a:r>
          </a:p>
          <a:p>
            <a:pPr algn="l">
              <a:lnSpc>
                <a:spcPts val="2600"/>
              </a:lnSpc>
            </a:pPr>
            <a:r>
              <a:rPr sz="2000" b="0" i="0">
                <a:solidFill>
                  <a:srgbClr val="7C8594"/>
                </a:solidFill>
                <a:latin typeface="Noto Sans Mono"/>
              </a:rPr>
              <a:t>$ </a:t>
            </a:r>
            <a:r>
              <a:rPr sz="2000" b="0" i="0">
                <a:solidFill>
                  <a:srgbClr val="F5F5F5"/>
                </a:solidFill>
                <a:latin typeface="Noto Sans Mono"/>
              </a:rPr>
              <a:t>git status</a:t>
            </a:r>
          </a:p>
          <a:p>
            <a:pPr algn="l">
              <a:lnSpc>
                <a:spcPts val="2600"/>
              </a:lnSpc>
            </a:pPr>
            <a:r>
              <a:rPr sz="2000" b="0" i="0">
                <a:solidFill>
                  <a:srgbClr val="A9B1BD"/>
                </a:solidFill>
                <a:latin typeface="Noto Sans Mono"/>
              </a:rPr>
              <a:t>Your branch and 'origin/main' have diverged,</a:t>
            </a:r>
          </a:p>
          <a:p>
            <a:pPr algn="l">
              <a:lnSpc>
                <a:spcPts val="2600"/>
              </a:lnSpc>
            </a:pPr>
            <a:r>
              <a:rPr sz="2000" b="0" i="0">
                <a:solidFill>
                  <a:srgbClr val="7C8594"/>
                </a:solidFill>
                <a:latin typeface="Noto Sans Mono"/>
              </a:rPr>
              <a:t>$ </a:t>
            </a:r>
            <a:r>
              <a:rPr sz="2000" b="0" i="0">
                <a:solidFill>
                  <a:srgbClr val="F5F5F5"/>
                </a:solidFill>
                <a:latin typeface="Noto Sans Mono"/>
              </a:rPr>
              <a:t>git pull --no-rebase</a:t>
            </a:r>
          </a:p>
          <a:p>
            <a:pPr algn="l">
              <a:lnSpc>
                <a:spcPts val="2600"/>
              </a:lnSpc>
            </a:pPr>
            <a:r>
              <a:rPr sz="2000" b="0" i="0">
                <a:solidFill>
                  <a:srgbClr val="5AD17A"/>
                </a:solidFill>
                <a:latin typeface="Noto Sans Mono"/>
              </a:rPr>
              <a:t>Merge made by the 'ort' strategy.</a:t>
            </a:r>
          </a:p>
          <a:p>
            <a:pPr algn="l">
              <a:lnSpc>
                <a:spcPts val="2600"/>
              </a:lnSpc>
            </a:pPr>
            <a:r>
              <a:rPr sz="2000" b="0" i="0">
                <a:solidFill>
                  <a:srgbClr val="7C8594"/>
                </a:solidFill>
                <a:latin typeface="Noto Sans Mono"/>
              </a:rPr>
              <a:t>$ </a:t>
            </a:r>
            <a:r>
              <a:rPr sz="2000" b="0" i="0">
                <a:solidFill>
                  <a:srgbClr val="F5F5F5"/>
                </a:solidFill>
                <a:latin typeface="Noto Sans Mono"/>
              </a:rPr>
              <a:t>git push</a:t>
            </a:r>
          </a:p>
          <a:p>
            <a:pPr algn="l">
              <a:lnSpc>
                <a:spcPts val="2600"/>
              </a:lnSpc>
            </a:pPr>
            <a:r>
              <a:rPr sz="2000" b="0" i="0">
                <a:solidFill>
                  <a:srgbClr val="5AD17A"/>
                </a:solidFill>
                <a:latin typeface="Noto Sans Mono"/>
              </a:rPr>
              <a:t>   …  main -&gt; main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ctr" lIns="0" rIns="0" tIns="0" bIns="0">
            <a:noAutofit/>
          </a:bodyPr>
          <a:lstStyle/>
          <a:p>
            <a:pPr algn="l"/>
            <a:r>
              <a:rPr sz="4000" b="1" i="0">
                <a:solidFill>
                  <a:srgbClr val="111111"/>
                </a:solidFill>
                <a:latin typeface="Inter"/>
              </a:rPr>
              <a:t>Fast lab? Try one.</a:t>
            </a:r>
          </a:p>
        </p:txBody>
      </p:sp>
      <p:sp>
        <p:nvSpPr>
          <p:cNvPr id="3" name="TextBox 2"/>
          <p:cNvSpPr txBox="1"/>
          <p:nvPr/>
        </p:nvSpPr>
        <p:spPr>
          <a:xfrm>
            <a:off x="685800" y="1417320"/>
            <a:ext cx="3108960" cy="365760"/>
          </a:xfrm>
          <a:prstGeom prst="rect">
            <a:avLst/>
          </a:prstGeom>
          <a:noFill/>
        </p:spPr>
        <p:txBody>
          <a:bodyPr wrap="square" anchor="ctr" lIns="0" rIns="0" tIns="0" bIns="0">
            <a:noAutofit/>
          </a:bodyPr>
          <a:lstStyle/>
          <a:p>
            <a:pPr algn="l"/>
            <a:r>
              <a:rPr sz="1500" b="1" i="0">
                <a:solidFill>
                  <a:srgbClr val="919191"/>
                </a:solidFill>
                <a:latin typeface="Inter"/>
              </a:rPr>
              <a:t>GIT</a:t>
            </a:r>
          </a:p>
        </p:txBody>
      </p:sp>
      <p:sp>
        <p:nvSpPr>
          <p:cNvPr id="4" name="TextBox 3"/>
          <p:cNvSpPr txBox="1"/>
          <p:nvPr/>
        </p:nvSpPr>
        <p:spPr>
          <a:xfrm>
            <a:off x="3977639" y="1417320"/>
            <a:ext cx="7525512" cy="365760"/>
          </a:xfrm>
          <a:prstGeom prst="rect">
            <a:avLst/>
          </a:prstGeom>
          <a:noFill/>
        </p:spPr>
        <p:txBody>
          <a:bodyPr wrap="square" anchor="ctr" lIns="0" rIns="0" tIns="0" bIns="0">
            <a:noAutofit/>
          </a:bodyPr>
          <a:lstStyle/>
          <a:p>
            <a:pPr algn="l"/>
            <a:r>
              <a:rPr sz="1500" b="1" i="0">
                <a:solidFill>
                  <a:srgbClr val="919191"/>
                </a:solidFill>
                <a:latin typeface="Inter"/>
              </a:rPr>
              <a:t>ON PAPER</a:t>
            </a:r>
          </a:p>
        </p:txBody>
      </p:sp>
      <p:cxnSp>
        <p:nvCxnSpPr>
          <p:cNvPr id="5" name="Connector 4"/>
          <p:cNvCxnSpPr/>
          <p:nvPr/>
        </p:nvCxnSpPr>
        <p:spPr>
          <a:xfrm>
            <a:off x="685800" y="1828800"/>
            <a:ext cx="10817352" cy="0"/>
          </a:xfrm>
          <a:prstGeom prst="line">
            <a:avLst/>
          </a:prstGeom>
          <a:ln w="12700">
            <a:solidFill>
              <a:srgbClr val="E3E3E3"/>
            </a:solidFill>
          </a:ln>
          <a:effectLst/>
        </p:spPr>
      </p:cxnSp>
      <p:sp>
        <p:nvSpPr>
          <p:cNvPr id="6" name="TextBox 5"/>
          <p:cNvSpPr txBox="1"/>
          <p:nvPr/>
        </p:nvSpPr>
        <p:spPr>
          <a:xfrm>
            <a:off x="685800" y="1828800"/>
            <a:ext cx="3108960" cy="777240"/>
          </a:xfrm>
          <a:prstGeom prst="rect">
            <a:avLst/>
          </a:prstGeom>
          <a:noFill/>
        </p:spPr>
        <p:txBody>
          <a:bodyPr wrap="square" anchor="ctr" lIns="0" rIns="0" tIns="0" bIns="0">
            <a:noAutofit/>
          </a:bodyPr>
          <a:lstStyle/>
          <a:p>
            <a:pPr algn="l">
              <a:lnSpc>
                <a:spcPct val="105000"/>
              </a:lnSpc>
            </a:pPr>
            <a:r>
              <a:rPr sz="2400" b="1" i="0">
                <a:solidFill>
                  <a:srgbClr val="9437FF"/>
                </a:solidFill>
                <a:latin typeface="Noto Sans Mono"/>
              </a:rPr>
              <a:t>git tag v1.0</a:t>
            </a:r>
          </a:p>
        </p:txBody>
      </p:sp>
      <p:sp>
        <p:nvSpPr>
          <p:cNvPr id="7" name="TextBox 6"/>
          <p:cNvSpPr txBox="1"/>
          <p:nvPr/>
        </p:nvSpPr>
        <p:spPr>
          <a:xfrm>
            <a:off x="3977639" y="1828800"/>
            <a:ext cx="7525512" cy="777240"/>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A flag that never moves.</a:t>
            </a:r>
          </a:p>
        </p:txBody>
      </p:sp>
      <p:cxnSp>
        <p:nvCxnSpPr>
          <p:cNvPr id="8" name="Connector 7"/>
          <p:cNvCxnSpPr/>
          <p:nvPr/>
        </p:nvCxnSpPr>
        <p:spPr>
          <a:xfrm>
            <a:off x="685800" y="2606040"/>
            <a:ext cx="10817352" cy="0"/>
          </a:xfrm>
          <a:prstGeom prst="line">
            <a:avLst/>
          </a:prstGeom>
          <a:ln w="12700">
            <a:solidFill>
              <a:srgbClr val="E3E3E3"/>
            </a:solidFill>
          </a:ln>
          <a:effectLst/>
        </p:spPr>
      </p:cxnSp>
      <p:sp>
        <p:nvSpPr>
          <p:cNvPr id="9" name="TextBox 8"/>
          <p:cNvSpPr txBox="1"/>
          <p:nvPr/>
        </p:nvSpPr>
        <p:spPr>
          <a:xfrm>
            <a:off x="685800" y="2606040"/>
            <a:ext cx="3108960" cy="777240"/>
          </a:xfrm>
          <a:prstGeom prst="rect">
            <a:avLst/>
          </a:prstGeom>
          <a:noFill/>
        </p:spPr>
        <p:txBody>
          <a:bodyPr wrap="square" anchor="ctr" lIns="0" rIns="0" tIns="0" bIns="0">
            <a:noAutofit/>
          </a:bodyPr>
          <a:lstStyle/>
          <a:p>
            <a:pPr algn="l">
              <a:lnSpc>
                <a:spcPct val="105000"/>
              </a:lnSpc>
            </a:pPr>
            <a:r>
              <a:rPr sz="2400" b="1" i="0">
                <a:solidFill>
                  <a:srgbClr val="9437FF"/>
                </a:solidFill>
                <a:latin typeface="Noto Sans Mono"/>
              </a:rPr>
              <a:t>git stash</a:t>
            </a:r>
          </a:p>
        </p:txBody>
      </p:sp>
      <p:sp>
        <p:nvSpPr>
          <p:cNvPr id="10" name="TextBox 9"/>
          <p:cNvSpPr txBox="1"/>
          <p:nvPr/>
        </p:nvSpPr>
        <p:spPr>
          <a:xfrm>
            <a:off x="3977639" y="2606040"/>
            <a:ext cx="7525512" cy="777240"/>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Park a half-drawn card; take it back later.</a:t>
            </a:r>
          </a:p>
        </p:txBody>
      </p:sp>
      <p:cxnSp>
        <p:nvCxnSpPr>
          <p:cNvPr id="11" name="Connector 10"/>
          <p:cNvCxnSpPr/>
          <p:nvPr/>
        </p:nvCxnSpPr>
        <p:spPr>
          <a:xfrm>
            <a:off x="685800" y="3383280"/>
            <a:ext cx="10817352" cy="0"/>
          </a:xfrm>
          <a:prstGeom prst="line">
            <a:avLst/>
          </a:prstGeom>
          <a:ln w="12700">
            <a:solidFill>
              <a:srgbClr val="E3E3E3"/>
            </a:solidFill>
          </a:ln>
          <a:effectLst/>
        </p:spPr>
      </p:cxnSp>
      <p:sp>
        <p:nvSpPr>
          <p:cNvPr id="12" name="TextBox 11"/>
          <p:cNvSpPr txBox="1"/>
          <p:nvPr/>
        </p:nvSpPr>
        <p:spPr>
          <a:xfrm>
            <a:off x="685800" y="3383280"/>
            <a:ext cx="3108960" cy="920800"/>
          </a:xfrm>
          <a:prstGeom prst="rect">
            <a:avLst/>
          </a:prstGeom>
          <a:noFill/>
        </p:spPr>
        <p:txBody>
          <a:bodyPr wrap="square" anchor="ctr" lIns="0" rIns="0" tIns="0" bIns="0">
            <a:noAutofit/>
          </a:bodyPr>
          <a:lstStyle/>
          <a:p>
            <a:pPr algn="l">
              <a:lnSpc>
                <a:spcPct val="105000"/>
              </a:lnSpc>
            </a:pPr>
            <a:r>
              <a:rPr sz="2400" b="1" i="0">
                <a:solidFill>
                  <a:srgbClr val="9437FF"/>
                </a:solidFill>
                <a:latin typeface="Noto Sans Mono"/>
              </a:rPr>
              <a:t>git cherry-pick</a:t>
            </a:r>
          </a:p>
        </p:txBody>
      </p:sp>
      <p:sp>
        <p:nvSpPr>
          <p:cNvPr id="13" name="TextBox 12"/>
          <p:cNvSpPr txBox="1"/>
          <p:nvPr/>
        </p:nvSpPr>
        <p:spPr>
          <a:xfrm>
            <a:off x="3977639" y="3383280"/>
            <a:ext cx="7525512" cy="920800"/>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Copy ONE change onto your branch.</a:t>
            </a:r>
            <a:br>
              <a:rPr sz="2400"/>
            </a:br>
            <a:r>
              <a:rPr sz="2400" b="0" i="0">
                <a:solidFill>
                  <a:srgbClr val="111111"/>
                </a:solidFill>
                <a:latin typeface="Inter"/>
              </a:rPr>
              <a:t>New card, new ID.</a:t>
            </a:r>
          </a:p>
        </p:txBody>
      </p:sp>
      <p:cxnSp>
        <p:nvCxnSpPr>
          <p:cNvPr id="14" name="Connector 13"/>
          <p:cNvCxnSpPr/>
          <p:nvPr/>
        </p:nvCxnSpPr>
        <p:spPr>
          <a:xfrm>
            <a:off x="685800" y="4304080"/>
            <a:ext cx="10817352" cy="0"/>
          </a:xfrm>
          <a:prstGeom prst="line">
            <a:avLst/>
          </a:prstGeom>
          <a:ln w="12700">
            <a:solidFill>
              <a:srgbClr val="E3E3E3"/>
            </a:solidFill>
          </a:ln>
          <a:effectLst/>
        </p:spPr>
      </p:cxnSp>
      <p:sp>
        <p:nvSpPr>
          <p:cNvPr id="15" name="TextBox 14"/>
          <p:cNvSpPr txBox="1"/>
          <p:nvPr/>
        </p:nvSpPr>
        <p:spPr>
          <a:xfrm>
            <a:off x="685800" y="4304080"/>
            <a:ext cx="3108960" cy="920800"/>
          </a:xfrm>
          <a:prstGeom prst="rect">
            <a:avLst/>
          </a:prstGeom>
          <a:noFill/>
        </p:spPr>
        <p:txBody>
          <a:bodyPr wrap="square" anchor="ctr" lIns="0" rIns="0" tIns="0" bIns="0">
            <a:noAutofit/>
          </a:bodyPr>
          <a:lstStyle/>
          <a:p>
            <a:pPr algn="l">
              <a:lnSpc>
                <a:spcPct val="105000"/>
              </a:lnSpc>
            </a:pPr>
            <a:r>
              <a:rPr sz="2400" b="1" i="0">
                <a:solidFill>
                  <a:srgbClr val="9437FF"/>
                </a:solidFill>
                <a:latin typeface="Noto Sans Mono"/>
              </a:rPr>
              <a:t>git blame</a:t>
            </a:r>
          </a:p>
        </p:txBody>
      </p:sp>
      <p:sp>
        <p:nvSpPr>
          <p:cNvPr id="16" name="TextBox 15"/>
          <p:cNvSpPr txBox="1"/>
          <p:nvPr/>
        </p:nvSpPr>
        <p:spPr>
          <a:xfrm>
            <a:off x="3977639" y="4304080"/>
            <a:ext cx="7525512" cy="920800"/>
          </a:xfrm>
          <a:prstGeom prst="rect">
            <a:avLst/>
          </a:prstGeom>
          <a:noFill/>
        </p:spPr>
        <p:txBody>
          <a:bodyPr wrap="square" anchor="ctr" lIns="0" rIns="0" tIns="0" bIns="0">
            <a:noAutofit/>
          </a:bodyPr>
          <a:lstStyle/>
          <a:p>
            <a:pPr algn="l">
              <a:lnSpc>
                <a:spcPct val="105000"/>
              </a:lnSpc>
            </a:pPr>
            <a:r>
              <a:rPr sz="2400" b="0" i="0">
                <a:solidFill>
                  <a:srgbClr val="111111"/>
                </a:solidFill>
                <a:latin typeface="Inter"/>
              </a:rPr>
              <a:t>For each panel, who last changed it?</a:t>
            </a:r>
            <a:br>
              <a:rPr sz="2400"/>
            </a:br>
            <a:r>
              <a:rPr sz="2400" b="0" i="0">
                <a:solidFill>
                  <a:srgbClr val="111111"/>
                </a:solidFill>
                <a:latin typeface="Inter"/>
              </a:rPr>
              <a:t>Use only came-from.</a:t>
            </a:r>
          </a:p>
        </p:txBody>
      </p:sp>
      <p:cxnSp>
        <p:nvCxnSpPr>
          <p:cNvPr id="17" name="Connector 16"/>
          <p:cNvCxnSpPr/>
          <p:nvPr/>
        </p:nvCxnSpPr>
        <p:spPr>
          <a:xfrm>
            <a:off x="685800" y="5224881"/>
            <a:ext cx="10817352" cy="0"/>
          </a:xfrm>
          <a:prstGeom prst="line">
            <a:avLst/>
          </a:prstGeom>
          <a:ln w="12700">
            <a:solidFill>
              <a:srgbClr val="E3E3E3"/>
            </a:solidFill>
          </a:ln>
          <a:effectLst/>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