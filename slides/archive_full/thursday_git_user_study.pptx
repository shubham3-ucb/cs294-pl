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H1 · TITLE · 0:00–0:02 (2 min)</a:t>
            </a:r>
          </a:p>
          <a:p/>
          <a:p>
            <a:r>
              <a:t>SAY: "Tuesday you built Git out of cards. Today: what happens when real humans use it, and what should tool designers learn? If you leave without one new design insight, we've failed."</a:t>
            </a:r>
          </a:p>
          <a:p/>
          <a:p>
            <a:r>
              <a:t>AT THE DOOR (Ananya): every student gets a sticky: "The claim you don't believe + page number." Collect them as people sit down. During H2–H9 Ananya sorts them by axis onto the three court tables (Pink = research question, Blue = data, Orange = analysis).</a:t>
            </a:r>
          </a:p>
          <a:p>
            <a:r>
              <a:t>Teams = Tuesday's labs. Lab 1 = Pink court, Lab 2 = Blue court, Lab 3 = Orange court.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H2 · MENTI (ranking) · 0:02 (part of the 6-min hook, H2–H4)</a:t>
            </a:r>
          </a:p>
          <a:p/>
          <a:p>
            <a:r>
              <a:t>BEFORE CLASS: paste the real Menti QR and access code here and on H20 (or set MENTI_CODE / MENTI_QR in build_thursday.py and rebuild). H8 and H14 use the same Menti presentation.</a:t>
            </a:r>
          </a:p>
          <a:p/>
          <a:p>
            <a:r>
              <a:t>Menti RANKING question, 45 seconds, results HIDDEN until voting closes.</a:t>
            </a:r>
          </a:p>
          <a:p>
            <a:r>
              <a:t>Exact text: "Rank by average views per Stack Overflow question. Most viewed first."</a:t>
            </a:r>
          </a:p>
          <a:p>
            <a:r>
              <a:t>Items: git rebase / git merge / git push / git revert / git checkout / git commit</a:t>
            </a:r>
          </a:p>
          <a:p/>
          <a:p>
            <a:r>
              <a:t>Answer (Table 4, p.14): revert (1) &gt; commit (16) &gt; checkout (17) &gt; push (21) &gt; merge (24) &gt; rebase (not in the top 30).</a:t>
            </a:r>
          </a:p>
          <a:p>
            <a:r>
              <a:t>Tuesday primed revert, so the surprise is meant to be merge and rebase.</a:t>
            </a:r>
          </a:p>
          <a:p>
            <a:r>
              <a:t>Guardrail: never say rebase is "unpopular". It just isn't in the top 30 by average 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H3 · TALK (reveal) · ~0:04</a:t>
            </a:r>
          </a:p>
          <a:p/>
          <a:p>
            <a:r>
              <a:t>Show the Menti class ranking FIRST, then this slide.</a:t>
            </a:r>
          </a:p>
          <a:p>
            <a:r>
              <a:t>Purple chips = recovery ("going back"): revert, reflog, stash, reset. clean is grey.</a:t>
            </a:r>
          </a:p>
          <a:p>
            <a:r>
              <a:t>revert is #1 with 21.7k average views per question (Table 4: 21,726).</a:t>
            </a:r>
          </a:p>
          <a:p>
            <a:r>
              <a:t>Right column: where the six commands you ranked actually land (Table 4, p.14). rebase is not in the top 30 by average views; that is NOT the same as unpopular.</a:t>
            </a:r>
          </a:p>
          <a:p/>
          <a:p>
            <a:r>
              <a:t>The single most-voted question is "How do I undo the most recent local commits in Git?" (p.3).</a:t>
            </a:r>
          </a:p>
          <a:p/>
          <a:p>
            <a:r>
              <a:t>SAY: "Hold on to this. In 20 minutes the Orange court will tell us how much to trust it."</a:t>
            </a:r>
          </a:p>
          <a:p>
            <a:r>
              <a:t>(Means of views, every command in a post gets full credit, views pile up over the years.)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H4 · TALK (link to Tuesday) · ~0:05–0:08</a:t>
            </a:r>
          </a:p>
          <a:p/>
          <a:p>
            <a:r>
              <a:t>Left: reset moves main back to ddr2; the mustache card mdr1 is torn off the wall (red ×). It still exists and still points back to ddr2, it is just unreachable.</a:t>
            </a:r>
          </a:p>
          <a:p>
            <a:r>
              <a:t>Right: revert adds a fix card ddr8 (same picture as ddr2, different ID because its parent is different). Nobody's table breaks.</a:t>
            </a:r>
          </a:p>
          <a:p>
            <a:r>
              <a:t>reflog = your local diary of where HEAD has been. It finds the torn-off card until gc.</a:t>
            </a:r>
          </a:p>
          <a:p/>
          <a:p>
            <a:r>
              <a:t>PAUSE: 60 seconds of shout-outs. "Why was the mustache the hardest call on Tuesday?"</a:t>
            </a:r>
          </a:p>
          <a:p>
            <a:r>
              <a:t>Expected answer: you had to know who else already had the card.</a:t>
            </a:r>
          </a:p>
          <a:p>
            <a:r>
              <a:t>SAY: "Because cards never change, 'undo' is two operations with different blast radii. Thousands of developers got stuck exactly where you did."</a:t>
            </a:r>
          </a:p>
          <a:p/>
          <a:p>
            <a:r>
              <a:t>If any Tuesday exit-ticket item fell below 70%, re-ask it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H5 · CONTENT (goals) · 0:08 (1 min)</a:t>
            </a:r>
          </a:p>
          <a:p/>
          <a:p>
            <a:r>
              <a:t>Line 1 (pink): Claim Court.</a:t>
            </a:r>
          </a:p>
          <a:p>
            <a:r>
              <a:t>Line 2 (blue): you place the study yourselves in 5 minutes (H8), before we show it.</a:t>
            </a:r>
          </a:p>
          <a:p>
            <a:r>
              <a:t>Line 3 (orange): design sprint and the individual exit question (H19–H20).</a:t>
            </a:r>
          </a:p>
          <a:p/>
          <a:p>
            <a:r>
              <a:t>Full objectives (spec 2): separate measured vs claimed and rewrite an over-reaching claim; place a study on Sarah's three axes and name its most serious validity threat; turn a finding into a concrete tool change plus a logged/observed measure (not self-report).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H6 · DIAGRAM: the paper, 1 of 3 · 0:09 (H6–H9 = 8 min)</a:t>
            </a:r>
          </a:p>
          <a:p/>
          <a:p>
            <a:r>
              <a:t>Just what they did. No judging yet.</a:t>
            </a:r>
          </a:p>
          <a:p>
            <a:r>
              <a:t>- 136 command names from the Pro Git book. Exact string match on the title, body, or accepted answer (p.5–6).</a:t>
            </a:r>
          </a:p>
          <a:p>
            <a:r>
              <a:t>- 600 questions hand-checked, Cohen's kappa 0.844 (p.6).</a:t>
            </a:r>
          </a:p>
          <a:p>
            <a:r>
              <a:t>- Four RQs on the Stack Overflow data (popularity, who asks, which commands, which are hard).</a:t>
            </a:r>
          </a:p>
          <a:p>
            <a:r>
              <a:t>- Survey: 508 invited, 92 replied (74 industry, 18 academia; p.9) -&gt; RQ5, how people learn.</a:t>
            </a:r>
          </a:p>
          <a:p/>
          <a:p>
            <a:r>
              <a:t>SAY: "Just what they did. No judging yet."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H7 · CONTENT: the paper, 2 of 3 · ~0:11</a:t>
            </a:r>
          </a:p>
          <a:p/>
          <a:p>
            <a:r>
              <a:t>RQ1: Git questions ~0.4% of SO questions but ~1.5% of askers (Table 1).</a:t>
            </a:r>
          </a:p>
          <a:p>
            <a:r>
              <a:t>RQ2: by 2020, 40.0% of Git-command askers had been registered on SO 5+ years, vs 21.2% of all askers (Table 3). Registration years = their experience proxy.</a:t>
            </a:r>
          </a:p>
          <a:p>
            <a:r>
              <a:t>RQ3: recovery commands top average views (Table 4); only 17% of questions involve a single command (Fig. 3).</a:t>
            </a:r>
          </a:p>
          <a:p>
            <a:r>
              <a:t>RQ4: least answered (% without accepted answer) = rare commands with tiny n (pack-redundant n=1, http-push n=3), then credential, submodule (Table 6).</a:t>
            </a:r>
          </a:p>
          <a:p>
            <a:r>
              <a:t>RQ5: 81.7% of learning-approach SELECTIONS (multi-select) were self-learning (Table 7). Say "of selections", never "of developers".</a:t>
            </a:r>
          </a:p>
          <a:p/>
          <a:p>
            <a:r>
              <a:t>The authors' conclusion: Git is hard even for experienced developers, so teach it better and build recommenders.</a:t>
            </a:r>
          </a:p>
          <a:p>
            <a:r>
              <a:t>SAY: "Write down which of these five you believe least."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H8 · DIAGRAM: the paper, 3 of 3 (you place it) · ~0:13</a:t>
            </a:r>
          </a:p>
          <a:p/>
          <a:p>
            <a:r>
              <a:t>Two Menti multiple-choice questions, 60 s total (menti_questions.md, Thu-2 and Thu-3):</a:t>
            </a:r>
          </a:p>
          <a:p>
            <a:r>
              <a:t>  Q1 "What type of research question is this study?" Reconnaissance (need-finding) / Formative / Evaluative. Correct: Reconnaissance.</a:t>
            </a:r>
          </a:p>
          <a:p>
            <a:r>
              <a:t>  Q2 "Which rungs of Sarah's data ladder?" SO: 1 · Survey: 2 / SO: 2 · Survey: 4 / SO: 2 · Survey: 3 / SO: 4 · Survey: 4. Correct: SO: 2 · Survey: 4.</a:t>
            </a:r>
          </a:p>
          <a:p>
            <a:r>
              <a:t>Everyone votes individually. Reveal on H9 only after BOTH votes close. NEVER CUT this vote.</a:t>
            </a:r>
          </a:p>
          <a:p/>
          <a:p>
            <a:r>
              <a:t>WRONG-ANSWER PLAN:</a:t>
            </a:r>
          </a:p>
          <a:p>
            <a:r>
              <a:t>- "evaluative": "Which tool or intervention is being evaluated?"</a:t>
            </a:r>
          </a:p>
          <a:p>
            <a:r>
              <a:t>- "formative": "Which design is this feeding?"</a:t>
            </a:r>
          </a:p>
          <a:p>
            <a:r>
              <a:t>- Stack Overflow data on rung 1: "Did anyone watch a developer use git?"</a:t>
            </a:r>
          </a:p>
          <a:p>
            <a:r>
              <a:t>- Survey on rung 3: "What trick did they use to avoid introspection?"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H9 · DIAGRAM: where it sits (reveal) · ~0:15</a:t>
            </a:r>
          </a:p>
          <a:p/>
          <a:p>
            <a:r>
              <a:t>Show the two vote results next to this slide.</a:t>
            </a:r>
          </a:p>
          <a:p>
            <a:r>
              <a:t>RQ: reconnaissance (need-finding: "what goes wrong?"). Data: Stack Overflow = traces in the wild (rung 2, good); survey = self-report (rung 4, Sarah: "consider rejecting"). Analysis: counts, means, rankings, and 65 comments "further categorized" with no named method.</a:t>
            </a:r>
          </a:p>
          <a:p/>
          <a:p>
            <a:r>
              <a:t>SAY: "Rung 2 is good, rung 4 is consider-rejecting. Predict which half takes more heat."</a:t>
            </a:r>
          </a:p>
          <a:p/>
          <a:p>
            <a:r>
              <a:t>PAUSE (pairs, 90 s), on screen: "How would you observe 'knows how to use Git'?" Say it in full: what would you need to OBSERVE to know someone "knows how to use" a command? Good answers: a task with a goal (e.g., recover a lost commit), success rate, time to success, errors, recordings of real sessions. None of that is in this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H10 · ACTIVITY (slip experiment) · 0:17 (H10–H12 = 5 min)</a:t>
            </a:r>
          </a:p>
          <a:p/>
          <a:p>
            <a:r>
              <a:t>SETUP: 16 slips, shuffled into ONE stack and dealt at random.</a:t>
            </a:r>
          </a:p>
          <a:p>
            <a:r>
              <a:t>Half say A: "In one sentence: what does `git rebase --onto main A B` do?"</a:t>
            </a:r>
          </a:p>
          <a:p>
            <a:r>
              <a:t>Half say B: "In one sentence: what does `git add` do?"</a:t>
            </a:r>
          </a:p>
          <a:p>
            <a:r>
              <a:t>Both then show the paper's exact scale: Novice · Advanced beginner · Competent · Proficient · Expert.</a:t>
            </a:r>
          </a:p>
          <a:p/>
          <a:p>
            <a:r>
              <a:t>Say NOTHING about the two versions yet. Face down, no comparing.</a:t>
            </a:r>
          </a:p>
          <a:p>
            <a:r>
              <a:t>Collect the folded slips into two piles (A / B) without reading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H11 · STATEMENT (prediction) · ~0:19</a:t>
            </a:r>
          </a:p>
          <a:p/>
          <a:p>
            <a:r>
              <a:t>Shubham reveals the two slip versions (A = rebase --onto first, B = git add first) and writes the prediction on the board BEFORE the tally.</a:t>
            </a:r>
          </a:p>
          <a:p>
            <a:r>
              <a:t>Ananya tallies on the board: two rows of dots (A: rebase first / B: add first) × the five levels. 60 seconds.</a:t>
            </a:r>
          </a:p>
          <a:p/>
          <a:p>
            <a:r>
              <a:t>The prediction is falsifiable on purpose: if the medians tie or flip, we were wrong, and we will say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H12 · TALK (result) · ~0:20–0:22</a:t>
            </a:r>
          </a:p>
          <a:p/>
          <a:p>
            <a:r>
              <a:t>Type the two medians from the board into the "__" boxes (A = rebase first, B = add first). Use the median, not the mean: it is an ordinal scale.</a:t>
            </a:r>
          </a:p>
          <a:p>
            <a:r>
              <a:t>Whatever happened, say what we can and can't conclude. Don't explain away a miss.</a:t>
            </a:r>
          </a:p>
          <a:p>
            <a:r>
              <a:t>Guardrail: our slip test is a weak study. Never call its result a finding.</a:t>
            </a:r>
          </a:p>
          <a:p/>
          <a:p>
            <a:r>
              <a:t>The hypothesis is Sarah's point: preferences and self-ratings can be constructed on the spot (Loftus, "smashed vs hit"). Our room is a weak test of it: tiny n, one question per group, random assignment but no replication.</a:t>
            </a:r>
          </a:p>
          <a:p/>
          <a:p>
            <a:r>
              <a:t>PAUSE: n ≈ 6 per group, what would it take for you to believe this?</a:t>
            </a:r>
          </a:p>
          <a:p>
            <a:r>
              <a:t>Expected answers: a bigger sample, replication, the analysis fixed in advance (we did write the prediction), and a performance measure. We could score the one-sentence answers; RQ5 has no performance measure at all.</a:t>
            </a:r>
          </a:p>
          <a:p/>
          <a:p>
            <a:r>
              <a:t>LINK: the paper uses exactly this rating to conclude that "even experienced developers still have doubts" (p.19). The 14.1% is of all 92 respondents; the median of 8 years also describes all 92 (not the 14.1%).</a:t>
            </a:r>
          </a:p>
          <a:p>
            <a:r>
              <a:t>If asked: `git rebase --onto main A B` replays the commits after A, up to B, onto main as new commits.</a:t>
            </a:r>
          </a:p>
          <a:p/>
          <a:p>
            <a:r>
              <a:t>SAY: "That's one claim. Let's put three more on trial."</a:t>
            </a:r>
          </a:p>
          <a:p/>
          <a:p>
            <a:r>
              <a:t>Wrong-answer plan: "Average the ratings" -&gt; "It's ordinal. Why is the median safer?" "The groups differ because of who got which slip" -&gt; "That's why we dealt at random. What else could still differ?" Prediction failed -&gt; "We were wrong, or n was too small to tell. Both are honest. Explaining it away is not."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H13 · ACTIVITY (Claim Court) · 0:22 (2 min rules + 10 min work)</a:t>
            </a:r>
          </a:p>
          <a:p/>
          <a:p>
            <a:r>
              <a:t>Hand out the packets (spec 7.1): the starred claim, one backup claim from another axis, table excerpts, and all three of Sarah's axis checklists on the back.</a:t>
            </a:r>
          </a:p>
          <a:p>
            <a:r>
              <a:t>  Pink (Lab 1): P1★ + backup B2.  Blue (Lab 2): B1★ + backup O2.  Orange (Lab 3): O1★ + backup P3.</a:t>
            </a:r>
          </a:p>
          <a:p>
            <a:r>
              <a:t>Each court may swap its backup for the most-shared student sticky in its axis.</a:t>
            </a:r>
          </a:p>
          <a:p/>
          <a:p>
            <a:r>
              <a:t>BOARD CHECK, MINUTE 5: each court writes its starred claim's "Measured:" line on the board. A facilitator corrects it within 30 s, before verdicts are built on a misreading:</a:t>
            </a:r>
          </a:p>
          <a:p>
            <a:r>
              <a:t>  P1: SO registration years of askers.</a:t>
            </a:r>
          </a:p>
          <a:p>
            <a:r>
              <a:t>  B1: share of 197 checkmarks in a multi-select question, from 92 respondents recruited among SO Git askers.</a:t>
            </a:r>
          </a:p>
          <a:p>
            <a:r>
              <a:t>  O1: mean views of questions containing the command anywhere (title, body, or accepted answer), for commands with ≥200 questions.</a:t>
            </a:r>
          </a:p>
          <a:p/>
          <a:p>
            <a:r>
              <a:t>RULE: a "weaker version" must be a sentence the data literally supports.</a:t>
            </a:r>
          </a:p>
          <a:p>
            <a:r>
              <a:t>The presentation script on the packet back adds: one thing they did right, with a page.</a:t>
            </a:r>
          </a:p>
          <a:p/>
          <a:p>
            <a:r>
              <a:t>Roles: Shubham floats with Orange; Ananya keeps time and floats between Pink and Blue.</a:t>
            </a:r>
          </a:p>
          <a:p>
            <a:r>
              <a:t>Wrong-answer plan: court believes P1 -&gt; "Five years of WHAT?" (p.12). Court rejects everything -&gt; enforce the weaker-version box and the did-right line. Nitpicks -&gt; "Does it change the conclusion?" Orange misses A2 -&gt; "Can a question with no accepted answer enter reflog's pile through the answer?" Blue misses D1 -&gt; "Who exactly got the email?"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H14 · ACTIVITY + MENTI (court in session) · 0:34 (11 min)</a:t>
            </a:r>
          </a:p>
          <a:p/>
          <a:p>
            <a:r>
              <a:t>Menti "Scales" question, 1 = don't believe, 5 = fully believe, one statement per court (the three quotes on the slide). Everyone votes: 1 minute.</a:t>
            </a:r>
          </a:p>
          <a:p>
            <a:r>
              <a:t>Then each court gets 3 minutes: verdict -&gt; the measured-vs-claimed gap -&gt; the weaker version -&gt; one thing done right (with a page).</a:t>
            </a:r>
          </a:p>
          <a:p>
            <a:r>
              <a:t>Then the duplicate "after" scales question: re-vote and show the shift next to "before".</a:t>
            </a:r>
          </a:p>
          <a:p/>
          <a:p>
            <a:r>
              <a:t>Expected: Pink and Blue drop, Orange mostly survives (the recovery signal holds across views, favourites and score).</a:t>
            </a:r>
          </a:p>
          <a:p>
            <a:r>
              <a:t>SAY: "Critique = calibrating belief, not rejecting everything."</a:t>
            </a:r>
          </a:p>
          <a:p/>
          <a:p>
            <a:r>
              <a:t>If late: courts present only their starred claim, 2 minutes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H15 · TALK (claimed vs measured) · 0:45 (3 min)</a:t>
            </a:r>
          </a:p>
          <a:p/>
          <a:p>
            <a:r>
              <a:t>Credit BY NAME any student whose sticky claim was used in court.</a:t>
            </a:r>
          </a:p>
          <a:p/>
          <a:p>
            <a:r>
              <a:t>Fill in anything the courts missed, especially A2: a question with no accepted answer can only enter a command's pile through its own text, so commands that appear in error reports (clone, push, pull) look hard.</a:t>
            </a:r>
          </a:p>
          <a:p>
            <a:r>
              <a:t>Also available: R2 (the experience threshold drifts between "four years" and "five years"), A3 (RQ3 filters ≥200 questions, RQ4 ranks n = 1 and n = 3 first), A6 (65 comments "further categorized", no named method: "vibes are not an answer"), D1 (survey samples on the outcome: recent SO Git askers).</a:t>
            </a:r>
          </a:p>
          <a:p>
            <a:r>
              <a:t>Facilitator-only claims to raise here or on H16: P2 (the title asks about knowing; the data measures asking), B3 (circular non-response argument; emails obtained against GitHub policy, no ethics review mentioned; 92/508 = 18.1% vs the reported 18.5%), O3 (3.24 h is an average of per-command medians over the 30 least-answered commands, compared with a 2011 SO-wide 21-minute median).</a:t>
            </a:r>
          </a:p>
          <a:p/>
          <a:p>
            <a:r>
              <a:t>Credit what's good: real traces at scale, baselines against all of SO, public data, the 600-question validation with kappa.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H16 · DIVIDER used as a question · 0:48 (4 min, whole class)</a:t>
            </a:r>
          </a:p>
          <a:p/>
          <a:p>
            <a:r>
              <a:t>Prompts:</a:t>
            </a:r>
          </a:p>
          <a:p>
            <a:r>
              <a:t>- "Would a tool designer rather know which strings appear, or what people were trying to do?"</a:t>
            </a:r>
          </a:p>
          <a:p>
            <a:r>
              <a:t>- Only 17% of questions involve a single command (Fig. 3, p.15).</a:t>
            </a:r>
          </a:p>
          <a:p>
            <a:r>
              <a:t>- The authors explicitly decline to engage with design: "Rather than changing the design of Git…" (p.26). Yet they cite De Rosso &amp; Jackson.</a:t>
            </a:r>
          </a:p>
          <a:p>
            <a:r>
              <a:t>- "Re-run this in 2026: where would the traces even be?" (The data ends in 2020; many questions now go to AI assistants.)</a:t>
            </a:r>
          </a:p>
          <a:p/>
          <a:p>
            <a:r>
              <a:t>Facilitator-only claims P2, B3, O3 (spec 7.1) can be raised here.</a:t>
            </a:r>
          </a:p>
          <a:p>
            <a:r>
              <a:t>If late: cut this discussion to 2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H17 · BREAK · 0:52 (4 min)</a:t>
            </a:r>
          </a:p>
          <a:p/>
          <a:p>
            <a:r>
              <a:t>Fill in "Back at" before class or live.</a:t>
            </a:r>
          </a:p>
          <a:p>
            <a:r>
              <a:t>While they're out: put one face-down finding card on each table (RECOVERY, COMBOS, SELF-TAUGHT; keep the BONUS: HISTORY card for a fast team).</a:t>
            </a:r>
          </a:p>
          <a:p>
            <a:r>
              <a:t>If running late, skip the break first (+4 min).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H18 · DIAGRAM (two halves) · 0:56 (3 min, talk + pause)</a:t>
            </a:r>
          </a:p>
          <a:p/>
          <a:p>
            <a:r>
              <a:t>LEFT: one verb used to do three jobs (switch branches, restore files, detach HEAD). Git 2.23 (2019) split it by USER INTENT: git switch &lt;branch&gt;, git restore &lt;file&gt;. checkout still works (it was not removed). The paper's own example question: "What exactly does git checkout [file] do?" (p.13).</a:t>
            </a:r>
          </a:p>
          <a:p/>
          <a:p>
            <a:r>
              <a:t>RIGHT: real output of git pull on divergent branches (verified on git 2.34.1; hint lines trimmed and re-wrapped at 40 columns, comment "fast-forward only" shortened to "ff only"). Tuesday's Step-6 rehearsal needed --no-rebase because of it. Git now refuses to guess and makes you pick a policy.</a:t>
            </a:r>
          </a:p>
          <a:p/>
          <a:p>
            <a:r>
              <a:t>Contrasting case: Jujutsu (jj) logs every operation, and `jj undo` reverses the last one: recovery as a first-class feature.</a:t>
            </a:r>
          </a:p>
          <a:p/>
          <a:p>
            <a:r>
              <a:t>PAUSE (on screen): "Which fix is better design, and what study would tell you?" Frame it: one fix splits the verb, the other makes you pick a config option.</a:t>
            </a:r>
          </a:p>
          <a:p>
            <a:r>
              <a:t>Good answers to "what study": a lab task with logged time-to-success or error rate, not "do you like it?".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H19 · ACTIVITY (design sprint) · 0:59 (7 min build + 5 min pitches)</a:t>
            </a:r>
          </a:p>
          <a:p/>
          <a:p>
            <a:r>
              <a:t>Finding cards (spec 7.2), one face-down per table:</a:t>
            </a:r>
          </a:p>
          <a:p>
            <a:r>
              <a:t>  RECOVERY: 4 of the top 5 commands by views are about going back (Table 4). Prompt: "Design a way back."</a:t>
            </a:r>
          </a:p>
          <a:p>
            <a:r>
              <a:t>  COMBOS: only 17% of questions involve one command; 5-command combinations are the most common (22%) (Fig. 3). Prompt: "People have goals; Git has commands. Design for the goal."</a:t>
            </a:r>
          </a:p>
          <a:p>
            <a:r>
              <a:t>  SELF-TAUGHT: 85/92 learned from the internet, 76/92 from docs, 8/92 in a class (Table 7). Prompt: "The tool is the teacher. Design the teaching moment."</a:t>
            </a:r>
          </a:p>
          <a:p>
            <a:r>
              <a:t>  BONUS (fast teams): HISTORY: rebase, squash, and force-push can destroy history others need (Just et al., abstract; no numbers). Prompt: "Make destruction deliberate."</a:t>
            </a:r>
          </a:p>
          <a:p/>
          <a:p>
            <a:r>
              <a:t>Line 3 is Sarah's evaluative-RQ template; line 4 forces them up the data ladder.</a:t>
            </a:r>
          </a:p>
          <a:p>
            <a:r>
              <a:t>Pitch order: Pink, Blue, Orange. 60 s each; the next team asks one Reviewer-2 question.</a:t>
            </a:r>
          </a:p>
          <a:p/>
          <a:p>
            <a:r>
              <a:t>Wrong-answer plan: "Better docs" -&gt; "Where is the user at that moment?" (in the terminal, mid-mistake). A self-report measure -&gt; "That's rung 4. What could you log or observe?" (e.g., time to recover a lost commit in a lab task). "An AI chatbot" -&gt; allowed, but show what the user sees and how you'd know it helped.</a:t>
            </a:r>
          </a:p>
          <a:p>
            <a:r>
              <a:t>If late: pitches limited to 45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H20 · MENTI (exit, individual) · 1:11 (4 min) · NEVER CUT</a:t>
            </a:r>
          </a:p>
          <a:p/>
          <a:p>
            <a:r>
              <a:t>BEFORE CLASS: same Menti QR and access code as H2 (MENTI_CODE / MENTI_QR in build_thursday.py).</a:t>
            </a:r>
          </a:p>
          <a:p/>
          <a:p>
            <a:r>
              <a:t>Menti OPEN-ENDED, 3 minutes, individual, BEFORE H21 (results shown only after writing time).</a:t>
            </a:r>
          </a:p>
          <a:p>
            <a:r>
              <a:t>Exact text: "On your own: Finding (with evidence) → I'd change the tool so that ___ → I'd know it worked if ___ (logged or observed, not self-report)."</a:t>
            </a:r>
          </a:p>
          <a:p>
            <a:r>
              <a:t>Read 3–4 answers aloud.</a:t>
            </a:r>
          </a:p>
          <a:p/>
          <a:p>
            <a:r>
              <a:t>A good answer names a finding with evidence, makes a concrete change, and gives a measure you could log or observe.</a:t>
            </a:r>
          </a:p>
          <a:p>
            <a:r>
              <a:t>An answer that is only critique: "…so a tool designer should what?"</a:t>
            </a:r>
          </a:p>
          <a:p>
            <a:r>
              <a:t>FOLLOW-UP: any answer missing a finding or using a self-report measure gets "so a tool designer should what, and how would you know?" in the post-class Ed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H21 · CONTENT (ours, for comparison) · 1:15 (2 min)</a:t>
            </a:r>
          </a:p>
          <a:p/>
          <a:p>
            <a:r>
              <a:t>Evidence -&gt; example for each line:</a:t>
            </a:r>
          </a:p>
          <a:p>
            <a:r>
              <a:t>- WAY BACK: recovery tops the views; reflog is invisible until disaster -&gt; jj undo, GitHub Desktop "Undo".</a:t>
            </a:r>
          </a:p>
          <a:p>
            <a:r>
              <a:t>- ONE VERB: the checkout overload -&gt; switch / restore.</a:t>
            </a:r>
          </a:p>
          <a:p>
            <a:r>
              <a:t>- MODEL: respondent #26: "hard to do without understanding the basic concepts" (p.21) -&gt; Tuesday's cards, flags, and wall.</a:t>
            </a:r>
          </a:p>
          <a:p>
            <a:r>
              <a:t>- ERROR MESSAGE: respondent #42: "Years on, I still constantly have to search the internet" (p.21) -&gt; Git's hint: lines on a rejected push, help.autocorrect.</a:t>
            </a:r>
          </a:p>
          <a:p>
            <a:r>
              <a:t>- DESTRUCTION: Tuesday's paper (Just et al.) -&gt; --force-with-lease, protected branches.</a:t>
            </a:r>
          </a:p>
          <a:p/>
          <a:p>
            <a:r>
              <a:t>For builders: measure struggle, not popularity.</a:t>
            </a:r>
          </a:p>
          <a:p>
            <a:r>
              <a:t>ASK: "Whose exit answer is NOT on our list? That's the new insight."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H22 · STARRY · 1:17 (1 min)</a:t>
            </a:r>
          </a:p>
          <a:p/>
          <a:p>
            <a:r>
              <a:t>SAY: "First half: the reader's lesson. Second half: the builder's lesson. Undo is where humans and Git collide."</a:t>
            </a:r>
          </a:p>
          <a:p/>
          <a:p>
            <a:r>
              <a:t>1:18–1:20 buffer.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103120"/>
            <a:ext cx="10820095" cy="128016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0" i="0">
                <a:solidFill>
                  <a:srgbClr val="111111"/>
                </a:solidFill>
                <a:latin typeface="Inter"/>
              </a:rPr>
              <a:t>Git, Part 2: The Humans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520440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000" b="0" i="0">
                <a:solidFill>
                  <a:srgbClr val="555555"/>
                </a:solidFill>
                <a:latin typeface="Inter"/>
              </a:rPr>
              <a:t>Yang et al. “Do Developers Really Know How to Use Git Commands?” TOSEM 2022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0"/>
            <a:ext cx="612648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0" i="0">
                <a:solidFill>
                  <a:srgbClr val="919191"/>
                </a:solidFill>
                <a:latin typeface="Inter"/>
              </a:rPr>
              <a:t>CS294: </a:t>
            </a:r>
            <a:r>
              <a:rPr sz="2600" b="1" i="0">
                <a:solidFill>
                  <a:srgbClr val="919191"/>
                </a:solidFill>
                <a:latin typeface="Inter"/>
              </a:rPr>
              <a:t>Modern Programming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46520" y="566928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2600" b="0" i="0">
                <a:solidFill>
                  <a:srgbClr val="919191"/>
                </a:solidFill>
                <a:latin typeface="Inter"/>
              </a:rPr>
              <a:t>UC Berkeley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23960" y="5669280"/>
            <a:ext cx="3090672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2600" b="0" i="0">
                <a:solidFill>
                  <a:srgbClr val="919191"/>
                </a:solidFill>
                <a:latin typeface="Inter"/>
              </a:rPr>
              <a:t>Shubham &amp; Ananya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27064"/>
            <a:ext cx="12191695" cy="438912"/>
          </a:xfrm>
          <a:prstGeom prst="rect">
            <a:avLst/>
          </a:prstGeom>
          <a:solidFill>
            <a:srgbClr val="9437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227064"/>
            <a:ext cx="11643055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2600" b="0" i="1">
                <a:solidFill>
                  <a:srgbClr val="FFFFFF"/>
                </a:solidFill>
                <a:latin typeface="Inter"/>
              </a:rPr>
              <a:t>Git Week · User Study Day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48640"/>
            <a:ext cx="2011680" cy="438912"/>
          </a:xfrm>
          <a:prstGeom prst="roundRect">
            <a:avLst>
              <a:gd name="adj" fmla="val 50000"/>
            </a:avLst>
          </a:prstGeom>
          <a:solidFill>
            <a:srgbClr val="9437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Inter"/>
              </a:rPr>
              <a:t>📊  Live poll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7406640" cy="3017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4400" b="1" i="0">
                <a:solidFill>
                  <a:srgbClr val="111111"/>
                </a:solidFill>
                <a:latin typeface="Inter"/>
              </a:rPr>
              <a:t>Rank by average views per Stack Overflow question. Most viewed first.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34095" y="1280160"/>
            <a:ext cx="2971800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25400">
            <a:solidFill>
              <a:srgbClr val="BBBBBB"/>
            </a:solidFill>
            <a:prstDash val="dash"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2400" b="1" i="0">
                <a:solidFill>
                  <a:srgbClr val="919191"/>
                </a:solidFill>
                <a:latin typeface="Inter"/>
              </a:rPr>
              <a:t>QR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34095" y="4434840"/>
            <a:ext cx="2971800" cy="54864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Inter"/>
              </a:rPr>
              <a:t>menti.com  ·  ____ ____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572000"/>
            <a:ext cx="2078736" cy="530860"/>
          </a:xfrm>
          <a:prstGeom prst="roundRect">
            <a:avLst>
              <a:gd name="adj" fmla="val 13779"/>
            </a:avLst>
          </a:prstGeom>
          <a:solidFill>
            <a:srgbClr val="FAFAFA"/>
          </a:solidFill>
          <a:ln w="12700">
            <a:solidFill>
              <a:srgbClr val="DDDDDD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2200" b="1" i="0">
                <a:solidFill>
                  <a:srgbClr val="9437FF"/>
                </a:solidFill>
                <a:latin typeface="Noto Sans Mono"/>
              </a:rPr>
              <a:t>git rebase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65704" y="4572000"/>
            <a:ext cx="1911096" cy="530860"/>
          </a:xfrm>
          <a:prstGeom prst="roundRect">
            <a:avLst>
              <a:gd name="adj" fmla="val 13779"/>
            </a:avLst>
          </a:prstGeom>
          <a:solidFill>
            <a:srgbClr val="FAFAFA"/>
          </a:solidFill>
          <a:ln w="12700">
            <a:solidFill>
              <a:srgbClr val="DDDDDD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2200" b="1" i="0">
                <a:solidFill>
                  <a:srgbClr val="9437FF"/>
                </a:solidFill>
                <a:latin typeface="Noto Sans Mono"/>
              </a:rPr>
              <a:t>git merge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7968" y="4572000"/>
            <a:ext cx="1743456" cy="530860"/>
          </a:xfrm>
          <a:prstGeom prst="roundRect">
            <a:avLst>
              <a:gd name="adj" fmla="val 13779"/>
            </a:avLst>
          </a:prstGeom>
          <a:solidFill>
            <a:srgbClr val="FAFAFA"/>
          </a:solidFill>
          <a:ln w="12700">
            <a:solidFill>
              <a:srgbClr val="DDDDDD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2200" b="1" i="0">
                <a:solidFill>
                  <a:srgbClr val="9437FF"/>
                </a:solidFill>
                <a:latin typeface="Noto Sans Mono"/>
              </a:rPr>
              <a:t>git push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303520"/>
            <a:ext cx="2078736" cy="530860"/>
          </a:xfrm>
          <a:prstGeom prst="roundRect">
            <a:avLst>
              <a:gd name="adj" fmla="val 13779"/>
            </a:avLst>
          </a:prstGeom>
          <a:solidFill>
            <a:srgbClr val="FAFAFA"/>
          </a:solidFill>
          <a:ln w="12700">
            <a:solidFill>
              <a:srgbClr val="DDDDDD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2200" b="1" i="0">
                <a:solidFill>
                  <a:srgbClr val="9437FF"/>
                </a:solidFill>
                <a:latin typeface="Noto Sans Mono"/>
              </a:rPr>
              <a:t>git revert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65704" y="5303520"/>
            <a:ext cx="2414016" cy="530860"/>
          </a:xfrm>
          <a:prstGeom prst="roundRect">
            <a:avLst>
              <a:gd name="adj" fmla="val 13779"/>
            </a:avLst>
          </a:prstGeom>
          <a:solidFill>
            <a:srgbClr val="FAFAFA"/>
          </a:solidFill>
          <a:ln w="12700">
            <a:solidFill>
              <a:srgbClr val="DDDDDD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2200" b="1" i="0">
                <a:solidFill>
                  <a:srgbClr val="9437FF"/>
                </a:solidFill>
                <a:latin typeface="Noto Sans Mono"/>
              </a:rPr>
              <a:t>git checkout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80888" y="5303520"/>
            <a:ext cx="2078736" cy="530860"/>
          </a:xfrm>
          <a:prstGeom prst="roundRect">
            <a:avLst>
              <a:gd name="adj" fmla="val 13779"/>
            </a:avLst>
          </a:prstGeom>
          <a:solidFill>
            <a:srgbClr val="FAFAFA"/>
          </a:solidFill>
          <a:ln w="12700">
            <a:solidFill>
              <a:srgbClr val="DDDDDD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2200" b="1" i="0">
                <a:solidFill>
                  <a:srgbClr val="9437FF"/>
                </a:solidFill>
                <a:latin typeface="Noto Sans Mono"/>
              </a:rPr>
              <a:t>git commit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4000" b="1" i="0">
                <a:solidFill>
                  <a:srgbClr val="111111"/>
                </a:solidFill>
                <a:latin typeface="Inter"/>
              </a:rPr>
              <a:t>4 of the top 5 are about going back.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99048" y="1463040"/>
            <a:ext cx="0" cy="4114800"/>
          </a:xfrm>
          <a:prstGeom prst="line">
            <a:avLst/>
          </a:prstGeom>
          <a:ln w="12700">
            <a:solidFill>
              <a:srgbClr val="E3E3E3"/>
            </a:solidFill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685800" y="1417320"/>
            <a:ext cx="512064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111111"/>
                </a:solidFill>
                <a:latin typeface="Inter"/>
              </a:rPr>
              <a:t>The real top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57400"/>
            <a:ext cx="4114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11111"/>
                </a:solidFill>
                <a:latin typeface="Inter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2057400"/>
            <a:ext cx="2240280" cy="566928"/>
          </a:xfrm>
          <a:prstGeom prst="roundRect">
            <a:avLst>
              <a:gd name="adj" fmla="val 16129"/>
            </a:avLst>
          </a:prstGeom>
          <a:solidFill>
            <a:srgbClr val="9437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7" name="Circular Arrow 6"/>
          <p:cNvSpPr/>
          <p:nvPr/>
        </p:nvSpPr>
        <p:spPr>
          <a:xfrm flipH="1">
            <a:off x="1308140" y="2231787"/>
            <a:ext cx="419526" cy="419526"/>
          </a:xfrm>
          <a:prstGeom prst="circularArrow">
            <a:avLst>
              <a:gd name="adj1" fmla="val 13000"/>
              <a:gd name="adj2" fmla="val 1800000"/>
              <a:gd name="adj3" fmla="val 20457681"/>
              <a:gd name="adj4" fmla="val 10800000"/>
              <a:gd name="adj5" fmla="val 2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057400"/>
            <a:ext cx="15087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Mono"/>
              </a:rPr>
              <a:t>revert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88920"/>
            <a:ext cx="4114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11111"/>
                </a:solidFill>
                <a:latin typeface="Inter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2788920"/>
            <a:ext cx="2240280" cy="566928"/>
          </a:xfrm>
          <a:prstGeom prst="roundRect">
            <a:avLst>
              <a:gd name="adj" fmla="val 16129"/>
            </a:avLst>
          </a:prstGeom>
          <a:solidFill>
            <a:srgbClr val="9437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11" name="Circular Arrow 10"/>
          <p:cNvSpPr/>
          <p:nvPr/>
        </p:nvSpPr>
        <p:spPr>
          <a:xfrm flipH="1">
            <a:off x="1308140" y="2963307"/>
            <a:ext cx="419526" cy="419526"/>
          </a:xfrm>
          <a:prstGeom prst="circularArrow">
            <a:avLst>
              <a:gd name="adj1" fmla="val 13000"/>
              <a:gd name="adj2" fmla="val 1800000"/>
              <a:gd name="adj3" fmla="val 20457681"/>
              <a:gd name="adj4" fmla="val 10800000"/>
              <a:gd name="adj5" fmla="val 2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2788920"/>
            <a:ext cx="15087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Mono"/>
              </a:rPr>
              <a:t>reflog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520440"/>
            <a:ext cx="4114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11111"/>
                </a:solidFill>
                <a:latin typeface="Inter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20" y="3520440"/>
            <a:ext cx="2240280" cy="566928"/>
          </a:xfrm>
          <a:prstGeom prst="roundRect">
            <a:avLst>
              <a:gd name="adj" fmla="val 16129"/>
            </a:avLst>
          </a:prstGeom>
          <a:solidFill>
            <a:srgbClr val="9437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15" name="Circular Arrow 14"/>
          <p:cNvSpPr/>
          <p:nvPr/>
        </p:nvSpPr>
        <p:spPr>
          <a:xfrm flipH="1">
            <a:off x="1308140" y="3694827"/>
            <a:ext cx="419526" cy="419526"/>
          </a:xfrm>
          <a:prstGeom prst="circularArrow">
            <a:avLst>
              <a:gd name="adj1" fmla="val 13000"/>
              <a:gd name="adj2" fmla="val 1800000"/>
              <a:gd name="adj3" fmla="val 20457681"/>
              <a:gd name="adj4" fmla="val 10800000"/>
              <a:gd name="adj5" fmla="val 2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3520440"/>
            <a:ext cx="15087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Mono"/>
              </a:rPr>
              <a:t>stash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51960"/>
            <a:ext cx="4114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11111"/>
                </a:solidFill>
                <a:latin typeface="Inter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8720" y="4251960"/>
            <a:ext cx="2240280" cy="566928"/>
          </a:xfrm>
          <a:prstGeom prst="roundRect">
            <a:avLst>
              <a:gd name="adj" fmla="val 16129"/>
            </a:avLst>
          </a:prstGeom>
          <a:solidFill>
            <a:srgbClr val="EDEDED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0" y="4251960"/>
            <a:ext cx="15087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555555"/>
                </a:solidFill>
                <a:latin typeface="Noto Sans Mono"/>
              </a:rPr>
              <a:t>clean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983480"/>
            <a:ext cx="4114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11111"/>
                </a:solidFill>
                <a:latin typeface="Inter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20" y="4983480"/>
            <a:ext cx="2240280" cy="566928"/>
          </a:xfrm>
          <a:prstGeom prst="roundRect">
            <a:avLst>
              <a:gd name="adj" fmla="val 16129"/>
            </a:avLst>
          </a:prstGeom>
          <a:solidFill>
            <a:srgbClr val="9437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22" name="Circular Arrow 21"/>
          <p:cNvSpPr/>
          <p:nvPr/>
        </p:nvSpPr>
        <p:spPr>
          <a:xfrm flipH="1">
            <a:off x="1308140" y="5157867"/>
            <a:ext cx="419526" cy="419526"/>
          </a:xfrm>
          <a:prstGeom prst="circularArrow">
            <a:avLst>
              <a:gd name="adj1" fmla="val 13000"/>
              <a:gd name="adj2" fmla="val 1800000"/>
              <a:gd name="adj3" fmla="val 20457681"/>
              <a:gd name="adj4" fmla="val 10800000"/>
              <a:gd name="adj5" fmla="val 2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0" y="4983480"/>
            <a:ext cx="15087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Mono"/>
              </a:rPr>
              <a:t>reset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2057400"/>
            <a:ext cx="22860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800" b="0" i="0">
                <a:solidFill>
                  <a:srgbClr val="919191"/>
                </a:solidFill>
                <a:latin typeface="Inter"/>
              </a:rPr>
              <a:t>21.7k avg views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1417320"/>
            <a:ext cx="493776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111111"/>
                </a:solidFill>
                <a:latin typeface="Inter"/>
              </a:rPr>
              <a:t>Your six, actual rank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103120"/>
            <a:ext cx="50292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2200" b="1" i="0">
                <a:solidFill>
                  <a:srgbClr val="555555"/>
                </a:solidFill>
                <a:latin typeface="Inter"/>
              </a:rPr>
              <a:t>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69480" y="2103120"/>
            <a:ext cx="2240280" cy="475488"/>
          </a:xfrm>
          <a:prstGeom prst="roundRect">
            <a:avLst>
              <a:gd name="adj" fmla="val 19230"/>
            </a:avLst>
          </a:prstGeom>
          <a:solidFill>
            <a:srgbClr val="9437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28" name="Circular Arrow 27"/>
          <p:cNvSpPr/>
          <p:nvPr/>
        </p:nvSpPr>
        <p:spPr>
          <a:xfrm flipH="1">
            <a:off x="7422733" y="2249380"/>
            <a:ext cx="351861" cy="351861"/>
          </a:xfrm>
          <a:prstGeom prst="circularArrow">
            <a:avLst>
              <a:gd name="adj1" fmla="val 13000"/>
              <a:gd name="adj2" fmla="val 1800000"/>
              <a:gd name="adj3" fmla="val 20457681"/>
              <a:gd name="adj4" fmla="val 10800000"/>
              <a:gd name="adj5" fmla="val 2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9560" y="2103120"/>
            <a:ext cx="150876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oto Sans Mono"/>
              </a:rPr>
              <a:t>revert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2706624"/>
            <a:ext cx="50292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2200" b="1" i="0">
                <a:solidFill>
                  <a:srgbClr val="555555"/>
                </a:solidFill>
                <a:latin typeface="Inter"/>
              </a:rPr>
              <a:t>16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69480" y="2706624"/>
            <a:ext cx="2240280" cy="475488"/>
          </a:xfrm>
          <a:prstGeom prst="roundRect">
            <a:avLst>
              <a:gd name="adj" fmla="val 19230"/>
            </a:avLst>
          </a:prstGeom>
          <a:solidFill>
            <a:srgbClr val="EDEDED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09560" y="2706624"/>
            <a:ext cx="150876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555555"/>
                </a:solidFill>
                <a:latin typeface="Noto Sans Mono"/>
              </a:rPr>
              <a:t>commit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3310128"/>
            <a:ext cx="50292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2200" b="1" i="0">
                <a:solidFill>
                  <a:srgbClr val="555555"/>
                </a:solidFill>
                <a:latin typeface="Inter"/>
              </a:rPr>
              <a:t>17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69480" y="3310128"/>
            <a:ext cx="2240280" cy="475488"/>
          </a:xfrm>
          <a:prstGeom prst="roundRect">
            <a:avLst>
              <a:gd name="adj" fmla="val 19230"/>
            </a:avLst>
          </a:prstGeom>
          <a:solidFill>
            <a:srgbClr val="EDEDED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09560" y="3310128"/>
            <a:ext cx="150876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555555"/>
                </a:solidFill>
                <a:latin typeface="Noto Sans Mono"/>
              </a:rPr>
              <a:t>checkout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3913631"/>
            <a:ext cx="50292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2200" b="1" i="0">
                <a:solidFill>
                  <a:srgbClr val="555555"/>
                </a:solidFill>
                <a:latin typeface="Inter"/>
              </a:rPr>
              <a:t>21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69480" y="3913631"/>
            <a:ext cx="2240280" cy="475488"/>
          </a:xfrm>
          <a:prstGeom prst="roundRect">
            <a:avLst>
              <a:gd name="adj" fmla="val 19230"/>
            </a:avLst>
          </a:prstGeom>
          <a:solidFill>
            <a:srgbClr val="EDEDED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09560" y="3913631"/>
            <a:ext cx="150876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555555"/>
                </a:solidFill>
                <a:latin typeface="Noto Sans Mono"/>
              </a:rPr>
              <a:t>push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517136"/>
            <a:ext cx="50292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2200" b="1" i="0">
                <a:solidFill>
                  <a:srgbClr val="555555"/>
                </a:solidFill>
                <a:latin typeface="Inter"/>
              </a:rPr>
              <a:t>24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69480" y="4517136"/>
            <a:ext cx="2240280" cy="475488"/>
          </a:xfrm>
          <a:prstGeom prst="roundRect">
            <a:avLst>
              <a:gd name="adj" fmla="val 19230"/>
            </a:avLst>
          </a:prstGeom>
          <a:solidFill>
            <a:srgbClr val="EDEDED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09560" y="4517136"/>
            <a:ext cx="150876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555555"/>
                </a:solidFill>
                <a:latin typeface="Noto Sans Mono"/>
              </a:rPr>
              <a:t>merge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5120640"/>
            <a:ext cx="50292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2200" b="1" i="0">
                <a:solidFill>
                  <a:srgbClr val="555555"/>
                </a:solidFill>
                <a:latin typeface="Inter"/>
              </a:rPr>
              <a:t>—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269480" y="5120640"/>
            <a:ext cx="2240280" cy="475488"/>
          </a:xfrm>
          <a:prstGeom prst="roundRect">
            <a:avLst>
              <a:gd name="adj" fmla="val 19230"/>
            </a:avLst>
          </a:prstGeom>
          <a:solidFill>
            <a:srgbClr val="FFFFFF"/>
          </a:solidFill>
          <a:ln w="15875">
            <a:solidFill>
              <a:srgbClr val="BDBDBD"/>
            </a:solidFill>
            <a:prstDash val="dash"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09560" y="5120640"/>
            <a:ext cx="150876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919191"/>
                </a:solidFill>
                <a:latin typeface="Noto Sans Mono"/>
              </a:rPr>
              <a:t>rebase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92640" y="5120640"/>
            <a:ext cx="182880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800" b="0" i="0">
                <a:solidFill>
                  <a:srgbClr val="919191"/>
                </a:solidFill>
                <a:latin typeface="Inter"/>
              </a:rPr>
              <a:t>not in top 30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919191"/>
                </a:solidFill>
                <a:latin typeface="Inter"/>
              </a:rPr>
              <a:t>Avg. views per question, commands with ≥200 questions. Yang et al., Table 4, p.14.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4000" b="1" i="0">
                <a:solidFill>
                  <a:srgbClr val="111111"/>
                </a:solidFill>
                <a:latin typeface="Inter"/>
              </a:rPr>
              <a:t>You felt this on Tuesday.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99048" y="1463040"/>
            <a:ext cx="0" cy="3108960"/>
          </a:xfrm>
          <a:prstGeom prst="line">
            <a:avLst/>
          </a:prstGeom>
          <a:ln w="12700">
            <a:solidFill>
              <a:srgbClr val="E3E3E3"/>
            </a:solidFill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685800" y="1417320"/>
            <a:ext cx="516636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9437FF"/>
                </a:solidFill>
                <a:latin typeface="Noto Sans Mono"/>
              </a:rPr>
              <a:t>reset</a:t>
            </a:r>
            <a:r>
              <a:rPr sz="2600" b="1" i="0">
                <a:solidFill>
                  <a:srgbClr val="111111"/>
                </a:solidFill>
                <a:latin typeface="Inter"/>
              </a:rPr>
              <a:t>: move the flag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080" y="1417320"/>
            <a:ext cx="5148072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9437FF"/>
                </a:solidFill>
                <a:latin typeface="Noto Sans Mono"/>
              </a:rPr>
              <a:t>revert</a:t>
            </a:r>
            <a:r>
              <a:rPr sz="2600" b="1" i="0">
                <a:solidFill>
                  <a:srgbClr val="111111"/>
                </a:solidFill>
                <a:latin typeface="Inter"/>
              </a:rPr>
              <a:t>: add a fix card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34440" y="2331720"/>
            <a:ext cx="1367942" cy="1971446"/>
          </a:xfrm>
          <a:prstGeom prst="roundRect">
            <a:avLst>
              <a:gd name="adj" fmla="val 7058"/>
            </a:avLst>
          </a:prstGeom>
          <a:solidFill>
            <a:srgbClr val="FFFFFF"/>
          </a:solidFill>
          <a:ln w="19050">
            <a:solidFill>
              <a:srgbClr val="1F1F1F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31000" y="2428280"/>
            <a:ext cx="573024" cy="301752"/>
          </a:xfrm>
          <a:prstGeom prst="roundRect">
            <a:avLst>
              <a:gd name="adj" fmla="val 17647"/>
            </a:avLst>
          </a:prstGeom>
          <a:solidFill>
            <a:srgbClr val="111111"/>
          </a:solidFill>
          <a:ln>
            <a:noFill/>
          </a:ln>
          <a:effectLst/>
        </p:spPr>
        <p:txBody>
          <a:bodyPr rtlCol="0" anchor="ctr" wrap="square" lIns="18288" rIns="18288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Noto Sans Mono"/>
              </a:rPr>
              <a:t>ddr2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31000" y="2782336"/>
            <a:ext cx="1174821" cy="386242"/>
          </a:xfrm>
          <a:prstGeom prst="roundRect">
            <a:avLst>
              <a:gd name="adj" fmla="val 10416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2290" b="0" i="0">
                <a:solidFill>
                  <a:srgbClr val="111111"/>
                </a:solidFill>
                <a:latin typeface="Inter"/>
              </a:rPr>
              <a:t>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31000" y="3216859"/>
            <a:ext cx="1174821" cy="386242"/>
          </a:xfrm>
          <a:prstGeom prst="roundRect">
            <a:avLst>
              <a:gd name="adj" fmla="val 10416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2290" b="0" i="0">
                <a:solidFill>
                  <a:srgbClr val="111111"/>
                </a:solidFill>
                <a:latin typeface="Inter"/>
              </a:rPr>
              <a:t>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31000" y="3651382"/>
            <a:ext cx="1174821" cy="386242"/>
          </a:xfrm>
          <a:prstGeom prst="roundRect">
            <a:avLst>
              <a:gd name="adj" fmla="val 10416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2290" b="0" i="0">
                <a:solidFill>
                  <a:srgbClr val="111111"/>
                </a:solidFill>
                <a:latin typeface="Inter"/>
              </a:rPr>
              <a:t>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1000" y="4050698"/>
            <a:ext cx="1174821" cy="23939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  <a:latin typeface="Inter"/>
              </a:rPr>
              <a:t>← </a:t>
            </a:r>
            <a:r>
              <a:rPr sz="1300" b="0" i="0">
                <a:solidFill>
                  <a:srgbClr val="555555"/>
                </a:solidFill>
                <a:latin typeface="Noto Sans Mono"/>
              </a:rPr>
              <a:t>cdr2</a:t>
            </a:r>
          </a:p>
        </p:txBody>
      </p:sp>
      <p:sp>
        <p:nvSpPr>
          <p:cNvPr id="12" name="Rounded Rectangle 11"/>
          <p:cNvSpPr/>
          <p:nvPr/>
        </p:nvSpPr>
        <p:spPr>
          <a:xfrm rot="21360000">
            <a:off x="1435607" y="1993757"/>
            <a:ext cx="965606" cy="402336"/>
          </a:xfrm>
          <a:prstGeom prst="roundRect">
            <a:avLst>
              <a:gd name="adj" fmla="val 9090"/>
            </a:avLst>
          </a:prstGeom>
          <a:solidFill>
            <a:srgbClr val="FFE45E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1600" b="1" i="0">
                <a:solidFill>
                  <a:srgbClr val="111111"/>
                </a:solidFill>
                <a:latin typeface="Inter"/>
              </a:rPr>
              <a:t>main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94760" y="2532888"/>
            <a:ext cx="1367942" cy="1971446"/>
          </a:xfrm>
          <a:prstGeom prst="roundRect">
            <a:avLst>
              <a:gd name="adj" fmla="val 7058"/>
            </a:avLst>
          </a:prstGeom>
          <a:solidFill>
            <a:srgbClr val="FFFFFF"/>
          </a:solidFill>
          <a:ln w="19050">
            <a:solidFill>
              <a:srgbClr val="1F1F1F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91320" y="2629448"/>
            <a:ext cx="573024" cy="301752"/>
          </a:xfrm>
          <a:prstGeom prst="roundRect">
            <a:avLst>
              <a:gd name="adj" fmla="val 17647"/>
            </a:avLst>
          </a:prstGeom>
          <a:solidFill>
            <a:srgbClr val="111111"/>
          </a:solidFill>
          <a:ln>
            <a:noFill/>
          </a:ln>
          <a:effectLst/>
        </p:spPr>
        <p:txBody>
          <a:bodyPr rtlCol="0" anchor="ctr" wrap="square" lIns="18288" rIns="18288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Noto Sans Mono"/>
              </a:rPr>
              <a:t>mdr1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91320" y="2983504"/>
            <a:ext cx="1174821" cy="386242"/>
          </a:xfrm>
          <a:prstGeom prst="roundRect">
            <a:avLst>
              <a:gd name="adj" fmla="val 10416"/>
            </a:avLst>
          </a:prstGeom>
          <a:solidFill>
            <a:srgbClr val="FFF6C7"/>
          </a:solidFill>
          <a:ln w="9525">
            <a:solidFill>
              <a:srgbClr val="E8C547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2290" b="0" i="0">
                <a:solidFill>
                  <a:srgbClr val="111111"/>
                </a:solidFill>
                <a:latin typeface="Inter"/>
              </a:rPr>
              <a:t>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91320" y="3418027"/>
            <a:ext cx="1174821" cy="386242"/>
          </a:xfrm>
          <a:prstGeom prst="roundRect">
            <a:avLst>
              <a:gd name="adj" fmla="val 10416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2290" b="0" i="0">
                <a:solidFill>
                  <a:srgbClr val="111111"/>
                </a:solidFill>
                <a:latin typeface="Inter"/>
              </a:rPr>
              <a:t>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91320" y="3852550"/>
            <a:ext cx="1174821" cy="386242"/>
          </a:xfrm>
          <a:prstGeom prst="roundRect">
            <a:avLst>
              <a:gd name="adj" fmla="val 10416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2290" b="0" i="0">
                <a:solidFill>
                  <a:srgbClr val="111111"/>
                </a:solidFill>
                <a:latin typeface="Inter"/>
              </a:rPr>
              <a:t>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91320" y="4251866"/>
            <a:ext cx="1174821" cy="23939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  <a:latin typeface="Inter"/>
              </a:rPr>
              <a:t>← </a:t>
            </a:r>
            <a:r>
              <a:rPr sz="1300" b="0" i="0">
                <a:solidFill>
                  <a:srgbClr val="555555"/>
                </a:solidFill>
                <a:latin typeface="Noto Sans Mono"/>
              </a:rPr>
              <a:t>ddr2</a:t>
            </a:r>
          </a:p>
        </p:txBody>
      </p:sp>
      <p:cxnSp>
        <p:nvCxnSpPr>
          <p:cNvPr id="19" name="Connector 18"/>
          <p:cNvCxnSpPr/>
          <p:nvPr/>
        </p:nvCxnSpPr>
        <p:spPr>
          <a:xfrm flipH="1" flipV="1">
            <a:off x="2657246" y="3317443"/>
            <a:ext cx="1082650" cy="201168"/>
          </a:xfrm>
          <a:prstGeom prst="line">
            <a:avLst/>
          </a:prstGeom>
          <a:ln w="25400">
            <a:solidFill>
              <a:srgbClr val="BDBDBD"/>
            </a:solidFill>
            <a:prstDash val="dash"/>
            <a:tailEnd type="triangle" w="med" len="med"/>
          </a:ln>
          <a:effectLst/>
        </p:spPr>
      </p:cxnSp>
      <p:sp>
        <p:nvSpPr>
          <p:cNvPr id="20" name="Rounded Rectangle 19"/>
          <p:cNvSpPr/>
          <p:nvPr/>
        </p:nvSpPr>
        <p:spPr>
          <a:xfrm>
            <a:off x="4906670" y="236829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E02424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Inter"/>
              </a:rPr>
              <a:t>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2331720"/>
            <a:ext cx="1367942" cy="1971446"/>
          </a:xfrm>
          <a:prstGeom prst="roundRect">
            <a:avLst>
              <a:gd name="adj" fmla="val 7058"/>
            </a:avLst>
          </a:prstGeom>
          <a:solidFill>
            <a:srgbClr val="FFFFFF"/>
          </a:solidFill>
          <a:ln w="19050">
            <a:solidFill>
              <a:srgbClr val="1F1F1F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43080" y="2428280"/>
            <a:ext cx="573024" cy="301752"/>
          </a:xfrm>
          <a:prstGeom prst="roundRect">
            <a:avLst>
              <a:gd name="adj" fmla="val 17647"/>
            </a:avLst>
          </a:prstGeom>
          <a:solidFill>
            <a:srgbClr val="111111"/>
          </a:solidFill>
          <a:ln>
            <a:noFill/>
          </a:ln>
          <a:effectLst/>
        </p:spPr>
        <p:txBody>
          <a:bodyPr rtlCol="0" anchor="ctr" wrap="square" lIns="18288" rIns="18288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Noto Sans Mono"/>
              </a:rPr>
              <a:t>ddr2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43080" y="2782336"/>
            <a:ext cx="1174821" cy="386242"/>
          </a:xfrm>
          <a:prstGeom prst="roundRect">
            <a:avLst>
              <a:gd name="adj" fmla="val 10416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2290" b="0" i="0">
                <a:solidFill>
                  <a:srgbClr val="111111"/>
                </a:solidFill>
                <a:latin typeface="Inter"/>
              </a:rPr>
              <a:t>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43080" y="3216859"/>
            <a:ext cx="1174821" cy="386242"/>
          </a:xfrm>
          <a:prstGeom prst="roundRect">
            <a:avLst>
              <a:gd name="adj" fmla="val 10416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2290" b="0" i="0">
                <a:solidFill>
                  <a:srgbClr val="111111"/>
                </a:solidFill>
                <a:latin typeface="Inter"/>
              </a:rPr>
              <a:t>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43080" y="3651382"/>
            <a:ext cx="1174821" cy="386242"/>
          </a:xfrm>
          <a:prstGeom prst="roundRect">
            <a:avLst>
              <a:gd name="adj" fmla="val 10416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2290" b="0" i="0">
                <a:solidFill>
                  <a:srgbClr val="111111"/>
                </a:solidFill>
                <a:latin typeface="Inter"/>
              </a:rPr>
              <a:t>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3080" y="4050698"/>
            <a:ext cx="1174821" cy="23939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  <a:latin typeface="Inter"/>
              </a:rPr>
              <a:t>← </a:t>
            </a:r>
            <a:r>
              <a:rPr sz="1300" b="0" i="0">
                <a:solidFill>
                  <a:srgbClr val="555555"/>
                </a:solidFill>
                <a:latin typeface="Noto Sans Mono"/>
              </a:rPr>
              <a:t>cdr2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7888" y="2331720"/>
            <a:ext cx="1367942" cy="1971446"/>
          </a:xfrm>
          <a:prstGeom prst="roundRect">
            <a:avLst>
              <a:gd name="adj" fmla="val 7058"/>
            </a:avLst>
          </a:prstGeom>
          <a:solidFill>
            <a:srgbClr val="FFFFFF"/>
          </a:solidFill>
          <a:ln w="19050">
            <a:solidFill>
              <a:srgbClr val="1F1F1F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44448" y="2428280"/>
            <a:ext cx="573024" cy="301752"/>
          </a:xfrm>
          <a:prstGeom prst="roundRect">
            <a:avLst>
              <a:gd name="adj" fmla="val 17647"/>
            </a:avLst>
          </a:prstGeom>
          <a:solidFill>
            <a:srgbClr val="111111"/>
          </a:solidFill>
          <a:ln>
            <a:noFill/>
          </a:ln>
          <a:effectLst/>
        </p:spPr>
        <p:txBody>
          <a:bodyPr rtlCol="0" anchor="ctr" wrap="square" lIns="18288" rIns="18288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Noto Sans Mono"/>
              </a:rPr>
              <a:t>mdr1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44448" y="2782336"/>
            <a:ext cx="1174821" cy="386242"/>
          </a:xfrm>
          <a:prstGeom prst="roundRect">
            <a:avLst>
              <a:gd name="adj" fmla="val 10416"/>
            </a:avLst>
          </a:prstGeom>
          <a:solidFill>
            <a:srgbClr val="FFF6C7"/>
          </a:solidFill>
          <a:ln w="9525">
            <a:solidFill>
              <a:srgbClr val="E8C547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2290" b="0" i="0">
                <a:solidFill>
                  <a:srgbClr val="111111"/>
                </a:solidFill>
                <a:latin typeface="Inter"/>
              </a:rPr>
              <a:t>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44448" y="3216859"/>
            <a:ext cx="1174821" cy="386242"/>
          </a:xfrm>
          <a:prstGeom prst="roundRect">
            <a:avLst>
              <a:gd name="adj" fmla="val 10416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2290" b="0" i="0">
                <a:solidFill>
                  <a:srgbClr val="111111"/>
                </a:solidFill>
                <a:latin typeface="Inter"/>
              </a:rPr>
              <a:t>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44448" y="3651382"/>
            <a:ext cx="1174821" cy="386242"/>
          </a:xfrm>
          <a:prstGeom prst="roundRect">
            <a:avLst>
              <a:gd name="adj" fmla="val 10416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2290" b="0" i="0">
                <a:solidFill>
                  <a:srgbClr val="111111"/>
                </a:solidFill>
                <a:latin typeface="Inter"/>
              </a:rPr>
              <a:t>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4448" y="4050698"/>
            <a:ext cx="1174821" cy="23939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  <a:latin typeface="Inter"/>
              </a:rPr>
              <a:t>← </a:t>
            </a:r>
            <a:r>
              <a:rPr sz="1300" b="0" i="0">
                <a:solidFill>
                  <a:srgbClr val="555555"/>
                </a:solidFill>
                <a:latin typeface="Noto Sans Mono"/>
              </a:rPr>
              <a:t>ddr2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49256" y="2331720"/>
            <a:ext cx="1367942" cy="1971446"/>
          </a:xfrm>
          <a:prstGeom prst="roundRect">
            <a:avLst>
              <a:gd name="adj" fmla="val 7058"/>
            </a:avLst>
          </a:prstGeom>
          <a:solidFill>
            <a:srgbClr val="FFFFFF"/>
          </a:solidFill>
          <a:ln w="19050">
            <a:solidFill>
              <a:srgbClr val="1F1F1F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145816" y="2428280"/>
            <a:ext cx="573024" cy="301752"/>
          </a:xfrm>
          <a:prstGeom prst="roundRect">
            <a:avLst>
              <a:gd name="adj" fmla="val 17647"/>
            </a:avLst>
          </a:prstGeom>
          <a:solidFill>
            <a:srgbClr val="111111"/>
          </a:solidFill>
          <a:ln>
            <a:noFill/>
          </a:ln>
          <a:effectLst/>
        </p:spPr>
        <p:txBody>
          <a:bodyPr rtlCol="0" anchor="ctr" wrap="square" lIns="18288" rIns="18288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Noto Sans Mono"/>
              </a:rPr>
              <a:t>ddr8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145816" y="2782336"/>
            <a:ext cx="1174821" cy="386242"/>
          </a:xfrm>
          <a:prstGeom prst="roundRect">
            <a:avLst>
              <a:gd name="adj" fmla="val 10416"/>
            </a:avLst>
          </a:prstGeom>
          <a:solidFill>
            <a:srgbClr val="E6F6EC"/>
          </a:solidFill>
          <a:ln w="19050">
            <a:solidFill>
              <a:srgbClr val="1E9E4A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2290" b="0" i="0">
                <a:solidFill>
                  <a:srgbClr val="111111"/>
                </a:solidFill>
                <a:latin typeface="Inter"/>
              </a:rPr>
              <a:t>🐲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45816" y="3216859"/>
            <a:ext cx="1174821" cy="386242"/>
          </a:xfrm>
          <a:prstGeom prst="roundRect">
            <a:avLst>
              <a:gd name="adj" fmla="val 10416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2290" b="0" i="0">
                <a:solidFill>
                  <a:srgbClr val="111111"/>
                </a:solidFill>
                <a:latin typeface="Inter"/>
              </a:rPr>
              <a:t>🪩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45816" y="3651382"/>
            <a:ext cx="1174821" cy="386242"/>
          </a:xfrm>
          <a:prstGeom prst="roundRect">
            <a:avLst>
              <a:gd name="adj" fmla="val 10416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2290" b="0" i="0">
                <a:solidFill>
                  <a:srgbClr val="111111"/>
                </a:solidFill>
                <a:latin typeface="Inter"/>
              </a:rPr>
              <a:t>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5816" y="4050698"/>
            <a:ext cx="1174821" cy="23939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  <a:latin typeface="Inter"/>
              </a:rPr>
              <a:t>← </a:t>
            </a:r>
            <a:r>
              <a:rPr sz="1300" b="0" i="0">
                <a:solidFill>
                  <a:srgbClr val="555555"/>
                </a:solidFill>
                <a:latin typeface="Noto Sans Mono"/>
              </a:rPr>
              <a:t>mdr1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7869326" y="3317443"/>
            <a:ext cx="323697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  <a:effectLst/>
        </p:spPr>
      </p:cxnSp>
      <p:cxnSp>
        <p:nvCxnSpPr>
          <p:cNvPr id="40" name="Connector 39"/>
          <p:cNvCxnSpPr/>
          <p:nvPr/>
        </p:nvCxnSpPr>
        <p:spPr>
          <a:xfrm flipH="1">
            <a:off x="9670694" y="3317443"/>
            <a:ext cx="323698" cy="0"/>
          </a:xfrm>
          <a:prstGeom prst="line">
            <a:avLst/>
          </a:prstGeom>
          <a:ln w="25400">
            <a:solidFill>
              <a:srgbClr val="1E9E4A"/>
            </a:solidFill>
            <a:tailEnd type="triangle" w="med" len="med"/>
          </a:ln>
          <a:effectLst/>
        </p:spPr>
      </p:cxnSp>
      <p:sp>
        <p:nvSpPr>
          <p:cNvPr id="41" name="Rounded Rectangle 40"/>
          <p:cNvSpPr/>
          <p:nvPr/>
        </p:nvSpPr>
        <p:spPr>
          <a:xfrm rot="21360000">
            <a:off x="10250424" y="1993757"/>
            <a:ext cx="965606" cy="402336"/>
          </a:xfrm>
          <a:prstGeom prst="roundRect">
            <a:avLst>
              <a:gd name="adj" fmla="val 9090"/>
            </a:avLst>
          </a:prstGeom>
          <a:solidFill>
            <a:srgbClr val="FFE45E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1600" b="1" i="0">
                <a:solidFill>
                  <a:srgbClr val="111111"/>
                </a:solidFill>
                <a:latin typeface="Inter"/>
              </a:rPr>
              <a:t>main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041223" y="4791456"/>
            <a:ext cx="4109247" cy="566928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12700">
            <a:solidFill>
              <a:srgbClr val="DDDDDD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2200" b="0" i="0">
                <a:solidFill>
                  <a:srgbClr val="9437FF"/>
                </a:solidFill>
                <a:latin typeface="Noto Sans Mono"/>
              </a:rPr>
              <a:t>reflog</a:t>
            </a:r>
            <a:r>
              <a:rPr sz="2200" b="0" i="0">
                <a:solidFill>
                  <a:srgbClr val="111111"/>
                </a:solidFill>
                <a:latin typeface="Inter"/>
              </a:rPr>
              <a:t> = the safety diary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" y="5669280"/>
            <a:ext cx="10820095" cy="658368"/>
          </a:xfrm>
          <a:prstGeom prst="roundRect">
            <a:avLst>
              <a:gd name="adj" fmla="val 19444"/>
            </a:avLst>
          </a:prstGeom>
          <a:solidFill>
            <a:srgbClr val="F6ECF8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0120" y="5769864"/>
            <a:ext cx="55245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400" b="0" i="0">
                <a:solidFill>
                  <a:srgbClr val="111111"/>
                </a:solidFill>
                <a:latin typeface="Inter"/>
              </a:rPr>
              <a:t>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12570" y="5669280"/>
            <a:ext cx="9719005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11111"/>
                </a:solidFill>
                <a:latin typeface="Inter"/>
              </a:rPr>
              <a:t>Why was the mustache the hardest call on Tuesday?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4000" b="1" i="0">
                <a:solidFill>
                  <a:srgbClr val="111111"/>
                </a:solidFill>
                <a:latin typeface="Inter"/>
              </a:rPr>
              <a:t>Today’s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08760"/>
            <a:ext cx="108200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0" i="0">
                <a:solidFill>
                  <a:srgbClr val="555555"/>
                </a:solidFill>
                <a:latin typeface="Inter"/>
              </a:rPr>
              <a:t>After today, we should be confident you could:</a:t>
            </a:r>
          </a:p>
        </p:txBody>
      </p:sp>
      <p:sp>
        <p:nvSpPr>
          <p:cNvPr id="4" name="Oval 3"/>
          <p:cNvSpPr/>
          <p:nvPr/>
        </p:nvSpPr>
        <p:spPr>
          <a:xfrm>
            <a:off x="697230" y="2479829"/>
            <a:ext cx="160020" cy="160020"/>
          </a:xfrm>
          <a:prstGeom prst="ellipse">
            <a:avLst/>
          </a:prstGeom>
          <a:solidFill>
            <a:srgbClr val="FF2F92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286000"/>
            <a:ext cx="10317175" cy="51617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000" b="0" i="0">
                <a:solidFill>
                  <a:srgbClr val="111111"/>
                </a:solidFill>
                <a:latin typeface="Inter"/>
              </a:rPr>
              <a:t>Separate what a study measured from what it claims</a:t>
            </a:r>
          </a:p>
        </p:txBody>
      </p:sp>
      <p:sp>
        <p:nvSpPr>
          <p:cNvPr id="6" name="Oval 5"/>
          <p:cNvSpPr/>
          <p:nvPr/>
        </p:nvSpPr>
        <p:spPr>
          <a:xfrm>
            <a:off x="697230" y="3178888"/>
            <a:ext cx="160020" cy="160020"/>
          </a:xfrm>
          <a:prstGeom prst="ellipse">
            <a:avLst/>
          </a:prstGeom>
          <a:solidFill>
            <a:srgbClr val="00A2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985058"/>
            <a:ext cx="10317175" cy="51617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000" b="0" i="0">
                <a:solidFill>
                  <a:srgbClr val="111111"/>
                </a:solidFill>
                <a:latin typeface="Inter"/>
              </a:rPr>
              <a:t>Place a study on three axes; name its biggest threat</a:t>
            </a:r>
          </a:p>
        </p:txBody>
      </p:sp>
      <p:sp>
        <p:nvSpPr>
          <p:cNvPr id="8" name="Oval 7"/>
          <p:cNvSpPr/>
          <p:nvPr/>
        </p:nvSpPr>
        <p:spPr>
          <a:xfrm>
            <a:off x="697230" y="3877947"/>
            <a:ext cx="160020" cy="160020"/>
          </a:xfrm>
          <a:prstGeom prst="ellipse">
            <a:avLst/>
          </a:prstGeom>
          <a:solidFill>
            <a:srgbClr val="FF9300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684117"/>
            <a:ext cx="10317175" cy="101406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000" b="0" i="0">
                <a:solidFill>
                  <a:srgbClr val="111111"/>
                </a:solidFill>
                <a:latin typeface="Inter"/>
              </a:rPr>
              <a:t>Turn a finding into a feature,</a:t>
            </a:r>
            <a:br>
              <a:rPr sz="3000"/>
            </a:br>
            <a:r>
              <a:rPr sz="3000" b="0" i="0">
                <a:solidFill>
                  <a:srgbClr val="111111"/>
                </a:solidFill>
                <a:latin typeface="Inter"/>
              </a:rPr>
              <a:t>plus how you’d know it worked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4000" b="1" i="0">
                <a:solidFill>
                  <a:srgbClr val="111111"/>
                </a:solidFill>
                <a:latin typeface="Inter"/>
              </a:rPr>
              <a:t>The study in one picture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50876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EDEDED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11111"/>
                </a:solidFill>
                <a:latin typeface="Inter"/>
              </a:rPr>
              <a:t>198,626 SO questions tagged git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555555"/>
                </a:solidFill>
                <a:latin typeface="Inter"/>
              </a:rPr>
              <a:t>2008–2020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" y="2542032"/>
            <a:ext cx="4846320" cy="685800"/>
          </a:xfrm>
          <a:prstGeom prst="roundRect">
            <a:avLst>
              <a:gd name="adj" fmla="val 13333"/>
            </a:avLst>
          </a:prstGeom>
          <a:solidFill>
            <a:srgbClr val="EDEDED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2000" b="0" i="0">
                <a:solidFill>
                  <a:srgbClr val="111111"/>
                </a:solidFill>
                <a:latin typeface="Inter"/>
              </a:rPr>
              <a:t>contains an exact Git command string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54480" y="3392424"/>
            <a:ext cx="3657600" cy="685800"/>
          </a:xfrm>
          <a:prstGeom prst="roundRect">
            <a:avLst>
              <a:gd name="adj" fmla="val 13333"/>
            </a:avLst>
          </a:prstGeom>
          <a:solidFill>
            <a:srgbClr val="EDEDED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2200" b="1" i="0">
                <a:solidFill>
                  <a:srgbClr val="111111"/>
                </a:solidFill>
                <a:latin typeface="Inter"/>
              </a:rPr>
              <a:t>80,370 questions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5285232" y="1751075"/>
            <a:ext cx="1746504" cy="1984249"/>
          </a:xfrm>
          <a:prstGeom prst="line">
            <a:avLst/>
          </a:prstGeom>
          <a:ln w="19050">
            <a:solidFill>
              <a:srgbClr val="BBBBBB"/>
            </a:solidFill>
          </a:ln>
          <a:effectLst/>
        </p:spPr>
      </p:cxnSp>
      <p:sp>
        <p:nvSpPr>
          <p:cNvPr id="7" name="Rounded Rectangle 6"/>
          <p:cNvSpPr/>
          <p:nvPr/>
        </p:nvSpPr>
        <p:spPr>
          <a:xfrm>
            <a:off x="7086600" y="1467611"/>
            <a:ext cx="4419295" cy="566928"/>
          </a:xfrm>
          <a:prstGeom prst="roundRect">
            <a:avLst>
              <a:gd name="adj" fmla="val 19354"/>
            </a:avLst>
          </a:prstGeom>
          <a:solidFill>
            <a:srgbClr val="FFFFFF"/>
          </a:solidFill>
          <a:ln w="15875">
            <a:solidFill>
              <a:srgbClr val="DDDDDD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251192" y="1586484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Inter"/>
              </a:rPr>
              <a:t>RQ1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467611"/>
            <a:ext cx="3230575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111111"/>
                </a:solidFill>
                <a:latin typeface="Inter"/>
              </a:rPr>
              <a:t>How popular?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5285232" y="2446020"/>
            <a:ext cx="1746504" cy="1289304"/>
          </a:xfrm>
          <a:prstGeom prst="line">
            <a:avLst/>
          </a:prstGeom>
          <a:ln w="19050">
            <a:solidFill>
              <a:srgbClr val="BBBBBB"/>
            </a:solidFill>
          </a:ln>
          <a:effectLst/>
        </p:spPr>
      </p:cxnSp>
      <p:sp>
        <p:nvSpPr>
          <p:cNvPr id="11" name="Rounded Rectangle 10"/>
          <p:cNvSpPr/>
          <p:nvPr/>
        </p:nvSpPr>
        <p:spPr>
          <a:xfrm>
            <a:off x="7086600" y="2162556"/>
            <a:ext cx="4419295" cy="566928"/>
          </a:xfrm>
          <a:prstGeom prst="roundRect">
            <a:avLst>
              <a:gd name="adj" fmla="val 19354"/>
            </a:avLst>
          </a:prstGeom>
          <a:solidFill>
            <a:srgbClr val="FFFFFF"/>
          </a:solidFill>
          <a:ln w="15875">
            <a:solidFill>
              <a:srgbClr val="DDDDDD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51192" y="2281427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Inter"/>
              </a:rPr>
              <a:t>RQ2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162556"/>
            <a:ext cx="3230575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111111"/>
                </a:solidFill>
                <a:latin typeface="Inter"/>
              </a:rPr>
              <a:t>Who asks?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5285232" y="3140964"/>
            <a:ext cx="1746504" cy="594360"/>
          </a:xfrm>
          <a:prstGeom prst="line">
            <a:avLst/>
          </a:prstGeom>
          <a:ln w="19050">
            <a:solidFill>
              <a:srgbClr val="BBBBBB"/>
            </a:solidFill>
          </a:ln>
          <a:effectLst/>
        </p:spPr>
      </p:cxnSp>
      <p:sp>
        <p:nvSpPr>
          <p:cNvPr id="15" name="Rounded Rectangle 14"/>
          <p:cNvSpPr/>
          <p:nvPr/>
        </p:nvSpPr>
        <p:spPr>
          <a:xfrm>
            <a:off x="7086600" y="2857500"/>
            <a:ext cx="4419295" cy="566928"/>
          </a:xfrm>
          <a:prstGeom prst="roundRect">
            <a:avLst>
              <a:gd name="adj" fmla="val 19354"/>
            </a:avLst>
          </a:prstGeom>
          <a:solidFill>
            <a:srgbClr val="FFFFFF"/>
          </a:solidFill>
          <a:ln w="15875">
            <a:solidFill>
              <a:srgbClr val="DDDDDD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251192" y="2976372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Inter"/>
              </a:rPr>
              <a:t>RQ3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857500"/>
            <a:ext cx="3230575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111111"/>
                </a:solidFill>
                <a:latin typeface="Inter"/>
              </a:rPr>
              <a:t>Which commands?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285232" y="3735324"/>
            <a:ext cx="1746504" cy="100583"/>
          </a:xfrm>
          <a:prstGeom prst="line">
            <a:avLst/>
          </a:prstGeom>
          <a:ln w="19050">
            <a:solidFill>
              <a:srgbClr val="BBBBBB"/>
            </a:solidFill>
          </a:ln>
          <a:effectLst/>
        </p:spPr>
      </p:cxnSp>
      <p:sp>
        <p:nvSpPr>
          <p:cNvPr id="19" name="Rounded Rectangle 18"/>
          <p:cNvSpPr/>
          <p:nvPr/>
        </p:nvSpPr>
        <p:spPr>
          <a:xfrm>
            <a:off x="7086600" y="3552444"/>
            <a:ext cx="4419295" cy="566928"/>
          </a:xfrm>
          <a:prstGeom prst="roundRect">
            <a:avLst>
              <a:gd name="adj" fmla="val 19354"/>
            </a:avLst>
          </a:prstGeom>
          <a:solidFill>
            <a:srgbClr val="FFFFFF"/>
          </a:solidFill>
          <a:ln w="15875">
            <a:solidFill>
              <a:srgbClr val="DDDDDD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251192" y="3671315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Inter"/>
              </a:rPr>
              <a:t>RQ4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552444"/>
            <a:ext cx="3230575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111111"/>
                </a:solidFill>
                <a:latin typeface="Inter"/>
              </a:rPr>
              <a:t>Which are hard?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754880"/>
            <a:ext cx="5394960" cy="685800"/>
          </a:xfrm>
          <a:prstGeom prst="roundRect">
            <a:avLst>
              <a:gd name="adj" fmla="val 13333"/>
            </a:avLst>
          </a:prstGeom>
          <a:solidFill>
            <a:srgbClr val="EDEDED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2000" b="0" i="0">
                <a:solidFill>
                  <a:srgbClr val="111111"/>
                </a:solidFill>
                <a:latin typeface="Inter"/>
              </a:rPr>
              <a:t>Survey: 508 invited → </a:t>
            </a:r>
            <a:r>
              <a:rPr sz="2000" b="1" i="0">
                <a:solidFill>
                  <a:srgbClr val="111111"/>
                </a:solidFill>
                <a:latin typeface="Inter"/>
              </a:rPr>
              <a:t>92 replied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53912" y="5097780"/>
            <a:ext cx="877824" cy="0"/>
          </a:xfrm>
          <a:prstGeom prst="line">
            <a:avLst/>
          </a:prstGeom>
          <a:ln w="19050">
            <a:solidFill>
              <a:srgbClr val="BBBBBB"/>
            </a:solidFill>
          </a:ln>
          <a:effectLst/>
        </p:spPr>
      </p:cxnSp>
      <p:sp>
        <p:nvSpPr>
          <p:cNvPr id="24" name="Rounded Rectangle 23"/>
          <p:cNvSpPr/>
          <p:nvPr/>
        </p:nvSpPr>
        <p:spPr>
          <a:xfrm>
            <a:off x="7086600" y="4814316"/>
            <a:ext cx="4419295" cy="566928"/>
          </a:xfrm>
          <a:prstGeom prst="roundRect">
            <a:avLst>
              <a:gd name="adj" fmla="val 19354"/>
            </a:avLst>
          </a:prstGeom>
          <a:solidFill>
            <a:srgbClr val="FFFFFF"/>
          </a:solidFill>
          <a:ln w="15875">
            <a:solidFill>
              <a:srgbClr val="DDDDDD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51192" y="4933188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Inter"/>
              </a:rPr>
              <a:t>RQ5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814316"/>
            <a:ext cx="3230575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111111"/>
                </a:solidFill>
                <a:latin typeface="Inter"/>
              </a:rPr>
              <a:t>How do people learn?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919191"/>
                </a:solidFill>
                <a:latin typeface="Inter"/>
              </a:rPr>
              <a:t>Yang et al., TOSEM 2022, p.5–9.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4000" b="1" i="0">
                <a:solidFill>
                  <a:srgbClr val="111111"/>
                </a:solidFill>
                <a:latin typeface="Inter"/>
              </a:rPr>
              <a:t>What they found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573060"/>
            <a:ext cx="878752" cy="329184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Inter"/>
              </a:rPr>
              <a:t>RQ1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38872" y="1508760"/>
            <a:ext cx="9667022" cy="457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111111"/>
                </a:solidFill>
                <a:latin typeface="Inter"/>
              </a:rPr>
              <a:t>0.4% of SO questions, but 1.5% of askers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50300"/>
            <a:ext cx="878752" cy="329184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Inter"/>
              </a:rPr>
              <a:t>RQ2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38872" y="2186000"/>
            <a:ext cx="9667022" cy="457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111111"/>
                </a:solidFill>
                <a:latin typeface="Inter"/>
              </a:rPr>
              <a:t>2020: 40% of askers on SO 5+ years (all SO: 21%)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927540"/>
            <a:ext cx="878752" cy="329184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Inter"/>
              </a:rPr>
              <a:t>RQ3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38872" y="2863240"/>
            <a:ext cx="9667022" cy="457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111111"/>
                </a:solidFill>
                <a:latin typeface="Inter"/>
              </a:rPr>
              <a:t>Recovery tops views; 83% of questions mix commands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604780"/>
            <a:ext cx="878752" cy="329184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Inter"/>
              </a:rPr>
              <a:t>RQ4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8872" y="3540480"/>
            <a:ext cx="9667022" cy="457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111111"/>
                </a:solidFill>
                <a:latin typeface="Inter"/>
              </a:rPr>
              <a:t>Least answered: rare commands, credential, submodule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282020"/>
            <a:ext cx="878752" cy="329184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Inter"/>
              </a:rPr>
              <a:t>RQ5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38872" y="4217720"/>
            <a:ext cx="9667022" cy="457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111111"/>
                </a:solidFill>
                <a:latin typeface="Inter"/>
              </a:rPr>
              <a:t>81.7% of learning picks = self-learning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919191"/>
                </a:solidFill>
                <a:latin typeface="Inter"/>
              </a:rPr>
              <a:t>Yang et al., TOSEM 2022. Tables 1–4, 6, 7; Fig. 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777240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4000" b="1" i="0">
                <a:solidFill>
                  <a:srgbClr val="111111"/>
                </a:solidFill>
                <a:latin typeface="Inter"/>
              </a:rPr>
              <a:t>Where does it sit? You place it.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090164" y="548640"/>
            <a:ext cx="2415730" cy="438912"/>
          </a:xfrm>
          <a:prstGeom prst="roundRect">
            <a:avLst>
              <a:gd name="adj" fmla="val 50000"/>
            </a:avLst>
          </a:prstGeom>
          <a:solidFill>
            <a:srgbClr val="9437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Inter"/>
              </a:rPr>
              <a:t>📊  Vote on Menti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1673351"/>
            <a:ext cx="164592" cy="164592"/>
          </a:xfrm>
          <a:prstGeom prst="ellipse">
            <a:avLst/>
          </a:prstGeom>
          <a:solidFill>
            <a:srgbClr val="FF2F92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1600200"/>
            <a:ext cx="5559552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555555"/>
                </a:solidFill>
                <a:latin typeface="Inter"/>
              </a:rPr>
              <a:t>RQ TYPE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78408" y="2468880"/>
            <a:ext cx="5559552" cy="0"/>
          </a:xfrm>
          <a:prstGeom prst="line">
            <a:avLst/>
          </a:prstGeom>
          <a:ln w="25400">
            <a:solidFill>
              <a:srgbClr val="C8C8C8"/>
            </a:solidFill>
          </a:ln>
          <a:effectLst/>
        </p:spPr>
      </p:cxnSp>
      <p:sp>
        <p:nvSpPr>
          <p:cNvPr id="7" name="Oval 6"/>
          <p:cNvSpPr/>
          <p:nvPr/>
        </p:nvSpPr>
        <p:spPr>
          <a:xfrm>
            <a:off x="685800" y="2862072"/>
            <a:ext cx="164592" cy="164592"/>
          </a:xfrm>
          <a:prstGeom prst="ellipse">
            <a:avLst/>
          </a:prstGeom>
          <a:solidFill>
            <a:srgbClr val="00A2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788920"/>
            <a:ext cx="5559552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555555"/>
                </a:solidFill>
                <a:latin typeface="Inter"/>
              </a:rPr>
              <a:t>DATA: WHICH RUNG?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78408" y="3657600"/>
            <a:ext cx="5559552" cy="0"/>
          </a:xfrm>
          <a:prstGeom prst="line">
            <a:avLst/>
          </a:prstGeom>
          <a:ln w="25400">
            <a:solidFill>
              <a:srgbClr val="C8C8C8"/>
            </a:solidFill>
          </a:ln>
          <a:effectLst/>
        </p:spPr>
      </p:cxnSp>
      <p:sp>
        <p:nvSpPr>
          <p:cNvPr id="10" name="Oval 9"/>
          <p:cNvSpPr/>
          <p:nvPr/>
        </p:nvSpPr>
        <p:spPr>
          <a:xfrm>
            <a:off x="685800" y="4050791"/>
            <a:ext cx="164592" cy="164592"/>
          </a:xfrm>
          <a:prstGeom prst="ellipse">
            <a:avLst/>
          </a:prstGeom>
          <a:solidFill>
            <a:srgbClr val="FF9300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3977639"/>
            <a:ext cx="5559552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555555"/>
                </a:solidFill>
                <a:latin typeface="Inter"/>
              </a:rPr>
              <a:t>ANALYSIS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78408" y="4846320"/>
            <a:ext cx="5559552" cy="0"/>
          </a:xfrm>
          <a:prstGeom prst="line">
            <a:avLst/>
          </a:prstGeom>
          <a:ln w="25400">
            <a:solidFill>
              <a:srgbClr val="C8C8C8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6766560" y="1143000"/>
            <a:ext cx="4739335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919191"/>
                </a:solidFill>
                <a:latin typeface="Inter"/>
              </a:rPr>
              <a:t>SARAH’S DATA LADDER  ·  BEST EVIDENCE FIRST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1554480"/>
            <a:ext cx="4739335" cy="731520"/>
          </a:xfrm>
          <a:prstGeom prst="roundRect">
            <a:avLst>
              <a:gd name="adj" fmla="val 15000"/>
            </a:avLst>
          </a:prstGeom>
          <a:solidFill>
            <a:srgbClr val="EDEDED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1554480"/>
            <a:ext cx="36576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919191"/>
                </a:solidFill>
                <a:latin typeface="Inter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3488" y="1554480"/>
            <a:ext cx="3916375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0" i="0">
                <a:solidFill>
                  <a:srgbClr val="111111"/>
                </a:solidFill>
                <a:latin typeface="Inter"/>
              </a:rPr>
              <a:t>Observe people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2423160"/>
            <a:ext cx="4739335" cy="731520"/>
          </a:xfrm>
          <a:prstGeom prst="roundRect">
            <a:avLst>
              <a:gd name="adj" fmla="val 15000"/>
            </a:avLst>
          </a:prstGeom>
          <a:solidFill>
            <a:srgbClr val="EDEDED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67728" y="2423160"/>
            <a:ext cx="36576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919191"/>
                </a:solidFill>
                <a:latin typeface="Inter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3488" y="2423160"/>
            <a:ext cx="3916375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0" i="0">
                <a:solidFill>
                  <a:srgbClr val="111111"/>
                </a:solidFill>
                <a:latin typeface="Inter"/>
              </a:rPr>
              <a:t>Traces in the wild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3291839"/>
            <a:ext cx="4739335" cy="731520"/>
          </a:xfrm>
          <a:prstGeom prst="roundRect">
            <a:avLst>
              <a:gd name="adj" fmla="val 15000"/>
            </a:avLst>
          </a:prstGeom>
          <a:solidFill>
            <a:srgbClr val="EDEDED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67728" y="3291839"/>
            <a:ext cx="36576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919191"/>
                </a:solidFill>
                <a:latin typeface="Inter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33488" y="3291839"/>
            <a:ext cx="3916375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0" i="0">
                <a:solidFill>
                  <a:srgbClr val="111111"/>
                </a:solidFill>
                <a:latin typeface="Inter"/>
              </a:rPr>
              <a:t>Tricks to avoid introspection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0" y="4160520"/>
            <a:ext cx="4739335" cy="731520"/>
          </a:xfrm>
          <a:prstGeom prst="roundRect">
            <a:avLst>
              <a:gd name="adj" fmla="val 15000"/>
            </a:avLst>
          </a:prstGeom>
          <a:solidFill>
            <a:srgbClr val="EDEDED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67728" y="4160520"/>
            <a:ext cx="36576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919191"/>
                </a:solidFill>
                <a:latin typeface="Inter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3488" y="4160520"/>
            <a:ext cx="3916375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0" i="0">
                <a:solidFill>
                  <a:srgbClr val="111111"/>
                </a:solidFill>
                <a:latin typeface="Inter"/>
              </a:rPr>
              <a:t>Self-report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4000" b="1" i="0">
                <a:solidFill>
                  <a:srgbClr val="111111"/>
                </a:solidFill>
                <a:latin typeface="Inter"/>
              </a:rPr>
              <a:t>Where it sits</a:t>
            </a:r>
          </a:p>
        </p:txBody>
      </p:sp>
      <p:sp>
        <p:nvSpPr>
          <p:cNvPr id="3" name="Oval 2"/>
          <p:cNvSpPr/>
          <p:nvPr/>
        </p:nvSpPr>
        <p:spPr>
          <a:xfrm>
            <a:off x="685800" y="1673351"/>
            <a:ext cx="164592" cy="164592"/>
          </a:xfrm>
          <a:prstGeom prst="ellipse">
            <a:avLst/>
          </a:prstGeom>
          <a:solidFill>
            <a:srgbClr val="FF2F92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1600200"/>
            <a:ext cx="5559552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555555"/>
                </a:solidFill>
                <a:latin typeface="Inter"/>
              </a:rPr>
              <a:t>RQ 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1984248"/>
            <a:ext cx="55595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11111"/>
                </a:solidFill>
                <a:latin typeface="Inter"/>
              </a:rPr>
              <a:t>Reconnaissance: what goes wrong?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2862072"/>
            <a:ext cx="164592" cy="164592"/>
          </a:xfrm>
          <a:prstGeom prst="ellipse">
            <a:avLst/>
          </a:prstGeom>
          <a:solidFill>
            <a:srgbClr val="00A2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788920"/>
            <a:ext cx="5559552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555555"/>
                </a:solidFill>
                <a:latin typeface="Inter"/>
              </a:rPr>
              <a:t>DATA: WHICH RUNG?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3172968"/>
            <a:ext cx="55595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11111"/>
                </a:solidFill>
                <a:latin typeface="Inter"/>
              </a:rPr>
              <a:t>Traces in the wild + self-report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4050791"/>
            <a:ext cx="164592" cy="164592"/>
          </a:xfrm>
          <a:prstGeom prst="ellipse">
            <a:avLst/>
          </a:prstGeom>
          <a:solidFill>
            <a:srgbClr val="FF9300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3977639"/>
            <a:ext cx="5559552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555555"/>
                </a:solidFill>
                <a:latin typeface="Inter"/>
              </a:rPr>
              <a:t>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4361688"/>
            <a:ext cx="55595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11111"/>
                </a:solidFill>
                <a:latin typeface="Inter"/>
              </a:rPr>
              <a:t>Counts, means, rankings,</a:t>
            </a:r>
            <a:br>
              <a:rPr sz="2400"/>
            </a:br>
            <a:r>
              <a:rPr sz="2400" b="0" i="0">
                <a:solidFill>
                  <a:srgbClr val="111111"/>
                </a:solidFill>
                <a:latin typeface="Inter"/>
              </a:rPr>
              <a:t>coded comments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143000"/>
            <a:ext cx="4739335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919191"/>
                </a:solidFill>
                <a:latin typeface="Inter"/>
              </a:rPr>
              <a:t>SARAH’S DATA LADDER  ·  BEST EVIDENCE FIRST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1554480"/>
            <a:ext cx="4739335" cy="731520"/>
          </a:xfrm>
          <a:prstGeom prst="roundRect">
            <a:avLst>
              <a:gd name="adj" fmla="val 15000"/>
            </a:avLst>
          </a:prstGeom>
          <a:solidFill>
            <a:srgbClr val="EDEDED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67728" y="1554480"/>
            <a:ext cx="36576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919191"/>
                </a:solidFill>
                <a:latin typeface="Inter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488" y="1554480"/>
            <a:ext cx="3916375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0" i="0">
                <a:solidFill>
                  <a:srgbClr val="111111"/>
                </a:solidFill>
                <a:latin typeface="Inter"/>
              </a:rPr>
              <a:t>Observe people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2423160"/>
            <a:ext cx="4739335" cy="731520"/>
          </a:xfrm>
          <a:prstGeom prst="roundRect">
            <a:avLst>
              <a:gd name="adj" fmla="val 15000"/>
            </a:avLst>
          </a:prstGeom>
          <a:solidFill>
            <a:srgbClr val="EDEDED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67728" y="2423160"/>
            <a:ext cx="36576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919191"/>
                </a:solidFill>
                <a:latin typeface="Inter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3488" y="2423160"/>
            <a:ext cx="3916375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0" i="0">
                <a:solidFill>
                  <a:srgbClr val="111111"/>
                </a:solidFill>
                <a:latin typeface="Inter"/>
              </a:rPr>
              <a:t>Traces in the wild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0" y="3291839"/>
            <a:ext cx="4739335" cy="731520"/>
          </a:xfrm>
          <a:prstGeom prst="roundRect">
            <a:avLst>
              <a:gd name="adj" fmla="val 15000"/>
            </a:avLst>
          </a:prstGeom>
          <a:solidFill>
            <a:srgbClr val="EDEDED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7728" y="3291839"/>
            <a:ext cx="36576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919191"/>
                </a:solidFill>
                <a:latin typeface="Inter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3488" y="3291839"/>
            <a:ext cx="3916375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0" i="0">
                <a:solidFill>
                  <a:srgbClr val="111111"/>
                </a:solidFill>
                <a:latin typeface="Inter"/>
              </a:rPr>
              <a:t>Tricks to avoid introspection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0" y="4160520"/>
            <a:ext cx="4739335" cy="731520"/>
          </a:xfrm>
          <a:prstGeom prst="roundRect">
            <a:avLst>
              <a:gd name="adj" fmla="val 15000"/>
            </a:avLst>
          </a:prstGeom>
          <a:solidFill>
            <a:srgbClr val="EDEDED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160520"/>
            <a:ext cx="36576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919191"/>
                </a:solidFill>
                <a:latin typeface="Inter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3488" y="4160520"/>
            <a:ext cx="3916375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0" i="0">
                <a:solidFill>
                  <a:srgbClr val="111111"/>
                </a:solidFill>
                <a:latin typeface="Inter"/>
              </a:rPr>
              <a:t>Self-report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47741" y="2606039"/>
            <a:ext cx="1811849" cy="365760"/>
          </a:xfrm>
          <a:prstGeom prst="roundRect">
            <a:avLst>
              <a:gd name="adj" fmla="val 50000"/>
            </a:avLst>
          </a:prstGeom>
          <a:solidFill>
            <a:srgbClr val="00A2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1400" b="1" i="0">
                <a:solidFill>
                  <a:srgbClr val="111111"/>
                </a:solidFill>
                <a:latin typeface="Inter"/>
              </a:rPr>
              <a:t>Stack Overflow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72721" y="4343400"/>
            <a:ext cx="108686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BBBBBB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1400" b="1" i="0">
                <a:solidFill>
                  <a:srgbClr val="555555"/>
                </a:solidFill>
                <a:latin typeface="Inter"/>
              </a:rPr>
              <a:t>Survey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669280"/>
            <a:ext cx="10820095" cy="658368"/>
          </a:xfrm>
          <a:prstGeom prst="roundRect">
            <a:avLst>
              <a:gd name="adj" fmla="val 19444"/>
            </a:avLst>
          </a:prstGeom>
          <a:solidFill>
            <a:srgbClr val="F6ECF8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769864"/>
            <a:ext cx="55245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400" b="0" i="0">
                <a:solidFill>
                  <a:srgbClr val="111111"/>
                </a:solidFill>
                <a:latin typeface="Inter"/>
              </a:rPr>
              <a:t>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12570" y="5669280"/>
            <a:ext cx="9719005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11111"/>
                </a:solidFill>
                <a:latin typeface="Inter"/>
              </a:rPr>
              <a:t>Pairs, 90 s: how would you </a:t>
            </a:r>
            <a:r>
              <a:rPr sz="2400" b="1" i="0">
                <a:solidFill>
                  <a:srgbClr val="111111"/>
                </a:solidFill>
                <a:latin typeface="Inter"/>
              </a:rPr>
              <a:t>observe</a:t>
            </a:r>
            <a:r>
              <a:rPr sz="2400" b="0" i="0">
                <a:solidFill>
                  <a:srgbClr val="111111"/>
                </a:solidFill>
                <a:latin typeface="Inter"/>
              </a:rPr>
              <a:t> “knows how to use Git”?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4864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Inter"/>
              </a:rPr>
              <a:t>SOLO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05695" y="54864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2000" b="1" i="0">
                <a:solidFill>
                  <a:srgbClr val="111111"/>
                </a:solidFill>
                <a:latin typeface="Inter"/>
              </a:rPr>
              <a:t>⏱  2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820095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4400" b="1" i="0">
                <a:solidFill>
                  <a:srgbClr val="111111"/>
                </a:solidFill>
                <a:latin typeface="Inter"/>
              </a:rPr>
              <a:t>One slip. Face down. Don’t compare.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40280"/>
            <a:ext cx="426720" cy="46469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9437FF"/>
                </a:solidFill>
                <a:latin typeface="Inter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2520" y="2240280"/>
            <a:ext cx="10393375" cy="4829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2800" b="0" i="0">
                <a:solidFill>
                  <a:srgbClr val="111111"/>
                </a:solidFill>
                <a:latin typeface="Inter"/>
              </a:rPr>
              <a:t>Flip your slip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96418"/>
            <a:ext cx="426720" cy="46469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9437FF"/>
                </a:solidFill>
                <a:latin typeface="Inter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2520" y="2796418"/>
            <a:ext cx="10393375" cy="4829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2800" b="0" i="0">
                <a:solidFill>
                  <a:srgbClr val="111111"/>
                </a:solidFill>
                <a:latin typeface="Inter"/>
              </a:rPr>
              <a:t>Answer it in one sentence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52556"/>
            <a:ext cx="426720" cy="46469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9437FF"/>
                </a:solidFill>
                <a:latin typeface="Inter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2520" y="3352556"/>
            <a:ext cx="10393375" cy="4829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2800" b="0" i="0">
                <a:solidFill>
                  <a:srgbClr val="111111"/>
                </a:solidFill>
                <a:latin typeface="Inter"/>
              </a:rPr>
              <a:t>Circle your Git level. Fold. Pass it 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548774"/>
            <a:ext cx="1082009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919191"/>
                </a:solidFill>
                <a:latin typeface="Inter"/>
              </a:rPr>
              <a:t>THE SCALE ON EVERY SLIP  ·  FROM THE PAPER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987686"/>
            <a:ext cx="1377751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8C8C8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2000" b="0" i="0">
                <a:solidFill>
                  <a:srgbClr val="555555"/>
                </a:solidFill>
                <a:latin typeface="Inter"/>
              </a:rPr>
              <a:t>Novice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46431" y="4987686"/>
            <a:ext cx="2886194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8C8C8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2000" b="0" i="0">
                <a:solidFill>
                  <a:srgbClr val="555555"/>
                </a:solidFill>
                <a:latin typeface="Inter"/>
              </a:rPr>
              <a:t>Advanced beginner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15505" y="4987686"/>
            <a:ext cx="1888251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8C8C8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2000" b="0" i="0">
                <a:solidFill>
                  <a:srgbClr val="555555"/>
                </a:solidFill>
                <a:latin typeface="Inter"/>
              </a:rPr>
              <a:t>Competent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86637" y="4987686"/>
            <a:ext cx="1694497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8C8C8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2000" b="0" i="0">
                <a:solidFill>
                  <a:srgbClr val="555555"/>
                </a:solidFill>
                <a:latin typeface="Inter"/>
              </a:rPr>
              <a:t>Proficient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64015" y="4987686"/>
            <a:ext cx="1335881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8C8C8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2000" b="0" i="0">
                <a:solidFill>
                  <a:srgbClr val="555555"/>
                </a:solidFill>
                <a:latin typeface="Inter"/>
              </a:rPr>
              <a:t>Expert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463040"/>
            <a:ext cx="108200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2400" b="0" i="0">
                <a:solidFill>
                  <a:srgbClr val="555555"/>
                </a:solidFill>
                <a:latin typeface="Inter"/>
              </a:rPr>
              <a:t>Our prediction, written before we 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194560"/>
            <a:ext cx="10820095" cy="1600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8000"/>
              </a:lnSpc>
            </a:pPr>
            <a:r>
              <a:rPr sz="4400" b="1" i="0">
                <a:solidFill>
                  <a:srgbClr val="111111"/>
                </a:solidFill>
                <a:latin typeface="Inter"/>
              </a:rPr>
              <a:t>Hard question first →</a:t>
            </a:r>
            <a:br>
              <a:rPr sz="4400"/>
            </a:br>
            <a:r>
              <a:rPr sz="4400" b="1" i="0">
                <a:solidFill>
                  <a:srgbClr val="111111"/>
                </a:solidFill>
                <a:latin typeface="Inter"/>
              </a:rPr>
              <a:t>lower median rating.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023360"/>
            <a:ext cx="108200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2400" b="0" i="0">
                <a:solidFill>
                  <a:srgbClr val="919191"/>
                </a:solidFill>
                <a:latin typeface="Inter"/>
              </a:rPr>
              <a:t>If the medians tie or flip, we were wrong.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Inter"/>
              </a:rPr>
              <a:t>Same room, same week, different question first.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8132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EDEDED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1500" b="1" i="0">
                <a:solidFill>
                  <a:srgbClr val="555555"/>
                </a:solidFill>
                <a:latin typeface="Inter"/>
              </a:rPr>
              <a:t>PAPER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1371600"/>
            <a:ext cx="9539935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400" b="0" i="0">
                <a:solidFill>
                  <a:srgbClr val="111111"/>
                </a:solidFill>
                <a:latin typeface="Inter"/>
              </a:rPr>
              <a:t>92 respondents (median 8 yrs of Git): </a:t>
            </a:r>
            <a:r>
              <a:rPr sz="2400" b="1" i="0">
                <a:solidFill>
                  <a:srgbClr val="111111"/>
                </a:solidFill>
                <a:latin typeface="Inter"/>
              </a:rPr>
              <a:t>14.1%</a:t>
            </a:r>
            <a:r>
              <a:rPr sz="2400" b="0" i="0">
                <a:solidFill>
                  <a:srgbClr val="111111"/>
                </a:solidFill>
                <a:latin typeface="Inter"/>
              </a:rPr>
              <a:t> rated Proficient+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39572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Inter"/>
              </a:rPr>
              <a:t>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65960" y="2286000"/>
            <a:ext cx="4544568" cy="2788920"/>
          </a:xfrm>
          <a:prstGeom prst="roundRect">
            <a:avLst>
              <a:gd name="adj" fmla="val 4590"/>
            </a:avLst>
          </a:prstGeom>
          <a:solidFill>
            <a:srgbClr val="FFFFFF"/>
          </a:solidFill>
          <a:ln w="15875">
            <a:solidFill>
              <a:srgbClr val="DDDDDD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40279" y="2487168"/>
            <a:ext cx="3995928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Inter"/>
              </a:rPr>
              <a:t>A  ·  </a:t>
            </a:r>
            <a:r>
              <a:rPr sz="2200" b="1" i="0">
                <a:solidFill>
                  <a:srgbClr val="9437FF"/>
                </a:solidFill>
                <a:latin typeface="Noto Sans Mono"/>
              </a:rPr>
              <a:t>rebase</a:t>
            </a:r>
            <a:r>
              <a:rPr sz="2200" b="0" i="0">
                <a:solidFill>
                  <a:srgbClr val="111111"/>
                </a:solidFill>
                <a:latin typeface="Inter"/>
              </a:rPr>
              <a:t> question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79" y="3063240"/>
            <a:ext cx="3995928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919191"/>
                </a:solidFill>
                <a:latin typeface="Inter"/>
              </a:rPr>
              <a:t>MEDIAN SELF-RATING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79" y="3474720"/>
            <a:ext cx="3995928" cy="8686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4800" b="1" i="0">
                <a:solidFill>
                  <a:srgbClr val="111111"/>
                </a:solidFill>
                <a:latin typeface="Inter"/>
              </a:rPr>
              <a:t>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79" y="4507992"/>
            <a:ext cx="3995928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919191"/>
                </a:solidFill>
                <a:latin typeface="Inter"/>
              </a:rPr>
              <a:t>n ≈ 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84848" y="2286000"/>
            <a:ext cx="4544568" cy="2788920"/>
          </a:xfrm>
          <a:prstGeom prst="roundRect">
            <a:avLst>
              <a:gd name="adj" fmla="val 4590"/>
            </a:avLst>
          </a:prstGeom>
          <a:solidFill>
            <a:srgbClr val="FFFFFF"/>
          </a:solidFill>
          <a:ln w="15875">
            <a:solidFill>
              <a:srgbClr val="DDDDDD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59168" y="2487168"/>
            <a:ext cx="3995928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Inter"/>
              </a:rPr>
              <a:t>B  ·  </a:t>
            </a:r>
            <a:r>
              <a:rPr sz="2200" b="1" i="0">
                <a:solidFill>
                  <a:srgbClr val="9437FF"/>
                </a:solidFill>
                <a:latin typeface="Noto Sans Mono"/>
              </a:rPr>
              <a:t>add</a:t>
            </a:r>
            <a:r>
              <a:rPr sz="2200" b="0" i="0">
                <a:solidFill>
                  <a:srgbClr val="111111"/>
                </a:solidFill>
                <a:latin typeface="Inter"/>
              </a:rPr>
              <a:t> question 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9168" y="3063240"/>
            <a:ext cx="3995928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919191"/>
                </a:solidFill>
                <a:latin typeface="Inter"/>
              </a:rPr>
              <a:t>MEDIAN SELF-RATING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9168" y="3474720"/>
            <a:ext cx="3995928" cy="8686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4800" b="1" i="0">
                <a:solidFill>
                  <a:srgbClr val="111111"/>
                </a:solidFill>
                <a:latin typeface="Inter"/>
              </a:rPr>
              <a:t>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9168" y="4507992"/>
            <a:ext cx="3995928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919191"/>
                </a:solidFill>
                <a:latin typeface="Inter"/>
              </a:rPr>
              <a:t>n ≈ 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669280"/>
            <a:ext cx="10820095" cy="658368"/>
          </a:xfrm>
          <a:prstGeom prst="roundRect">
            <a:avLst>
              <a:gd name="adj" fmla="val 19444"/>
            </a:avLst>
          </a:prstGeom>
          <a:solidFill>
            <a:srgbClr val="F6ECF8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769864"/>
            <a:ext cx="55245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400" b="0" i="0">
                <a:solidFill>
                  <a:srgbClr val="111111"/>
                </a:solidFill>
                <a:latin typeface="Inter"/>
              </a:rPr>
              <a:t>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12570" y="5669280"/>
            <a:ext cx="9719005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11111"/>
                </a:solidFill>
                <a:latin typeface="Inter"/>
              </a:rPr>
              <a:t>n ≈ 6 per group: what would it take for you to believe this?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4864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Inter"/>
              </a:rPr>
              <a:t>TEAMS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778425" y="548640"/>
            <a:ext cx="1727469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2000" b="1" i="0">
                <a:solidFill>
                  <a:srgbClr val="111111"/>
                </a:solidFill>
                <a:latin typeface="Inter"/>
              </a:rPr>
              <a:t>⏱  10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820095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4400" b="1" i="0">
                <a:solidFill>
                  <a:srgbClr val="111111"/>
                </a:solidFill>
                <a:latin typeface="Inter"/>
              </a:rPr>
              <a:t>Claim Court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38528"/>
            <a:ext cx="108200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0" i="0">
                <a:solidFill>
                  <a:srgbClr val="555555"/>
                </a:solidFill>
                <a:latin typeface="Inter"/>
              </a:rPr>
              <a:t>One headline claim per court. On the claim card: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426720" cy="46469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9437FF"/>
                </a:solidFill>
                <a:latin typeface="Inter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2520" y="2651760"/>
            <a:ext cx="10393375" cy="4829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2800" b="0" i="0">
                <a:solidFill>
                  <a:srgbClr val="111111"/>
                </a:solidFill>
                <a:latin typeface="Inter"/>
              </a:rPr>
              <a:t>What did they actually measure?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07898"/>
            <a:ext cx="426720" cy="46469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9437FF"/>
                </a:solidFill>
                <a:latin typeface="Inter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2520" y="3207898"/>
            <a:ext cx="10393375" cy="4829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2800" b="0" i="0">
                <a:solidFill>
                  <a:srgbClr val="111111"/>
                </a:solidFill>
                <a:latin typeface="Inter"/>
              </a:rPr>
              <a:t>One other explanation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64036"/>
            <a:ext cx="426720" cy="46469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9437FF"/>
                </a:solidFill>
                <a:latin typeface="Inter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2520" y="3764036"/>
            <a:ext cx="10393375" cy="4829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2800" b="0" i="0">
                <a:solidFill>
                  <a:srgbClr val="111111"/>
                </a:solidFill>
                <a:latin typeface="Inter"/>
              </a:rPr>
              <a:t>Verdict: </a:t>
            </a:r>
            <a:r>
              <a:rPr sz="2800" b="1" i="0">
                <a:solidFill>
                  <a:srgbClr val="111111"/>
                </a:solidFill>
                <a:latin typeface="Inter"/>
              </a:rPr>
              <a:t>BELIEVE · WEAKER (write it) · OBJECTION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434840"/>
            <a:ext cx="10820095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0" i="0">
                <a:solidFill>
                  <a:srgbClr val="555555"/>
                </a:solidFill>
                <a:latin typeface="Inter"/>
              </a:rPr>
              <a:t>Minute 5: write your “Measured:” line on the board.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230368"/>
            <a:ext cx="3456432" cy="566928"/>
          </a:xfrm>
          <a:prstGeom prst="roundRect">
            <a:avLst>
              <a:gd name="adj" fmla="val 19354"/>
            </a:avLst>
          </a:prstGeom>
          <a:solidFill>
            <a:srgbClr val="FF2F92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1800" b="1" i="0">
                <a:solidFill>
                  <a:srgbClr val="111111"/>
                </a:solidFill>
                <a:latin typeface="Inter"/>
              </a:rPr>
              <a:t>Pink  ·  Research question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5230368"/>
            <a:ext cx="3456432" cy="566928"/>
          </a:xfrm>
          <a:prstGeom prst="roundRect">
            <a:avLst>
              <a:gd name="adj" fmla="val 19354"/>
            </a:avLst>
          </a:prstGeom>
          <a:solidFill>
            <a:srgbClr val="00A2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1800" b="1" i="0">
                <a:solidFill>
                  <a:srgbClr val="111111"/>
                </a:solidFill>
                <a:latin typeface="Inter"/>
              </a:rPr>
              <a:t>Blue  · 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5230368"/>
            <a:ext cx="3456432" cy="566928"/>
          </a:xfrm>
          <a:prstGeom prst="roundRect">
            <a:avLst>
              <a:gd name="adj" fmla="val 19354"/>
            </a:avLst>
          </a:prstGeom>
          <a:solidFill>
            <a:srgbClr val="FF9300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1800" b="1" i="0">
                <a:solidFill>
                  <a:srgbClr val="111111"/>
                </a:solidFill>
                <a:latin typeface="Inter"/>
              </a:rPr>
              <a:t>Orange  ·  Analysis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48640"/>
            <a:ext cx="2011680" cy="438912"/>
          </a:xfrm>
          <a:prstGeom prst="roundRect">
            <a:avLst>
              <a:gd name="adj" fmla="val 50000"/>
            </a:avLst>
          </a:prstGeom>
          <a:solidFill>
            <a:srgbClr val="9437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Inter"/>
              </a:rPr>
              <a:t>📊  Live poll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15568"/>
            <a:ext cx="10820095" cy="685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4400" b="1" i="0">
                <a:solidFill>
                  <a:srgbClr val="111111"/>
                </a:solidFill>
                <a:latin typeface="Inter"/>
              </a:rPr>
              <a:t>Court is in session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47088"/>
            <a:ext cx="1082009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400" b="0" i="0">
                <a:solidFill>
                  <a:srgbClr val="555555"/>
                </a:solidFill>
                <a:latin typeface="Inter"/>
              </a:rPr>
              <a:t>Jury: how much do you believe it? 1–5 → Menti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468880"/>
            <a:ext cx="3456432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468880"/>
            <a:ext cx="3456432" cy="73152"/>
          </a:xfrm>
          <a:prstGeom prst="rect">
            <a:avLst/>
          </a:prstGeom>
          <a:solidFill>
            <a:srgbClr val="FF2F92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24912"/>
            <a:ext cx="299923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555555"/>
                </a:solidFill>
                <a:latin typeface="Inter"/>
              </a:rPr>
              <a:t>PINK COURT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45536"/>
            <a:ext cx="2999232" cy="2423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1">
                <a:solidFill>
                  <a:srgbClr val="111111"/>
                </a:solidFill>
                <a:latin typeface="Inter"/>
              </a:rPr>
              <a:t>“even developers with years of development experience can have trouble using Git commands”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23560"/>
            <a:ext cx="299923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919191"/>
                </a:solidFill>
                <a:latin typeface="Inter"/>
              </a:rPr>
              <a:t>p.13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2468880"/>
            <a:ext cx="3456432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2468880"/>
            <a:ext cx="3456432" cy="73152"/>
          </a:xfrm>
          <a:prstGeom prst="rect">
            <a:avLst/>
          </a:prstGeom>
          <a:solidFill>
            <a:srgbClr val="00A2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2724912"/>
            <a:ext cx="299923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555555"/>
                </a:solidFill>
                <a:latin typeface="Inter"/>
              </a:rPr>
              <a:t>BLUE COURT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3145536"/>
            <a:ext cx="2999232" cy="2423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1">
                <a:solidFill>
                  <a:srgbClr val="111111"/>
                </a:solidFill>
                <a:latin typeface="Inter"/>
              </a:rPr>
              <a:t>“self-learning is the primary way for developers to learn to use Git commands”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5623560"/>
            <a:ext cx="299923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919191"/>
                </a:solidFill>
                <a:latin typeface="Inter"/>
              </a:rPr>
              <a:t>p.20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468880"/>
            <a:ext cx="3456432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468880"/>
            <a:ext cx="3456432" cy="73152"/>
          </a:xfrm>
          <a:prstGeom prst="rect">
            <a:avLst/>
          </a:prstGeom>
          <a:solidFill>
            <a:srgbClr val="FF9300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724912"/>
            <a:ext cx="299923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555555"/>
                </a:solidFill>
                <a:latin typeface="Inter"/>
              </a:rPr>
              <a:t>ORANGE COURT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145536"/>
            <a:ext cx="2999232" cy="2423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1">
                <a:solidFill>
                  <a:srgbClr val="111111"/>
                </a:solidFill>
                <a:latin typeface="Inter"/>
              </a:rPr>
              <a:t>“Git commands … about recovery are among the most popular commands asked on Stack Overflow”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5623560"/>
            <a:ext cx="299923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919191"/>
                </a:solidFill>
                <a:latin typeface="Inter"/>
              </a:rPr>
              <a:t>p.15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4000" b="1" i="0">
                <a:solidFill>
                  <a:srgbClr val="111111"/>
                </a:solidFill>
                <a:latin typeface="Inter"/>
              </a:rPr>
              <a:t>Claimed vs measured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35661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919191"/>
                </a:solidFill>
                <a:latin typeface="Inter"/>
              </a:rPr>
              <a:t>THEY SAID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34840" y="1417320"/>
            <a:ext cx="7068312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919191"/>
                </a:solidFill>
                <a:latin typeface="Inter"/>
              </a:rPr>
              <a:t>THEY MEASURED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828800"/>
            <a:ext cx="10817352" cy="0"/>
          </a:xfrm>
          <a:prstGeom prst="line">
            <a:avLst/>
          </a:prstGeom>
          <a:ln w="12700">
            <a:solidFill>
              <a:srgbClr val="E3E3E3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685800" y="1828800"/>
            <a:ext cx="3566160" cy="7680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11111"/>
                </a:solidFill>
                <a:latin typeface="Inter"/>
              </a:rPr>
              <a:t>“difficult”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840" y="1828800"/>
            <a:ext cx="7068312" cy="7680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555555"/>
                </a:solidFill>
                <a:latin typeface="Inter"/>
              </a:rPr>
              <a:t>% with no accepted answer (n can be 1)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2596896"/>
            <a:ext cx="10817352" cy="0"/>
          </a:xfrm>
          <a:prstGeom prst="line">
            <a:avLst/>
          </a:prstGeom>
          <a:ln w="12700">
            <a:solidFill>
              <a:srgbClr val="E3E3E3"/>
            </a:solidFill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685800" y="2596896"/>
            <a:ext cx="3566160" cy="7680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11111"/>
                </a:solidFill>
                <a:latin typeface="Inter"/>
              </a:rPr>
              <a:t>“experienced”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596896"/>
            <a:ext cx="7068312" cy="7680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555555"/>
                </a:solidFill>
                <a:latin typeface="Inter"/>
              </a:rPr>
              <a:t>years since joining Stack Overflow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3364991"/>
            <a:ext cx="10817352" cy="0"/>
          </a:xfrm>
          <a:prstGeom prst="line">
            <a:avLst/>
          </a:prstGeom>
          <a:ln w="12700">
            <a:solidFill>
              <a:srgbClr val="E3E3E3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685800" y="3364991"/>
            <a:ext cx="3566160" cy="7680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11111"/>
                </a:solidFill>
                <a:latin typeface="Inter"/>
              </a:rPr>
              <a:t>“how developers learn”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364991"/>
            <a:ext cx="7068312" cy="7680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555555"/>
                </a:solidFill>
                <a:latin typeface="Inter"/>
              </a:rPr>
              <a:t>multi-select picks from 92 recent SO askers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4133087"/>
            <a:ext cx="10817352" cy="0"/>
          </a:xfrm>
          <a:prstGeom prst="line">
            <a:avLst/>
          </a:prstGeom>
          <a:ln w="12700">
            <a:solidFill>
              <a:srgbClr val="E3E3E3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685800" y="4133087"/>
            <a:ext cx="3566160" cy="920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11111"/>
                </a:solidFill>
                <a:latin typeface="Inter"/>
              </a:rPr>
              <a:t>“popular”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4133087"/>
            <a:ext cx="7068312" cy="920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555555"/>
                </a:solidFill>
                <a:latin typeface="Inter"/>
              </a:rPr>
              <a:t>mean views, credited to</a:t>
            </a:r>
            <a:br>
              <a:rPr sz="2400"/>
            </a:br>
            <a:r>
              <a:rPr sz="2400" b="0" i="0">
                <a:solidFill>
                  <a:srgbClr val="555555"/>
                </a:solidFill>
                <a:latin typeface="Inter"/>
              </a:rPr>
              <a:t>every command in the post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5053888"/>
            <a:ext cx="10817352" cy="0"/>
          </a:xfrm>
          <a:prstGeom prst="line">
            <a:avLst/>
          </a:prstGeom>
          <a:ln w="12700">
            <a:solidFill>
              <a:srgbClr val="E3E3E3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685800" y="5373928"/>
            <a:ext cx="10820095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Inter"/>
              </a:rPr>
              <a:t>80,370 rows can’t fix a weak proxy.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2F9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935480"/>
            <a:ext cx="10820095" cy="1935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0" i="0">
                <a:solidFill>
                  <a:srgbClr val="111111"/>
                </a:solidFill>
                <a:latin typeface="Inter"/>
              </a:rPr>
              <a:t>Is the research question</a:t>
            </a:r>
            <a:br>
              <a:rPr sz="6000"/>
            </a:br>
            <a:r>
              <a:rPr sz="6000" b="0" i="0">
                <a:solidFill>
                  <a:srgbClr val="111111"/>
                </a:solidFill>
                <a:latin typeface="Inter"/>
              </a:rPr>
              <a:t>even interesting?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053840"/>
            <a:ext cx="10820095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800" b="0" i="0">
                <a:solidFill>
                  <a:srgbClr val="111111"/>
                </a:solidFill>
                <a:latin typeface="Inter"/>
              </a:rPr>
              <a:t>They counted commands. People have goals.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4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691640"/>
            <a:ext cx="10820095" cy="11887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200" b="0" i="0">
                <a:solidFill>
                  <a:srgbClr val="111111"/>
                </a:solidFill>
                <a:latin typeface="Inter"/>
              </a:rPr>
              <a:t>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880360"/>
            <a:ext cx="10820095" cy="10515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6000" b="1" i="0">
                <a:solidFill>
                  <a:srgbClr val="111111"/>
                </a:solidFill>
                <a:latin typeface="Inter"/>
              </a:rPr>
              <a:t>4-minute break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023360"/>
            <a:ext cx="10820095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2800" b="0" i="0">
                <a:solidFill>
                  <a:srgbClr val="111111"/>
                </a:solidFill>
                <a:latin typeface="Inter"/>
              </a:rPr>
              <a:t>Back at __:__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4000" b="1" i="0">
                <a:solidFill>
                  <a:srgbClr val="111111"/>
                </a:solidFill>
                <a:latin typeface="Inter"/>
              </a:rPr>
              <a:t>Git listened (sometimes).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212080" y="1325880"/>
            <a:ext cx="0" cy="3813048"/>
          </a:xfrm>
          <a:prstGeom prst="line">
            <a:avLst/>
          </a:prstGeom>
          <a:ln w="12700">
            <a:solidFill>
              <a:srgbClr val="E3E3E3"/>
            </a:solidFill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685800" y="1280160"/>
            <a:ext cx="42519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111111"/>
                </a:solidFill>
                <a:latin typeface="Inter"/>
              </a:rPr>
              <a:t>Split the verb  ·  Git 2.23 (2019)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31536" y="1280160"/>
            <a:ext cx="6074359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111111"/>
                </a:solidFill>
                <a:latin typeface="Inter"/>
              </a:rPr>
              <a:t>Make you choose  ·  Git 2.34, Tuesday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85900" y="1874519"/>
            <a:ext cx="2651760" cy="676656"/>
          </a:xfrm>
          <a:prstGeom prst="roundRect">
            <a:avLst>
              <a:gd name="adj" fmla="val 13513"/>
            </a:avLst>
          </a:prstGeom>
          <a:solidFill>
            <a:srgbClr val="EDEDED"/>
          </a:solidFill>
          <a:ln w="12700">
            <a:solidFill>
              <a:srgbClr val="DDDDDD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2400" b="1" i="0">
                <a:solidFill>
                  <a:srgbClr val="555555"/>
                </a:solidFill>
                <a:latin typeface="Noto Sans Mono"/>
              </a:rPr>
              <a:t>git checkout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1691640" y="2596896"/>
            <a:ext cx="800100" cy="45720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  <a:effectLst/>
        </p:spPr>
      </p:cxnSp>
      <p:sp>
        <p:nvSpPr>
          <p:cNvPr id="8" name="Rounded Rectangle 7"/>
          <p:cNvSpPr/>
          <p:nvPr/>
        </p:nvSpPr>
        <p:spPr>
          <a:xfrm>
            <a:off x="685800" y="310896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9437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Noto Sans Mono"/>
              </a:rPr>
              <a:t>git switch</a:t>
            </a:r>
          </a:p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FFFFFF"/>
                </a:solidFill>
                <a:latin typeface="Noto Sans Mono"/>
              </a:rPr>
              <a:t>&lt;branch&gt;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31820" y="2596896"/>
            <a:ext cx="800100" cy="45720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  <a:effectLst/>
        </p:spPr>
      </p:cxnSp>
      <p:sp>
        <p:nvSpPr>
          <p:cNvPr id="10" name="Rounded Rectangle 9"/>
          <p:cNvSpPr/>
          <p:nvPr/>
        </p:nvSpPr>
        <p:spPr>
          <a:xfrm>
            <a:off x="2926080" y="310896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9437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Noto Sans Mono"/>
              </a:rPr>
              <a:t>git restore</a:t>
            </a:r>
          </a:p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FFFFFF"/>
                </a:solidFill>
                <a:latin typeface="Noto Sans Mono"/>
              </a:rPr>
              <a:t>&lt;file&gt;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279392"/>
            <a:ext cx="42519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2000" b="0" i="0">
                <a:solidFill>
                  <a:srgbClr val="555555"/>
                </a:solidFill>
                <a:latin typeface="Inter"/>
              </a:rPr>
              <a:t>Their own quote: </a:t>
            </a:r>
            <a:r>
              <a:rPr sz="2000" b="0" i="1">
                <a:solidFill>
                  <a:srgbClr val="111111"/>
                </a:solidFill>
                <a:latin typeface="Inter"/>
              </a:rPr>
              <a:t>“What exactly does git checkout [file] do?”</a:t>
            </a:r>
            <a:r>
              <a:rPr sz="2000" b="0" i="0">
                <a:solidFill>
                  <a:srgbClr val="919191"/>
                </a:solidFill>
                <a:latin typeface="Inter"/>
              </a:rPr>
              <a:t> (p.13)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31536" y="1783080"/>
            <a:ext cx="6074359" cy="3108960"/>
          </a:xfrm>
          <a:prstGeom prst="roundRect">
            <a:avLst>
              <a:gd name="adj" fmla="val 4705"/>
            </a:avLst>
          </a:prstGeom>
          <a:solidFill>
            <a:srgbClr val="16181D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60136" y="1965960"/>
            <a:ext cx="137160" cy="137160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88736" y="1965960"/>
            <a:ext cx="137160" cy="137160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17336" y="1965960"/>
            <a:ext cx="137160" cy="13716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05856" y="2313432"/>
            <a:ext cx="5571439" cy="2468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340"/>
              </a:lnSpc>
            </a:pPr>
            <a:r>
              <a:rPr sz="1800" b="0" i="0">
                <a:solidFill>
                  <a:srgbClr val="7C8594"/>
                </a:solidFill>
                <a:latin typeface="Noto Sans Mono"/>
              </a:rPr>
              <a:t>$ </a:t>
            </a:r>
            <a:r>
              <a:rPr sz="1800" b="0" i="0">
                <a:solidFill>
                  <a:srgbClr val="F5F5F5"/>
                </a:solidFill>
                <a:latin typeface="Noto Sans Mono"/>
              </a:rPr>
              <a:t>git pull</a:t>
            </a:r>
          </a:p>
          <a:p>
            <a:pPr algn="l">
              <a:lnSpc>
                <a:spcPts val="2340"/>
              </a:lnSpc>
            </a:pPr>
            <a:r>
              <a:rPr sz="1800" b="0" i="0">
                <a:solidFill>
                  <a:srgbClr val="A9B1BD"/>
                </a:solidFill>
                <a:latin typeface="Noto Sans Mono"/>
              </a:rPr>
              <a:t>hint: You have divergent branches and</a:t>
            </a:r>
          </a:p>
          <a:p>
            <a:pPr algn="l">
              <a:lnSpc>
                <a:spcPts val="2340"/>
              </a:lnSpc>
            </a:pPr>
            <a:r>
              <a:rPr sz="1800" b="0" i="0">
                <a:solidFill>
                  <a:srgbClr val="A9B1BD"/>
                </a:solidFill>
                <a:latin typeface="Noto Sans Mono"/>
              </a:rPr>
              <a:t>need to specify how to reconcile them.</a:t>
            </a:r>
          </a:p>
          <a:p>
            <a:pPr algn="l">
              <a:lnSpc>
                <a:spcPts val="2340"/>
              </a:lnSpc>
            </a:pPr>
            <a:r>
              <a:rPr sz="1800" b="0" i="0">
                <a:solidFill>
                  <a:srgbClr val="C792EA"/>
                </a:solidFill>
                <a:latin typeface="Noto Sans Mono"/>
              </a:rPr>
              <a:t>git config pull.rebase false  # merge</a:t>
            </a:r>
          </a:p>
          <a:p>
            <a:pPr algn="l">
              <a:lnSpc>
                <a:spcPts val="2340"/>
              </a:lnSpc>
            </a:pPr>
            <a:r>
              <a:rPr sz="1800" b="0" i="0">
                <a:solidFill>
                  <a:srgbClr val="C792EA"/>
                </a:solidFill>
                <a:latin typeface="Noto Sans Mono"/>
              </a:rPr>
              <a:t>git config pull.rebase true   # rebase</a:t>
            </a:r>
          </a:p>
          <a:p>
            <a:pPr algn="l">
              <a:lnSpc>
                <a:spcPts val="2340"/>
              </a:lnSpc>
            </a:pPr>
            <a:r>
              <a:rPr sz="1800" b="0" i="0">
                <a:solidFill>
                  <a:srgbClr val="C792EA"/>
                </a:solidFill>
                <a:latin typeface="Noto Sans Mono"/>
              </a:rPr>
              <a:t>git config pull.ff only       # ff only</a:t>
            </a:r>
          </a:p>
          <a:p>
            <a:pPr algn="l">
              <a:lnSpc>
                <a:spcPts val="2340"/>
              </a:lnSpc>
            </a:pPr>
            <a:r>
              <a:rPr sz="1800" b="0" i="0">
                <a:solidFill>
                  <a:srgbClr val="FF6B6B"/>
                </a:solidFill>
                <a:latin typeface="Noto Sans Mono"/>
              </a:rPr>
              <a:t>fatal: Need to specify how to</a:t>
            </a:r>
          </a:p>
          <a:p>
            <a:pPr algn="l">
              <a:lnSpc>
                <a:spcPts val="2340"/>
              </a:lnSpc>
            </a:pPr>
            <a:r>
              <a:rPr sz="1800" b="0" i="0">
                <a:solidFill>
                  <a:srgbClr val="FF6B6B"/>
                </a:solidFill>
                <a:latin typeface="Noto Sans Mono"/>
              </a:rPr>
              <a:t>reconcile divergent branches.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669280"/>
            <a:ext cx="10820095" cy="658368"/>
          </a:xfrm>
          <a:prstGeom prst="roundRect">
            <a:avLst>
              <a:gd name="adj" fmla="val 19444"/>
            </a:avLst>
          </a:prstGeom>
          <a:solidFill>
            <a:srgbClr val="F6ECF8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769864"/>
            <a:ext cx="55245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400" b="0" i="0">
                <a:solidFill>
                  <a:srgbClr val="111111"/>
                </a:solidFill>
                <a:latin typeface="Inter"/>
              </a:rPr>
              <a:t>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2570" y="5669280"/>
            <a:ext cx="9719005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11111"/>
                </a:solidFill>
                <a:latin typeface="Inter"/>
              </a:rPr>
              <a:t>Which fix is better design, and what study would tell you?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4864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Inter"/>
              </a:rPr>
              <a:t>TEAMS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05695" y="54864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2000" b="1" i="0">
                <a:solidFill>
                  <a:srgbClr val="111111"/>
                </a:solidFill>
                <a:latin typeface="Inter"/>
              </a:rPr>
              <a:t>⏱  7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820095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4400" b="1" i="0">
                <a:solidFill>
                  <a:srgbClr val="111111"/>
                </a:solidFill>
                <a:latin typeface="Inter"/>
              </a:rPr>
              <a:t>Design sprint: fix one finding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93392"/>
            <a:ext cx="6263640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2200" b="0" i="0">
                <a:solidFill>
                  <a:srgbClr val="555555"/>
                </a:solidFill>
                <a:latin typeface="Inter"/>
              </a:rPr>
              <a:t>Flip your finding card. One index card. Each person owns one line and initials it: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80360"/>
            <a:ext cx="365759" cy="398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9437FF"/>
                </a:solidFill>
                <a:latin typeface="Inter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880360"/>
            <a:ext cx="5897879" cy="41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>
                <a:solidFill>
                  <a:srgbClr val="111111"/>
                </a:solidFill>
                <a:latin typeface="Inter"/>
              </a:rPr>
              <a:t>Sketch what the user sees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60968"/>
            <a:ext cx="365759" cy="398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9437FF"/>
                </a:solidFill>
                <a:latin typeface="Inter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360968"/>
            <a:ext cx="5897879" cy="41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>
                <a:solidFill>
                  <a:srgbClr val="111111"/>
                </a:solidFill>
                <a:latin typeface="Inter"/>
              </a:rPr>
              <a:t>It fixes ___ because 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841577"/>
            <a:ext cx="365759" cy="398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9437FF"/>
                </a:solidFill>
                <a:latin typeface="Inter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841577"/>
            <a:ext cx="5897879" cy="41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>
                <a:solidFill>
                  <a:srgbClr val="111111"/>
                </a:solidFill>
                <a:latin typeface="Inter"/>
              </a:rPr>
              <a:t>Does ___ reduce ___ for ___ doing ___?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322185"/>
            <a:ext cx="365759" cy="398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9437FF"/>
                </a:solidFill>
                <a:latin typeface="Inter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322185"/>
            <a:ext cx="5897879" cy="81491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>
                <a:solidFill>
                  <a:srgbClr val="111111"/>
                </a:solidFill>
                <a:latin typeface="Inter"/>
              </a:rPr>
              <a:t>How you’d measure it</a:t>
            </a:r>
            <a:br>
              <a:rPr sz="2400"/>
            </a:br>
            <a:r>
              <a:rPr sz="2400" b="0" i="0">
                <a:solidFill>
                  <a:srgbClr val="111111"/>
                </a:solidFill>
                <a:latin typeface="Inter"/>
              </a:rPr>
              <a:t>(logged or observed)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440680"/>
            <a:ext cx="10820095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0" i="0">
                <a:solidFill>
                  <a:srgbClr val="555555"/>
                </a:solidFill>
                <a:latin typeface="Inter"/>
              </a:rPr>
              <a:t>60-second pitch  ·  next team asks one Reviewer-2 question</a:t>
            </a:r>
          </a:p>
        </p:txBody>
      </p:sp>
      <p:sp>
        <p:nvSpPr>
          <p:cNvPr id="15" name="Rounded Rectangle 14"/>
          <p:cNvSpPr/>
          <p:nvPr/>
        </p:nvSpPr>
        <p:spPr>
          <a:xfrm rot="21240000">
            <a:off x="7324344" y="2811779"/>
            <a:ext cx="1298448" cy="1874519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 w="19050">
            <a:solidFill>
              <a:srgbClr val="1F1F1F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16" name="Circular Arrow 15"/>
          <p:cNvSpPr/>
          <p:nvPr/>
        </p:nvSpPr>
        <p:spPr>
          <a:xfrm rot="21240000" flipH="1">
            <a:off x="7664016" y="3373081"/>
            <a:ext cx="603504" cy="603504"/>
          </a:xfrm>
          <a:prstGeom prst="circularArrow">
            <a:avLst>
              <a:gd name="adj1" fmla="val 13000"/>
              <a:gd name="adj2" fmla="val 1800000"/>
              <a:gd name="adj3" fmla="val 20457681"/>
              <a:gd name="adj4" fmla="val 10800000"/>
              <a:gd name="adj5" fmla="val 20000"/>
            </a:avLst>
          </a:prstGeom>
          <a:solidFill>
            <a:srgbClr val="111111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 rot="21240000">
            <a:off x="7381692" y="4130082"/>
            <a:ext cx="1298448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111111"/>
                </a:solidFill>
                <a:latin typeface="Inter"/>
              </a:rPr>
              <a:t>RECOVERY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14232" y="2720340"/>
            <a:ext cx="1298448" cy="1874519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 w="19050">
            <a:solidFill>
              <a:srgbClr val="1F1F1F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 rot="19320000">
            <a:off x="9067739" y="3417021"/>
            <a:ext cx="386242" cy="199156"/>
          </a:xfrm>
          <a:prstGeom prst="roundRect">
            <a:avLst>
              <a:gd name="adj" fmla="val 50000"/>
            </a:avLst>
          </a:prstGeom>
          <a:noFill/>
          <a:ln w="35204">
            <a:solidFill>
              <a:srgbClr val="111111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 rot="19320000">
            <a:off x="9272930" y="3260110"/>
            <a:ext cx="386242" cy="199156"/>
          </a:xfrm>
          <a:prstGeom prst="roundRect">
            <a:avLst>
              <a:gd name="adj" fmla="val 50000"/>
            </a:avLst>
          </a:prstGeom>
          <a:noFill/>
          <a:ln w="35204">
            <a:solidFill>
              <a:srgbClr val="111111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4041648"/>
            <a:ext cx="1298448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111111"/>
                </a:solidFill>
                <a:latin typeface="Inter"/>
              </a:rPr>
              <a:t>COMBOS</a:t>
            </a:r>
          </a:p>
        </p:txBody>
      </p:sp>
      <p:sp>
        <p:nvSpPr>
          <p:cNvPr id="22" name="Rounded Rectangle 21"/>
          <p:cNvSpPr/>
          <p:nvPr/>
        </p:nvSpPr>
        <p:spPr>
          <a:xfrm rot="360000">
            <a:off x="10104120" y="2811779"/>
            <a:ext cx="1298448" cy="1874519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 w="19050">
            <a:solidFill>
              <a:srgbClr val="1F1F1F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10461044" y="3307181"/>
            <a:ext cx="311111" cy="425780"/>
          </a:xfrm>
          <a:custGeom>
            <a:avLst/>
            <a:gdLst/>
            <a:ahLst/>
            <a:cxnLst/>
            <a:rect l="l" t="t" r="r" b="b"/>
            <a:pathLst>
              <a:path w="311111" h="425780">
                <a:moveTo>
                  <a:pt x="311111" y="89669"/>
                </a:moveTo>
                <a:lnTo>
                  <a:pt x="35327" y="0"/>
                </a:lnTo>
                <a:lnTo>
                  <a:pt x="0" y="336111"/>
                </a:lnTo>
                <a:lnTo>
                  <a:pt x="275785" y="425780"/>
                </a:lnTo>
                <a:close/>
              </a:path>
            </a:pathLst>
          </a:custGeom>
          <a:noFill/>
          <a:ln w="3520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10772840" y="3370264"/>
            <a:ext cx="323729" cy="366482"/>
          </a:xfrm>
          <a:custGeom>
            <a:avLst/>
            <a:gdLst/>
            <a:ahLst/>
            <a:cxnLst/>
            <a:rect l="l" t="t" r="r" b="b"/>
            <a:pathLst>
              <a:path w="323729" h="366482">
                <a:moveTo>
                  <a:pt x="35327" y="30371"/>
                </a:moveTo>
                <a:lnTo>
                  <a:pt x="323729" y="0"/>
                </a:lnTo>
                <a:lnTo>
                  <a:pt x="288402" y="336111"/>
                </a:lnTo>
                <a:lnTo>
                  <a:pt x="0" y="366482"/>
                </a:lnTo>
                <a:close/>
              </a:path>
            </a:pathLst>
          </a:custGeom>
          <a:noFill/>
          <a:ln w="3520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10558301" y="3410782"/>
            <a:ext cx="147526" cy="39779"/>
          </a:xfrm>
          <a:prstGeom prst="line">
            <a:avLst/>
          </a:prstGeom>
          <a:ln w="21122">
            <a:solidFill>
              <a:srgbClr val="111111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 flipH="1" flipV="1">
            <a:off x="10548208" y="3506814"/>
            <a:ext cx="147526" cy="39779"/>
          </a:xfrm>
          <a:prstGeom prst="line">
            <a:avLst/>
          </a:prstGeom>
          <a:ln w="21122">
            <a:solidFill>
              <a:srgbClr val="111111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 flipV="1">
            <a:off x="10861879" y="3458726"/>
            <a:ext cx="152572" cy="8237"/>
          </a:xfrm>
          <a:prstGeom prst="line">
            <a:avLst/>
          </a:prstGeom>
          <a:ln w="21122">
            <a:solidFill>
              <a:srgbClr val="111111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 flipV="1">
            <a:off x="10851785" y="3554757"/>
            <a:ext cx="152573" cy="8237"/>
          </a:xfrm>
          <a:prstGeom prst="line">
            <a:avLst/>
          </a:prstGeom>
          <a:ln w="21122">
            <a:solidFill>
              <a:srgbClr val="111111"/>
            </a:solidFill>
          </a:ln>
          <a:effectLst/>
        </p:spPr>
      </p:cxnSp>
      <p:sp>
        <p:nvSpPr>
          <p:cNvPr id="29" name="TextBox 28"/>
          <p:cNvSpPr txBox="1"/>
          <p:nvPr/>
        </p:nvSpPr>
        <p:spPr>
          <a:xfrm rot="360000">
            <a:off x="10046771" y="4130082"/>
            <a:ext cx="1298448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111111"/>
                </a:solidFill>
                <a:latin typeface="Inter"/>
              </a:rPr>
              <a:t>SELF-TAUGHT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48640"/>
            <a:ext cx="2011680" cy="438912"/>
          </a:xfrm>
          <a:prstGeom prst="roundRect">
            <a:avLst>
              <a:gd name="adj" fmla="val 50000"/>
            </a:avLst>
          </a:prstGeom>
          <a:solidFill>
            <a:srgbClr val="9437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Inter"/>
              </a:rPr>
              <a:t>📊  Live poll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05695" y="54864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2000" b="1" i="0">
                <a:solidFill>
                  <a:srgbClr val="111111"/>
                </a:solidFill>
                <a:latin typeface="Inter"/>
              </a:rPr>
              <a:t>⏱  3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7589520" cy="3840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555555"/>
                </a:solidFill>
                <a:latin typeface="Inter"/>
              </a:rPr>
              <a:t>On your own: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3600" b="1" i="0">
                <a:solidFill>
                  <a:srgbClr val="111111"/>
                </a:solidFill>
                <a:latin typeface="Inter"/>
              </a:rPr>
              <a:t>Finding (with evidence) →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3600" b="1" i="0">
                <a:solidFill>
                  <a:srgbClr val="111111"/>
                </a:solidFill>
                <a:latin typeface="Inter"/>
              </a:rPr>
              <a:t>I’d change the tool so that ___ →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3600" b="1" i="0">
                <a:solidFill>
                  <a:srgbClr val="111111"/>
                </a:solidFill>
                <a:latin typeface="Inter"/>
              </a:rPr>
              <a:t>I’d know it worked if ___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2400" b="0" i="0">
                <a:solidFill>
                  <a:srgbClr val="555555"/>
                </a:solidFill>
                <a:latin typeface="Inter"/>
              </a:rPr>
              <a:t>(logged or observed, not self-report)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34095" y="1280160"/>
            <a:ext cx="2971800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25400">
            <a:solidFill>
              <a:srgbClr val="BBBBBB"/>
            </a:solidFill>
            <a:prstDash val="dash"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2400" b="1" i="0">
                <a:solidFill>
                  <a:srgbClr val="919191"/>
                </a:solidFill>
                <a:latin typeface="Inter"/>
              </a:rPr>
              <a:t>QR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34095" y="4434840"/>
            <a:ext cx="2971800" cy="54864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Inter"/>
              </a:rPr>
              <a:t>menti.com  ·  ____ ____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4000" b="1" i="0">
                <a:solidFill>
                  <a:srgbClr val="111111"/>
                </a:solidFill>
                <a:latin typeface="Inter"/>
              </a:rPr>
              <a:t>Ours, for comparison</a:t>
            </a:r>
          </a:p>
        </p:txBody>
      </p:sp>
      <p:sp>
        <p:nvSpPr>
          <p:cNvPr id="3" name="Circular Arrow 2"/>
          <p:cNvSpPr/>
          <p:nvPr/>
        </p:nvSpPr>
        <p:spPr>
          <a:xfrm flipH="1">
            <a:off x="722376" y="1841967"/>
            <a:ext cx="512064" cy="512064"/>
          </a:xfrm>
          <a:prstGeom prst="circularArrow">
            <a:avLst>
              <a:gd name="adj1" fmla="val 13000"/>
              <a:gd name="adj2" fmla="val 1800000"/>
              <a:gd name="adj3" fmla="val 20457681"/>
              <a:gd name="adj4" fmla="val 10800000"/>
              <a:gd name="adj5" fmla="val 20000"/>
            </a:avLst>
          </a:prstGeom>
          <a:solidFill>
            <a:srgbClr val="111111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9859975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200" b="0" i="0">
                <a:solidFill>
                  <a:srgbClr val="111111"/>
                </a:solidFill>
                <a:latin typeface="Inter"/>
              </a:rPr>
              <a:t>Make the way back visible.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22376" y="2825496"/>
            <a:ext cx="194584" cy="0"/>
          </a:xfrm>
          <a:prstGeom prst="line">
            <a:avLst/>
          </a:prstGeom>
          <a:ln w="29870">
            <a:solidFill>
              <a:srgbClr val="111111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 flipV="1">
            <a:off x="916960" y="2641152"/>
            <a:ext cx="317480" cy="184344"/>
          </a:xfrm>
          <a:prstGeom prst="line">
            <a:avLst/>
          </a:prstGeom>
          <a:ln w="29870">
            <a:solidFill>
              <a:srgbClr val="111111"/>
            </a:solidFill>
            <a:tailEnd type="triangle" w="med" len="med"/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916960" y="2825496"/>
            <a:ext cx="317480" cy="184343"/>
          </a:xfrm>
          <a:prstGeom prst="line">
            <a:avLst/>
          </a:prstGeom>
          <a:ln w="29870">
            <a:solidFill>
              <a:srgbClr val="111111"/>
            </a:solidFill>
            <a:tailEnd type="triangl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1645920" y="2523744"/>
            <a:ext cx="9859975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200" b="0" i="0">
                <a:solidFill>
                  <a:srgbClr val="111111"/>
                </a:solidFill>
                <a:latin typeface="Inter"/>
              </a:rPr>
              <a:t>One verb, one purpose.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426" y="3467770"/>
            <a:ext cx="337962" cy="471098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29870">
            <a:solidFill>
              <a:srgbClr val="111111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0633" y="3582984"/>
            <a:ext cx="235549" cy="76809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0633" y="3695639"/>
            <a:ext cx="235549" cy="76809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0633" y="3808293"/>
            <a:ext cx="235549" cy="76809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0633" y="3513856"/>
            <a:ext cx="112654" cy="40965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3401568"/>
            <a:ext cx="9859975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200" b="0" i="0">
                <a:solidFill>
                  <a:srgbClr val="111111"/>
                </a:solidFill>
                <a:latin typeface="Inter"/>
              </a:rPr>
              <a:t>Show the model, not the commands.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7496" y="4396800"/>
            <a:ext cx="501822" cy="368686"/>
          </a:xfrm>
          <a:prstGeom prst="roundRect">
            <a:avLst>
              <a:gd name="adj" fmla="val 11111"/>
            </a:avLst>
          </a:prstGeom>
          <a:solidFill>
            <a:srgbClr val="111111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Noto Sans Mono"/>
              </a:rPr>
              <a:t>&gt;_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279392"/>
            <a:ext cx="9859975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200" b="0" i="0">
                <a:solidFill>
                  <a:srgbClr val="111111"/>
                </a:solidFill>
                <a:latin typeface="Inter"/>
              </a:rPr>
              <a:t>The error message is the manual.</a:t>
            </a:r>
          </a:p>
        </p:txBody>
      </p:sp>
      <p:sp>
        <p:nvSpPr>
          <p:cNvPr id="17" name="Octagon 16"/>
          <p:cNvSpPr/>
          <p:nvPr/>
        </p:nvSpPr>
        <p:spPr>
          <a:xfrm>
            <a:off x="758220" y="5238780"/>
            <a:ext cx="440375" cy="440375"/>
          </a:xfrm>
          <a:prstGeom prst="octagon">
            <a:avLst/>
          </a:prstGeom>
          <a:noFill/>
          <a:ln w="29870">
            <a:solidFill>
              <a:srgbClr val="111111"/>
            </a:solidFill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5753" y="5430804"/>
            <a:ext cx="225308" cy="56327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0" y="5157216"/>
            <a:ext cx="9859975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200" b="0" i="0">
                <a:solidFill>
                  <a:srgbClr val="111111"/>
                </a:solidFill>
                <a:latin typeface="Inter"/>
              </a:rPr>
              <a:t>Make destruction deliberate.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77440" y="4892040"/>
            <a:ext cx="7498079" cy="1188720"/>
          </a:xfrm>
          <a:prstGeom prst="ellipse">
            <a:avLst/>
          </a:prstGeom>
          <a:solidFill>
            <a:srgbClr val="12345A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286000" y="5257800"/>
            <a:ext cx="9601200" cy="3840480"/>
          </a:xfrm>
          <a:prstGeom prst="ellipse">
            <a:avLst/>
          </a:prstGeom>
          <a:solidFill>
            <a:srgbClr val="071021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5074920"/>
            <a:ext cx="10058400" cy="4206240"/>
          </a:xfrm>
          <a:prstGeom prst="ellipse">
            <a:avLst/>
          </a:prstGeom>
          <a:solidFill>
            <a:srgbClr val="050B18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40683" y="4627344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20983" y="4343744"/>
            <a:ext cx="22860" cy="22860"/>
          </a:xfrm>
          <a:prstGeom prst="ellipse">
            <a:avLst/>
          </a:prstGeom>
          <a:solidFill>
            <a:srgbClr val="CADC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759776" y="1832928"/>
            <a:ext cx="27432" cy="27432"/>
          </a:xfrm>
          <a:prstGeom prst="ellipse">
            <a:avLst/>
          </a:prstGeom>
          <a:solidFill>
            <a:srgbClr val="7F94B8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37084" y="4764470"/>
            <a:ext cx="54864" cy="54864"/>
          </a:xfrm>
          <a:prstGeom prst="ellipse">
            <a:avLst/>
          </a:prstGeom>
          <a:solidFill>
            <a:srgbClr val="7F94B8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40941" y="1696947"/>
            <a:ext cx="32004" cy="320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52463" y="3240296"/>
            <a:ext cx="41148" cy="41148"/>
          </a:xfrm>
          <a:prstGeom prst="ellipse">
            <a:avLst/>
          </a:prstGeom>
          <a:solidFill>
            <a:srgbClr val="CADC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35662" y="1932124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13477" y="4189702"/>
            <a:ext cx="32004" cy="32004"/>
          </a:xfrm>
          <a:prstGeom prst="ellipse">
            <a:avLst/>
          </a:prstGeom>
          <a:solidFill>
            <a:srgbClr val="CADC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45081" y="4440585"/>
            <a:ext cx="22860" cy="22860"/>
          </a:xfrm>
          <a:prstGeom prst="ellipse">
            <a:avLst/>
          </a:prstGeom>
          <a:solidFill>
            <a:srgbClr val="CADC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28728" y="4801289"/>
            <a:ext cx="27432" cy="27432"/>
          </a:xfrm>
          <a:prstGeom prst="ellipse">
            <a:avLst/>
          </a:prstGeom>
          <a:solidFill>
            <a:srgbClr val="CADC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3110" y="4568831"/>
            <a:ext cx="32004" cy="32004"/>
          </a:xfrm>
          <a:prstGeom prst="ellipse">
            <a:avLst/>
          </a:prstGeom>
          <a:solidFill>
            <a:srgbClr val="CADC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32739" y="378462"/>
            <a:ext cx="27432" cy="27432"/>
          </a:xfrm>
          <a:prstGeom prst="ellipse">
            <a:avLst/>
          </a:prstGeom>
          <a:solidFill>
            <a:srgbClr val="CADC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88935" y="1797380"/>
            <a:ext cx="22860" cy="22860"/>
          </a:xfrm>
          <a:prstGeom prst="ellipse">
            <a:avLst/>
          </a:prstGeom>
          <a:solidFill>
            <a:srgbClr val="CADC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23648" y="4363135"/>
            <a:ext cx="22860" cy="228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96091" y="4442041"/>
            <a:ext cx="41148" cy="411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820225" y="4935576"/>
            <a:ext cx="54864" cy="54864"/>
          </a:xfrm>
          <a:prstGeom prst="ellipse">
            <a:avLst/>
          </a:prstGeom>
          <a:solidFill>
            <a:srgbClr val="7F94B8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18623" y="4374437"/>
            <a:ext cx="41148" cy="41148"/>
          </a:xfrm>
          <a:prstGeom prst="ellipse">
            <a:avLst/>
          </a:prstGeom>
          <a:solidFill>
            <a:srgbClr val="CADC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21970" y="4347441"/>
            <a:ext cx="22860" cy="22860"/>
          </a:xfrm>
          <a:prstGeom prst="ellipse">
            <a:avLst/>
          </a:prstGeom>
          <a:solidFill>
            <a:srgbClr val="7F94B8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528520" y="3172036"/>
            <a:ext cx="54864" cy="54864"/>
          </a:xfrm>
          <a:prstGeom prst="ellipse">
            <a:avLst/>
          </a:prstGeom>
          <a:solidFill>
            <a:srgbClr val="CADC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93928" y="4928202"/>
            <a:ext cx="27432" cy="27432"/>
          </a:xfrm>
          <a:prstGeom prst="ellipse">
            <a:avLst/>
          </a:prstGeom>
          <a:solidFill>
            <a:srgbClr val="7F94B8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33859" y="3173440"/>
            <a:ext cx="27432" cy="27432"/>
          </a:xfrm>
          <a:prstGeom prst="ellipse">
            <a:avLst/>
          </a:prstGeom>
          <a:solidFill>
            <a:srgbClr val="7F94B8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177499" y="1896483"/>
            <a:ext cx="22860" cy="228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07376" y="3491424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576250" y="497209"/>
            <a:ext cx="41148" cy="411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841453" y="1931153"/>
            <a:ext cx="22860" cy="22860"/>
          </a:xfrm>
          <a:prstGeom prst="ellipse">
            <a:avLst/>
          </a:prstGeom>
          <a:solidFill>
            <a:srgbClr val="CADC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665961" y="5002464"/>
            <a:ext cx="32004" cy="320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408747" y="3616811"/>
            <a:ext cx="32004" cy="320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008317" y="4933040"/>
            <a:ext cx="41148" cy="41148"/>
          </a:xfrm>
          <a:prstGeom prst="ellipse">
            <a:avLst/>
          </a:prstGeom>
          <a:solidFill>
            <a:srgbClr val="CADC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936378" y="3520067"/>
            <a:ext cx="41148" cy="411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574184" y="4979470"/>
            <a:ext cx="41148" cy="41148"/>
          </a:xfrm>
          <a:prstGeom prst="ellipse">
            <a:avLst/>
          </a:prstGeom>
          <a:solidFill>
            <a:srgbClr val="CADC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39835" y="903748"/>
            <a:ext cx="22860" cy="228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034557" y="2860328"/>
            <a:ext cx="32004" cy="32004"/>
          </a:xfrm>
          <a:prstGeom prst="ellipse">
            <a:avLst/>
          </a:prstGeom>
          <a:solidFill>
            <a:srgbClr val="CADC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758252" y="1664022"/>
            <a:ext cx="41148" cy="41148"/>
          </a:xfrm>
          <a:prstGeom prst="ellipse">
            <a:avLst/>
          </a:prstGeom>
          <a:solidFill>
            <a:srgbClr val="CADC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11687" y="5002219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442988" y="4330654"/>
            <a:ext cx="41148" cy="41148"/>
          </a:xfrm>
          <a:prstGeom prst="ellipse">
            <a:avLst/>
          </a:prstGeom>
          <a:solidFill>
            <a:srgbClr val="7F94B8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987137" y="819177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735674" y="295901"/>
            <a:ext cx="22860" cy="22860"/>
          </a:xfrm>
          <a:prstGeom prst="ellipse">
            <a:avLst/>
          </a:prstGeom>
          <a:solidFill>
            <a:srgbClr val="CADC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650111" y="4501211"/>
            <a:ext cx="22860" cy="22860"/>
          </a:xfrm>
          <a:prstGeom prst="ellipse">
            <a:avLst/>
          </a:prstGeom>
          <a:solidFill>
            <a:srgbClr val="CADC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380150" y="1845476"/>
            <a:ext cx="22860" cy="22860"/>
          </a:xfrm>
          <a:prstGeom prst="ellipse">
            <a:avLst/>
          </a:prstGeom>
          <a:solidFill>
            <a:srgbClr val="7F94B8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263160" y="4517066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756751" y="3573517"/>
            <a:ext cx="22860" cy="22860"/>
          </a:xfrm>
          <a:prstGeom prst="ellipse">
            <a:avLst/>
          </a:prstGeom>
          <a:solidFill>
            <a:srgbClr val="7F94B8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871931" y="2694737"/>
            <a:ext cx="41148" cy="411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242363" y="4410675"/>
            <a:ext cx="41148" cy="41148"/>
          </a:xfrm>
          <a:prstGeom prst="ellipse">
            <a:avLst/>
          </a:prstGeom>
          <a:solidFill>
            <a:srgbClr val="CADC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676762" y="4934370"/>
            <a:ext cx="32004" cy="32004"/>
          </a:xfrm>
          <a:prstGeom prst="ellipse">
            <a:avLst/>
          </a:prstGeom>
          <a:solidFill>
            <a:srgbClr val="CADC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446430" y="3117588"/>
            <a:ext cx="54864" cy="54864"/>
          </a:xfrm>
          <a:prstGeom prst="ellipse">
            <a:avLst/>
          </a:prstGeom>
          <a:solidFill>
            <a:srgbClr val="7F94B8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520976" y="4437190"/>
            <a:ext cx="54864" cy="54864"/>
          </a:xfrm>
          <a:prstGeom prst="ellipse">
            <a:avLst/>
          </a:prstGeom>
          <a:solidFill>
            <a:srgbClr val="CADC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219943" y="4358812"/>
            <a:ext cx="54864" cy="54864"/>
          </a:xfrm>
          <a:prstGeom prst="ellipse">
            <a:avLst/>
          </a:prstGeom>
          <a:solidFill>
            <a:srgbClr val="CADC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98417" y="141553"/>
            <a:ext cx="54864" cy="54864"/>
          </a:xfrm>
          <a:prstGeom prst="ellipse">
            <a:avLst/>
          </a:prstGeom>
          <a:solidFill>
            <a:srgbClr val="CADC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177938" y="1610477"/>
            <a:ext cx="54864" cy="54864"/>
          </a:xfrm>
          <a:prstGeom prst="ellipse">
            <a:avLst/>
          </a:prstGeom>
          <a:solidFill>
            <a:srgbClr val="CADC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714460" y="2294543"/>
            <a:ext cx="22860" cy="228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296241" y="4250232"/>
            <a:ext cx="54864" cy="54864"/>
          </a:xfrm>
          <a:prstGeom prst="ellipse">
            <a:avLst/>
          </a:prstGeom>
          <a:solidFill>
            <a:srgbClr val="CADC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611564" y="22933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31085" y="1030296"/>
            <a:ext cx="22860" cy="228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153373" y="355050"/>
            <a:ext cx="41148" cy="41148"/>
          </a:xfrm>
          <a:prstGeom prst="ellipse">
            <a:avLst/>
          </a:prstGeom>
          <a:solidFill>
            <a:srgbClr val="7F94B8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766566" y="982584"/>
            <a:ext cx="41148" cy="41148"/>
          </a:xfrm>
          <a:prstGeom prst="ellipse">
            <a:avLst/>
          </a:prstGeom>
          <a:solidFill>
            <a:srgbClr val="CADC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109638" y="1405329"/>
            <a:ext cx="54864" cy="54864"/>
          </a:xfrm>
          <a:prstGeom prst="ellipse">
            <a:avLst/>
          </a:prstGeom>
          <a:solidFill>
            <a:srgbClr val="7F94B8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795682" y="1667795"/>
            <a:ext cx="41148" cy="41148"/>
          </a:xfrm>
          <a:prstGeom prst="ellipse">
            <a:avLst/>
          </a:prstGeom>
          <a:solidFill>
            <a:srgbClr val="7F94B8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340615" y="21238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549885" y="1711002"/>
            <a:ext cx="41148" cy="411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1361230" y="2727805"/>
            <a:ext cx="27432" cy="27432"/>
          </a:xfrm>
          <a:prstGeom prst="ellipse">
            <a:avLst/>
          </a:prstGeom>
          <a:solidFill>
            <a:srgbClr val="CADC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088814" y="3610765"/>
            <a:ext cx="22860" cy="228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2057920" y="4630923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886921" y="1743156"/>
            <a:ext cx="27432" cy="27432"/>
          </a:xfrm>
          <a:prstGeom prst="ellipse">
            <a:avLst/>
          </a:prstGeom>
          <a:solidFill>
            <a:srgbClr val="CADC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921224" y="114743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417294" y="1426314"/>
            <a:ext cx="22860" cy="22860"/>
          </a:xfrm>
          <a:prstGeom prst="ellipse">
            <a:avLst/>
          </a:prstGeom>
          <a:solidFill>
            <a:srgbClr val="7F94B8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434127" y="2719615"/>
            <a:ext cx="54864" cy="54864"/>
          </a:xfrm>
          <a:prstGeom prst="ellipse">
            <a:avLst/>
          </a:prstGeom>
          <a:solidFill>
            <a:srgbClr val="7F94B8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839337" y="1743756"/>
            <a:ext cx="41148" cy="41148"/>
          </a:xfrm>
          <a:prstGeom prst="ellipse">
            <a:avLst/>
          </a:prstGeom>
          <a:solidFill>
            <a:srgbClr val="CADC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72865" y="4478701"/>
            <a:ext cx="27432" cy="27432"/>
          </a:xfrm>
          <a:prstGeom prst="ellipse">
            <a:avLst/>
          </a:prstGeom>
          <a:solidFill>
            <a:srgbClr val="7F94B8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377419" y="1397744"/>
            <a:ext cx="22860" cy="228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847543" y="515646"/>
            <a:ext cx="32004" cy="32004"/>
          </a:xfrm>
          <a:prstGeom prst="ellipse">
            <a:avLst/>
          </a:prstGeom>
          <a:solidFill>
            <a:srgbClr val="CADC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2800268" y="201408"/>
            <a:ext cx="32004" cy="32004"/>
          </a:xfrm>
          <a:prstGeom prst="ellipse">
            <a:avLst/>
          </a:prstGeom>
          <a:solidFill>
            <a:srgbClr val="CADC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2011258" y="3019059"/>
            <a:ext cx="41148" cy="41148"/>
          </a:xfrm>
          <a:prstGeom prst="ellipse">
            <a:avLst/>
          </a:prstGeom>
          <a:solidFill>
            <a:srgbClr val="7F94B8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285971" y="435397"/>
            <a:ext cx="41148" cy="411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980263" y="217309"/>
            <a:ext cx="32004" cy="32004"/>
          </a:xfrm>
          <a:prstGeom prst="ellipse">
            <a:avLst/>
          </a:prstGeom>
          <a:solidFill>
            <a:srgbClr val="7F94B8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684665" y="3564609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709039" y="1534878"/>
            <a:ext cx="32004" cy="32004"/>
          </a:xfrm>
          <a:prstGeom prst="ellipse">
            <a:avLst/>
          </a:prstGeom>
          <a:solidFill>
            <a:srgbClr val="7F94B8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035003" y="4173973"/>
            <a:ext cx="41148" cy="411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36085" y="1544587"/>
            <a:ext cx="32004" cy="32004"/>
          </a:xfrm>
          <a:prstGeom prst="ellipse">
            <a:avLst/>
          </a:prstGeom>
          <a:solidFill>
            <a:srgbClr val="CADC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4660900" y="448034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2030018" y="2639593"/>
            <a:ext cx="32004" cy="32004"/>
          </a:xfrm>
          <a:prstGeom prst="ellipse">
            <a:avLst/>
          </a:prstGeom>
          <a:solidFill>
            <a:srgbClr val="7F94B8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1653552" y="4305622"/>
            <a:ext cx="41148" cy="411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403752" y="1971575"/>
            <a:ext cx="54864" cy="54864"/>
          </a:xfrm>
          <a:prstGeom prst="ellipse">
            <a:avLst/>
          </a:prstGeom>
          <a:solidFill>
            <a:srgbClr val="7F94B8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1442378" y="2558840"/>
            <a:ext cx="27432" cy="27432"/>
          </a:xfrm>
          <a:prstGeom prst="ellipse">
            <a:avLst/>
          </a:prstGeom>
          <a:solidFill>
            <a:srgbClr val="CADC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040374" y="322010"/>
            <a:ext cx="41148" cy="41148"/>
          </a:xfrm>
          <a:prstGeom prst="ellipse">
            <a:avLst/>
          </a:prstGeom>
          <a:solidFill>
            <a:srgbClr val="CADC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607335" y="3938352"/>
            <a:ext cx="32004" cy="32004"/>
          </a:xfrm>
          <a:prstGeom prst="ellipse">
            <a:avLst/>
          </a:prstGeom>
          <a:solidFill>
            <a:srgbClr val="CADC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873619" y="1558755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7221778" y="1561123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540566" y="4206553"/>
            <a:ext cx="27432" cy="27432"/>
          </a:xfrm>
          <a:prstGeom prst="ellipse">
            <a:avLst/>
          </a:prstGeom>
          <a:solidFill>
            <a:srgbClr val="7F94B8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8083949" y="1977009"/>
            <a:ext cx="32004" cy="320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1573653" y="1340479"/>
            <a:ext cx="32004" cy="320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482127" y="362970"/>
            <a:ext cx="41148" cy="411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584044" y="3247574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5267778" y="4678001"/>
            <a:ext cx="27432" cy="27432"/>
          </a:xfrm>
          <a:prstGeom prst="ellipse">
            <a:avLst/>
          </a:prstGeom>
          <a:solidFill>
            <a:srgbClr val="CADC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1564508" y="1669723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887094" y="4939932"/>
            <a:ext cx="41148" cy="411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36576" rIns="36576" tIns="0" bIns="0">
            <a:noAutofit/>
          </a:bodyPr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Inter"/>
              </a:rPr>
              <a:t>If you’re going to remember one thing…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85800" y="1691640"/>
            <a:ext cx="10820095" cy="2743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5400" b="1" i="0">
                <a:solidFill>
                  <a:srgbClr val="FFFFFF"/>
                </a:solidFill>
                <a:latin typeface="Inter"/>
              </a:rPr>
              <a:t>Question the proxy.</a:t>
            </a:r>
          </a:p>
          <a:p>
            <a:pPr algn="ctr">
              <a:lnSpc>
                <a:spcPct val="110000"/>
              </a:lnSpc>
            </a:pPr>
            <a:r>
              <a:rPr sz="5400" b="1" i="0">
                <a:solidFill>
                  <a:srgbClr val="FFFFFF"/>
                </a:solidFill>
                <a:latin typeface="Inter"/>
              </a:rPr>
              <a:t>Design the way 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