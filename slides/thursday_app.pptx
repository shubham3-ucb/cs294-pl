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Yang, Zhang, Pan, Xu, Zhou, Huang. ACM TOSEM 2022. Data: github.com/gitcommandstudy/gitcommands.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Tuesday we ran real Git. Today we judge a study of people asking about Git, then design with what survives. You leave with one new idea about tools for people.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Answer for yourself. The projector shows totals only. We will compare you with the paper’s 92.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Sarah’s first rule: identify the research question first. Five RQs. Four come from Stack Overflow posts, one from a survey.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Vote on your laptop. Sarah’s three kinds.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Need-finding, which Sarah also calls reconnaissance. Ask whether the question is interesting before judging the method.</a:t>
            </a:r>
          </a:p>
          <a:p/>
          <a:p>
            <a:r>
              <a:t>Ask: Is the question interesting?</a:t>
            </a:r>
          </a:p>
          <a:p/>
          <a:p>
            <a:r>
              <a:t>Hope to hear: Yes. Three of Stack Overflow’s five most-voted questions were about Git commands when the paper was written.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Sarah’s ladder: watching beats traces, traces beat asking.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Recruiting note (footnote 7): the authors found emails through GitHub accounts, say they were unaware that GitHub’s policy discourages emailing users this way, and recommend others not follow the practice.</a:t>
            </a:r>
          </a:p>
          <a:p/>
          <a:p>
            <a:r>
              <a:t>Ask: Can this data answer “do developers know how to use Git commands?”</a:t>
            </a:r>
          </a:p>
          <a:p/>
          <a:p>
            <a:r>
              <a:t>Hope to hear: No. It shows what people asked about, not what they can do.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Sarah: we could learn false things. Questions shape responses, and people have no durable, reliable memory of facts. “How I learned Git” is one of those memories.</a:t>
            </a:r>
          </a:p>
          <a:p/>
          <a:p>
            <a:r>
              <a:t>Ask: Which of these numbers would you trust? Did Tuesday change your answer?</a:t>
            </a:r>
          </a:p>
          <a:p/>
          <a:p>
            <a:r>
              <a:t>Hope to hear: People found through Stack Overflow say they learn from the internet: the sample decides the answer. “How I learned” is a memory, and the options shape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Eight posts, randomly sampled from the paper’s own data. Read the question first, then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Sarah: have they operationalized their measure well? The post with 2.4 million views counts for git reflog only because of its answer.</a:t>
            </a:r>
          </a:p>
          <a:p/>
          <a:p>
            <a:r>
              <a:t>Ask: Did they measure “developers find this command hard”?</a:t>
            </a:r>
          </a:p>
          <a:p/>
          <a:p>
            <a:r>
              <a:t>Hope to hear: They measured “this command appears near a question”. Often it is the fix, not the problem.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Views are heavy-tailed: the median post of each of these commands has about 250 to 360 views (our re-run). Dropping each command’s single top post keeps all five in the top 5: undo questions really are the most viewed.</a:t>
            </a:r>
          </a:p>
          <a:p/>
          <a:p>
            <a:r>
              <a:t>Ask: Do you believe their answer to RQ3?</a:t>
            </a:r>
          </a:p>
          <a:p/>
          <a:p>
            <a:r>
              <a:t>Hope to hear: Partly. The most-viewed questions are about undo, even when the asker names the command. The typical undo question is not unusually viewed, and which command gets the credit depends on the rule.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Groups form when you press Next.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One claim per group. The paper is open on your laptops; the hint points to the section.</a:t>
            </a:r>
          </a:p>
          <a:p/>
          <a:p>
            <a:r>
              <a:t>The hint each group sees:</a:t>
            </a:r>
          </a:p>
          <a:p>
            <a:r>
              <a:t>- "This suggests that even developers with years of development experience can have trouble using Git commands." Look at: How did they measure experience? (§2.1 Step 4; §5)</a:t>
            </a:r>
          </a:p>
          <a:p>
            <a:r>
              <a:t>- "…for the more frequently-used commands, git credential and git submodule are among the most difficult ones." Look at: How does a post get counted for a command? Our re-run: 36.5% of all 80,370 Git questions have no accepted answer.</a:t>
            </a:r>
          </a:p>
          <a:p>
            <a:r>
              <a:t>- "Self-learning is the primary learning approach." Look at: Who was invited, and how? (§2.2, Table 7)</a:t>
            </a:r>
          </a:p>
          <a:p>
            <a:r>
              <a:t>- "the number of questions related to Git commands has been growing steadily" Look at: Fig. 2(a), Table 1 and §3.1.</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Read each group’s sentence, then the model answer under it.</a:t>
            </a:r>
          </a:p>
          <a:p/>
          <a:p>
            <a:r>
              <a:t>Ask: Which claim survives best?</a:t>
            </a:r>
          </a:p>
          <a:p/>
          <a:p>
            <a:r>
              <a:t>Hope to hear: None, as written. Each shrinks to what was measured. Nobody was watched using Git.</a:t>
            </a:r>
          </a:p>
          <a:p/>
          <a:p>
            <a:r>
              <a:t>Each claim: what they measured, and why it shrinks.</a:t>
            </a:r>
          </a:p>
          <a:p>
            <a:r>
              <a:t>- "This suggests that even developers with years of development experience can have trouble using Git commands." Measured: Years since the asker registered on Stack Overflow. Registration age is time on Stack Overflow, not experience with Git; §5 calls it a proxy. Experienced programmers can be new to Git: Paper 1 describes Microsoft teams switching from Source Depot and Team Foundation Server, for whom Git is "a small revolution". The data cannot tell "Git stays hard for experienced Git users" from "experienced programmers are new to Git".</a:t>
            </a:r>
          </a:p>
          <a:p>
            <a:r>
              <a:t>- "…for the more frequently-used commands, git credential and git submodule are among the most difficult ones." Measured: The share of a command’s questions where the asker never marked an answer as accepted. An accepted answer is one click by the asker, and §5 notes askers may forget it. A post counted through its accepted answer has one by construction, so commands that appear in fixes look easy: git reflog lacks one in 20.7% of its posts, but in 46.3% of the posts whose asker names it (our re-run).</a:t>
            </a:r>
          </a:p>
          <a:p>
            <a:r>
              <a:t>- "Self-learning is the primary learning approach." Measured: What 92 of 508 invited people ticked. The practitioners invited had recently asked a Git question on Stack Overflow. The paper reports both 81.7% of 197 ticks and 85 of 92 people. Either way, the respondents were found through Stack Overflow, so they use the internet by construction, and “how I learned” is a memory.</a:t>
            </a:r>
          </a:p>
          <a:p>
            <a:r>
              <a:t>- "the number of questions related to Git commands has been growing steadily" Measured: Git questions per year (Fig. 2a), and their share of all Stack Overflow questions (Table 1). §3.1 itself says the number "dropped a bit from 2017", and the RQ1 answer says "relatively stable". The conclusion and the paper’s own data disagree.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Read each group’s sentence, then the model answer under it.</a:t>
            </a:r>
          </a:p>
          <a:p/>
          <a:p>
            <a:r>
              <a:t>Ask: Which claim survives best?</a:t>
            </a:r>
          </a:p>
          <a:p/>
          <a:p>
            <a:r>
              <a:t>Hope to hear: None, as written. Each shrinks to what was measured. Nobody was watched using Git.</a:t>
            </a:r>
          </a:p>
          <a:p/>
          <a:p>
            <a:r>
              <a:t>Each claim: what they measured, and why it shrinks.</a:t>
            </a:r>
          </a:p>
          <a:p>
            <a:r>
              <a:t>- "This suggests that even developers with years of development experience can have trouble using Git commands." Measured: Years since the asker registered on Stack Overflow. Registration age is time on Stack Overflow, not experience with Git; §5 calls it a proxy. Experienced programmers can be new to Git: Paper 1 describes Microsoft teams switching from Source Depot and Team Foundation Server, for whom Git is "a small revolution". The data cannot tell "Git stays hard for experienced Git users" from "experienced programmers are new to Git".</a:t>
            </a:r>
          </a:p>
          <a:p>
            <a:r>
              <a:t>- "…for the more frequently-used commands, git credential and git submodule are among the most difficult ones." Measured: The share of a command’s questions where the asker never marked an answer as accepted. An accepted answer is one click by the asker, and §5 notes askers may forget it. A post counted through its accepted answer has one by construction, so commands that appear in fixes look easy: git reflog lacks one in 20.7% of its posts, but in 46.3% of the posts whose asker names it (our re-run).</a:t>
            </a:r>
          </a:p>
          <a:p>
            <a:r>
              <a:t>- "Self-learning is the primary learning approach." Measured: What 92 of 508 invited people ticked. The practitioners invited had recently asked a Git question on Stack Overflow. The paper reports both 81.7% of 197 ticks and 85 of 92 people. Either way, the respondents were found through Stack Overflow, so they use the internet by construction, and “how I learned” is a memory.</a:t>
            </a:r>
          </a:p>
          <a:p>
            <a:r>
              <a:t>- "the number of questions related to Git commands has been growing steadily" Measured: Git questions per year (Fig. 2a), and their share of all Stack Overflow questions (Table 1). §3.1 itself says the number "dropped a bit from 2017", and the RQ1 answer says "relatively stable". The conclusion and the paper’s own data disagree.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Sarah’s evaluative shape: does ⟨tool⟩ increase or decrease ⟨measure⟩ for ⟨audience⟩ doing ⟨task⟩? Then: how would you collect the data?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One group at a time: the change, the study, the data. Push on the data: watch, trace, or ask?</a:t>
            </a:r>
          </a:p>
          <a:p/>
          <a:p>
            <a:r>
              <a:t>Ask: Which of these could you test by watching people?</a:t>
            </a:r>
          </a:p>
          <a:p/>
          <a:p>
            <a:r>
              <a:t>Hope to hear: The ones with a measure you can see: time to recover, recoveries that succeed.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 new command makes new questions. Whether it helped is an evaluative question, and nobody answers it by counting posts.</a:t>
            </a:r>
          </a:p>
          <a:p/>
          <a:p>
            <a:r>
              <a:t>Ask: Which data would convince Git’s maintainers your change works?</a:t>
            </a:r>
          </a:p>
          <a:p/>
          <a:p>
            <a:r>
              <a:t>Hope to hear: Observation or traces of real use: time to recover, recoveries that succeed. Not a survey.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Sarah’s bar: nobody leaves without a new insight about designing tools for humans.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Thank you. Export the answers from Details.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2011680"/>
            <a:ext cx="10545775" cy="1280160"/>
          </a:xfrm>
          <a:prstGeom prst="rect">
            <a:avLst/>
          </a:prstGeom>
          <a:noFill/>
        </p:spPr>
        <p:txBody>
          <a:bodyPr wrap="square" anchor="b" lIns="0" rIns="0" tIns="0" bIns="0"/>
          <a:lstStyle/>
          <a:p>
            <a:pPr algn="l">
              <a:lnSpc>
                <a:spcPct val="110000"/>
              </a:lnSpc>
            </a:pPr>
            <a:r>
              <a:rPr sz="6400" b="1">
                <a:solidFill>
                  <a:srgbClr val="111111"/>
                </a:solidFill>
                <a:latin typeface="Inter"/>
              </a:rPr>
              <a:t>Git, Part 2: The Humans</a:t>
            </a:r>
          </a:p>
        </p:txBody>
      </p:sp>
      <p:sp>
        <p:nvSpPr>
          <p:cNvPr id="3" name="TextBox 2"/>
          <p:cNvSpPr txBox="1"/>
          <p:nvPr/>
        </p:nvSpPr>
        <p:spPr>
          <a:xfrm>
            <a:off x="822960" y="3520440"/>
            <a:ext cx="10545775" cy="1097280"/>
          </a:xfrm>
          <a:prstGeom prst="rect">
            <a:avLst/>
          </a:prstGeom>
          <a:noFill/>
        </p:spPr>
        <p:txBody>
          <a:bodyPr wrap="square" anchor="t" lIns="0" rIns="0" tIns="0" bIns="0"/>
          <a:lstStyle/>
          <a:p>
            <a:pPr algn="l">
              <a:lnSpc>
                <a:spcPct val="110000"/>
              </a:lnSpc>
            </a:pPr>
            <a:r>
              <a:rPr sz="2600" b="0">
                <a:solidFill>
                  <a:srgbClr val="707078"/>
                </a:solidFill>
                <a:latin typeface="Inter"/>
              </a:rPr>
              <a:t>User Study Day · Do Developers Really Know How to Use Git Commands? A Large-Scale Study Using Stack Overflow</a:t>
            </a:r>
          </a:p>
        </p:txBody>
      </p:sp>
      <p:sp>
        <p:nvSpPr>
          <p:cNvPr id="4" name="Rectangle 3"/>
          <p:cNvSpPr/>
          <p:nvPr/>
        </p:nvSpPr>
        <p:spPr>
          <a:xfrm>
            <a:off x="0" y="6309360"/>
            <a:ext cx="12191695" cy="548640"/>
          </a:xfrm>
          <a:prstGeom prst="rect">
            <a:avLst/>
          </a:prstGeom>
          <a:solidFill>
            <a:srgbClr val="8B3DFF"/>
          </a:solidFill>
          <a:ln>
            <a:noFill/>
          </a:ln>
        </p:spPr>
        <p:txBody>
          <a:bodyPr rtlCol="0" anchor="ctr"/>
          <a:lstStyle/>
          <a:p>
            <a:pPr algn="ctr"/>
          </a:p>
        </p:txBody>
      </p:sp>
      <p:sp>
        <p:nvSpPr>
          <p:cNvPr id="5" name="TextBox 4"/>
          <p:cNvSpPr txBox="1"/>
          <p:nvPr/>
        </p:nvSpPr>
        <p:spPr>
          <a:xfrm>
            <a:off x="822960" y="6309360"/>
            <a:ext cx="10545775" cy="548640"/>
          </a:xfrm>
          <a:prstGeom prst="rect">
            <a:avLst/>
          </a:prstGeom>
          <a:noFill/>
        </p:spPr>
        <p:txBody>
          <a:bodyPr wrap="square" anchor="ctr" lIns="0" rIns="0" tIns="0" bIns="0"/>
          <a:lstStyle/>
          <a:p>
            <a:pPr algn="l">
              <a:lnSpc>
                <a:spcPct val="110000"/>
              </a:lnSpc>
            </a:pPr>
            <a:r>
              <a:rPr sz="1800" b="0">
                <a:solidFill>
                  <a:srgbClr val="FFFFFF"/>
                </a:solidFill>
                <a:latin typeface="Inter"/>
              </a:rPr>
              <a:t>CS294 Modern Programming Tools · Thursday · 80 minutes (78 + 2 of buffer)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45775" cy="320040"/>
          </a:xfrm>
          <a:prstGeom prst="rect">
            <a:avLst/>
          </a:prstGeom>
          <a:noFill/>
        </p:spPr>
        <p:txBody>
          <a:bodyPr wrap="square" anchor="t" lIns="0" rIns="0" tIns="0" bIns="0"/>
          <a:lstStyle/>
          <a:p>
            <a:pPr algn="l">
              <a:lnSpc>
                <a:spcPct val="110000"/>
              </a:lnSpc>
            </a:pPr>
            <a:r>
              <a:rPr sz="1600" b="1">
                <a:solidFill>
                  <a:srgbClr val="8B3DFF"/>
                </a:solidFill>
                <a:latin typeface="Inter"/>
              </a:rPr>
              <a:t>THURSDAY · GIT, PART 2</a:t>
            </a:r>
          </a:p>
        </p:txBody>
      </p:sp>
      <p:sp>
        <p:nvSpPr>
          <p:cNvPr id="3" name="TextBox 2"/>
          <p:cNvSpPr txBox="1"/>
          <p:nvPr/>
        </p:nvSpPr>
        <p:spPr>
          <a:xfrm>
            <a:off x="822960" y="1097280"/>
            <a:ext cx="10545775" cy="1463040"/>
          </a:xfrm>
          <a:prstGeom prst="rect">
            <a:avLst/>
          </a:prstGeom>
          <a:noFill/>
        </p:spPr>
        <p:txBody>
          <a:bodyPr wrap="square" anchor="t" lIns="0" rIns="0" tIns="0" bIns="0"/>
          <a:lstStyle/>
          <a:p>
            <a:pPr algn="l">
              <a:lnSpc>
                <a:spcPct val="110000"/>
              </a:lnSpc>
            </a:pPr>
            <a:r>
              <a:rPr sz="8000" b="1">
                <a:solidFill>
                  <a:srgbClr val="111111"/>
                </a:solidFill>
                <a:latin typeface="Inter"/>
              </a:rPr>
              <a:t>The Humans</a:t>
            </a:r>
          </a:p>
        </p:txBody>
      </p:sp>
      <p:sp>
        <p:nvSpPr>
          <p:cNvPr id="4" name="TextBox 3"/>
          <p:cNvSpPr txBox="1"/>
          <p:nvPr/>
        </p:nvSpPr>
        <p:spPr>
          <a:xfrm>
            <a:off x="822960" y="3017520"/>
            <a:ext cx="8647535" cy="1032662"/>
          </a:xfrm>
          <a:prstGeom prst="rect">
            <a:avLst/>
          </a:prstGeom>
          <a:noFill/>
        </p:spPr>
        <p:txBody>
          <a:bodyPr wrap="square" anchor="t" lIns="0" rIns="0" tIns="0" bIns="0"/>
          <a:lstStyle/>
          <a:p>
            <a:pPr algn="l">
              <a:lnSpc>
                <a:spcPct val="112000"/>
              </a:lnSpc>
              <a:spcBef>
                <a:spcPts val="0"/>
              </a:spcBef>
            </a:pPr>
            <a:r>
              <a:rPr sz="3000" b="0" i="0">
                <a:solidFill>
                  <a:srgbClr val="111111"/>
                </a:solidFill>
                <a:latin typeface="Inter"/>
              </a:rPr>
              <a:t>Open the class link (it ends in /thu) and type your first name.</a:t>
            </a:r>
          </a:p>
        </p:txBody>
      </p:sp>
      <p:sp>
        <p:nvSpPr>
          <p:cNvPr id="5" name="TextBox 4"/>
          <p:cNvSpPr txBox="1"/>
          <p:nvPr/>
        </p:nvSpPr>
        <p:spPr>
          <a:xfrm>
            <a:off x="822960" y="4324502"/>
            <a:ext cx="8647535" cy="980195"/>
          </a:xfrm>
          <a:prstGeom prst="rect">
            <a:avLst/>
          </a:prstGeom>
          <a:noFill/>
        </p:spPr>
        <p:txBody>
          <a:bodyPr wrap="square" anchor="t" lIns="0" rIns="0" tIns="0" bIns="0"/>
          <a:lstStyle/>
          <a:p>
            <a:pPr algn="l">
              <a:lnSpc>
                <a:spcPct val="112000"/>
              </a:lnSpc>
              <a:spcBef>
                <a:spcPts val="0"/>
              </a:spcBef>
            </a:pPr>
            <a:r>
              <a:rPr sz="1800" b="0" i="0">
                <a:solidFill>
                  <a:srgbClr val="707078"/>
                </a:solidFill>
                <a:latin typeface="Inter"/>
              </a:rPr>
              <a:t>Do Developers Really Know How to Use Git Commands? A Large-Scale Study Using Stack Overflow</a:t>
            </a:r>
          </a:p>
          <a:p>
            <a:pPr algn="l">
              <a:lnSpc>
                <a:spcPct val="112000"/>
              </a:lnSpc>
              <a:spcBef>
                <a:spcPts val="400"/>
              </a:spcBef>
            </a:pPr>
            <a:r>
              <a:rPr sz="1800" b="0" i="0">
                <a:solidFill>
                  <a:srgbClr val="707078"/>
                </a:solidFill>
                <a:latin typeface="Inter"/>
              </a:rPr>
              <a:t>Yang, Zhang, Pan, Xu, Zhou, Huang · ACM TOSEM 2022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ECFB"/>
        </a:solidFill>
        <a:effectLst/>
      </p:bgPr>
    </p:bg>
    <p:spTree>
      <p:nvGrpSpPr>
        <p:cNvPr id="1" name=""/>
        <p:cNvGrpSpPr/>
        <p:nvPr/>
      </p:nvGrpSpPr>
      <p:grpSpPr/>
      <p:sp>
        <p:nvSpPr>
          <p:cNvPr id="2" name="TextBox 1"/>
          <p:cNvSpPr txBox="1"/>
          <p:nvPr/>
        </p:nvSpPr>
        <p:spPr>
          <a:xfrm>
            <a:off x="822960" y="502920"/>
            <a:ext cx="10545775" cy="320040"/>
          </a:xfrm>
          <a:prstGeom prst="rect">
            <a:avLst/>
          </a:prstGeom>
          <a:noFill/>
        </p:spPr>
        <p:txBody>
          <a:bodyPr wrap="square" anchor="t" lIns="0" rIns="0" tIns="0" bIns="0"/>
          <a:lstStyle/>
          <a:p>
            <a:pPr algn="l">
              <a:lnSpc>
                <a:spcPct val="110000"/>
              </a:lnSpc>
            </a:pPr>
            <a:r>
              <a:rPr sz="1600" b="1">
                <a:solidFill>
                  <a:srgbClr val="8B3DFF"/>
                </a:solidFill>
                <a:latin typeface="Inter"/>
              </a:rPr>
              <a:t>BE THE DATA</a:t>
            </a:r>
          </a:p>
        </p:txBody>
      </p:sp>
      <p:sp>
        <p:nvSpPr>
          <p:cNvPr id="3" name="Rounded Rectangle 2"/>
          <p:cNvSpPr/>
          <p:nvPr/>
        </p:nvSpPr>
        <p:spPr>
          <a:xfrm>
            <a:off x="9997135" y="457200"/>
            <a:ext cx="1371600" cy="457200"/>
          </a:xfrm>
          <a:prstGeom prst="roundRect">
            <a:avLst>
              <a:gd name="adj" fmla="val 50000"/>
            </a:avLst>
          </a:prstGeom>
          <a:solidFill>
            <a:srgbClr val="FFFFFF"/>
          </a:solidFill>
          <a:ln>
            <a:noFill/>
          </a:ln>
          <a:effectLst/>
        </p:spPr>
        <p:txBody>
          <a:bodyPr rtlCol="0" anchor="ctr" lIns="0" rIns="0" tIns="0" bIns="0"/>
          <a:lstStyle/>
          <a:p>
            <a:pPr algn="ctr"/>
            <a:r>
              <a:rPr sz="1600" b="1">
                <a:solidFill>
                  <a:srgbClr val="111111"/>
                </a:solidFill>
                <a:latin typeface="Inter"/>
              </a:rPr>
              <a:t>4 min</a:t>
            </a:r>
          </a:p>
        </p:txBody>
      </p:sp>
      <p:sp>
        <p:nvSpPr>
          <p:cNvPr id="4" name="TextBox 3"/>
          <p:cNvSpPr txBox="1"/>
          <p:nvPr/>
        </p:nvSpPr>
        <p:spPr>
          <a:xfrm>
            <a:off x="822960" y="868680"/>
            <a:ext cx="8899855" cy="688441"/>
          </a:xfrm>
          <a:prstGeom prst="rect">
            <a:avLst/>
          </a:prstGeom>
          <a:noFill/>
        </p:spPr>
        <p:txBody>
          <a:bodyPr wrap="square" anchor="t" lIns="0" rIns="0" tIns="0" bIns="0"/>
          <a:lstStyle/>
          <a:p>
            <a:pPr algn="l">
              <a:lnSpc>
                <a:spcPct val="112000"/>
              </a:lnSpc>
              <a:spcBef>
                <a:spcPts val="0"/>
              </a:spcBef>
            </a:pPr>
            <a:r>
              <a:rPr sz="4000" b="1" i="0">
                <a:solidFill>
                  <a:srgbClr val="111111"/>
                </a:solidFill>
                <a:latin typeface="Inter"/>
              </a:rPr>
              <a:t>Take the paper’s survey</a:t>
            </a:r>
          </a:p>
        </p:txBody>
      </p:sp>
      <p:sp>
        <p:nvSpPr>
          <p:cNvPr id="5" name="TextBox 4"/>
          <p:cNvSpPr txBox="1"/>
          <p:nvPr/>
        </p:nvSpPr>
        <p:spPr>
          <a:xfrm>
            <a:off x="822960" y="1831441"/>
            <a:ext cx="8647535" cy="884284"/>
          </a:xfrm>
          <a:prstGeom prst="rect">
            <a:avLst/>
          </a:prstGeom>
          <a:noFill/>
        </p:spPr>
        <p:txBody>
          <a:bodyPr wrap="square" anchor="t" lIns="0" rIns="0" tIns="0" bIns="0"/>
          <a:lstStyle/>
          <a:p>
            <a:pPr algn="l">
              <a:lnSpc>
                <a:spcPct val="112000"/>
              </a:lnSpc>
              <a:spcBef>
                <a:spcPts val="0"/>
              </a:spcBef>
            </a:pPr>
            <a:r>
              <a:rPr sz="2200" b="0" i="0">
                <a:solidFill>
                  <a:srgbClr val="111111"/>
                </a:solidFill>
                <a:latin typeface="Inter"/>
              </a:rPr>
              <a:t>The real questions, from the authors’ published form.</a:t>
            </a:r>
          </a:p>
          <a:p>
            <a:pPr algn="l">
              <a:lnSpc>
                <a:spcPct val="112000"/>
              </a:lnSpc>
              <a:spcBef>
                <a:spcPts val="1000"/>
              </a:spcBef>
            </a:pPr>
            <a:r>
              <a:rPr sz="2200" b="0" i="0">
                <a:solidFill>
                  <a:srgbClr val="111111"/>
                </a:solidFill>
                <a:latin typeface="Inter"/>
              </a:rPr>
              <a:t>92 developers answered them. You are next.</a:t>
            </a:r>
          </a:p>
        </p:txBody>
      </p:sp>
      <p:sp>
        <p:nvSpPr>
          <p:cNvPr id="6" name="TextBox 5"/>
          <p:cNvSpPr txBox="1"/>
          <p:nvPr/>
        </p:nvSpPr>
        <p:spPr>
          <a:xfrm>
            <a:off x="822960" y="2944325"/>
            <a:ext cx="8647535" cy="1969756"/>
          </a:xfrm>
          <a:prstGeom prst="rect">
            <a:avLst/>
          </a:prstGeom>
          <a:noFill/>
        </p:spPr>
        <p:txBody>
          <a:bodyPr wrap="square" anchor="t" lIns="0" rIns="0" tIns="0" bIns="0"/>
          <a:lstStyle/>
          <a:p>
            <a:pPr algn="l">
              <a:lnSpc>
                <a:spcPct val="112000"/>
              </a:lnSpc>
              <a:spcBef>
                <a:spcPts val="0"/>
              </a:spcBef>
            </a:pPr>
            <a:r>
              <a:rPr sz="1600" b="0" i="0">
                <a:solidFill>
                  <a:srgbClr val="111111"/>
                </a:solidFill>
                <a:latin typeface="Inter"/>
              </a:rPr>
              <a:t>2. What is your professional area?</a:t>
            </a:r>
          </a:p>
          <a:p>
            <a:pPr algn="l">
              <a:lnSpc>
                <a:spcPct val="112000"/>
              </a:lnSpc>
              <a:spcBef>
                <a:spcPts val="500"/>
              </a:spcBef>
            </a:pPr>
            <a:r>
              <a:rPr sz="1600" b="0" i="0">
                <a:solidFill>
                  <a:srgbClr val="111111"/>
                </a:solidFill>
                <a:latin typeface="Inter"/>
              </a:rPr>
              <a:t>3. What is your highest degree?</a:t>
            </a:r>
          </a:p>
          <a:p>
            <a:pPr algn="l">
              <a:lnSpc>
                <a:spcPct val="112000"/>
              </a:lnSpc>
              <a:spcBef>
                <a:spcPts val="500"/>
              </a:spcBef>
            </a:pPr>
            <a:r>
              <a:rPr sz="1600" b="0" i="0">
                <a:solidFill>
                  <a:srgbClr val="111111"/>
                </a:solidFill>
                <a:latin typeface="Inter"/>
              </a:rPr>
              <a:t>4. How many years have you been using Git?</a:t>
            </a:r>
          </a:p>
          <a:p>
            <a:pPr algn="l">
              <a:lnSpc>
                <a:spcPct val="112000"/>
              </a:lnSpc>
              <a:spcBef>
                <a:spcPts val="500"/>
              </a:spcBef>
            </a:pPr>
            <a:r>
              <a:rPr sz="1600" b="0" i="0">
                <a:solidFill>
                  <a:srgbClr val="111111"/>
                </a:solidFill>
                <a:latin typeface="Inter"/>
              </a:rPr>
              <a:t>5. Which of the following levels do you consider your ability to use Git to be?</a:t>
            </a:r>
          </a:p>
          <a:p>
            <a:pPr algn="l">
              <a:lnSpc>
                <a:spcPct val="112000"/>
              </a:lnSpc>
              <a:spcBef>
                <a:spcPts val="500"/>
              </a:spcBef>
            </a:pPr>
            <a:r>
              <a:rPr sz="1600" b="0" i="0">
                <a:solidFill>
                  <a:srgbClr val="111111"/>
                </a:solidFill>
                <a:latin typeface="Inter"/>
              </a:rPr>
              <a:t>6. What are the main approaches you used to learn Git commands?</a:t>
            </a:r>
          </a:p>
          <a:p>
            <a:pPr algn="l">
              <a:lnSpc>
                <a:spcPct val="112000"/>
              </a:lnSpc>
              <a:spcBef>
                <a:spcPts val="500"/>
              </a:spcBef>
            </a:pPr>
            <a:r>
              <a:rPr sz="1600" b="0" i="0">
                <a:solidFill>
                  <a:srgbClr val="111111"/>
                </a:solidFill>
                <a:latin typeface="Inter"/>
              </a:rPr>
              <a:t>7. Do you have any suggestions for potential new developers on learning Git commands</a:t>
            </a:r>
          </a:p>
        </p:txBody>
      </p:sp>
      <p:sp>
        <p:nvSpPr>
          <p:cNvPr id="7" name="TextBox 6"/>
          <p:cNvSpPr txBox="1"/>
          <p:nvPr/>
        </p:nvSpPr>
        <p:spPr>
          <a:xfrm>
            <a:off x="822960" y="5051241"/>
            <a:ext cx="8647535" cy="223743"/>
          </a:xfrm>
          <a:prstGeom prst="rect">
            <a:avLst/>
          </a:prstGeom>
          <a:noFill/>
        </p:spPr>
        <p:txBody>
          <a:bodyPr wrap="square" anchor="t" lIns="0" rIns="0" tIns="0" bIns="0"/>
          <a:lstStyle/>
          <a:p>
            <a:pPr algn="l">
              <a:lnSpc>
                <a:spcPct val="112000"/>
              </a:lnSpc>
              <a:spcBef>
                <a:spcPts val="0"/>
              </a:spcBef>
            </a:pPr>
            <a:r>
              <a:rPr sz="1300" b="0" i="0">
                <a:solidFill>
                  <a:srgbClr val="707078"/>
                </a:solidFill>
                <a:latin typeface="Inter"/>
              </a:rPr>
              <a:t>Q1 of the form, the donation choice, is left out.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45775" cy="320040"/>
          </a:xfrm>
          <a:prstGeom prst="rect">
            <a:avLst/>
          </a:prstGeom>
          <a:noFill/>
        </p:spPr>
        <p:txBody>
          <a:bodyPr wrap="square" anchor="t" lIns="0" rIns="0" tIns="0" bIns="0"/>
          <a:lstStyle/>
          <a:p>
            <a:pPr algn="l">
              <a:lnSpc>
                <a:spcPct val="110000"/>
              </a:lnSpc>
            </a:pPr>
            <a:r>
              <a:rPr sz="1600" b="1">
                <a:solidFill>
                  <a:srgbClr val="8B3DFF"/>
                </a:solidFill>
                <a:latin typeface="Inter"/>
              </a:rPr>
              <a:t>1 · THE QUESTION</a:t>
            </a:r>
          </a:p>
        </p:txBody>
      </p:sp>
      <p:sp>
        <p:nvSpPr>
          <p:cNvPr id="3" name="TextBox 2"/>
          <p:cNvSpPr txBox="1"/>
          <p:nvPr/>
        </p:nvSpPr>
        <p:spPr>
          <a:xfrm>
            <a:off x="822960" y="868680"/>
            <a:ext cx="10545775" cy="688441"/>
          </a:xfrm>
          <a:prstGeom prst="rect">
            <a:avLst/>
          </a:prstGeom>
          <a:noFill/>
        </p:spPr>
        <p:txBody>
          <a:bodyPr wrap="square" anchor="t" lIns="0" rIns="0" tIns="0" bIns="0"/>
          <a:lstStyle/>
          <a:p>
            <a:pPr algn="l">
              <a:lnSpc>
                <a:spcPct val="112000"/>
              </a:lnSpc>
              <a:spcBef>
                <a:spcPts val="0"/>
              </a:spcBef>
            </a:pPr>
            <a:r>
              <a:rPr sz="4000" b="1" i="0">
                <a:solidFill>
                  <a:srgbClr val="111111"/>
                </a:solidFill>
                <a:latin typeface="Inter"/>
              </a:rPr>
              <a:t>The paper in one slide</a:t>
            </a:r>
          </a:p>
        </p:txBody>
      </p:sp>
      <p:sp>
        <p:nvSpPr>
          <p:cNvPr id="4" name="Rectangle 3"/>
          <p:cNvSpPr/>
          <p:nvPr/>
        </p:nvSpPr>
        <p:spPr>
          <a:xfrm>
            <a:off x="822960" y="1831441"/>
            <a:ext cx="10545775" cy="9525"/>
          </a:xfrm>
          <a:prstGeom prst="rect">
            <a:avLst/>
          </a:prstGeom>
          <a:solidFill>
            <a:srgbClr val="D9D9DE"/>
          </a:solidFill>
          <a:ln>
            <a:noFill/>
          </a:ln>
        </p:spPr>
        <p:txBody>
          <a:bodyPr rtlCol="0" anchor="ctr"/>
          <a:lstStyle/>
          <a:p>
            <a:pPr algn="ctr"/>
          </a:p>
        </p:txBody>
      </p:sp>
      <p:sp>
        <p:nvSpPr>
          <p:cNvPr id="5" name="TextBox 4"/>
          <p:cNvSpPr txBox="1"/>
          <p:nvPr/>
        </p:nvSpPr>
        <p:spPr>
          <a:xfrm>
            <a:off x="914400" y="1922881"/>
            <a:ext cx="3108960" cy="585175"/>
          </a:xfrm>
          <a:prstGeom prst="rect">
            <a:avLst/>
          </a:prstGeom>
          <a:noFill/>
        </p:spPr>
        <p:txBody>
          <a:bodyPr wrap="square" anchor="t" lIns="0" rIns="0" tIns="0" bIns="0"/>
          <a:lstStyle/>
          <a:p>
            <a:pPr algn="l">
              <a:lnSpc>
                <a:spcPct val="112000"/>
              </a:lnSpc>
              <a:spcBef>
                <a:spcPts val="0"/>
              </a:spcBef>
            </a:pPr>
            <a:r>
              <a:rPr sz="1700" b="1" i="0">
                <a:solidFill>
                  <a:srgbClr val="111111"/>
                </a:solidFill>
                <a:latin typeface="Inter"/>
              </a:rPr>
              <a:t>RQ1 · How many Git questions?</a:t>
            </a:r>
          </a:p>
        </p:txBody>
      </p:sp>
      <p:sp>
        <p:nvSpPr>
          <p:cNvPr id="6" name="TextBox 5"/>
          <p:cNvSpPr txBox="1"/>
          <p:nvPr/>
        </p:nvSpPr>
        <p:spPr>
          <a:xfrm>
            <a:off x="4206240" y="1922881"/>
            <a:ext cx="7071055" cy="585175"/>
          </a:xfrm>
          <a:prstGeom prst="rect">
            <a:avLst/>
          </a:prstGeom>
          <a:noFill/>
        </p:spPr>
        <p:txBody>
          <a:bodyPr wrap="square" anchor="t" lIns="0" rIns="0" tIns="0" bIns="0"/>
          <a:lstStyle/>
          <a:p>
            <a:pPr algn="l">
              <a:lnSpc>
                <a:spcPct val="112000"/>
              </a:lnSpc>
              <a:spcBef>
                <a:spcPts val="0"/>
              </a:spcBef>
            </a:pPr>
            <a:r>
              <a:rPr sz="1700" b="0" i="0">
                <a:solidFill>
                  <a:srgbClr val="111111"/>
                </a:solidFill>
                <a:latin typeface="Inter"/>
              </a:rPr>
              <a:t>80,370 questions, 2008–2020. Since 2010, about 0.4% of all Stack Overflow questions each year.</a:t>
            </a:r>
          </a:p>
        </p:txBody>
      </p:sp>
      <p:sp>
        <p:nvSpPr>
          <p:cNvPr id="7" name="Rectangle 6"/>
          <p:cNvSpPr/>
          <p:nvPr/>
        </p:nvSpPr>
        <p:spPr>
          <a:xfrm>
            <a:off x="822960" y="2599496"/>
            <a:ext cx="10545775" cy="9525"/>
          </a:xfrm>
          <a:prstGeom prst="rect">
            <a:avLst/>
          </a:prstGeom>
          <a:solidFill>
            <a:srgbClr val="D9D9DE"/>
          </a:solidFill>
          <a:ln>
            <a:noFill/>
          </a:ln>
        </p:spPr>
        <p:txBody>
          <a:bodyPr rtlCol="0" anchor="ctr"/>
          <a:lstStyle/>
          <a:p>
            <a:pPr algn="ctr"/>
          </a:p>
        </p:txBody>
      </p:sp>
      <p:sp>
        <p:nvSpPr>
          <p:cNvPr id="8" name="TextBox 7"/>
          <p:cNvSpPr txBox="1"/>
          <p:nvPr/>
        </p:nvSpPr>
        <p:spPr>
          <a:xfrm>
            <a:off x="914400" y="2690936"/>
            <a:ext cx="3108960" cy="292587"/>
          </a:xfrm>
          <a:prstGeom prst="rect">
            <a:avLst/>
          </a:prstGeom>
          <a:noFill/>
        </p:spPr>
        <p:txBody>
          <a:bodyPr wrap="square" anchor="t" lIns="0" rIns="0" tIns="0" bIns="0"/>
          <a:lstStyle/>
          <a:p>
            <a:pPr algn="l">
              <a:lnSpc>
                <a:spcPct val="112000"/>
              </a:lnSpc>
              <a:spcBef>
                <a:spcPts val="0"/>
              </a:spcBef>
            </a:pPr>
            <a:r>
              <a:rPr sz="1700" b="1" i="0">
                <a:solidFill>
                  <a:srgbClr val="111111"/>
                </a:solidFill>
                <a:latin typeface="Inter"/>
              </a:rPr>
              <a:t>RQ2 · Who asks?</a:t>
            </a:r>
          </a:p>
        </p:txBody>
      </p:sp>
      <p:sp>
        <p:nvSpPr>
          <p:cNvPr id="9" name="TextBox 8"/>
          <p:cNvSpPr txBox="1"/>
          <p:nvPr/>
        </p:nvSpPr>
        <p:spPr>
          <a:xfrm>
            <a:off x="4206240" y="2690936"/>
            <a:ext cx="7071055" cy="585175"/>
          </a:xfrm>
          <a:prstGeom prst="rect">
            <a:avLst/>
          </a:prstGeom>
          <a:noFill/>
        </p:spPr>
        <p:txBody>
          <a:bodyPr wrap="square" anchor="t" lIns="0" rIns="0" tIns="0" bIns="0"/>
          <a:lstStyle/>
          <a:p>
            <a:pPr algn="l">
              <a:lnSpc>
                <a:spcPct val="112000"/>
              </a:lnSpc>
              <a:spcBef>
                <a:spcPts val="0"/>
              </a:spcBef>
            </a:pPr>
            <a:r>
              <a:rPr sz="1700" b="0" i="0">
                <a:solidFill>
                  <a:srgbClr val="111111"/>
                </a:solidFill>
                <a:latin typeface="Inter"/>
              </a:rPr>
              <a:t>In 2020, 40.0% of Git askers had registered more than 5 years earlier (21.2% of all askers).</a:t>
            </a:r>
          </a:p>
        </p:txBody>
      </p:sp>
      <p:sp>
        <p:nvSpPr>
          <p:cNvPr id="10" name="Rectangle 9"/>
          <p:cNvSpPr/>
          <p:nvPr/>
        </p:nvSpPr>
        <p:spPr>
          <a:xfrm>
            <a:off x="822960" y="3367551"/>
            <a:ext cx="10545775" cy="9525"/>
          </a:xfrm>
          <a:prstGeom prst="rect">
            <a:avLst/>
          </a:prstGeom>
          <a:solidFill>
            <a:srgbClr val="D9D9DE"/>
          </a:solidFill>
          <a:ln>
            <a:noFill/>
          </a:ln>
        </p:spPr>
        <p:txBody>
          <a:bodyPr rtlCol="0" anchor="ctr"/>
          <a:lstStyle/>
          <a:p>
            <a:pPr algn="ctr"/>
          </a:p>
        </p:txBody>
      </p:sp>
      <p:sp>
        <p:nvSpPr>
          <p:cNvPr id="11" name="TextBox 10"/>
          <p:cNvSpPr txBox="1"/>
          <p:nvPr/>
        </p:nvSpPr>
        <p:spPr>
          <a:xfrm>
            <a:off x="914400" y="3458991"/>
            <a:ext cx="3108960" cy="292587"/>
          </a:xfrm>
          <a:prstGeom prst="rect">
            <a:avLst/>
          </a:prstGeom>
          <a:noFill/>
        </p:spPr>
        <p:txBody>
          <a:bodyPr wrap="square" anchor="t" lIns="0" rIns="0" tIns="0" bIns="0"/>
          <a:lstStyle/>
          <a:p>
            <a:pPr algn="l">
              <a:lnSpc>
                <a:spcPct val="112000"/>
              </a:lnSpc>
              <a:spcBef>
                <a:spcPts val="0"/>
              </a:spcBef>
            </a:pPr>
            <a:r>
              <a:rPr sz="1700" b="1" i="0">
                <a:solidFill>
                  <a:srgbClr val="111111"/>
                </a:solidFill>
                <a:latin typeface="Inter"/>
              </a:rPr>
              <a:t>RQ3 · Which commands?</a:t>
            </a:r>
          </a:p>
        </p:txBody>
      </p:sp>
      <p:sp>
        <p:nvSpPr>
          <p:cNvPr id="12" name="TextBox 11"/>
          <p:cNvSpPr txBox="1"/>
          <p:nvPr/>
        </p:nvSpPr>
        <p:spPr>
          <a:xfrm>
            <a:off x="4206240" y="3458991"/>
            <a:ext cx="7071055" cy="585175"/>
          </a:xfrm>
          <a:prstGeom prst="rect">
            <a:avLst/>
          </a:prstGeom>
          <a:noFill/>
        </p:spPr>
        <p:txBody>
          <a:bodyPr wrap="square" anchor="t" lIns="0" rIns="0" tIns="0" bIns="0"/>
          <a:lstStyle/>
          <a:p>
            <a:pPr algn="l">
              <a:lnSpc>
                <a:spcPct val="112000"/>
              </a:lnSpc>
              <a:spcBef>
                <a:spcPts val="0"/>
              </a:spcBef>
            </a:pPr>
            <a:r>
              <a:rPr sz="1700" b="0" i="0">
                <a:solidFill>
                  <a:srgbClr val="111111"/>
                </a:solidFill>
                <a:latin typeface="Inter"/>
              </a:rPr>
              <a:t>Most viewed on average, among commands in 200+ questions: </a:t>
            </a:r>
            <a:r>
              <a:rPr sz="1700" b="0" i="0">
                <a:solidFill>
                  <a:srgbClr val="111111"/>
                </a:solidFill>
                <a:latin typeface="Noto Sans Mono"/>
              </a:rPr>
              <a:t>git revert</a:t>
            </a:r>
            <a:r>
              <a:rPr sz="1700" b="0" i="0">
                <a:solidFill>
                  <a:srgbClr val="111111"/>
                </a:solidFill>
                <a:latin typeface="Inter"/>
              </a:rPr>
              <a:t>, </a:t>
            </a:r>
            <a:r>
              <a:rPr sz="1700" b="0" i="0">
                <a:solidFill>
                  <a:srgbClr val="111111"/>
                </a:solidFill>
                <a:latin typeface="Noto Sans Mono"/>
              </a:rPr>
              <a:t>git reflog</a:t>
            </a:r>
            <a:r>
              <a:rPr sz="1700" b="0" i="0">
                <a:solidFill>
                  <a:srgbClr val="111111"/>
                </a:solidFill>
                <a:latin typeface="Inter"/>
              </a:rPr>
              <a:t>, </a:t>
            </a:r>
            <a:r>
              <a:rPr sz="1700" b="0" i="0">
                <a:solidFill>
                  <a:srgbClr val="111111"/>
                </a:solidFill>
                <a:latin typeface="Noto Sans Mono"/>
              </a:rPr>
              <a:t>git stash</a:t>
            </a:r>
            <a:r>
              <a:rPr sz="1700" b="0" i="0">
                <a:solidFill>
                  <a:srgbClr val="111111"/>
                </a:solidFill>
                <a:latin typeface="Inter"/>
              </a:rPr>
              <a:t>, </a:t>
            </a:r>
            <a:r>
              <a:rPr sz="1700" b="0" i="0">
                <a:solidFill>
                  <a:srgbClr val="111111"/>
                </a:solidFill>
                <a:latin typeface="Noto Sans Mono"/>
              </a:rPr>
              <a:t>git clean</a:t>
            </a:r>
            <a:r>
              <a:rPr sz="1700" b="0" i="0">
                <a:solidFill>
                  <a:srgbClr val="111111"/>
                </a:solidFill>
                <a:latin typeface="Inter"/>
              </a:rPr>
              <a:t>, </a:t>
            </a:r>
            <a:r>
              <a:rPr sz="1700" b="0" i="0">
                <a:solidFill>
                  <a:srgbClr val="111111"/>
                </a:solidFill>
                <a:latin typeface="Noto Sans Mono"/>
              </a:rPr>
              <a:t>git reset</a:t>
            </a:r>
            <a:r>
              <a:rPr sz="1700" b="0" i="0">
                <a:solidFill>
                  <a:srgbClr val="111111"/>
                </a:solidFill>
                <a:latin typeface="Inter"/>
              </a:rPr>
              <a:t>.</a:t>
            </a:r>
          </a:p>
        </p:txBody>
      </p:sp>
      <p:sp>
        <p:nvSpPr>
          <p:cNvPr id="13" name="Rectangle 12"/>
          <p:cNvSpPr/>
          <p:nvPr/>
        </p:nvSpPr>
        <p:spPr>
          <a:xfrm>
            <a:off x="822960" y="4135606"/>
            <a:ext cx="10545775" cy="9525"/>
          </a:xfrm>
          <a:prstGeom prst="rect">
            <a:avLst/>
          </a:prstGeom>
          <a:solidFill>
            <a:srgbClr val="D9D9DE"/>
          </a:solidFill>
          <a:ln>
            <a:noFill/>
          </a:ln>
        </p:spPr>
        <p:txBody>
          <a:bodyPr rtlCol="0" anchor="ctr"/>
          <a:lstStyle/>
          <a:p>
            <a:pPr algn="ctr"/>
          </a:p>
        </p:txBody>
      </p:sp>
      <p:sp>
        <p:nvSpPr>
          <p:cNvPr id="14" name="TextBox 13"/>
          <p:cNvSpPr txBox="1"/>
          <p:nvPr/>
        </p:nvSpPr>
        <p:spPr>
          <a:xfrm>
            <a:off x="914400" y="4227046"/>
            <a:ext cx="3108960" cy="292587"/>
          </a:xfrm>
          <a:prstGeom prst="rect">
            <a:avLst/>
          </a:prstGeom>
          <a:noFill/>
        </p:spPr>
        <p:txBody>
          <a:bodyPr wrap="square" anchor="t" lIns="0" rIns="0" tIns="0" bIns="0"/>
          <a:lstStyle/>
          <a:p>
            <a:pPr algn="l">
              <a:lnSpc>
                <a:spcPct val="112000"/>
              </a:lnSpc>
              <a:spcBef>
                <a:spcPts val="0"/>
              </a:spcBef>
            </a:pPr>
            <a:r>
              <a:rPr sz="1700" b="1" i="0">
                <a:solidFill>
                  <a:srgbClr val="111111"/>
                </a:solidFill>
                <a:latin typeface="Inter"/>
              </a:rPr>
              <a:t>RQ4 · Which are hardest?</a:t>
            </a:r>
          </a:p>
        </p:txBody>
      </p:sp>
      <p:sp>
        <p:nvSpPr>
          <p:cNvPr id="15" name="TextBox 14"/>
          <p:cNvSpPr txBox="1"/>
          <p:nvPr/>
        </p:nvSpPr>
        <p:spPr>
          <a:xfrm>
            <a:off x="4206240" y="4227046"/>
            <a:ext cx="7071055" cy="585175"/>
          </a:xfrm>
          <a:prstGeom prst="rect">
            <a:avLst/>
          </a:prstGeom>
          <a:noFill/>
        </p:spPr>
        <p:txBody>
          <a:bodyPr wrap="square" anchor="t" lIns="0" rIns="0" tIns="0" bIns="0"/>
          <a:lstStyle/>
          <a:p>
            <a:pPr algn="l">
              <a:lnSpc>
                <a:spcPct val="112000"/>
              </a:lnSpc>
              <a:spcBef>
                <a:spcPts val="0"/>
              </a:spcBef>
            </a:pPr>
            <a:r>
              <a:rPr sz="1700" b="0" i="0">
                <a:solidFill>
                  <a:srgbClr val="111111"/>
                </a:solidFill>
                <a:latin typeface="Inter"/>
              </a:rPr>
              <a:t>Most often without an accepted answer: rare commands; among frequent ones, </a:t>
            </a:r>
            <a:r>
              <a:rPr sz="1700" b="0" i="0">
                <a:solidFill>
                  <a:srgbClr val="111111"/>
                </a:solidFill>
                <a:latin typeface="Noto Sans Mono"/>
              </a:rPr>
              <a:t>git credential</a:t>
            </a:r>
            <a:r>
              <a:rPr sz="1700" b="0" i="0">
                <a:solidFill>
                  <a:srgbClr val="111111"/>
                </a:solidFill>
                <a:latin typeface="Inter"/>
              </a:rPr>
              <a:t> and </a:t>
            </a:r>
            <a:r>
              <a:rPr sz="1700" b="0" i="0">
                <a:solidFill>
                  <a:srgbClr val="111111"/>
                </a:solidFill>
                <a:latin typeface="Noto Sans Mono"/>
              </a:rPr>
              <a:t>git submodule</a:t>
            </a:r>
            <a:r>
              <a:rPr sz="1700" b="0" i="0">
                <a:solidFill>
                  <a:srgbClr val="111111"/>
                </a:solidFill>
                <a:latin typeface="Inter"/>
              </a:rPr>
              <a:t>.</a:t>
            </a:r>
          </a:p>
        </p:txBody>
      </p:sp>
      <p:sp>
        <p:nvSpPr>
          <p:cNvPr id="16" name="Rectangle 15"/>
          <p:cNvSpPr/>
          <p:nvPr/>
        </p:nvSpPr>
        <p:spPr>
          <a:xfrm>
            <a:off x="822960" y="4903661"/>
            <a:ext cx="10545775" cy="9525"/>
          </a:xfrm>
          <a:prstGeom prst="rect">
            <a:avLst/>
          </a:prstGeom>
          <a:solidFill>
            <a:srgbClr val="D9D9DE"/>
          </a:solidFill>
          <a:ln>
            <a:noFill/>
          </a:ln>
        </p:spPr>
        <p:txBody>
          <a:bodyPr rtlCol="0" anchor="ctr"/>
          <a:lstStyle/>
          <a:p>
            <a:pPr algn="ctr"/>
          </a:p>
        </p:txBody>
      </p:sp>
      <p:sp>
        <p:nvSpPr>
          <p:cNvPr id="17" name="TextBox 16"/>
          <p:cNvSpPr txBox="1"/>
          <p:nvPr/>
        </p:nvSpPr>
        <p:spPr>
          <a:xfrm>
            <a:off x="914400" y="4995101"/>
            <a:ext cx="3108960" cy="292587"/>
          </a:xfrm>
          <a:prstGeom prst="rect">
            <a:avLst/>
          </a:prstGeom>
          <a:noFill/>
        </p:spPr>
        <p:txBody>
          <a:bodyPr wrap="square" anchor="t" lIns="0" rIns="0" tIns="0" bIns="0"/>
          <a:lstStyle/>
          <a:p>
            <a:pPr algn="l">
              <a:lnSpc>
                <a:spcPct val="112000"/>
              </a:lnSpc>
              <a:spcBef>
                <a:spcPts val="0"/>
              </a:spcBef>
            </a:pPr>
            <a:r>
              <a:rPr sz="1700" b="1" i="0">
                <a:solidFill>
                  <a:srgbClr val="111111"/>
                </a:solidFill>
                <a:latin typeface="Inter"/>
              </a:rPr>
              <a:t>RQ5 · How do people learn?</a:t>
            </a:r>
          </a:p>
        </p:txBody>
      </p:sp>
      <p:sp>
        <p:nvSpPr>
          <p:cNvPr id="18" name="TextBox 17"/>
          <p:cNvSpPr txBox="1"/>
          <p:nvPr/>
        </p:nvSpPr>
        <p:spPr>
          <a:xfrm>
            <a:off x="4206240" y="4995101"/>
            <a:ext cx="7071055" cy="585175"/>
          </a:xfrm>
          <a:prstGeom prst="rect">
            <a:avLst/>
          </a:prstGeom>
          <a:noFill/>
        </p:spPr>
        <p:txBody>
          <a:bodyPr wrap="square" anchor="t" lIns="0" rIns="0" tIns="0" bIns="0"/>
          <a:lstStyle/>
          <a:p>
            <a:pPr algn="l">
              <a:lnSpc>
                <a:spcPct val="112000"/>
              </a:lnSpc>
              <a:spcBef>
                <a:spcPts val="0"/>
              </a:spcBef>
            </a:pPr>
            <a:r>
              <a:rPr sz="1700" b="0" i="0">
                <a:solidFill>
                  <a:srgbClr val="111111"/>
                </a:solidFill>
                <a:latin typeface="Inter"/>
              </a:rPr>
              <a:t>Survey, 92 of 508 invited: 81.7% of ticked approaches are self-learning.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ECFB"/>
        </a:solidFill>
        <a:effectLst/>
      </p:bgPr>
    </p:bg>
    <p:spTree>
      <p:nvGrpSpPr>
        <p:cNvPr id="1" name=""/>
        <p:cNvGrpSpPr/>
        <p:nvPr/>
      </p:nvGrpSpPr>
      <p:grpSpPr/>
      <p:sp>
        <p:nvSpPr>
          <p:cNvPr id="2" name="TextBox 1"/>
          <p:cNvSpPr txBox="1"/>
          <p:nvPr/>
        </p:nvSpPr>
        <p:spPr>
          <a:xfrm>
            <a:off x="822960" y="502920"/>
            <a:ext cx="10545775" cy="320040"/>
          </a:xfrm>
          <a:prstGeom prst="rect">
            <a:avLst/>
          </a:prstGeom>
          <a:noFill/>
        </p:spPr>
        <p:txBody>
          <a:bodyPr wrap="square" anchor="t" lIns="0" rIns="0" tIns="0" bIns="0"/>
          <a:lstStyle/>
          <a:p>
            <a:pPr algn="l">
              <a:lnSpc>
                <a:spcPct val="110000"/>
              </a:lnSpc>
            </a:pPr>
            <a:r>
              <a:rPr sz="1600" b="1">
                <a:solidFill>
                  <a:srgbClr val="8B3DFF"/>
                </a:solidFill>
                <a:latin typeface="Inter"/>
              </a:rPr>
              <a:t>1 · THE QUESTION</a:t>
            </a:r>
          </a:p>
        </p:txBody>
      </p:sp>
      <p:sp>
        <p:nvSpPr>
          <p:cNvPr id="3" name="Rounded Rectangle 2"/>
          <p:cNvSpPr/>
          <p:nvPr/>
        </p:nvSpPr>
        <p:spPr>
          <a:xfrm>
            <a:off x="9997135" y="457200"/>
            <a:ext cx="1371600" cy="457200"/>
          </a:xfrm>
          <a:prstGeom prst="roundRect">
            <a:avLst>
              <a:gd name="adj" fmla="val 50000"/>
            </a:avLst>
          </a:prstGeom>
          <a:solidFill>
            <a:srgbClr val="FFFFFF"/>
          </a:solidFill>
          <a:ln>
            <a:noFill/>
          </a:ln>
          <a:effectLst/>
        </p:spPr>
        <p:txBody>
          <a:bodyPr rtlCol="0" anchor="ctr" lIns="0" rIns="0" tIns="0" bIns="0"/>
          <a:lstStyle/>
          <a:p>
            <a:pPr algn="ctr"/>
            <a:r>
              <a:rPr sz="1600" b="1">
                <a:solidFill>
                  <a:srgbClr val="111111"/>
                </a:solidFill>
                <a:latin typeface="Inter"/>
              </a:rPr>
              <a:t>2 min</a:t>
            </a:r>
          </a:p>
        </p:txBody>
      </p:sp>
      <p:sp>
        <p:nvSpPr>
          <p:cNvPr id="4" name="TextBox 3"/>
          <p:cNvSpPr txBox="1"/>
          <p:nvPr/>
        </p:nvSpPr>
        <p:spPr>
          <a:xfrm>
            <a:off x="822960" y="868680"/>
            <a:ext cx="8899855" cy="688441"/>
          </a:xfrm>
          <a:prstGeom prst="rect">
            <a:avLst/>
          </a:prstGeom>
          <a:noFill/>
        </p:spPr>
        <p:txBody>
          <a:bodyPr wrap="square" anchor="t" lIns="0" rIns="0" tIns="0" bIns="0"/>
          <a:lstStyle/>
          <a:p>
            <a:pPr algn="l">
              <a:lnSpc>
                <a:spcPct val="112000"/>
              </a:lnSpc>
              <a:spcBef>
                <a:spcPts val="0"/>
              </a:spcBef>
            </a:pPr>
            <a:r>
              <a:rPr sz="4000" b="1" i="0">
                <a:solidFill>
                  <a:srgbClr val="111111"/>
                </a:solidFill>
                <a:latin typeface="Inter"/>
              </a:rPr>
              <a:t>What kind of study is this?</a:t>
            </a:r>
          </a:p>
        </p:txBody>
      </p:sp>
      <p:sp>
        <p:nvSpPr>
          <p:cNvPr id="5" name="Rounded Rectangle 4"/>
          <p:cNvSpPr/>
          <p:nvPr/>
        </p:nvSpPr>
        <p:spPr>
          <a:xfrm>
            <a:off x="822960" y="1922881"/>
            <a:ext cx="10545775" cy="566928"/>
          </a:xfrm>
          <a:prstGeom prst="roundRect">
            <a:avLst>
              <a:gd name="adj" fmla="val 12000"/>
            </a:avLst>
          </a:prstGeom>
          <a:solidFill>
            <a:srgbClr val="FFFFFF"/>
          </a:solidFill>
          <a:ln w="12700">
            <a:solidFill>
              <a:srgbClr val="D9D9DE"/>
            </a:solidFill>
          </a:ln>
          <a:effectLst/>
        </p:spPr>
        <p:txBody>
          <a:bodyPr rtlCol="0" anchor="ctr"/>
          <a:lstStyle/>
          <a:p/>
        </p:txBody>
      </p:sp>
      <p:sp>
        <p:nvSpPr>
          <p:cNvPr id="6" name="TextBox 5"/>
          <p:cNvSpPr txBox="1"/>
          <p:nvPr/>
        </p:nvSpPr>
        <p:spPr>
          <a:xfrm>
            <a:off x="1051560" y="2041753"/>
            <a:ext cx="10088575" cy="344220"/>
          </a:xfrm>
          <a:prstGeom prst="rect">
            <a:avLst/>
          </a:prstGeom>
          <a:noFill/>
        </p:spPr>
        <p:txBody>
          <a:bodyPr wrap="square" anchor="t" lIns="0" rIns="0" tIns="0" bIns="0"/>
          <a:lstStyle/>
          <a:p>
            <a:pPr algn="l">
              <a:lnSpc>
                <a:spcPct val="112000"/>
              </a:lnSpc>
              <a:spcBef>
                <a:spcPts val="0"/>
              </a:spcBef>
            </a:pPr>
            <a:r>
              <a:rPr sz="2000" b="0" i="0">
                <a:solidFill>
                  <a:srgbClr val="111111"/>
                </a:solidFill>
                <a:latin typeface="Inter"/>
              </a:rPr>
              <a:t>Need-finding: what problems do people have?</a:t>
            </a:r>
          </a:p>
        </p:txBody>
      </p:sp>
      <p:sp>
        <p:nvSpPr>
          <p:cNvPr id="7" name="Rounded Rectangle 6"/>
          <p:cNvSpPr/>
          <p:nvPr/>
        </p:nvSpPr>
        <p:spPr>
          <a:xfrm>
            <a:off x="822960" y="2581249"/>
            <a:ext cx="10545775" cy="566928"/>
          </a:xfrm>
          <a:prstGeom prst="roundRect">
            <a:avLst>
              <a:gd name="adj" fmla="val 12000"/>
            </a:avLst>
          </a:prstGeom>
          <a:solidFill>
            <a:srgbClr val="FFFFFF"/>
          </a:solidFill>
          <a:ln w="12700">
            <a:solidFill>
              <a:srgbClr val="D9D9DE"/>
            </a:solidFill>
          </a:ln>
          <a:effectLst/>
        </p:spPr>
        <p:txBody>
          <a:bodyPr rtlCol="0" anchor="ctr"/>
          <a:lstStyle/>
          <a:p/>
        </p:txBody>
      </p:sp>
      <p:sp>
        <p:nvSpPr>
          <p:cNvPr id="8" name="TextBox 7"/>
          <p:cNvSpPr txBox="1"/>
          <p:nvPr/>
        </p:nvSpPr>
        <p:spPr>
          <a:xfrm>
            <a:off x="1051560" y="2700121"/>
            <a:ext cx="10088575" cy="344220"/>
          </a:xfrm>
          <a:prstGeom prst="rect">
            <a:avLst/>
          </a:prstGeom>
          <a:noFill/>
        </p:spPr>
        <p:txBody>
          <a:bodyPr wrap="square" anchor="t" lIns="0" rIns="0" tIns="0" bIns="0"/>
          <a:lstStyle/>
          <a:p>
            <a:pPr algn="l">
              <a:lnSpc>
                <a:spcPct val="112000"/>
              </a:lnSpc>
              <a:spcBef>
                <a:spcPts val="0"/>
              </a:spcBef>
            </a:pPr>
            <a:r>
              <a:rPr sz="2000" b="0" i="0">
                <a:solidFill>
                  <a:srgbClr val="111111"/>
                </a:solidFill>
                <a:latin typeface="Inter"/>
              </a:rPr>
              <a:t>Formative: which solution looks promising?</a:t>
            </a:r>
          </a:p>
        </p:txBody>
      </p:sp>
      <p:sp>
        <p:nvSpPr>
          <p:cNvPr id="9" name="Rounded Rectangle 8"/>
          <p:cNvSpPr/>
          <p:nvPr/>
        </p:nvSpPr>
        <p:spPr>
          <a:xfrm>
            <a:off x="822960" y="3239617"/>
            <a:ext cx="10545775" cy="566928"/>
          </a:xfrm>
          <a:prstGeom prst="roundRect">
            <a:avLst>
              <a:gd name="adj" fmla="val 12000"/>
            </a:avLst>
          </a:prstGeom>
          <a:solidFill>
            <a:srgbClr val="FFFFFF"/>
          </a:solidFill>
          <a:ln w="12700">
            <a:solidFill>
              <a:srgbClr val="D9D9DE"/>
            </a:solidFill>
          </a:ln>
          <a:effectLst/>
        </p:spPr>
        <p:txBody>
          <a:bodyPr rtlCol="0" anchor="ctr"/>
          <a:lstStyle/>
          <a:p/>
        </p:txBody>
      </p:sp>
      <p:sp>
        <p:nvSpPr>
          <p:cNvPr id="10" name="TextBox 9"/>
          <p:cNvSpPr txBox="1"/>
          <p:nvPr/>
        </p:nvSpPr>
        <p:spPr>
          <a:xfrm>
            <a:off x="1051560" y="3358489"/>
            <a:ext cx="10088575" cy="344220"/>
          </a:xfrm>
          <a:prstGeom prst="rect">
            <a:avLst/>
          </a:prstGeom>
          <a:noFill/>
        </p:spPr>
        <p:txBody>
          <a:bodyPr wrap="square" anchor="t" lIns="0" rIns="0" tIns="0" bIns="0"/>
          <a:lstStyle/>
          <a:p>
            <a:pPr algn="l">
              <a:lnSpc>
                <a:spcPct val="112000"/>
              </a:lnSpc>
              <a:spcBef>
                <a:spcPts val="0"/>
              </a:spcBef>
            </a:pPr>
            <a:r>
              <a:rPr sz="2000" b="0" i="0">
                <a:solidFill>
                  <a:srgbClr val="111111"/>
                </a:solidFill>
                <a:latin typeface="Inter"/>
              </a:rPr>
              <a:t>Evaluative: did our tool work?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45775" cy="320040"/>
          </a:xfrm>
          <a:prstGeom prst="rect">
            <a:avLst/>
          </a:prstGeom>
          <a:noFill/>
        </p:spPr>
        <p:txBody>
          <a:bodyPr wrap="square" anchor="t" lIns="0" rIns="0" tIns="0" bIns="0"/>
          <a:lstStyle/>
          <a:p>
            <a:pPr algn="l">
              <a:lnSpc>
                <a:spcPct val="110000"/>
              </a:lnSpc>
            </a:pPr>
            <a:r>
              <a:rPr sz="1600" b="1">
                <a:solidFill>
                  <a:srgbClr val="8B3DFF"/>
                </a:solidFill>
                <a:latin typeface="Inter"/>
              </a:rPr>
              <a:t>1 · THE QUESTION</a:t>
            </a:r>
          </a:p>
        </p:txBody>
      </p:sp>
      <p:sp>
        <p:nvSpPr>
          <p:cNvPr id="3" name="TextBox 2"/>
          <p:cNvSpPr txBox="1"/>
          <p:nvPr/>
        </p:nvSpPr>
        <p:spPr>
          <a:xfrm>
            <a:off x="822960" y="868680"/>
            <a:ext cx="10545775" cy="688441"/>
          </a:xfrm>
          <a:prstGeom prst="rect">
            <a:avLst/>
          </a:prstGeom>
          <a:noFill/>
        </p:spPr>
        <p:txBody>
          <a:bodyPr wrap="square" anchor="t" lIns="0" rIns="0" tIns="0" bIns="0"/>
          <a:lstStyle/>
          <a:p>
            <a:pPr algn="l">
              <a:lnSpc>
                <a:spcPct val="112000"/>
              </a:lnSpc>
              <a:spcBef>
                <a:spcPts val="0"/>
              </a:spcBef>
            </a:pPr>
            <a:r>
              <a:rPr sz="4000" b="1" i="0">
                <a:solidFill>
                  <a:srgbClr val="111111"/>
                </a:solidFill>
                <a:latin typeface="Inter"/>
              </a:rPr>
              <a:t>Need-finding</a:t>
            </a:r>
          </a:p>
        </p:txBody>
      </p:sp>
      <p:sp>
        <p:nvSpPr>
          <p:cNvPr id="4" name="Rounded Rectangle 3"/>
          <p:cNvSpPr/>
          <p:nvPr/>
        </p:nvSpPr>
        <p:spPr>
          <a:xfrm>
            <a:off x="822960" y="1877161"/>
            <a:ext cx="10545775" cy="420624"/>
          </a:xfrm>
          <a:prstGeom prst="roundRect">
            <a:avLst>
              <a:gd name="adj" fmla="val 12000"/>
            </a:avLst>
          </a:prstGeom>
          <a:solidFill>
            <a:srgbClr val="FFFFFF"/>
          </a:solidFill>
          <a:ln w="25400">
            <a:solidFill>
              <a:srgbClr val="16A34A"/>
            </a:solidFill>
          </a:ln>
          <a:effectLst/>
        </p:spPr>
        <p:txBody>
          <a:bodyPr rtlCol="0" anchor="ctr"/>
          <a:lstStyle/>
          <a:p/>
        </p:txBody>
      </p:sp>
      <p:sp>
        <p:nvSpPr>
          <p:cNvPr id="5" name="TextBox 4"/>
          <p:cNvSpPr txBox="1"/>
          <p:nvPr/>
        </p:nvSpPr>
        <p:spPr>
          <a:xfrm>
            <a:off x="1051560" y="1959457"/>
            <a:ext cx="10088575" cy="292587"/>
          </a:xfrm>
          <a:prstGeom prst="rect">
            <a:avLst/>
          </a:prstGeom>
          <a:noFill/>
        </p:spPr>
        <p:txBody>
          <a:bodyPr wrap="square" anchor="t" lIns="0" rIns="0" tIns="0" bIns="0"/>
          <a:lstStyle/>
          <a:p>
            <a:pPr algn="l">
              <a:lnSpc>
                <a:spcPct val="112000"/>
              </a:lnSpc>
              <a:spcBef>
                <a:spcPts val="0"/>
              </a:spcBef>
            </a:pPr>
            <a:r>
              <a:rPr sz="1700" b="1" i="0">
                <a:solidFill>
                  <a:srgbClr val="16A34A"/>
                </a:solidFill>
                <a:latin typeface="Inter"/>
              </a:rPr>
              <a:t>Need-finding: what problems do people have?  ✓</a:t>
            </a:r>
          </a:p>
        </p:txBody>
      </p:sp>
      <p:sp>
        <p:nvSpPr>
          <p:cNvPr id="6" name="Rounded Rectangle 5"/>
          <p:cNvSpPr/>
          <p:nvPr/>
        </p:nvSpPr>
        <p:spPr>
          <a:xfrm>
            <a:off x="822960" y="2389225"/>
            <a:ext cx="10545775" cy="420624"/>
          </a:xfrm>
          <a:prstGeom prst="roundRect">
            <a:avLst>
              <a:gd name="adj" fmla="val 12000"/>
            </a:avLst>
          </a:prstGeom>
          <a:solidFill>
            <a:srgbClr val="FFFFFF"/>
          </a:solidFill>
          <a:ln w="12700">
            <a:solidFill>
              <a:srgbClr val="D9D9DE"/>
            </a:solidFill>
          </a:ln>
          <a:effectLst/>
        </p:spPr>
        <p:txBody>
          <a:bodyPr rtlCol="0" anchor="ctr"/>
          <a:lstStyle/>
          <a:p/>
        </p:txBody>
      </p:sp>
      <p:sp>
        <p:nvSpPr>
          <p:cNvPr id="7" name="TextBox 6"/>
          <p:cNvSpPr txBox="1"/>
          <p:nvPr/>
        </p:nvSpPr>
        <p:spPr>
          <a:xfrm>
            <a:off x="1051560" y="2471521"/>
            <a:ext cx="10088575" cy="292587"/>
          </a:xfrm>
          <a:prstGeom prst="rect">
            <a:avLst/>
          </a:prstGeom>
          <a:noFill/>
        </p:spPr>
        <p:txBody>
          <a:bodyPr wrap="square" anchor="t" lIns="0" rIns="0" tIns="0" bIns="0"/>
          <a:lstStyle/>
          <a:p>
            <a:pPr algn="l">
              <a:lnSpc>
                <a:spcPct val="112000"/>
              </a:lnSpc>
              <a:spcBef>
                <a:spcPts val="0"/>
              </a:spcBef>
            </a:pPr>
            <a:r>
              <a:rPr sz="1700" b="0" i="0">
                <a:solidFill>
                  <a:srgbClr val="111111"/>
                </a:solidFill>
                <a:latin typeface="Inter"/>
              </a:rPr>
              <a:t>Formative: which solution looks promising?</a:t>
            </a:r>
          </a:p>
        </p:txBody>
      </p:sp>
      <p:sp>
        <p:nvSpPr>
          <p:cNvPr id="8" name="Rounded Rectangle 7"/>
          <p:cNvSpPr/>
          <p:nvPr/>
        </p:nvSpPr>
        <p:spPr>
          <a:xfrm>
            <a:off x="822960" y="2901289"/>
            <a:ext cx="10545775" cy="420624"/>
          </a:xfrm>
          <a:prstGeom prst="roundRect">
            <a:avLst>
              <a:gd name="adj" fmla="val 12000"/>
            </a:avLst>
          </a:prstGeom>
          <a:solidFill>
            <a:srgbClr val="FFFFFF"/>
          </a:solidFill>
          <a:ln w="12700">
            <a:solidFill>
              <a:srgbClr val="D9D9DE"/>
            </a:solidFill>
          </a:ln>
          <a:effectLst/>
        </p:spPr>
        <p:txBody>
          <a:bodyPr rtlCol="0" anchor="ctr"/>
          <a:lstStyle/>
          <a:p/>
        </p:txBody>
      </p:sp>
      <p:sp>
        <p:nvSpPr>
          <p:cNvPr id="9" name="TextBox 8"/>
          <p:cNvSpPr txBox="1"/>
          <p:nvPr/>
        </p:nvSpPr>
        <p:spPr>
          <a:xfrm>
            <a:off x="1051560" y="2983585"/>
            <a:ext cx="10088575" cy="292587"/>
          </a:xfrm>
          <a:prstGeom prst="rect">
            <a:avLst/>
          </a:prstGeom>
          <a:noFill/>
        </p:spPr>
        <p:txBody>
          <a:bodyPr wrap="square" anchor="t" lIns="0" rIns="0" tIns="0" bIns="0"/>
          <a:lstStyle/>
          <a:p>
            <a:pPr algn="l">
              <a:lnSpc>
                <a:spcPct val="112000"/>
              </a:lnSpc>
              <a:spcBef>
                <a:spcPts val="0"/>
              </a:spcBef>
            </a:pPr>
            <a:r>
              <a:rPr sz="1700" b="0" i="0">
                <a:solidFill>
                  <a:srgbClr val="111111"/>
                </a:solidFill>
                <a:latin typeface="Inter"/>
              </a:rPr>
              <a:t>Evaluative: did our tool work?</a:t>
            </a:r>
          </a:p>
        </p:txBody>
      </p:sp>
      <p:sp>
        <p:nvSpPr>
          <p:cNvPr id="10" name="TextBox 9"/>
          <p:cNvSpPr txBox="1"/>
          <p:nvPr/>
        </p:nvSpPr>
        <p:spPr>
          <a:xfrm>
            <a:off x="822960" y="3504793"/>
            <a:ext cx="8647535" cy="1435038"/>
          </a:xfrm>
          <a:prstGeom prst="rect">
            <a:avLst/>
          </a:prstGeom>
          <a:noFill/>
        </p:spPr>
        <p:txBody>
          <a:bodyPr wrap="square" anchor="t" lIns="0" rIns="0" tIns="0" bIns="0"/>
          <a:lstStyle/>
          <a:p>
            <a:pPr algn="l">
              <a:lnSpc>
                <a:spcPct val="112000"/>
              </a:lnSpc>
              <a:spcBef>
                <a:spcPts val="0"/>
              </a:spcBef>
            </a:pPr>
            <a:r>
              <a:rPr sz="1900" b="0" i="0">
                <a:solidFill>
                  <a:srgbClr val="111111"/>
                </a:solidFill>
                <a:latin typeface="Inter"/>
              </a:rPr>
              <a:t>Its shape: what problems do developers face when using Git commands?</a:t>
            </a:r>
          </a:p>
          <a:p>
            <a:pPr algn="l">
              <a:lnSpc>
                <a:spcPct val="112000"/>
              </a:lnSpc>
              <a:spcBef>
                <a:spcPts val="1000"/>
              </a:spcBef>
            </a:pPr>
            <a:r>
              <a:rPr sz="1900" b="0" i="0">
                <a:solidFill>
                  <a:srgbClr val="111111"/>
                </a:solidFill>
                <a:latin typeface="Inter"/>
              </a:rPr>
              <a:t>A need-finding study must see what goes badly </a:t>
            </a:r>
            <a:r>
              <a:rPr sz="1900" b="1" i="0">
                <a:solidFill>
                  <a:srgbClr val="111111"/>
                </a:solidFill>
                <a:latin typeface="Inter"/>
              </a:rPr>
              <a:t>and</a:t>
            </a:r>
            <a:r>
              <a:rPr sz="1900" b="0" i="0">
                <a:solidFill>
                  <a:srgbClr val="111111"/>
                </a:solidFill>
                <a:latin typeface="Inter"/>
              </a:rPr>
              <a:t> what goes well. Stack Overflow questions record what people got stuck on; when Git just worked, nobody asked.</a:t>
            </a:r>
          </a:p>
        </p:txBody>
      </p:sp>
      <p:sp>
        <p:nvSpPr>
          <p:cNvPr id="11" name="TextBox 10"/>
          <p:cNvSpPr txBox="1"/>
          <p:nvPr/>
        </p:nvSpPr>
        <p:spPr>
          <a:xfrm>
            <a:off x="822960" y="6022158"/>
            <a:ext cx="10545775" cy="378642"/>
          </a:xfrm>
          <a:prstGeom prst="rect">
            <a:avLst/>
          </a:prstGeom>
          <a:noFill/>
        </p:spPr>
        <p:txBody>
          <a:bodyPr wrap="square" anchor="t" lIns="0" rIns="0" tIns="0" bIns="0"/>
          <a:lstStyle/>
          <a:p>
            <a:pPr algn="l">
              <a:lnSpc>
                <a:spcPct val="112000"/>
              </a:lnSpc>
              <a:spcBef>
                <a:spcPts val="0"/>
              </a:spcBef>
            </a:pPr>
            <a:r>
              <a:rPr sz="2200" b="0" i="1">
                <a:solidFill>
                  <a:srgbClr val="707078"/>
                </a:solidFill>
                <a:latin typeface="Inter"/>
              </a:rPr>
              <a:t>Is the question interesting?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ECFB"/>
        </a:solidFill>
        <a:effectLst/>
      </p:bgPr>
    </p:bg>
    <p:spTree>
      <p:nvGrpSpPr>
        <p:cNvPr id="1" name=""/>
        <p:cNvGrpSpPr/>
        <p:nvPr/>
      </p:nvGrpSpPr>
      <p:grpSpPr/>
      <p:sp>
        <p:nvSpPr>
          <p:cNvPr id="2" name="TextBox 1"/>
          <p:cNvSpPr txBox="1"/>
          <p:nvPr/>
        </p:nvSpPr>
        <p:spPr>
          <a:xfrm>
            <a:off x="822960" y="502920"/>
            <a:ext cx="10545775" cy="320040"/>
          </a:xfrm>
          <a:prstGeom prst="rect">
            <a:avLst/>
          </a:prstGeom>
          <a:noFill/>
        </p:spPr>
        <p:txBody>
          <a:bodyPr wrap="square" anchor="t" lIns="0" rIns="0" tIns="0" bIns="0"/>
          <a:lstStyle/>
          <a:p>
            <a:pPr algn="l">
              <a:lnSpc>
                <a:spcPct val="110000"/>
              </a:lnSpc>
            </a:pPr>
            <a:r>
              <a:rPr sz="1600" b="1">
                <a:solidFill>
                  <a:srgbClr val="8B3DFF"/>
                </a:solidFill>
                <a:latin typeface="Inter"/>
              </a:rPr>
              <a:t>2 · THE DATA</a:t>
            </a:r>
          </a:p>
        </p:txBody>
      </p:sp>
      <p:sp>
        <p:nvSpPr>
          <p:cNvPr id="3" name="Rounded Rectangle 2"/>
          <p:cNvSpPr/>
          <p:nvPr/>
        </p:nvSpPr>
        <p:spPr>
          <a:xfrm>
            <a:off x="9997135" y="457200"/>
            <a:ext cx="1371600" cy="457200"/>
          </a:xfrm>
          <a:prstGeom prst="roundRect">
            <a:avLst>
              <a:gd name="adj" fmla="val 50000"/>
            </a:avLst>
          </a:prstGeom>
          <a:solidFill>
            <a:srgbClr val="FFFFFF"/>
          </a:solidFill>
          <a:ln>
            <a:noFill/>
          </a:ln>
          <a:effectLst/>
        </p:spPr>
        <p:txBody>
          <a:bodyPr rtlCol="0" anchor="ctr" lIns="0" rIns="0" tIns="0" bIns="0"/>
          <a:lstStyle/>
          <a:p>
            <a:pPr algn="ctr"/>
            <a:r>
              <a:rPr sz="1600" b="1">
                <a:solidFill>
                  <a:srgbClr val="111111"/>
                </a:solidFill>
                <a:latin typeface="Inter"/>
              </a:rPr>
              <a:t>2 min</a:t>
            </a:r>
          </a:p>
        </p:txBody>
      </p:sp>
      <p:sp>
        <p:nvSpPr>
          <p:cNvPr id="4" name="TextBox 3"/>
          <p:cNvSpPr txBox="1"/>
          <p:nvPr/>
        </p:nvSpPr>
        <p:spPr>
          <a:xfrm>
            <a:off x="822960" y="868680"/>
            <a:ext cx="8899855" cy="688441"/>
          </a:xfrm>
          <a:prstGeom prst="rect">
            <a:avLst/>
          </a:prstGeom>
          <a:noFill/>
        </p:spPr>
        <p:txBody>
          <a:bodyPr wrap="square" anchor="t" lIns="0" rIns="0" tIns="0" bIns="0"/>
          <a:lstStyle/>
          <a:p>
            <a:pPr algn="l">
              <a:lnSpc>
                <a:spcPct val="112000"/>
              </a:lnSpc>
              <a:spcBef>
                <a:spcPts val="0"/>
              </a:spcBef>
            </a:pPr>
            <a:r>
              <a:rPr sz="4000" b="1" i="0">
                <a:solidFill>
                  <a:srgbClr val="111111"/>
                </a:solidFill>
                <a:latin typeface="Inter"/>
              </a:rPr>
              <a:t>Stack Overflow posts are…</a:t>
            </a:r>
          </a:p>
        </p:txBody>
      </p:sp>
      <p:sp>
        <p:nvSpPr>
          <p:cNvPr id="5" name="Rounded Rectangle 4"/>
          <p:cNvSpPr/>
          <p:nvPr/>
        </p:nvSpPr>
        <p:spPr>
          <a:xfrm>
            <a:off x="822960" y="1922881"/>
            <a:ext cx="10545775" cy="566928"/>
          </a:xfrm>
          <a:prstGeom prst="roundRect">
            <a:avLst>
              <a:gd name="adj" fmla="val 12000"/>
            </a:avLst>
          </a:prstGeom>
          <a:solidFill>
            <a:srgbClr val="FFFFFF"/>
          </a:solidFill>
          <a:ln w="12700">
            <a:solidFill>
              <a:srgbClr val="D9D9DE"/>
            </a:solidFill>
          </a:ln>
          <a:effectLst/>
        </p:spPr>
        <p:txBody>
          <a:bodyPr rtlCol="0" anchor="ctr"/>
          <a:lstStyle/>
          <a:p/>
        </p:txBody>
      </p:sp>
      <p:sp>
        <p:nvSpPr>
          <p:cNvPr id="6" name="TextBox 5"/>
          <p:cNvSpPr txBox="1"/>
          <p:nvPr/>
        </p:nvSpPr>
        <p:spPr>
          <a:xfrm>
            <a:off x="1051560" y="2041753"/>
            <a:ext cx="10088575" cy="344220"/>
          </a:xfrm>
          <a:prstGeom prst="rect">
            <a:avLst/>
          </a:prstGeom>
          <a:noFill/>
        </p:spPr>
        <p:txBody>
          <a:bodyPr wrap="square" anchor="t" lIns="0" rIns="0" tIns="0" bIns="0"/>
          <a:lstStyle/>
          <a:p>
            <a:pPr algn="l">
              <a:lnSpc>
                <a:spcPct val="112000"/>
              </a:lnSpc>
              <a:spcBef>
                <a:spcPts val="0"/>
              </a:spcBef>
            </a:pPr>
            <a:r>
              <a:rPr sz="2000" b="0" i="0">
                <a:solidFill>
                  <a:srgbClr val="111111"/>
                </a:solidFill>
                <a:latin typeface="Inter"/>
              </a:rPr>
              <a:t>Observation: watching people use Git</a:t>
            </a:r>
          </a:p>
        </p:txBody>
      </p:sp>
      <p:sp>
        <p:nvSpPr>
          <p:cNvPr id="7" name="Rounded Rectangle 6"/>
          <p:cNvSpPr/>
          <p:nvPr/>
        </p:nvSpPr>
        <p:spPr>
          <a:xfrm>
            <a:off x="822960" y="2581249"/>
            <a:ext cx="10545775" cy="566928"/>
          </a:xfrm>
          <a:prstGeom prst="roundRect">
            <a:avLst>
              <a:gd name="adj" fmla="val 12000"/>
            </a:avLst>
          </a:prstGeom>
          <a:solidFill>
            <a:srgbClr val="FFFFFF"/>
          </a:solidFill>
          <a:ln w="12700">
            <a:solidFill>
              <a:srgbClr val="D9D9DE"/>
            </a:solidFill>
          </a:ln>
          <a:effectLst/>
        </p:spPr>
        <p:txBody>
          <a:bodyPr rtlCol="0" anchor="ctr"/>
          <a:lstStyle/>
          <a:p/>
        </p:txBody>
      </p:sp>
      <p:sp>
        <p:nvSpPr>
          <p:cNvPr id="8" name="TextBox 7"/>
          <p:cNvSpPr txBox="1"/>
          <p:nvPr/>
        </p:nvSpPr>
        <p:spPr>
          <a:xfrm>
            <a:off x="1051560" y="2700121"/>
            <a:ext cx="10088575" cy="344220"/>
          </a:xfrm>
          <a:prstGeom prst="rect">
            <a:avLst/>
          </a:prstGeom>
          <a:noFill/>
        </p:spPr>
        <p:txBody>
          <a:bodyPr wrap="square" anchor="t" lIns="0" rIns="0" tIns="0" bIns="0"/>
          <a:lstStyle/>
          <a:p>
            <a:pPr algn="l">
              <a:lnSpc>
                <a:spcPct val="112000"/>
              </a:lnSpc>
              <a:spcBef>
                <a:spcPts val="0"/>
              </a:spcBef>
            </a:pPr>
            <a:r>
              <a:rPr sz="2000" b="0" i="0">
                <a:solidFill>
                  <a:srgbClr val="111111"/>
                </a:solidFill>
                <a:latin typeface="Inter"/>
              </a:rPr>
              <a:t>Traces: records left by real work</a:t>
            </a:r>
          </a:p>
        </p:txBody>
      </p:sp>
      <p:sp>
        <p:nvSpPr>
          <p:cNvPr id="9" name="Rounded Rectangle 8"/>
          <p:cNvSpPr/>
          <p:nvPr/>
        </p:nvSpPr>
        <p:spPr>
          <a:xfrm>
            <a:off x="822960" y="3239617"/>
            <a:ext cx="10545775" cy="566928"/>
          </a:xfrm>
          <a:prstGeom prst="roundRect">
            <a:avLst>
              <a:gd name="adj" fmla="val 12000"/>
            </a:avLst>
          </a:prstGeom>
          <a:solidFill>
            <a:srgbClr val="FFFFFF"/>
          </a:solidFill>
          <a:ln w="12700">
            <a:solidFill>
              <a:srgbClr val="D9D9DE"/>
            </a:solidFill>
          </a:ln>
          <a:effectLst/>
        </p:spPr>
        <p:txBody>
          <a:bodyPr rtlCol="0" anchor="ctr"/>
          <a:lstStyle/>
          <a:p/>
        </p:txBody>
      </p:sp>
      <p:sp>
        <p:nvSpPr>
          <p:cNvPr id="10" name="TextBox 9"/>
          <p:cNvSpPr txBox="1"/>
          <p:nvPr/>
        </p:nvSpPr>
        <p:spPr>
          <a:xfrm>
            <a:off x="1051560" y="3358489"/>
            <a:ext cx="10088575" cy="344220"/>
          </a:xfrm>
          <a:prstGeom prst="rect">
            <a:avLst/>
          </a:prstGeom>
          <a:noFill/>
        </p:spPr>
        <p:txBody>
          <a:bodyPr wrap="square" anchor="t" lIns="0" rIns="0" tIns="0" bIns="0"/>
          <a:lstStyle/>
          <a:p>
            <a:pPr algn="l">
              <a:lnSpc>
                <a:spcPct val="112000"/>
              </a:lnSpc>
              <a:spcBef>
                <a:spcPts val="0"/>
              </a:spcBef>
            </a:pPr>
            <a:r>
              <a:rPr sz="2000" b="0" i="0">
                <a:solidFill>
                  <a:srgbClr val="111111"/>
                </a:solidFill>
                <a:latin typeface="Inter"/>
              </a:rPr>
              <a:t>Self-report: people telling us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45775" cy="320040"/>
          </a:xfrm>
          <a:prstGeom prst="rect">
            <a:avLst/>
          </a:prstGeom>
          <a:noFill/>
        </p:spPr>
        <p:txBody>
          <a:bodyPr wrap="square" anchor="t" lIns="0" rIns="0" tIns="0" bIns="0"/>
          <a:lstStyle/>
          <a:p>
            <a:pPr algn="l">
              <a:lnSpc>
                <a:spcPct val="110000"/>
              </a:lnSpc>
            </a:pPr>
            <a:r>
              <a:rPr sz="1600" b="1">
                <a:solidFill>
                  <a:srgbClr val="8B3DFF"/>
                </a:solidFill>
                <a:latin typeface="Inter"/>
              </a:rPr>
              <a:t>2 · THE DATA</a:t>
            </a:r>
          </a:p>
        </p:txBody>
      </p:sp>
      <p:sp>
        <p:nvSpPr>
          <p:cNvPr id="3" name="TextBox 2"/>
          <p:cNvSpPr txBox="1"/>
          <p:nvPr/>
        </p:nvSpPr>
        <p:spPr>
          <a:xfrm>
            <a:off x="822960" y="868680"/>
            <a:ext cx="10545775" cy="688441"/>
          </a:xfrm>
          <a:prstGeom prst="rect">
            <a:avLst/>
          </a:prstGeom>
          <a:noFill/>
        </p:spPr>
        <p:txBody>
          <a:bodyPr wrap="square" anchor="t" lIns="0" rIns="0" tIns="0" bIns="0"/>
          <a:lstStyle/>
          <a:p>
            <a:pPr algn="l">
              <a:lnSpc>
                <a:spcPct val="112000"/>
              </a:lnSpc>
              <a:spcBef>
                <a:spcPts val="0"/>
              </a:spcBef>
            </a:pPr>
            <a:r>
              <a:rPr sz="4000" b="1" i="0">
                <a:solidFill>
                  <a:srgbClr val="111111"/>
                </a:solidFill>
                <a:latin typeface="Inter"/>
              </a:rPr>
              <a:t>Traces. Of asking.</a:t>
            </a:r>
          </a:p>
        </p:txBody>
      </p:sp>
      <p:sp>
        <p:nvSpPr>
          <p:cNvPr id="4" name="Rounded Rectangle 3"/>
          <p:cNvSpPr/>
          <p:nvPr/>
        </p:nvSpPr>
        <p:spPr>
          <a:xfrm>
            <a:off x="822960" y="1877161"/>
            <a:ext cx="10545775" cy="420624"/>
          </a:xfrm>
          <a:prstGeom prst="roundRect">
            <a:avLst>
              <a:gd name="adj" fmla="val 12000"/>
            </a:avLst>
          </a:prstGeom>
          <a:solidFill>
            <a:srgbClr val="FFFFFF"/>
          </a:solidFill>
          <a:ln w="12700">
            <a:solidFill>
              <a:srgbClr val="D9D9DE"/>
            </a:solidFill>
          </a:ln>
          <a:effectLst/>
        </p:spPr>
        <p:txBody>
          <a:bodyPr rtlCol="0" anchor="ctr"/>
          <a:lstStyle/>
          <a:p/>
        </p:txBody>
      </p:sp>
      <p:sp>
        <p:nvSpPr>
          <p:cNvPr id="5" name="TextBox 4"/>
          <p:cNvSpPr txBox="1"/>
          <p:nvPr/>
        </p:nvSpPr>
        <p:spPr>
          <a:xfrm>
            <a:off x="1051560" y="1959457"/>
            <a:ext cx="10088575" cy="292587"/>
          </a:xfrm>
          <a:prstGeom prst="rect">
            <a:avLst/>
          </a:prstGeom>
          <a:noFill/>
        </p:spPr>
        <p:txBody>
          <a:bodyPr wrap="square" anchor="t" lIns="0" rIns="0" tIns="0" bIns="0"/>
          <a:lstStyle/>
          <a:p>
            <a:pPr algn="l">
              <a:lnSpc>
                <a:spcPct val="112000"/>
              </a:lnSpc>
              <a:spcBef>
                <a:spcPts val="0"/>
              </a:spcBef>
            </a:pPr>
            <a:r>
              <a:rPr sz="1700" b="0" i="0">
                <a:solidFill>
                  <a:srgbClr val="111111"/>
                </a:solidFill>
                <a:latin typeface="Inter"/>
              </a:rPr>
              <a:t>Observation: watching people use Git</a:t>
            </a:r>
          </a:p>
        </p:txBody>
      </p:sp>
      <p:sp>
        <p:nvSpPr>
          <p:cNvPr id="6" name="Rounded Rectangle 5"/>
          <p:cNvSpPr/>
          <p:nvPr/>
        </p:nvSpPr>
        <p:spPr>
          <a:xfrm>
            <a:off x="822960" y="2389225"/>
            <a:ext cx="10545775" cy="420624"/>
          </a:xfrm>
          <a:prstGeom prst="roundRect">
            <a:avLst>
              <a:gd name="adj" fmla="val 12000"/>
            </a:avLst>
          </a:prstGeom>
          <a:solidFill>
            <a:srgbClr val="FFFFFF"/>
          </a:solidFill>
          <a:ln w="25400">
            <a:solidFill>
              <a:srgbClr val="16A34A"/>
            </a:solidFill>
          </a:ln>
          <a:effectLst/>
        </p:spPr>
        <p:txBody>
          <a:bodyPr rtlCol="0" anchor="ctr"/>
          <a:lstStyle/>
          <a:p/>
        </p:txBody>
      </p:sp>
      <p:sp>
        <p:nvSpPr>
          <p:cNvPr id="7" name="TextBox 6"/>
          <p:cNvSpPr txBox="1"/>
          <p:nvPr/>
        </p:nvSpPr>
        <p:spPr>
          <a:xfrm>
            <a:off x="1051560" y="2471521"/>
            <a:ext cx="10088575" cy="292587"/>
          </a:xfrm>
          <a:prstGeom prst="rect">
            <a:avLst/>
          </a:prstGeom>
          <a:noFill/>
        </p:spPr>
        <p:txBody>
          <a:bodyPr wrap="square" anchor="t" lIns="0" rIns="0" tIns="0" bIns="0"/>
          <a:lstStyle/>
          <a:p>
            <a:pPr algn="l">
              <a:lnSpc>
                <a:spcPct val="112000"/>
              </a:lnSpc>
              <a:spcBef>
                <a:spcPts val="0"/>
              </a:spcBef>
            </a:pPr>
            <a:r>
              <a:rPr sz="1700" b="1" i="0">
                <a:solidFill>
                  <a:srgbClr val="16A34A"/>
                </a:solidFill>
                <a:latin typeface="Inter"/>
              </a:rPr>
              <a:t>Traces: records left by real work  ✓</a:t>
            </a:r>
          </a:p>
        </p:txBody>
      </p:sp>
      <p:sp>
        <p:nvSpPr>
          <p:cNvPr id="8" name="Rounded Rectangle 7"/>
          <p:cNvSpPr/>
          <p:nvPr/>
        </p:nvSpPr>
        <p:spPr>
          <a:xfrm>
            <a:off x="822960" y="2901289"/>
            <a:ext cx="10545775" cy="420624"/>
          </a:xfrm>
          <a:prstGeom prst="roundRect">
            <a:avLst>
              <a:gd name="adj" fmla="val 12000"/>
            </a:avLst>
          </a:prstGeom>
          <a:solidFill>
            <a:srgbClr val="FFFFFF"/>
          </a:solidFill>
          <a:ln w="12700">
            <a:solidFill>
              <a:srgbClr val="D9D9DE"/>
            </a:solidFill>
          </a:ln>
          <a:effectLst/>
        </p:spPr>
        <p:txBody>
          <a:bodyPr rtlCol="0" anchor="ctr"/>
          <a:lstStyle/>
          <a:p/>
        </p:txBody>
      </p:sp>
      <p:sp>
        <p:nvSpPr>
          <p:cNvPr id="9" name="TextBox 8"/>
          <p:cNvSpPr txBox="1"/>
          <p:nvPr/>
        </p:nvSpPr>
        <p:spPr>
          <a:xfrm>
            <a:off x="1051560" y="2983585"/>
            <a:ext cx="10088575" cy="292587"/>
          </a:xfrm>
          <a:prstGeom prst="rect">
            <a:avLst/>
          </a:prstGeom>
          <a:noFill/>
        </p:spPr>
        <p:txBody>
          <a:bodyPr wrap="square" anchor="t" lIns="0" rIns="0" tIns="0" bIns="0"/>
          <a:lstStyle/>
          <a:p>
            <a:pPr algn="l">
              <a:lnSpc>
                <a:spcPct val="112000"/>
              </a:lnSpc>
              <a:spcBef>
                <a:spcPts val="0"/>
              </a:spcBef>
            </a:pPr>
            <a:r>
              <a:rPr sz="1700" b="0" i="0">
                <a:solidFill>
                  <a:srgbClr val="111111"/>
                </a:solidFill>
                <a:latin typeface="Inter"/>
              </a:rPr>
              <a:t>Self-report: people telling us</a:t>
            </a:r>
          </a:p>
        </p:txBody>
      </p:sp>
      <p:sp>
        <p:nvSpPr>
          <p:cNvPr id="10" name="TextBox 9"/>
          <p:cNvSpPr txBox="1"/>
          <p:nvPr/>
        </p:nvSpPr>
        <p:spPr>
          <a:xfrm>
            <a:off x="822960" y="3504793"/>
            <a:ext cx="8647535" cy="1889047"/>
          </a:xfrm>
          <a:prstGeom prst="rect">
            <a:avLst/>
          </a:prstGeom>
          <a:noFill/>
        </p:spPr>
        <p:txBody>
          <a:bodyPr wrap="square" anchor="t" lIns="0" rIns="0" tIns="0" bIns="0"/>
          <a:lstStyle/>
          <a:p>
            <a:pPr algn="l">
              <a:lnSpc>
                <a:spcPct val="112000"/>
              </a:lnSpc>
              <a:spcBef>
                <a:spcPts val="0"/>
              </a:spcBef>
            </a:pPr>
            <a:r>
              <a:rPr sz="1900" b="0" i="0">
                <a:solidFill>
                  <a:srgbClr val="111111"/>
                </a:solidFill>
                <a:latin typeface="Inter"/>
              </a:rPr>
              <a:t>Stack Overflow questions are on Sarah’s list of traces: better than asking people, worse than watching them.</a:t>
            </a:r>
          </a:p>
          <a:p>
            <a:pPr algn="l">
              <a:lnSpc>
                <a:spcPct val="112000"/>
              </a:lnSpc>
              <a:spcBef>
                <a:spcPts val="1000"/>
              </a:spcBef>
            </a:pPr>
            <a:r>
              <a:rPr sz="1900" b="0" i="0">
                <a:solidFill>
                  <a:srgbClr val="111111"/>
                </a:solidFill>
                <a:latin typeface="Inter"/>
              </a:rPr>
              <a:t>They record people asking, not people using Git. A common problem is asked once, then viewed millions of times.</a:t>
            </a:r>
          </a:p>
          <a:p>
            <a:pPr algn="l">
              <a:lnSpc>
                <a:spcPct val="112000"/>
              </a:lnSpc>
              <a:spcBef>
                <a:spcPts val="1000"/>
              </a:spcBef>
            </a:pPr>
            <a:r>
              <a:rPr sz="1900" b="0" i="0">
                <a:solidFill>
                  <a:srgbClr val="111111"/>
                </a:solidFill>
                <a:latin typeface="Inter"/>
              </a:rPr>
              <a:t>RQ5 is self-report. Nobody in this paper was watched using Git.</a:t>
            </a:r>
          </a:p>
        </p:txBody>
      </p:sp>
      <p:sp>
        <p:nvSpPr>
          <p:cNvPr id="11" name="TextBox 10"/>
          <p:cNvSpPr txBox="1"/>
          <p:nvPr/>
        </p:nvSpPr>
        <p:spPr>
          <a:xfrm>
            <a:off x="822960" y="6022158"/>
            <a:ext cx="10545775" cy="378642"/>
          </a:xfrm>
          <a:prstGeom prst="rect">
            <a:avLst/>
          </a:prstGeom>
          <a:noFill/>
        </p:spPr>
        <p:txBody>
          <a:bodyPr wrap="square" anchor="t" lIns="0" rIns="0" tIns="0" bIns="0"/>
          <a:lstStyle/>
          <a:p>
            <a:pPr algn="l">
              <a:lnSpc>
                <a:spcPct val="112000"/>
              </a:lnSpc>
              <a:spcBef>
                <a:spcPts val="0"/>
              </a:spcBef>
            </a:pPr>
            <a:r>
              <a:rPr sz="2200" b="0" i="1">
                <a:solidFill>
                  <a:srgbClr val="707078"/>
                </a:solidFill>
                <a:latin typeface="Inter"/>
              </a:rPr>
              <a:t>Can this data answer “do developers know how to use Git commands?”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45775" cy="320040"/>
          </a:xfrm>
          <a:prstGeom prst="rect">
            <a:avLst/>
          </a:prstGeom>
          <a:noFill/>
        </p:spPr>
        <p:txBody>
          <a:bodyPr wrap="square" anchor="t" lIns="0" rIns="0" tIns="0" bIns="0"/>
          <a:lstStyle/>
          <a:p>
            <a:pPr algn="l">
              <a:lnSpc>
                <a:spcPct val="110000"/>
              </a:lnSpc>
            </a:pPr>
            <a:r>
              <a:rPr sz="1600" b="1">
                <a:solidFill>
                  <a:srgbClr val="8B3DFF"/>
                </a:solidFill>
                <a:latin typeface="Inter"/>
              </a:rPr>
              <a:t>2 · THE DATA</a:t>
            </a:r>
          </a:p>
        </p:txBody>
      </p:sp>
      <p:sp>
        <p:nvSpPr>
          <p:cNvPr id="3" name="TextBox 2"/>
          <p:cNvSpPr txBox="1"/>
          <p:nvPr/>
        </p:nvSpPr>
        <p:spPr>
          <a:xfrm>
            <a:off x="822960" y="868680"/>
            <a:ext cx="10545775" cy="688441"/>
          </a:xfrm>
          <a:prstGeom prst="rect">
            <a:avLst/>
          </a:prstGeom>
          <a:noFill/>
        </p:spPr>
        <p:txBody>
          <a:bodyPr wrap="square" anchor="t" lIns="0" rIns="0" tIns="0" bIns="0"/>
          <a:lstStyle/>
          <a:p>
            <a:pPr algn="l">
              <a:lnSpc>
                <a:spcPct val="112000"/>
              </a:lnSpc>
              <a:spcBef>
                <a:spcPts val="0"/>
              </a:spcBef>
            </a:pPr>
            <a:r>
              <a:rPr sz="4000" b="1" i="0">
                <a:solidFill>
                  <a:srgbClr val="111111"/>
                </a:solidFill>
                <a:latin typeface="Inter"/>
              </a:rPr>
              <a:t>You and the paper’s 92</a:t>
            </a:r>
          </a:p>
        </p:txBody>
      </p:sp>
      <p:sp>
        <p:nvSpPr>
          <p:cNvPr id="4" name="TextBox 3"/>
          <p:cNvSpPr txBox="1"/>
          <p:nvPr/>
        </p:nvSpPr>
        <p:spPr>
          <a:xfrm>
            <a:off x="822960" y="1831441"/>
            <a:ext cx="8647535" cy="1056395"/>
          </a:xfrm>
          <a:prstGeom prst="rect">
            <a:avLst/>
          </a:prstGeom>
          <a:noFill/>
        </p:spPr>
        <p:txBody>
          <a:bodyPr wrap="square" anchor="t" lIns="0" rIns="0" tIns="0" bIns="0"/>
          <a:lstStyle/>
          <a:p>
            <a:pPr algn="l">
              <a:lnSpc>
                <a:spcPct val="112000"/>
              </a:lnSpc>
              <a:spcBef>
                <a:spcPts val="0"/>
              </a:spcBef>
            </a:pPr>
            <a:r>
              <a:rPr sz="1800" b="0" i="0">
                <a:solidFill>
                  <a:srgbClr val="111111"/>
                </a:solidFill>
                <a:latin typeface="Inter"/>
              </a:rPr>
              <a:t>81.7% is 161 of 197 ticked boxes. By people: 85 of 92 ticked the internet.</a:t>
            </a:r>
          </a:p>
          <a:p>
            <a:pPr algn="l">
              <a:lnSpc>
                <a:spcPct val="112000"/>
              </a:lnSpc>
              <a:spcBef>
                <a:spcPts val="1000"/>
              </a:spcBef>
            </a:pPr>
            <a:r>
              <a:rPr sz="1800" b="0" i="0">
                <a:solidFill>
                  <a:srgbClr val="111111"/>
                </a:solidFill>
                <a:latin typeface="Inter"/>
              </a:rPr>
              <a:t>Invited: developers who had recently asked a Git question on Stack Overflow, plus some researchers. 92 of 508 answered.</a:t>
            </a:r>
          </a:p>
        </p:txBody>
      </p:sp>
      <p:sp>
        <p:nvSpPr>
          <p:cNvPr id="5" name="TextBox 4"/>
          <p:cNvSpPr txBox="1"/>
          <p:nvPr/>
        </p:nvSpPr>
        <p:spPr>
          <a:xfrm>
            <a:off x="822960" y="3116436"/>
            <a:ext cx="4998567" cy="274320"/>
          </a:xfrm>
          <a:prstGeom prst="rect">
            <a:avLst/>
          </a:prstGeom>
          <a:noFill/>
        </p:spPr>
        <p:txBody>
          <a:bodyPr wrap="square" anchor="t" lIns="0" rIns="0" tIns="0" bIns="0"/>
          <a:lstStyle/>
          <a:p>
            <a:pPr algn="l">
              <a:lnSpc>
                <a:spcPct val="110000"/>
              </a:lnSpc>
            </a:pPr>
            <a:r>
              <a:rPr sz="1200" b="1">
                <a:solidFill>
                  <a:srgbClr val="707078"/>
                </a:solidFill>
                <a:latin typeface="Inter"/>
              </a:rPr>
              <a:t>THE PAPER’S 92: HOW THEY LEARNED (SHARE OF PEOPLE)</a:t>
            </a:r>
          </a:p>
        </p:txBody>
      </p:sp>
      <p:sp>
        <p:nvSpPr>
          <p:cNvPr id="6" name="TextBox 5"/>
          <p:cNvSpPr txBox="1"/>
          <p:nvPr/>
        </p:nvSpPr>
        <p:spPr>
          <a:xfrm>
            <a:off x="822960" y="3463908"/>
            <a:ext cx="1920240" cy="258165"/>
          </a:xfrm>
          <a:prstGeom prst="rect">
            <a:avLst/>
          </a:prstGeom>
          <a:noFill/>
        </p:spPr>
        <p:txBody>
          <a:bodyPr wrap="square" anchor="t" lIns="0" rIns="0" tIns="0" bIns="0"/>
          <a:lstStyle/>
          <a:p>
            <a:pPr algn="l">
              <a:lnSpc>
                <a:spcPct val="112000"/>
              </a:lnSpc>
              <a:spcBef>
                <a:spcPts val="0"/>
              </a:spcBef>
            </a:pPr>
            <a:r>
              <a:rPr sz="1500" b="0" i="0">
                <a:solidFill>
                  <a:srgbClr val="111111"/>
                </a:solidFill>
                <a:latin typeface="Inter"/>
              </a:rPr>
              <a:t>In class</a:t>
            </a:r>
          </a:p>
        </p:txBody>
      </p:sp>
      <p:sp>
        <p:nvSpPr>
          <p:cNvPr id="7" name="Rounded Rectangle 6"/>
          <p:cNvSpPr/>
          <p:nvPr/>
        </p:nvSpPr>
        <p:spPr>
          <a:xfrm>
            <a:off x="2743200" y="3537060"/>
            <a:ext cx="2255367" cy="182880"/>
          </a:xfrm>
          <a:prstGeom prst="roundRect">
            <a:avLst>
              <a:gd name="adj" fmla="val 50000"/>
            </a:avLst>
          </a:prstGeom>
          <a:solidFill>
            <a:srgbClr val="F6F6F8"/>
          </a:solidFill>
          <a:ln>
            <a:noFill/>
          </a:ln>
          <a:effectLst/>
        </p:spPr>
        <p:txBody>
          <a:bodyPr rtlCol="0" anchor="ctr"/>
          <a:lstStyle/>
          <a:p/>
        </p:txBody>
      </p:sp>
      <p:sp>
        <p:nvSpPr>
          <p:cNvPr id="8" name="Rounded Rectangle 7"/>
          <p:cNvSpPr/>
          <p:nvPr/>
        </p:nvSpPr>
        <p:spPr>
          <a:xfrm>
            <a:off x="2743200" y="3537060"/>
            <a:ext cx="196118" cy="182880"/>
          </a:xfrm>
          <a:prstGeom prst="roundRect">
            <a:avLst>
              <a:gd name="adj" fmla="val 50000"/>
            </a:avLst>
          </a:prstGeom>
          <a:solidFill>
            <a:srgbClr val="B9B9C2"/>
          </a:solidFill>
          <a:ln>
            <a:noFill/>
          </a:ln>
          <a:effectLst/>
        </p:spPr>
        <p:txBody>
          <a:bodyPr rtlCol="0" anchor="ctr"/>
          <a:lstStyle/>
          <a:p/>
        </p:txBody>
      </p:sp>
      <p:sp>
        <p:nvSpPr>
          <p:cNvPr id="9" name="TextBox 8"/>
          <p:cNvSpPr txBox="1"/>
          <p:nvPr/>
        </p:nvSpPr>
        <p:spPr>
          <a:xfrm>
            <a:off x="5090007" y="3463908"/>
            <a:ext cx="640080" cy="258165"/>
          </a:xfrm>
          <a:prstGeom prst="rect">
            <a:avLst/>
          </a:prstGeom>
          <a:noFill/>
        </p:spPr>
        <p:txBody>
          <a:bodyPr wrap="square" anchor="t" lIns="0" rIns="0" tIns="0" bIns="0"/>
          <a:lstStyle/>
          <a:p>
            <a:pPr algn="r">
              <a:lnSpc>
                <a:spcPct val="112000"/>
              </a:lnSpc>
              <a:spcBef>
                <a:spcPts val="0"/>
              </a:spcBef>
            </a:pPr>
            <a:r>
              <a:rPr sz="1500" b="0" i="0">
                <a:solidFill>
                  <a:srgbClr val="111111"/>
                </a:solidFill>
                <a:latin typeface="Inter"/>
              </a:rPr>
              <a:t>9%</a:t>
            </a:r>
          </a:p>
        </p:txBody>
      </p:sp>
      <p:sp>
        <p:nvSpPr>
          <p:cNvPr id="10" name="TextBox 9"/>
          <p:cNvSpPr txBox="1"/>
          <p:nvPr/>
        </p:nvSpPr>
        <p:spPr>
          <a:xfrm>
            <a:off x="822960" y="3793092"/>
            <a:ext cx="1920240" cy="258165"/>
          </a:xfrm>
          <a:prstGeom prst="rect">
            <a:avLst/>
          </a:prstGeom>
          <a:noFill/>
        </p:spPr>
        <p:txBody>
          <a:bodyPr wrap="square" anchor="t" lIns="0" rIns="0" tIns="0" bIns="0"/>
          <a:lstStyle/>
          <a:p>
            <a:pPr algn="l">
              <a:lnSpc>
                <a:spcPct val="112000"/>
              </a:lnSpc>
              <a:spcBef>
                <a:spcPts val="0"/>
              </a:spcBef>
            </a:pPr>
            <a:r>
              <a:rPr sz="1500" b="0" i="0">
                <a:solidFill>
                  <a:srgbClr val="111111"/>
                </a:solidFill>
                <a:latin typeface="Inter"/>
              </a:rPr>
              <a:t>Online courses</a:t>
            </a:r>
          </a:p>
        </p:txBody>
      </p:sp>
      <p:sp>
        <p:nvSpPr>
          <p:cNvPr id="11" name="Rounded Rectangle 10"/>
          <p:cNvSpPr/>
          <p:nvPr/>
        </p:nvSpPr>
        <p:spPr>
          <a:xfrm>
            <a:off x="2743200" y="3866244"/>
            <a:ext cx="2255367" cy="182880"/>
          </a:xfrm>
          <a:prstGeom prst="roundRect">
            <a:avLst>
              <a:gd name="adj" fmla="val 50000"/>
            </a:avLst>
          </a:prstGeom>
          <a:solidFill>
            <a:srgbClr val="F6F6F8"/>
          </a:solidFill>
          <a:ln>
            <a:noFill/>
          </a:ln>
          <a:effectLst/>
        </p:spPr>
        <p:txBody>
          <a:bodyPr rtlCol="0" anchor="ctr"/>
          <a:lstStyle/>
          <a:p/>
        </p:txBody>
      </p:sp>
      <p:sp>
        <p:nvSpPr>
          <p:cNvPr id="12" name="Rounded Rectangle 11"/>
          <p:cNvSpPr/>
          <p:nvPr/>
        </p:nvSpPr>
        <p:spPr>
          <a:xfrm>
            <a:off x="2743200" y="3866244"/>
            <a:ext cx="245148" cy="182880"/>
          </a:xfrm>
          <a:prstGeom prst="roundRect">
            <a:avLst>
              <a:gd name="adj" fmla="val 50000"/>
            </a:avLst>
          </a:prstGeom>
          <a:solidFill>
            <a:srgbClr val="B9B9C2"/>
          </a:solidFill>
          <a:ln>
            <a:noFill/>
          </a:ln>
          <a:effectLst/>
        </p:spPr>
        <p:txBody>
          <a:bodyPr rtlCol="0" anchor="ctr"/>
          <a:lstStyle/>
          <a:p/>
        </p:txBody>
      </p:sp>
      <p:sp>
        <p:nvSpPr>
          <p:cNvPr id="13" name="TextBox 12"/>
          <p:cNvSpPr txBox="1"/>
          <p:nvPr/>
        </p:nvSpPr>
        <p:spPr>
          <a:xfrm>
            <a:off x="5090007" y="3793092"/>
            <a:ext cx="640080" cy="258165"/>
          </a:xfrm>
          <a:prstGeom prst="rect">
            <a:avLst/>
          </a:prstGeom>
          <a:noFill/>
        </p:spPr>
        <p:txBody>
          <a:bodyPr wrap="square" anchor="t" lIns="0" rIns="0" tIns="0" bIns="0"/>
          <a:lstStyle/>
          <a:p>
            <a:pPr algn="r">
              <a:lnSpc>
                <a:spcPct val="112000"/>
              </a:lnSpc>
              <a:spcBef>
                <a:spcPts val="0"/>
              </a:spcBef>
            </a:pPr>
            <a:r>
              <a:rPr sz="1500" b="0" i="0">
                <a:solidFill>
                  <a:srgbClr val="111111"/>
                </a:solidFill>
                <a:latin typeface="Inter"/>
              </a:rPr>
              <a:t>11%</a:t>
            </a:r>
          </a:p>
        </p:txBody>
      </p:sp>
      <p:sp>
        <p:nvSpPr>
          <p:cNvPr id="14" name="TextBox 13"/>
          <p:cNvSpPr txBox="1"/>
          <p:nvPr/>
        </p:nvSpPr>
        <p:spPr>
          <a:xfrm>
            <a:off x="822960" y="4122276"/>
            <a:ext cx="1920240" cy="258165"/>
          </a:xfrm>
          <a:prstGeom prst="rect">
            <a:avLst/>
          </a:prstGeom>
          <a:noFill/>
        </p:spPr>
        <p:txBody>
          <a:bodyPr wrap="square" anchor="t" lIns="0" rIns="0" tIns="0" bIns="0"/>
          <a:lstStyle/>
          <a:p>
            <a:pPr algn="l">
              <a:lnSpc>
                <a:spcPct val="112000"/>
              </a:lnSpc>
              <a:spcBef>
                <a:spcPts val="0"/>
              </a:spcBef>
            </a:pPr>
            <a:r>
              <a:rPr sz="1500" b="0" i="0">
                <a:solidFill>
                  <a:srgbClr val="111111"/>
                </a:solidFill>
                <a:latin typeface="Inter"/>
              </a:rPr>
              <a:t>Peers or seniors</a:t>
            </a:r>
          </a:p>
        </p:txBody>
      </p:sp>
      <p:sp>
        <p:nvSpPr>
          <p:cNvPr id="15" name="Rounded Rectangle 14"/>
          <p:cNvSpPr/>
          <p:nvPr/>
        </p:nvSpPr>
        <p:spPr>
          <a:xfrm>
            <a:off x="2743200" y="4195428"/>
            <a:ext cx="2255367" cy="182880"/>
          </a:xfrm>
          <a:prstGeom prst="roundRect">
            <a:avLst>
              <a:gd name="adj" fmla="val 50000"/>
            </a:avLst>
          </a:prstGeom>
          <a:solidFill>
            <a:srgbClr val="F6F6F8"/>
          </a:solidFill>
          <a:ln>
            <a:noFill/>
          </a:ln>
          <a:effectLst/>
        </p:spPr>
        <p:txBody>
          <a:bodyPr rtlCol="0" anchor="ctr"/>
          <a:lstStyle/>
          <a:p/>
        </p:txBody>
      </p:sp>
      <p:sp>
        <p:nvSpPr>
          <p:cNvPr id="16" name="Rounded Rectangle 15"/>
          <p:cNvSpPr/>
          <p:nvPr/>
        </p:nvSpPr>
        <p:spPr>
          <a:xfrm>
            <a:off x="2743200" y="4195428"/>
            <a:ext cx="367722" cy="182880"/>
          </a:xfrm>
          <a:prstGeom prst="roundRect">
            <a:avLst>
              <a:gd name="adj" fmla="val 50000"/>
            </a:avLst>
          </a:prstGeom>
          <a:solidFill>
            <a:srgbClr val="B9B9C2"/>
          </a:solidFill>
          <a:ln>
            <a:noFill/>
          </a:ln>
          <a:effectLst/>
        </p:spPr>
        <p:txBody>
          <a:bodyPr rtlCol="0" anchor="ctr"/>
          <a:lstStyle/>
          <a:p/>
        </p:txBody>
      </p:sp>
      <p:sp>
        <p:nvSpPr>
          <p:cNvPr id="17" name="TextBox 16"/>
          <p:cNvSpPr txBox="1"/>
          <p:nvPr/>
        </p:nvSpPr>
        <p:spPr>
          <a:xfrm>
            <a:off x="5090007" y="4122276"/>
            <a:ext cx="640080" cy="258165"/>
          </a:xfrm>
          <a:prstGeom prst="rect">
            <a:avLst/>
          </a:prstGeom>
          <a:noFill/>
        </p:spPr>
        <p:txBody>
          <a:bodyPr wrap="square" anchor="t" lIns="0" rIns="0" tIns="0" bIns="0"/>
          <a:lstStyle/>
          <a:p>
            <a:pPr algn="r">
              <a:lnSpc>
                <a:spcPct val="112000"/>
              </a:lnSpc>
              <a:spcBef>
                <a:spcPts val="0"/>
              </a:spcBef>
            </a:pPr>
            <a:r>
              <a:rPr sz="1500" b="0" i="0">
                <a:solidFill>
                  <a:srgbClr val="111111"/>
                </a:solidFill>
                <a:latin typeface="Inter"/>
              </a:rPr>
              <a:t>16%</a:t>
            </a:r>
          </a:p>
        </p:txBody>
      </p:sp>
      <p:sp>
        <p:nvSpPr>
          <p:cNvPr id="18" name="TextBox 17"/>
          <p:cNvSpPr txBox="1"/>
          <p:nvPr/>
        </p:nvSpPr>
        <p:spPr>
          <a:xfrm>
            <a:off x="822960" y="4451460"/>
            <a:ext cx="1920240" cy="258165"/>
          </a:xfrm>
          <a:prstGeom prst="rect">
            <a:avLst/>
          </a:prstGeom>
          <a:noFill/>
        </p:spPr>
        <p:txBody>
          <a:bodyPr wrap="square" anchor="t" lIns="0" rIns="0" tIns="0" bIns="0"/>
          <a:lstStyle/>
          <a:p>
            <a:pPr algn="l">
              <a:lnSpc>
                <a:spcPct val="112000"/>
              </a:lnSpc>
              <a:spcBef>
                <a:spcPts val="0"/>
              </a:spcBef>
            </a:pPr>
            <a:r>
              <a:rPr sz="1500" b="0" i="0">
                <a:solidFill>
                  <a:srgbClr val="111111"/>
                </a:solidFill>
                <a:latin typeface="Inter"/>
              </a:rPr>
              <a:t>Documentation</a:t>
            </a:r>
          </a:p>
        </p:txBody>
      </p:sp>
      <p:sp>
        <p:nvSpPr>
          <p:cNvPr id="19" name="Rounded Rectangle 18"/>
          <p:cNvSpPr/>
          <p:nvPr/>
        </p:nvSpPr>
        <p:spPr>
          <a:xfrm>
            <a:off x="2743200" y="4524612"/>
            <a:ext cx="2255367" cy="182880"/>
          </a:xfrm>
          <a:prstGeom prst="roundRect">
            <a:avLst>
              <a:gd name="adj" fmla="val 50000"/>
            </a:avLst>
          </a:prstGeom>
          <a:solidFill>
            <a:srgbClr val="F6F6F8"/>
          </a:solidFill>
          <a:ln>
            <a:noFill/>
          </a:ln>
          <a:effectLst/>
        </p:spPr>
        <p:txBody>
          <a:bodyPr rtlCol="0" anchor="ctr"/>
          <a:lstStyle/>
          <a:p/>
        </p:txBody>
      </p:sp>
      <p:sp>
        <p:nvSpPr>
          <p:cNvPr id="20" name="Rounded Rectangle 19"/>
          <p:cNvSpPr/>
          <p:nvPr/>
        </p:nvSpPr>
        <p:spPr>
          <a:xfrm>
            <a:off x="2743200" y="4524612"/>
            <a:ext cx="1863129" cy="182880"/>
          </a:xfrm>
          <a:prstGeom prst="roundRect">
            <a:avLst>
              <a:gd name="adj" fmla="val 50000"/>
            </a:avLst>
          </a:prstGeom>
          <a:solidFill>
            <a:srgbClr val="B9B9C2"/>
          </a:solidFill>
          <a:ln>
            <a:noFill/>
          </a:ln>
          <a:effectLst/>
        </p:spPr>
        <p:txBody>
          <a:bodyPr rtlCol="0" anchor="ctr"/>
          <a:lstStyle/>
          <a:p/>
        </p:txBody>
      </p:sp>
      <p:sp>
        <p:nvSpPr>
          <p:cNvPr id="21" name="TextBox 20"/>
          <p:cNvSpPr txBox="1"/>
          <p:nvPr/>
        </p:nvSpPr>
        <p:spPr>
          <a:xfrm>
            <a:off x="5090007" y="4451460"/>
            <a:ext cx="640080" cy="258165"/>
          </a:xfrm>
          <a:prstGeom prst="rect">
            <a:avLst/>
          </a:prstGeom>
          <a:noFill/>
        </p:spPr>
        <p:txBody>
          <a:bodyPr wrap="square" anchor="t" lIns="0" rIns="0" tIns="0" bIns="0"/>
          <a:lstStyle/>
          <a:p>
            <a:pPr algn="r">
              <a:lnSpc>
                <a:spcPct val="112000"/>
              </a:lnSpc>
              <a:spcBef>
                <a:spcPts val="0"/>
              </a:spcBef>
            </a:pPr>
            <a:r>
              <a:rPr sz="1500" b="0" i="0">
                <a:solidFill>
                  <a:srgbClr val="111111"/>
                </a:solidFill>
                <a:latin typeface="Inter"/>
              </a:rPr>
              <a:t>83%</a:t>
            </a:r>
          </a:p>
        </p:txBody>
      </p:sp>
      <p:sp>
        <p:nvSpPr>
          <p:cNvPr id="22" name="TextBox 21"/>
          <p:cNvSpPr txBox="1"/>
          <p:nvPr/>
        </p:nvSpPr>
        <p:spPr>
          <a:xfrm>
            <a:off x="822960" y="4780644"/>
            <a:ext cx="1920240" cy="258165"/>
          </a:xfrm>
          <a:prstGeom prst="rect">
            <a:avLst/>
          </a:prstGeom>
          <a:noFill/>
        </p:spPr>
        <p:txBody>
          <a:bodyPr wrap="square" anchor="t" lIns="0" rIns="0" tIns="0" bIns="0"/>
          <a:lstStyle/>
          <a:p>
            <a:pPr algn="l">
              <a:lnSpc>
                <a:spcPct val="112000"/>
              </a:lnSpc>
              <a:spcBef>
                <a:spcPts val="0"/>
              </a:spcBef>
            </a:pPr>
            <a:r>
              <a:rPr sz="1500" b="0" i="0">
                <a:solidFill>
                  <a:srgbClr val="111111"/>
                </a:solidFill>
                <a:latin typeface="Inter"/>
              </a:rPr>
              <a:t>Internet</a:t>
            </a:r>
          </a:p>
        </p:txBody>
      </p:sp>
      <p:sp>
        <p:nvSpPr>
          <p:cNvPr id="23" name="Rounded Rectangle 22"/>
          <p:cNvSpPr/>
          <p:nvPr/>
        </p:nvSpPr>
        <p:spPr>
          <a:xfrm>
            <a:off x="2743200" y="4853796"/>
            <a:ext cx="2255367" cy="182880"/>
          </a:xfrm>
          <a:prstGeom prst="roundRect">
            <a:avLst>
              <a:gd name="adj" fmla="val 50000"/>
            </a:avLst>
          </a:prstGeom>
          <a:solidFill>
            <a:srgbClr val="F6F6F8"/>
          </a:solidFill>
          <a:ln>
            <a:noFill/>
          </a:ln>
          <a:effectLst/>
        </p:spPr>
        <p:txBody>
          <a:bodyPr rtlCol="0" anchor="ctr"/>
          <a:lstStyle/>
          <a:p/>
        </p:txBody>
      </p:sp>
      <p:sp>
        <p:nvSpPr>
          <p:cNvPr id="24" name="Rounded Rectangle 23"/>
          <p:cNvSpPr/>
          <p:nvPr/>
        </p:nvSpPr>
        <p:spPr>
          <a:xfrm>
            <a:off x="2743200" y="4853796"/>
            <a:ext cx="2083762" cy="182880"/>
          </a:xfrm>
          <a:prstGeom prst="roundRect">
            <a:avLst>
              <a:gd name="adj" fmla="val 50000"/>
            </a:avLst>
          </a:prstGeom>
          <a:solidFill>
            <a:srgbClr val="B9B9C2"/>
          </a:solidFill>
          <a:ln>
            <a:noFill/>
          </a:ln>
          <a:effectLst/>
        </p:spPr>
        <p:txBody>
          <a:bodyPr rtlCol="0" anchor="ctr"/>
          <a:lstStyle/>
          <a:p/>
        </p:txBody>
      </p:sp>
      <p:sp>
        <p:nvSpPr>
          <p:cNvPr id="25" name="TextBox 24"/>
          <p:cNvSpPr txBox="1"/>
          <p:nvPr/>
        </p:nvSpPr>
        <p:spPr>
          <a:xfrm>
            <a:off x="5090007" y="4780644"/>
            <a:ext cx="640080" cy="258165"/>
          </a:xfrm>
          <a:prstGeom prst="rect">
            <a:avLst/>
          </a:prstGeom>
          <a:noFill/>
        </p:spPr>
        <p:txBody>
          <a:bodyPr wrap="square" anchor="t" lIns="0" rIns="0" tIns="0" bIns="0"/>
          <a:lstStyle/>
          <a:p>
            <a:pPr algn="r">
              <a:lnSpc>
                <a:spcPct val="112000"/>
              </a:lnSpc>
              <a:spcBef>
                <a:spcPts val="0"/>
              </a:spcBef>
            </a:pPr>
            <a:r>
              <a:rPr sz="1500" b="0" i="0">
                <a:solidFill>
                  <a:srgbClr val="111111"/>
                </a:solidFill>
                <a:latin typeface="Inter"/>
              </a:rPr>
              <a:t>92%</a:t>
            </a:r>
          </a:p>
        </p:txBody>
      </p:sp>
      <p:sp>
        <p:nvSpPr>
          <p:cNvPr id="26" name="TextBox 25"/>
          <p:cNvSpPr txBox="1"/>
          <p:nvPr/>
        </p:nvSpPr>
        <p:spPr>
          <a:xfrm>
            <a:off x="822960" y="5109828"/>
            <a:ext cx="1920240" cy="258165"/>
          </a:xfrm>
          <a:prstGeom prst="rect">
            <a:avLst/>
          </a:prstGeom>
          <a:noFill/>
        </p:spPr>
        <p:txBody>
          <a:bodyPr wrap="square" anchor="t" lIns="0" rIns="0" tIns="0" bIns="0"/>
          <a:lstStyle/>
          <a:p>
            <a:pPr algn="l">
              <a:lnSpc>
                <a:spcPct val="112000"/>
              </a:lnSpc>
              <a:spcBef>
                <a:spcPts val="0"/>
              </a:spcBef>
            </a:pPr>
            <a:r>
              <a:rPr sz="1500" b="0" i="0">
                <a:solidFill>
                  <a:srgbClr val="111111"/>
                </a:solidFill>
                <a:latin typeface="Inter"/>
              </a:rPr>
              <a:t>Other</a:t>
            </a:r>
          </a:p>
        </p:txBody>
      </p:sp>
      <p:sp>
        <p:nvSpPr>
          <p:cNvPr id="27" name="Rounded Rectangle 26"/>
          <p:cNvSpPr/>
          <p:nvPr/>
        </p:nvSpPr>
        <p:spPr>
          <a:xfrm>
            <a:off x="2743200" y="5182980"/>
            <a:ext cx="2255367" cy="182880"/>
          </a:xfrm>
          <a:prstGeom prst="roundRect">
            <a:avLst>
              <a:gd name="adj" fmla="val 50000"/>
            </a:avLst>
          </a:prstGeom>
          <a:solidFill>
            <a:srgbClr val="F6F6F8"/>
          </a:solidFill>
          <a:ln>
            <a:noFill/>
          </a:ln>
          <a:effectLst/>
        </p:spPr>
        <p:txBody>
          <a:bodyPr rtlCol="0" anchor="ctr"/>
          <a:lstStyle/>
          <a:p/>
        </p:txBody>
      </p:sp>
      <p:sp>
        <p:nvSpPr>
          <p:cNvPr id="28" name="Rounded Rectangle 27"/>
          <p:cNvSpPr/>
          <p:nvPr/>
        </p:nvSpPr>
        <p:spPr>
          <a:xfrm>
            <a:off x="2743200" y="5182980"/>
            <a:ext cx="182880" cy="182880"/>
          </a:xfrm>
          <a:prstGeom prst="roundRect">
            <a:avLst>
              <a:gd name="adj" fmla="val 50000"/>
            </a:avLst>
          </a:prstGeom>
          <a:solidFill>
            <a:srgbClr val="B9B9C2"/>
          </a:solidFill>
          <a:ln>
            <a:noFill/>
          </a:ln>
          <a:effectLst/>
        </p:spPr>
        <p:txBody>
          <a:bodyPr rtlCol="0" anchor="ctr"/>
          <a:lstStyle/>
          <a:p/>
        </p:txBody>
      </p:sp>
      <p:sp>
        <p:nvSpPr>
          <p:cNvPr id="29" name="TextBox 28"/>
          <p:cNvSpPr txBox="1"/>
          <p:nvPr/>
        </p:nvSpPr>
        <p:spPr>
          <a:xfrm>
            <a:off x="5090007" y="5109828"/>
            <a:ext cx="640080" cy="258165"/>
          </a:xfrm>
          <a:prstGeom prst="rect">
            <a:avLst/>
          </a:prstGeom>
          <a:noFill/>
        </p:spPr>
        <p:txBody>
          <a:bodyPr wrap="square" anchor="t" lIns="0" rIns="0" tIns="0" bIns="0"/>
          <a:lstStyle/>
          <a:p>
            <a:pPr algn="r">
              <a:lnSpc>
                <a:spcPct val="112000"/>
              </a:lnSpc>
              <a:spcBef>
                <a:spcPts val="0"/>
              </a:spcBef>
            </a:pPr>
            <a:r>
              <a:rPr sz="1500" b="0" i="0">
                <a:solidFill>
                  <a:srgbClr val="111111"/>
                </a:solidFill>
                <a:latin typeface="Inter"/>
              </a:rPr>
              <a:t>3%</a:t>
            </a:r>
          </a:p>
        </p:txBody>
      </p:sp>
      <p:sp>
        <p:nvSpPr>
          <p:cNvPr id="30" name="TextBox 29"/>
          <p:cNvSpPr txBox="1"/>
          <p:nvPr/>
        </p:nvSpPr>
        <p:spPr>
          <a:xfrm>
            <a:off x="6370167" y="3116436"/>
            <a:ext cx="4998567" cy="274320"/>
          </a:xfrm>
          <a:prstGeom prst="rect">
            <a:avLst/>
          </a:prstGeom>
          <a:noFill/>
        </p:spPr>
        <p:txBody>
          <a:bodyPr wrap="square" anchor="t" lIns="0" rIns="0" tIns="0" bIns="0"/>
          <a:lstStyle/>
          <a:p>
            <a:pPr algn="l">
              <a:lnSpc>
                <a:spcPct val="110000"/>
              </a:lnSpc>
            </a:pPr>
            <a:r>
              <a:rPr sz="1200" b="1">
                <a:solidFill>
                  <a:srgbClr val="707078"/>
                </a:solidFill>
                <a:latin typeface="Inter"/>
              </a:rPr>
              <a:t>THE PAPER’S 92: GIT LEVEL, SELF-RATED</a:t>
            </a:r>
          </a:p>
        </p:txBody>
      </p:sp>
      <p:sp>
        <p:nvSpPr>
          <p:cNvPr id="31" name="TextBox 30"/>
          <p:cNvSpPr txBox="1"/>
          <p:nvPr/>
        </p:nvSpPr>
        <p:spPr>
          <a:xfrm>
            <a:off x="6370167" y="3463908"/>
            <a:ext cx="1920240" cy="258165"/>
          </a:xfrm>
          <a:prstGeom prst="rect">
            <a:avLst/>
          </a:prstGeom>
          <a:noFill/>
        </p:spPr>
        <p:txBody>
          <a:bodyPr wrap="square" anchor="t" lIns="0" rIns="0" tIns="0" bIns="0"/>
          <a:lstStyle/>
          <a:p>
            <a:pPr algn="l">
              <a:lnSpc>
                <a:spcPct val="112000"/>
              </a:lnSpc>
              <a:spcBef>
                <a:spcPts val="0"/>
              </a:spcBef>
            </a:pPr>
            <a:r>
              <a:rPr sz="1500" b="0" i="0">
                <a:solidFill>
                  <a:srgbClr val="111111"/>
                </a:solidFill>
                <a:latin typeface="Inter"/>
              </a:rPr>
              <a:t>Novice</a:t>
            </a:r>
          </a:p>
        </p:txBody>
      </p:sp>
      <p:sp>
        <p:nvSpPr>
          <p:cNvPr id="32" name="Rounded Rectangle 31"/>
          <p:cNvSpPr/>
          <p:nvPr/>
        </p:nvSpPr>
        <p:spPr>
          <a:xfrm>
            <a:off x="8290407" y="3537060"/>
            <a:ext cx="2255367" cy="182880"/>
          </a:xfrm>
          <a:prstGeom prst="roundRect">
            <a:avLst>
              <a:gd name="adj" fmla="val 50000"/>
            </a:avLst>
          </a:prstGeom>
          <a:solidFill>
            <a:srgbClr val="F6F6F8"/>
          </a:solidFill>
          <a:ln>
            <a:noFill/>
          </a:ln>
          <a:effectLst/>
        </p:spPr>
        <p:txBody>
          <a:bodyPr rtlCol="0" anchor="ctr"/>
          <a:lstStyle/>
          <a:p/>
        </p:txBody>
      </p:sp>
      <p:sp>
        <p:nvSpPr>
          <p:cNvPr id="33" name="Rounded Rectangle 32"/>
          <p:cNvSpPr/>
          <p:nvPr/>
        </p:nvSpPr>
        <p:spPr>
          <a:xfrm>
            <a:off x="8290407" y="3537060"/>
            <a:ext cx="182880" cy="182880"/>
          </a:xfrm>
          <a:prstGeom prst="roundRect">
            <a:avLst>
              <a:gd name="adj" fmla="val 50000"/>
            </a:avLst>
          </a:prstGeom>
          <a:solidFill>
            <a:srgbClr val="B9B9C2"/>
          </a:solidFill>
          <a:ln>
            <a:noFill/>
          </a:ln>
          <a:effectLst/>
        </p:spPr>
        <p:txBody>
          <a:bodyPr rtlCol="0" anchor="ctr"/>
          <a:lstStyle/>
          <a:p/>
        </p:txBody>
      </p:sp>
      <p:sp>
        <p:nvSpPr>
          <p:cNvPr id="34" name="TextBox 33"/>
          <p:cNvSpPr txBox="1"/>
          <p:nvPr/>
        </p:nvSpPr>
        <p:spPr>
          <a:xfrm>
            <a:off x="10637214" y="3463908"/>
            <a:ext cx="640080" cy="258165"/>
          </a:xfrm>
          <a:prstGeom prst="rect">
            <a:avLst/>
          </a:prstGeom>
          <a:noFill/>
        </p:spPr>
        <p:txBody>
          <a:bodyPr wrap="square" anchor="t" lIns="0" rIns="0" tIns="0" bIns="0"/>
          <a:lstStyle/>
          <a:p>
            <a:pPr algn="r">
              <a:lnSpc>
                <a:spcPct val="112000"/>
              </a:lnSpc>
              <a:spcBef>
                <a:spcPts val="0"/>
              </a:spcBef>
            </a:pPr>
            <a:r>
              <a:rPr sz="1500" b="0" i="0">
                <a:solidFill>
                  <a:srgbClr val="111111"/>
                </a:solidFill>
                <a:latin typeface="Inter"/>
              </a:rPr>
              <a:t>1%</a:t>
            </a:r>
          </a:p>
        </p:txBody>
      </p:sp>
      <p:sp>
        <p:nvSpPr>
          <p:cNvPr id="35" name="TextBox 34"/>
          <p:cNvSpPr txBox="1"/>
          <p:nvPr/>
        </p:nvSpPr>
        <p:spPr>
          <a:xfrm>
            <a:off x="6370167" y="3793092"/>
            <a:ext cx="1920240" cy="258165"/>
          </a:xfrm>
          <a:prstGeom prst="rect">
            <a:avLst/>
          </a:prstGeom>
          <a:noFill/>
        </p:spPr>
        <p:txBody>
          <a:bodyPr wrap="square" anchor="t" lIns="0" rIns="0" tIns="0" bIns="0"/>
          <a:lstStyle/>
          <a:p>
            <a:pPr algn="l">
              <a:lnSpc>
                <a:spcPct val="112000"/>
              </a:lnSpc>
              <a:spcBef>
                <a:spcPts val="0"/>
              </a:spcBef>
            </a:pPr>
            <a:r>
              <a:rPr sz="1500" b="0" i="0">
                <a:solidFill>
                  <a:srgbClr val="111111"/>
                </a:solidFill>
                <a:latin typeface="Inter"/>
              </a:rPr>
              <a:t>Advanced beginner</a:t>
            </a:r>
          </a:p>
        </p:txBody>
      </p:sp>
      <p:sp>
        <p:nvSpPr>
          <p:cNvPr id="36" name="Rounded Rectangle 35"/>
          <p:cNvSpPr/>
          <p:nvPr/>
        </p:nvSpPr>
        <p:spPr>
          <a:xfrm>
            <a:off x="8290407" y="3866244"/>
            <a:ext cx="2255367" cy="182880"/>
          </a:xfrm>
          <a:prstGeom prst="roundRect">
            <a:avLst>
              <a:gd name="adj" fmla="val 50000"/>
            </a:avLst>
          </a:prstGeom>
          <a:solidFill>
            <a:srgbClr val="F6F6F8"/>
          </a:solidFill>
          <a:ln>
            <a:noFill/>
          </a:ln>
          <a:effectLst/>
        </p:spPr>
        <p:txBody>
          <a:bodyPr rtlCol="0" anchor="ctr"/>
          <a:lstStyle/>
          <a:p/>
        </p:txBody>
      </p:sp>
      <p:sp>
        <p:nvSpPr>
          <p:cNvPr id="37" name="Rounded Rectangle 36"/>
          <p:cNvSpPr/>
          <p:nvPr/>
        </p:nvSpPr>
        <p:spPr>
          <a:xfrm>
            <a:off x="8290407" y="3866244"/>
            <a:ext cx="637386" cy="182880"/>
          </a:xfrm>
          <a:prstGeom prst="roundRect">
            <a:avLst>
              <a:gd name="adj" fmla="val 50000"/>
            </a:avLst>
          </a:prstGeom>
          <a:solidFill>
            <a:srgbClr val="B9B9C2"/>
          </a:solidFill>
          <a:ln>
            <a:noFill/>
          </a:ln>
          <a:effectLst/>
        </p:spPr>
        <p:txBody>
          <a:bodyPr rtlCol="0" anchor="ctr"/>
          <a:lstStyle/>
          <a:p/>
        </p:txBody>
      </p:sp>
      <p:sp>
        <p:nvSpPr>
          <p:cNvPr id="38" name="TextBox 37"/>
          <p:cNvSpPr txBox="1"/>
          <p:nvPr/>
        </p:nvSpPr>
        <p:spPr>
          <a:xfrm>
            <a:off x="10637214" y="3793092"/>
            <a:ext cx="640080" cy="258165"/>
          </a:xfrm>
          <a:prstGeom prst="rect">
            <a:avLst/>
          </a:prstGeom>
          <a:noFill/>
        </p:spPr>
        <p:txBody>
          <a:bodyPr wrap="square" anchor="t" lIns="0" rIns="0" tIns="0" bIns="0"/>
          <a:lstStyle/>
          <a:p>
            <a:pPr algn="r">
              <a:lnSpc>
                <a:spcPct val="112000"/>
              </a:lnSpc>
              <a:spcBef>
                <a:spcPts val="0"/>
              </a:spcBef>
            </a:pPr>
            <a:r>
              <a:rPr sz="1500" b="0" i="0">
                <a:solidFill>
                  <a:srgbClr val="111111"/>
                </a:solidFill>
                <a:latin typeface="Inter"/>
              </a:rPr>
              <a:t>28%</a:t>
            </a:r>
          </a:p>
        </p:txBody>
      </p:sp>
      <p:sp>
        <p:nvSpPr>
          <p:cNvPr id="39" name="TextBox 38"/>
          <p:cNvSpPr txBox="1"/>
          <p:nvPr/>
        </p:nvSpPr>
        <p:spPr>
          <a:xfrm>
            <a:off x="6370167" y="4122276"/>
            <a:ext cx="1920240" cy="258165"/>
          </a:xfrm>
          <a:prstGeom prst="rect">
            <a:avLst/>
          </a:prstGeom>
          <a:noFill/>
        </p:spPr>
        <p:txBody>
          <a:bodyPr wrap="square" anchor="t" lIns="0" rIns="0" tIns="0" bIns="0"/>
          <a:lstStyle/>
          <a:p>
            <a:pPr algn="l">
              <a:lnSpc>
                <a:spcPct val="112000"/>
              </a:lnSpc>
              <a:spcBef>
                <a:spcPts val="0"/>
              </a:spcBef>
            </a:pPr>
            <a:r>
              <a:rPr sz="1500" b="0" i="0">
                <a:solidFill>
                  <a:srgbClr val="111111"/>
                </a:solidFill>
                <a:latin typeface="Inter"/>
              </a:rPr>
              <a:t>Competent</a:t>
            </a:r>
          </a:p>
        </p:txBody>
      </p:sp>
      <p:sp>
        <p:nvSpPr>
          <p:cNvPr id="40" name="Rounded Rectangle 39"/>
          <p:cNvSpPr/>
          <p:nvPr/>
        </p:nvSpPr>
        <p:spPr>
          <a:xfrm>
            <a:off x="8290407" y="4195428"/>
            <a:ext cx="2255367" cy="182880"/>
          </a:xfrm>
          <a:prstGeom prst="roundRect">
            <a:avLst>
              <a:gd name="adj" fmla="val 50000"/>
            </a:avLst>
          </a:prstGeom>
          <a:solidFill>
            <a:srgbClr val="F6F6F8"/>
          </a:solidFill>
          <a:ln>
            <a:noFill/>
          </a:ln>
          <a:effectLst/>
        </p:spPr>
        <p:txBody>
          <a:bodyPr rtlCol="0" anchor="ctr"/>
          <a:lstStyle/>
          <a:p/>
        </p:txBody>
      </p:sp>
      <p:sp>
        <p:nvSpPr>
          <p:cNvPr id="41" name="Rounded Rectangle 40"/>
          <p:cNvSpPr/>
          <p:nvPr/>
        </p:nvSpPr>
        <p:spPr>
          <a:xfrm>
            <a:off x="8290407" y="4195428"/>
            <a:ext cx="1274772" cy="182880"/>
          </a:xfrm>
          <a:prstGeom prst="roundRect">
            <a:avLst>
              <a:gd name="adj" fmla="val 50000"/>
            </a:avLst>
          </a:prstGeom>
          <a:solidFill>
            <a:srgbClr val="B9B9C2"/>
          </a:solidFill>
          <a:ln>
            <a:noFill/>
          </a:ln>
          <a:effectLst/>
        </p:spPr>
        <p:txBody>
          <a:bodyPr rtlCol="0" anchor="ctr"/>
          <a:lstStyle/>
          <a:p/>
        </p:txBody>
      </p:sp>
      <p:sp>
        <p:nvSpPr>
          <p:cNvPr id="42" name="TextBox 41"/>
          <p:cNvSpPr txBox="1"/>
          <p:nvPr/>
        </p:nvSpPr>
        <p:spPr>
          <a:xfrm>
            <a:off x="10637214" y="4122276"/>
            <a:ext cx="640080" cy="258165"/>
          </a:xfrm>
          <a:prstGeom prst="rect">
            <a:avLst/>
          </a:prstGeom>
          <a:noFill/>
        </p:spPr>
        <p:txBody>
          <a:bodyPr wrap="square" anchor="t" lIns="0" rIns="0" tIns="0" bIns="0"/>
          <a:lstStyle/>
          <a:p>
            <a:pPr algn="r">
              <a:lnSpc>
                <a:spcPct val="112000"/>
              </a:lnSpc>
              <a:spcBef>
                <a:spcPts val="0"/>
              </a:spcBef>
            </a:pPr>
            <a:r>
              <a:rPr sz="1500" b="0" i="0">
                <a:solidFill>
                  <a:srgbClr val="111111"/>
                </a:solidFill>
                <a:latin typeface="Inter"/>
              </a:rPr>
              <a:t>57%</a:t>
            </a:r>
          </a:p>
        </p:txBody>
      </p:sp>
      <p:sp>
        <p:nvSpPr>
          <p:cNvPr id="43" name="TextBox 42"/>
          <p:cNvSpPr txBox="1"/>
          <p:nvPr/>
        </p:nvSpPr>
        <p:spPr>
          <a:xfrm>
            <a:off x="6370167" y="4451460"/>
            <a:ext cx="1920240" cy="258165"/>
          </a:xfrm>
          <a:prstGeom prst="rect">
            <a:avLst/>
          </a:prstGeom>
          <a:noFill/>
        </p:spPr>
        <p:txBody>
          <a:bodyPr wrap="square" anchor="t" lIns="0" rIns="0" tIns="0" bIns="0"/>
          <a:lstStyle/>
          <a:p>
            <a:pPr algn="l">
              <a:lnSpc>
                <a:spcPct val="112000"/>
              </a:lnSpc>
              <a:spcBef>
                <a:spcPts val="0"/>
              </a:spcBef>
            </a:pPr>
            <a:r>
              <a:rPr sz="1500" b="0" i="0">
                <a:solidFill>
                  <a:srgbClr val="111111"/>
                </a:solidFill>
                <a:latin typeface="Inter"/>
              </a:rPr>
              <a:t>Proficient</a:t>
            </a:r>
          </a:p>
        </p:txBody>
      </p:sp>
      <p:sp>
        <p:nvSpPr>
          <p:cNvPr id="44" name="Rounded Rectangle 43"/>
          <p:cNvSpPr/>
          <p:nvPr/>
        </p:nvSpPr>
        <p:spPr>
          <a:xfrm>
            <a:off x="8290407" y="4524612"/>
            <a:ext cx="2255367" cy="182880"/>
          </a:xfrm>
          <a:prstGeom prst="roundRect">
            <a:avLst>
              <a:gd name="adj" fmla="val 50000"/>
            </a:avLst>
          </a:prstGeom>
          <a:solidFill>
            <a:srgbClr val="F6F6F8"/>
          </a:solidFill>
          <a:ln>
            <a:noFill/>
          </a:ln>
          <a:effectLst/>
        </p:spPr>
        <p:txBody>
          <a:bodyPr rtlCol="0" anchor="ctr"/>
          <a:lstStyle/>
          <a:p/>
        </p:txBody>
      </p:sp>
      <p:sp>
        <p:nvSpPr>
          <p:cNvPr id="45" name="Rounded Rectangle 44"/>
          <p:cNvSpPr/>
          <p:nvPr/>
        </p:nvSpPr>
        <p:spPr>
          <a:xfrm>
            <a:off x="8290407" y="4524612"/>
            <a:ext cx="269663" cy="182880"/>
          </a:xfrm>
          <a:prstGeom prst="roundRect">
            <a:avLst>
              <a:gd name="adj" fmla="val 50000"/>
            </a:avLst>
          </a:prstGeom>
          <a:solidFill>
            <a:srgbClr val="B9B9C2"/>
          </a:solidFill>
          <a:ln>
            <a:noFill/>
          </a:ln>
          <a:effectLst/>
        </p:spPr>
        <p:txBody>
          <a:bodyPr rtlCol="0" anchor="ctr"/>
          <a:lstStyle/>
          <a:p/>
        </p:txBody>
      </p:sp>
      <p:sp>
        <p:nvSpPr>
          <p:cNvPr id="46" name="TextBox 45"/>
          <p:cNvSpPr txBox="1"/>
          <p:nvPr/>
        </p:nvSpPr>
        <p:spPr>
          <a:xfrm>
            <a:off x="10637214" y="4451460"/>
            <a:ext cx="640080" cy="258165"/>
          </a:xfrm>
          <a:prstGeom prst="rect">
            <a:avLst/>
          </a:prstGeom>
          <a:noFill/>
        </p:spPr>
        <p:txBody>
          <a:bodyPr wrap="square" anchor="t" lIns="0" rIns="0" tIns="0" bIns="0"/>
          <a:lstStyle/>
          <a:p>
            <a:pPr algn="r">
              <a:lnSpc>
                <a:spcPct val="112000"/>
              </a:lnSpc>
              <a:spcBef>
                <a:spcPts val="0"/>
              </a:spcBef>
            </a:pPr>
            <a:r>
              <a:rPr sz="1500" b="0" i="0">
                <a:solidFill>
                  <a:srgbClr val="111111"/>
                </a:solidFill>
                <a:latin typeface="Inter"/>
              </a:rPr>
              <a:t>12%</a:t>
            </a:r>
          </a:p>
        </p:txBody>
      </p:sp>
      <p:sp>
        <p:nvSpPr>
          <p:cNvPr id="47" name="TextBox 46"/>
          <p:cNvSpPr txBox="1"/>
          <p:nvPr/>
        </p:nvSpPr>
        <p:spPr>
          <a:xfrm>
            <a:off x="6370167" y="4780644"/>
            <a:ext cx="1920240" cy="258165"/>
          </a:xfrm>
          <a:prstGeom prst="rect">
            <a:avLst/>
          </a:prstGeom>
          <a:noFill/>
        </p:spPr>
        <p:txBody>
          <a:bodyPr wrap="square" anchor="t" lIns="0" rIns="0" tIns="0" bIns="0"/>
          <a:lstStyle/>
          <a:p>
            <a:pPr algn="l">
              <a:lnSpc>
                <a:spcPct val="112000"/>
              </a:lnSpc>
              <a:spcBef>
                <a:spcPts val="0"/>
              </a:spcBef>
            </a:pPr>
            <a:r>
              <a:rPr sz="1500" b="0" i="0">
                <a:solidFill>
                  <a:srgbClr val="111111"/>
                </a:solidFill>
                <a:latin typeface="Inter"/>
              </a:rPr>
              <a:t>Expert</a:t>
            </a:r>
          </a:p>
        </p:txBody>
      </p:sp>
      <p:sp>
        <p:nvSpPr>
          <p:cNvPr id="48" name="Rounded Rectangle 47"/>
          <p:cNvSpPr/>
          <p:nvPr/>
        </p:nvSpPr>
        <p:spPr>
          <a:xfrm>
            <a:off x="8290407" y="4853796"/>
            <a:ext cx="2255367" cy="182880"/>
          </a:xfrm>
          <a:prstGeom prst="roundRect">
            <a:avLst>
              <a:gd name="adj" fmla="val 50000"/>
            </a:avLst>
          </a:prstGeom>
          <a:solidFill>
            <a:srgbClr val="F6F6F8"/>
          </a:solidFill>
          <a:ln>
            <a:noFill/>
          </a:ln>
          <a:effectLst/>
        </p:spPr>
        <p:txBody>
          <a:bodyPr rtlCol="0" anchor="ctr"/>
          <a:lstStyle/>
          <a:p/>
        </p:txBody>
      </p:sp>
      <p:sp>
        <p:nvSpPr>
          <p:cNvPr id="49" name="Rounded Rectangle 48"/>
          <p:cNvSpPr/>
          <p:nvPr/>
        </p:nvSpPr>
        <p:spPr>
          <a:xfrm>
            <a:off x="8290407" y="4853796"/>
            <a:ext cx="182880" cy="182880"/>
          </a:xfrm>
          <a:prstGeom prst="roundRect">
            <a:avLst>
              <a:gd name="adj" fmla="val 50000"/>
            </a:avLst>
          </a:prstGeom>
          <a:solidFill>
            <a:srgbClr val="B9B9C2"/>
          </a:solidFill>
          <a:ln>
            <a:noFill/>
          </a:ln>
          <a:effectLst/>
        </p:spPr>
        <p:txBody>
          <a:bodyPr rtlCol="0" anchor="ctr"/>
          <a:lstStyle/>
          <a:p/>
        </p:txBody>
      </p:sp>
      <p:sp>
        <p:nvSpPr>
          <p:cNvPr id="50" name="TextBox 49"/>
          <p:cNvSpPr txBox="1"/>
          <p:nvPr/>
        </p:nvSpPr>
        <p:spPr>
          <a:xfrm>
            <a:off x="10637214" y="4780644"/>
            <a:ext cx="640080" cy="258165"/>
          </a:xfrm>
          <a:prstGeom prst="rect">
            <a:avLst/>
          </a:prstGeom>
          <a:noFill/>
        </p:spPr>
        <p:txBody>
          <a:bodyPr wrap="square" anchor="t" lIns="0" rIns="0" tIns="0" bIns="0"/>
          <a:lstStyle/>
          <a:p>
            <a:pPr algn="r">
              <a:lnSpc>
                <a:spcPct val="112000"/>
              </a:lnSpc>
              <a:spcBef>
                <a:spcPts val="0"/>
              </a:spcBef>
            </a:pPr>
            <a:r>
              <a:rPr sz="1500" b="0" i="0">
                <a:solidFill>
                  <a:srgbClr val="111111"/>
                </a:solidFill>
                <a:latin typeface="Inter"/>
              </a:rPr>
              <a:t>2%</a:t>
            </a:r>
          </a:p>
        </p:txBody>
      </p:sp>
      <p:sp>
        <p:nvSpPr>
          <p:cNvPr id="51" name="TextBox 50"/>
          <p:cNvSpPr txBox="1"/>
          <p:nvPr/>
        </p:nvSpPr>
        <p:spPr>
          <a:xfrm>
            <a:off x="822960" y="5503020"/>
            <a:ext cx="10545775" cy="223743"/>
          </a:xfrm>
          <a:prstGeom prst="rect">
            <a:avLst/>
          </a:prstGeom>
          <a:noFill/>
        </p:spPr>
        <p:txBody>
          <a:bodyPr wrap="square" anchor="t" lIns="0" rIns="0" tIns="0" bIns="0"/>
          <a:lstStyle/>
          <a:p>
            <a:pPr algn="l">
              <a:lnSpc>
                <a:spcPct val="112000"/>
              </a:lnSpc>
              <a:spcBef>
                <a:spcPts val="0"/>
              </a:spcBef>
            </a:pPr>
            <a:r>
              <a:rPr sz="1300" b="0" i="0">
                <a:solidFill>
                  <a:srgbClr val="707078"/>
                </a:solidFill>
                <a:latin typeface="Inter"/>
              </a:rPr>
              <a:t>Median years using Git: 8. In class, the app shows your answers next to these.</a:t>
            </a:r>
          </a:p>
        </p:txBody>
      </p:sp>
      <p:sp>
        <p:nvSpPr>
          <p:cNvPr id="52" name="TextBox 51"/>
          <p:cNvSpPr txBox="1"/>
          <p:nvPr/>
        </p:nvSpPr>
        <p:spPr>
          <a:xfrm>
            <a:off x="822960" y="6022158"/>
            <a:ext cx="10545775" cy="378642"/>
          </a:xfrm>
          <a:prstGeom prst="rect">
            <a:avLst/>
          </a:prstGeom>
          <a:noFill/>
        </p:spPr>
        <p:txBody>
          <a:bodyPr wrap="square" anchor="t" lIns="0" rIns="0" tIns="0" bIns="0"/>
          <a:lstStyle/>
          <a:p>
            <a:pPr algn="l">
              <a:lnSpc>
                <a:spcPct val="112000"/>
              </a:lnSpc>
              <a:spcBef>
                <a:spcPts val="0"/>
              </a:spcBef>
            </a:pPr>
            <a:r>
              <a:rPr sz="2200" b="0" i="1">
                <a:solidFill>
                  <a:srgbClr val="707078"/>
                </a:solidFill>
                <a:latin typeface="Inter"/>
              </a:rPr>
              <a:t>Which of these numbers would you trust? Did Tuesday change your answer?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ECFB"/>
        </a:solidFill>
        <a:effectLst/>
      </p:bgPr>
    </p:bg>
    <p:spTree>
      <p:nvGrpSpPr>
        <p:cNvPr id="1" name=""/>
        <p:cNvGrpSpPr/>
        <p:nvPr/>
      </p:nvGrpSpPr>
      <p:grpSpPr/>
      <p:sp>
        <p:nvSpPr>
          <p:cNvPr id="2" name="TextBox 1"/>
          <p:cNvSpPr txBox="1"/>
          <p:nvPr/>
        </p:nvSpPr>
        <p:spPr>
          <a:xfrm>
            <a:off x="822960" y="502920"/>
            <a:ext cx="10545775" cy="320040"/>
          </a:xfrm>
          <a:prstGeom prst="rect">
            <a:avLst/>
          </a:prstGeom>
          <a:noFill/>
        </p:spPr>
        <p:txBody>
          <a:bodyPr wrap="square" anchor="t" lIns="0" rIns="0" tIns="0" bIns="0"/>
          <a:lstStyle/>
          <a:p>
            <a:pPr algn="l">
              <a:lnSpc>
                <a:spcPct val="110000"/>
              </a:lnSpc>
            </a:pPr>
            <a:r>
              <a:rPr sz="1600" b="1">
                <a:solidFill>
                  <a:srgbClr val="8B3DFF"/>
                </a:solidFill>
                <a:latin typeface="Inter"/>
              </a:rPr>
              <a:t>3 · THE ANALYSIS</a:t>
            </a:r>
          </a:p>
        </p:txBody>
      </p:sp>
      <p:sp>
        <p:nvSpPr>
          <p:cNvPr id="3" name="Rounded Rectangle 2"/>
          <p:cNvSpPr/>
          <p:nvPr/>
        </p:nvSpPr>
        <p:spPr>
          <a:xfrm>
            <a:off x="9997135" y="457200"/>
            <a:ext cx="1371600" cy="457200"/>
          </a:xfrm>
          <a:prstGeom prst="roundRect">
            <a:avLst>
              <a:gd name="adj" fmla="val 50000"/>
            </a:avLst>
          </a:prstGeom>
          <a:solidFill>
            <a:srgbClr val="FFFFFF"/>
          </a:solidFill>
          <a:ln>
            <a:noFill/>
          </a:ln>
          <a:effectLst/>
        </p:spPr>
        <p:txBody>
          <a:bodyPr rtlCol="0" anchor="ctr" lIns="0" rIns="0" tIns="0" bIns="0"/>
          <a:lstStyle/>
          <a:p>
            <a:pPr algn="ctr"/>
            <a:r>
              <a:rPr sz="1600" b="1">
                <a:solidFill>
                  <a:srgbClr val="111111"/>
                </a:solidFill>
                <a:latin typeface="Inter"/>
              </a:rPr>
              <a:t>9 min</a:t>
            </a:r>
          </a:p>
        </p:txBody>
      </p:sp>
      <p:sp>
        <p:nvSpPr>
          <p:cNvPr id="4" name="TextBox 3"/>
          <p:cNvSpPr txBox="1"/>
          <p:nvPr/>
        </p:nvSpPr>
        <p:spPr>
          <a:xfrm>
            <a:off x="822960" y="868680"/>
            <a:ext cx="8899855" cy="688441"/>
          </a:xfrm>
          <a:prstGeom prst="rect">
            <a:avLst/>
          </a:prstGeom>
          <a:noFill/>
        </p:spPr>
        <p:txBody>
          <a:bodyPr wrap="square" anchor="t" lIns="0" rIns="0" tIns="0" bIns="0"/>
          <a:lstStyle/>
          <a:p>
            <a:pPr algn="l">
              <a:lnSpc>
                <a:spcPct val="112000"/>
              </a:lnSpc>
              <a:spcBef>
                <a:spcPts val="0"/>
              </a:spcBef>
            </a:pPr>
            <a:r>
              <a:rPr sz="4000" b="1" i="0">
                <a:solidFill>
                  <a:srgbClr val="111111"/>
                </a:solidFill>
                <a:latin typeface="Inter"/>
              </a:rPr>
              <a:t>Check the rule on 8 real posts</a:t>
            </a:r>
          </a:p>
        </p:txBody>
      </p:sp>
      <p:sp>
        <p:nvSpPr>
          <p:cNvPr id="5" name="TextBox 4"/>
          <p:cNvSpPr txBox="1"/>
          <p:nvPr/>
        </p:nvSpPr>
        <p:spPr>
          <a:xfrm>
            <a:off x="822960" y="1831441"/>
            <a:ext cx="8647535" cy="1262927"/>
          </a:xfrm>
          <a:prstGeom prst="rect">
            <a:avLst/>
          </a:prstGeom>
          <a:noFill/>
        </p:spPr>
        <p:txBody>
          <a:bodyPr wrap="square" anchor="t" lIns="0" rIns="0" tIns="0" bIns="0"/>
          <a:lstStyle/>
          <a:p>
            <a:pPr algn="l">
              <a:lnSpc>
                <a:spcPct val="112000"/>
              </a:lnSpc>
              <a:spcBef>
                <a:spcPts val="0"/>
              </a:spcBef>
            </a:pPr>
            <a:r>
              <a:rPr sz="2200" b="0" i="0">
                <a:solidFill>
                  <a:srgbClr val="111111"/>
                </a:solidFill>
                <a:latin typeface="Inter"/>
              </a:rPr>
              <a:t>The paper’s rule: a post counts for every Git command in its question </a:t>
            </a:r>
            <a:r>
              <a:rPr sz="2200" b="1" i="0">
                <a:solidFill>
                  <a:srgbClr val="111111"/>
                </a:solidFill>
                <a:latin typeface="Inter"/>
              </a:rPr>
              <a:t>or its accepted answer</a:t>
            </a:r>
            <a:r>
              <a:rPr sz="2200" b="0" i="0">
                <a:solidFill>
                  <a:srgbClr val="111111"/>
                </a:solidFill>
                <a:latin typeface="Inter"/>
              </a:rPr>
              <a:t>.</a:t>
            </a:r>
          </a:p>
          <a:p>
            <a:pPr algn="l">
              <a:lnSpc>
                <a:spcPct val="112000"/>
              </a:lnSpc>
              <a:spcBef>
                <a:spcPts val="1000"/>
              </a:spcBef>
            </a:pPr>
            <a:r>
              <a:rPr sz="2200" b="0" i="0">
                <a:solidFill>
                  <a:srgbClr val="111111"/>
                </a:solidFill>
                <a:latin typeface="Inter"/>
              </a:rPr>
              <a:t>For each post: is it really a question about that command?</a:t>
            </a:r>
          </a:p>
        </p:txBody>
      </p:sp>
      <p:sp>
        <p:nvSpPr>
          <p:cNvPr id="6" name="TextBox 5"/>
          <p:cNvSpPr txBox="1"/>
          <p:nvPr/>
        </p:nvSpPr>
        <p:spPr>
          <a:xfrm>
            <a:off x="822960" y="3322968"/>
            <a:ext cx="8647535" cy="1315394"/>
          </a:xfrm>
          <a:prstGeom prst="rect">
            <a:avLst/>
          </a:prstGeom>
          <a:noFill/>
        </p:spPr>
        <p:txBody>
          <a:bodyPr wrap="square" anchor="t" lIns="0" rIns="0" tIns="0" bIns="0"/>
          <a:lstStyle/>
          <a:p>
            <a:pPr algn="l">
              <a:lnSpc>
                <a:spcPct val="112000"/>
              </a:lnSpc>
              <a:spcBef>
                <a:spcPts val="0"/>
              </a:spcBef>
            </a:pPr>
            <a:r>
              <a:rPr sz="1800" b="0" i="0">
                <a:solidFill>
                  <a:srgbClr val="707078"/>
                </a:solidFill>
                <a:latin typeface="Inter"/>
              </a:rPr>
              <a:t>On your laptop: 8 posts, each with the question, the accepted answer, and the command the paper counted it for.</a:t>
            </a:r>
          </a:p>
          <a:p>
            <a:pPr algn="l">
              <a:lnSpc>
                <a:spcPct val="112000"/>
              </a:lnSpc>
              <a:spcBef>
                <a:spcPts val="600"/>
              </a:spcBef>
            </a:pPr>
            <a:r>
              <a:rPr sz="1800" b="0" i="0">
                <a:solidFill>
                  <a:srgbClr val="707078"/>
                </a:solidFill>
                <a:latin typeface="Inter"/>
              </a:rPr>
              <a:t>Randomly sampled from the paper’s own data (analysis/thursday_numbers.py, seed 294).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45775" cy="320040"/>
          </a:xfrm>
          <a:prstGeom prst="rect">
            <a:avLst/>
          </a:prstGeom>
          <a:noFill/>
        </p:spPr>
        <p:txBody>
          <a:bodyPr wrap="square" anchor="t" lIns="0" rIns="0" tIns="0" bIns="0"/>
          <a:lstStyle/>
          <a:p>
            <a:pPr algn="l">
              <a:lnSpc>
                <a:spcPct val="110000"/>
              </a:lnSpc>
            </a:pPr>
            <a:r>
              <a:rPr sz="1600" b="1">
                <a:solidFill>
                  <a:srgbClr val="8B3DFF"/>
                </a:solidFill>
                <a:latin typeface="Inter"/>
              </a:rPr>
              <a:t>3 · THE ANALYSIS</a:t>
            </a:r>
          </a:p>
        </p:txBody>
      </p:sp>
      <p:sp>
        <p:nvSpPr>
          <p:cNvPr id="3" name="TextBox 2"/>
          <p:cNvSpPr txBox="1"/>
          <p:nvPr/>
        </p:nvSpPr>
        <p:spPr>
          <a:xfrm>
            <a:off x="822960" y="868680"/>
            <a:ext cx="10545775" cy="688441"/>
          </a:xfrm>
          <a:prstGeom prst="rect">
            <a:avLst/>
          </a:prstGeom>
          <a:noFill/>
        </p:spPr>
        <p:txBody>
          <a:bodyPr wrap="square" anchor="t" lIns="0" rIns="0" tIns="0" bIns="0"/>
          <a:lstStyle/>
          <a:p>
            <a:pPr algn="l">
              <a:lnSpc>
                <a:spcPct val="112000"/>
              </a:lnSpc>
              <a:spcBef>
                <a:spcPts val="0"/>
              </a:spcBef>
            </a:pPr>
            <a:r>
              <a:rPr sz="4000" b="1" i="0">
                <a:solidFill>
                  <a:srgbClr val="111111"/>
                </a:solidFill>
                <a:latin typeface="Inter"/>
              </a:rPr>
              <a:t>The rule and you</a:t>
            </a:r>
          </a:p>
        </p:txBody>
      </p:sp>
      <p:sp>
        <p:nvSpPr>
          <p:cNvPr id="4" name="TextBox 3"/>
          <p:cNvSpPr txBox="1"/>
          <p:nvPr/>
        </p:nvSpPr>
        <p:spPr>
          <a:xfrm>
            <a:off x="822960" y="1831441"/>
            <a:ext cx="10545775" cy="1004762"/>
          </a:xfrm>
          <a:prstGeom prst="rect">
            <a:avLst/>
          </a:prstGeom>
          <a:noFill/>
        </p:spPr>
        <p:txBody>
          <a:bodyPr wrap="square" anchor="t" lIns="0" rIns="0" tIns="0" bIns="0"/>
          <a:lstStyle/>
          <a:p>
            <a:pPr algn="l">
              <a:lnSpc>
                <a:spcPct val="112000"/>
              </a:lnSpc>
              <a:spcBef>
                <a:spcPts val="0"/>
              </a:spcBef>
            </a:pPr>
            <a:r>
              <a:rPr sz="1700" b="0" i="0">
                <a:solidFill>
                  <a:srgbClr val="111111"/>
                </a:solidFill>
                <a:latin typeface="Inter"/>
              </a:rPr>
              <a:t>The rule counts all 8 posts. In 5, the command appears only in the answer.</a:t>
            </a:r>
          </a:p>
          <a:p>
            <a:pPr algn="l">
              <a:lnSpc>
                <a:spcPct val="112000"/>
              </a:lnSpc>
              <a:spcBef>
                <a:spcPts val="1000"/>
              </a:spcBef>
            </a:pPr>
            <a:r>
              <a:rPr sz="1700" b="0" i="0">
                <a:solidFill>
                  <a:srgbClr val="111111"/>
                </a:solidFill>
                <a:latin typeface="Inter"/>
              </a:rPr>
              <a:t>Our re-run on all 80,370 posts: the command is only in the answer for 55% of </a:t>
            </a:r>
            <a:r>
              <a:rPr sz="1700" b="0" i="0">
                <a:solidFill>
                  <a:srgbClr val="111111"/>
                </a:solidFill>
                <a:latin typeface="Noto Sans Mono"/>
              </a:rPr>
              <a:t>git reflog</a:t>
            </a:r>
            <a:r>
              <a:rPr sz="1700" b="0" i="0">
                <a:solidFill>
                  <a:srgbClr val="111111"/>
                </a:solidFill>
                <a:latin typeface="Inter"/>
              </a:rPr>
              <a:t> posts, 44% of </a:t>
            </a:r>
            <a:r>
              <a:rPr sz="1700" b="0" i="0">
                <a:solidFill>
                  <a:srgbClr val="111111"/>
                </a:solidFill>
                <a:latin typeface="Noto Sans Mono"/>
              </a:rPr>
              <a:t>git revert</a:t>
            </a:r>
            <a:r>
              <a:rPr sz="1700" b="0" i="0">
                <a:solidFill>
                  <a:srgbClr val="111111"/>
                </a:solidFill>
                <a:latin typeface="Inter"/>
              </a:rPr>
              <a:t>, 44% of </a:t>
            </a:r>
            <a:r>
              <a:rPr sz="1700" b="0" i="0">
                <a:solidFill>
                  <a:srgbClr val="111111"/>
                </a:solidFill>
                <a:latin typeface="Noto Sans Mono"/>
              </a:rPr>
              <a:t>git reset</a:t>
            </a:r>
            <a:r>
              <a:rPr sz="1700" b="0" i="0">
                <a:solidFill>
                  <a:srgbClr val="111111"/>
                </a:solidFill>
                <a:latin typeface="Inter"/>
              </a:rPr>
              <a:t>.</a:t>
            </a:r>
          </a:p>
        </p:txBody>
      </p:sp>
      <p:sp>
        <p:nvSpPr>
          <p:cNvPr id="5" name="TextBox 4"/>
          <p:cNvSpPr txBox="1"/>
          <p:nvPr/>
        </p:nvSpPr>
        <p:spPr>
          <a:xfrm>
            <a:off x="868680" y="3019083"/>
            <a:ext cx="6613855" cy="206532"/>
          </a:xfrm>
          <a:prstGeom prst="rect">
            <a:avLst/>
          </a:prstGeom>
          <a:noFill/>
        </p:spPr>
        <p:txBody>
          <a:bodyPr wrap="square" anchor="t" lIns="0" rIns="0" tIns="0" bIns="0"/>
          <a:lstStyle/>
          <a:p>
            <a:pPr algn="l">
              <a:lnSpc>
                <a:spcPct val="112000"/>
              </a:lnSpc>
              <a:spcBef>
                <a:spcPts val="0"/>
              </a:spcBef>
            </a:pPr>
            <a:r>
              <a:rPr sz="1200" b="1" i="0">
                <a:solidFill>
                  <a:srgbClr val="707078"/>
                </a:solidFill>
                <a:latin typeface="Inter"/>
              </a:rPr>
              <a:t>POST</a:t>
            </a:r>
          </a:p>
        </p:txBody>
      </p:sp>
      <p:sp>
        <p:nvSpPr>
          <p:cNvPr id="6" name="TextBox 5"/>
          <p:cNvSpPr txBox="1"/>
          <p:nvPr/>
        </p:nvSpPr>
        <p:spPr>
          <a:xfrm>
            <a:off x="7573975" y="3019083"/>
            <a:ext cx="1920240" cy="206532"/>
          </a:xfrm>
          <a:prstGeom prst="rect">
            <a:avLst/>
          </a:prstGeom>
          <a:noFill/>
        </p:spPr>
        <p:txBody>
          <a:bodyPr wrap="square" anchor="t" lIns="0" rIns="0" tIns="0" bIns="0"/>
          <a:lstStyle/>
          <a:p>
            <a:pPr algn="l">
              <a:lnSpc>
                <a:spcPct val="112000"/>
              </a:lnSpc>
              <a:spcBef>
                <a:spcPts val="0"/>
              </a:spcBef>
            </a:pPr>
            <a:r>
              <a:rPr sz="1200" b="1" i="0">
                <a:solidFill>
                  <a:srgbClr val="707078"/>
                </a:solidFill>
                <a:latin typeface="Inter"/>
              </a:rPr>
              <a:t>COUNTED FOR</a:t>
            </a:r>
          </a:p>
        </p:txBody>
      </p:sp>
      <p:sp>
        <p:nvSpPr>
          <p:cNvPr id="7" name="TextBox 6"/>
          <p:cNvSpPr txBox="1"/>
          <p:nvPr/>
        </p:nvSpPr>
        <p:spPr>
          <a:xfrm>
            <a:off x="9585655" y="3019083"/>
            <a:ext cx="1737360" cy="206532"/>
          </a:xfrm>
          <a:prstGeom prst="rect">
            <a:avLst/>
          </a:prstGeom>
          <a:noFill/>
        </p:spPr>
        <p:txBody>
          <a:bodyPr wrap="square" anchor="t" lIns="0" rIns="0" tIns="0" bIns="0"/>
          <a:lstStyle/>
          <a:p>
            <a:pPr algn="l">
              <a:lnSpc>
                <a:spcPct val="112000"/>
              </a:lnSpc>
              <a:spcBef>
                <a:spcPts val="0"/>
              </a:spcBef>
            </a:pPr>
            <a:r>
              <a:rPr sz="1200" b="1" i="0">
                <a:solidFill>
                  <a:srgbClr val="707078"/>
                </a:solidFill>
                <a:latin typeface="Inter"/>
              </a:rPr>
              <a:t>ASKER NAMES IT</a:t>
            </a:r>
          </a:p>
        </p:txBody>
      </p:sp>
      <p:sp>
        <p:nvSpPr>
          <p:cNvPr id="8" name="Rectangle 7"/>
          <p:cNvSpPr/>
          <p:nvPr/>
        </p:nvSpPr>
        <p:spPr>
          <a:xfrm>
            <a:off x="822960" y="3271335"/>
            <a:ext cx="10545775" cy="9525"/>
          </a:xfrm>
          <a:prstGeom prst="rect">
            <a:avLst/>
          </a:prstGeom>
          <a:solidFill>
            <a:srgbClr val="D9D9DE"/>
          </a:solidFill>
          <a:ln>
            <a:noFill/>
          </a:ln>
        </p:spPr>
        <p:txBody>
          <a:bodyPr rtlCol="0" anchor="ctr"/>
          <a:lstStyle/>
          <a:p>
            <a:pPr algn="ctr"/>
          </a:p>
        </p:txBody>
      </p:sp>
      <p:sp>
        <p:nvSpPr>
          <p:cNvPr id="9" name="TextBox 8"/>
          <p:cNvSpPr txBox="1"/>
          <p:nvPr/>
        </p:nvSpPr>
        <p:spPr>
          <a:xfrm>
            <a:off x="868680" y="3317055"/>
            <a:ext cx="6613855" cy="206532"/>
          </a:xfrm>
          <a:prstGeom prst="rect">
            <a:avLst/>
          </a:prstGeom>
          <a:noFill/>
        </p:spPr>
        <p:txBody>
          <a:bodyPr wrap="square" anchor="t" lIns="0" rIns="0" tIns="0" bIns="0"/>
          <a:lstStyle/>
          <a:p>
            <a:pPr algn="l">
              <a:lnSpc>
                <a:spcPct val="112000"/>
              </a:lnSpc>
              <a:spcBef>
                <a:spcPts val="0"/>
              </a:spcBef>
            </a:pPr>
            <a:r>
              <a:rPr sz="1200" b="0" i="0">
                <a:solidFill>
                  <a:srgbClr val="111111"/>
                </a:solidFill>
                <a:latin typeface="Inter"/>
              </a:rPr>
              <a:t>git how to move back commit (6,163 views)</a:t>
            </a:r>
          </a:p>
        </p:txBody>
      </p:sp>
      <p:sp>
        <p:nvSpPr>
          <p:cNvPr id="10" name="TextBox 9"/>
          <p:cNvSpPr txBox="1"/>
          <p:nvPr/>
        </p:nvSpPr>
        <p:spPr>
          <a:xfrm>
            <a:off x="7573975" y="3317055"/>
            <a:ext cx="1920240" cy="206532"/>
          </a:xfrm>
          <a:prstGeom prst="rect">
            <a:avLst/>
          </a:prstGeom>
          <a:noFill/>
        </p:spPr>
        <p:txBody>
          <a:bodyPr wrap="square" anchor="t" lIns="0" rIns="0" tIns="0" bIns="0"/>
          <a:lstStyle/>
          <a:p>
            <a:pPr algn="l">
              <a:lnSpc>
                <a:spcPct val="112000"/>
              </a:lnSpc>
              <a:spcBef>
                <a:spcPts val="0"/>
              </a:spcBef>
            </a:pPr>
            <a:r>
              <a:rPr sz="1200" b="0" i="0">
                <a:solidFill>
                  <a:srgbClr val="111111"/>
                </a:solidFill>
                <a:latin typeface="Noto Sans Mono"/>
              </a:rPr>
              <a:t>git reflog</a:t>
            </a:r>
          </a:p>
        </p:txBody>
      </p:sp>
      <p:sp>
        <p:nvSpPr>
          <p:cNvPr id="11" name="TextBox 10"/>
          <p:cNvSpPr txBox="1"/>
          <p:nvPr/>
        </p:nvSpPr>
        <p:spPr>
          <a:xfrm>
            <a:off x="9585655" y="3317055"/>
            <a:ext cx="1737360" cy="206532"/>
          </a:xfrm>
          <a:prstGeom prst="rect">
            <a:avLst/>
          </a:prstGeom>
          <a:noFill/>
        </p:spPr>
        <p:txBody>
          <a:bodyPr wrap="square" anchor="t" lIns="0" rIns="0" tIns="0" bIns="0"/>
          <a:lstStyle/>
          <a:p>
            <a:pPr algn="l">
              <a:lnSpc>
                <a:spcPct val="112000"/>
              </a:lnSpc>
              <a:spcBef>
                <a:spcPts val="0"/>
              </a:spcBef>
            </a:pPr>
            <a:r>
              <a:rPr sz="1200" b="0" i="0">
                <a:solidFill>
                  <a:srgbClr val="111111"/>
                </a:solidFill>
                <a:latin typeface="Inter"/>
              </a:rPr>
              <a:t>Yes</a:t>
            </a:r>
          </a:p>
        </p:txBody>
      </p:sp>
      <p:sp>
        <p:nvSpPr>
          <p:cNvPr id="12" name="Rectangle 11"/>
          <p:cNvSpPr/>
          <p:nvPr/>
        </p:nvSpPr>
        <p:spPr>
          <a:xfrm>
            <a:off x="822960" y="3569307"/>
            <a:ext cx="10545775" cy="9525"/>
          </a:xfrm>
          <a:prstGeom prst="rect">
            <a:avLst/>
          </a:prstGeom>
          <a:solidFill>
            <a:srgbClr val="D9D9DE"/>
          </a:solidFill>
          <a:ln>
            <a:noFill/>
          </a:ln>
        </p:spPr>
        <p:txBody>
          <a:bodyPr rtlCol="0" anchor="ctr"/>
          <a:lstStyle/>
          <a:p>
            <a:pPr algn="ctr"/>
          </a:p>
        </p:txBody>
      </p:sp>
      <p:sp>
        <p:nvSpPr>
          <p:cNvPr id="13" name="TextBox 12"/>
          <p:cNvSpPr txBox="1"/>
          <p:nvPr/>
        </p:nvSpPr>
        <p:spPr>
          <a:xfrm>
            <a:off x="868680" y="3615027"/>
            <a:ext cx="6613855" cy="206532"/>
          </a:xfrm>
          <a:prstGeom prst="rect">
            <a:avLst/>
          </a:prstGeom>
          <a:noFill/>
        </p:spPr>
        <p:txBody>
          <a:bodyPr wrap="square" anchor="t" lIns="0" rIns="0" tIns="0" bIns="0"/>
          <a:lstStyle/>
          <a:p>
            <a:pPr algn="l">
              <a:lnSpc>
                <a:spcPct val="112000"/>
              </a:lnSpc>
              <a:spcBef>
                <a:spcPts val="0"/>
              </a:spcBef>
            </a:pPr>
            <a:r>
              <a:rPr sz="1200" b="0" i="0">
                <a:solidFill>
                  <a:srgbClr val="111111"/>
                </a:solidFill>
                <a:latin typeface="Inter"/>
              </a:rPr>
              <a:t>How do I remove a single file from the staging area (undo git add)? (656,913 views)</a:t>
            </a:r>
          </a:p>
        </p:txBody>
      </p:sp>
      <p:sp>
        <p:nvSpPr>
          <p:cNvPr id="14" name="TextBox 13"/>
          <p:cNvSpPr txBox="1"/>
          <p:nvPr/>
        </p:nvSpPr>
        <p:spPr>
          <a:xfrm>
            <a:off x="7573975" y="3615027"/>
            <a:ext cx="1920240" cy="206532"/>
          </a:xfrm>
          <a:prstGeom prst="rect">
            <a:avLst/>
          </a:prstGeom>
          <a:noFill/>
        </p:spPr>
        <p:txBody>
          <a:bodyPr wrap="square" anchor="t" lIns="0" rIns="0" tIns="0" bIns="0"/>
          <a:lstStyle/>
          <a:p>
            <a:pPr algn="l">
              <a:lnSpc>
                <a:spcPct val="112000"/>
              </a:lnSpc>
              <a:spcBef>
                <a:spcPts val="0"/>
              </a:spcBef>
            </a:pPr>
            <a:r>
              <a:rPr sz="1200" b="0" i="0">
                <a:solidFill>
                  <a:srgbClr val="111111"/>
                </a:solidFill>
                <a:latin typeface="Noto Sans Mono"/>
              </a:rPr>
              <a:t>git reset</a:t>
            </a:r>
          </a:p>
        </p:txBody>
      </p:sp>
      <p:sp>
        <p:nvSpPr>
          <p:cNvPr id="15" name="TextBox 14"/>
          <p:cNvSpPr txBox="1"/>
          <p:nvPr/>
        </p:nvSpPr>
        <p:spPr>
          <a:xfrm>
            <a:off x="9585655" y="3615027"/>
            <a:ext cx="1737360" cy="206532"/>
          </a:xfrm>
          <a:prstGeom prst="rect">
            <a:avLst/>
          </a:prstGeom>
          <a:noFill/>
        </p:spPr>
        <p:txBody>
          <a:bodyPr wrap="square" anchor="t" lIns="0" rIns="0" tIns="0" bIns="0"/>
          <a:lstStyle/>
          <a:p>
            <a:pPr algn="l">
              <a:lnSpc>
                <a:spcPct val="112000"/>
              </a:lnSpc>
              <a:spcBef>
                <a:spcPts val="0"/>
              </a:spcBef>
            </a:pPr>
            <a:r>
              <a:rPr sz="1200" b="0" i="0">
                <a:solidFill>
                  <a:srgbClr val="111111"/>
                </a:solidFill>
                <a:latin typeface="Inter"/>
              </a:rPr>
              <a:t>Answer only</a:t>
            </a:r>
          </a:p>
        </p:txBody>
      </p:sp>
      <p:sp>
        <p:nvSpPr>
          <p:cNvPr id="16" name="Rectangle 15"/>
          <p:cNvSpPr/>
          <p:nvPr/>
        </p:nvSpPr>
        <p:spPr>
          <a:xfrm>
            <a:off x="822960" y="3867279"/>
            <a:ext cx="10545775" cy="9525"/>
          </a:xfrm>
          <a:prstGeom prst="rect">
            <a:avLst/>
          </a:prstGeom>
          <a:solidFill>
            <a:srgbClr val="D9D9DE"/>
          </a:solidFill>
          <a:ln>
            <a:noFill/>
          </a:ln>
        </p:spPr>
        <p:txBody>
          <a:bodyPr rtlCol="0" anchor="ctr"/>
          <a:lstStyle/>
          <a:p>
            <a:pPr algn="ctr"/>
          </a:p>
        </p:txBody>
      </p:sp>
      <p:sp>
        <p:nvSpPr>
          <p:cNvPr id="17" name="TextBox 16"/>
          <p:cNvSpPr txBox="1"/>
          <p:nvPr/>
        </p:nvSpPr>
        <p:spPr>
          <a:xfrm>
            <a:off x="868680" y="3912999"/>
            <a:ext cx="6613855" cy="206532"/>
          </a:xfrm>
          <a:prstGeom prst="rect">
            <a:avLst/>
          </a:prstGeom>
          <a:noFill/>
        </p:spPr>
        <p:txBody>
          <a:bodyPr wrap="square" anchor="t" lIns="0" rIns="0" tIns="0" bIns="0"/>
          <a:lstStyle/>
          <a:p>
            <a:pPr algn="l">
              <a:lnSpc>
                <a:spcPct val="112000"/>
              </a:lnSpc>
              <a:spcBef>
                <a:spcPts val="0"/>
              </a:spcBef>
            </a:pPr>
            <a:r>
              <a:rPr sz="1200" b="0" i="0">
                <a:solidFill>
                  <a:srgbClr val="111111"/>
                </a:solidFill>
                <a:latin typeface="Inter"/>
              </a:rPr>
              <a:t>Undo a Git merge that hasn't been pushed yet (2,371,183 views)</a:t>
            </a:r>
          </a:p>
        </p:txBody>
      </p:sp>
      <p:sp>
        <p:nvSpPr>
          <p:cNvPr id="18" name="TextBox 17"/>
          <p:cNvSpPr txBox="1"/>
          <p:nvPr/>
        </p:nvSpPr>
        <p:spPr>
          <a:xfrm>
            <a:off x="7573975" y="3912999"/>
            <a:ext cx="1920240" cy="206532"/>
          </a:xfrm>
          <a:prstGeom prst="rect">
            <a:avLst/>
          </a:prstGeom>
          <a:noFill/>
        </p:spPr>
        <p:txBody>
          <a:bodyPr wrap="square" anchor="t" lIns="0" rIns="0" tIns="0" bIns="0"/>
          <a:lstStyle/>
          <a:p>
            <a:pPr algn="l">
              <a:lnSpc>
                <a:spcPct val="112000"/>
              </a:lnSpc>
              <a:spcBef>
                <a:spcPts val="0"/>
              </a:spcBef>
            </a:pPr>
            <a:r>
              <a:rPr sz="1200" b="0" i="0">
                <a:solidFill>
                  <a:srgbClr val="111111"/>
                </a:solidFill>
                <a:latin typeface="Noto Sans Mono"/>
              </a:rPr>
              <a:t>git reflog</a:t>
            </a:r>
          </a:p>
        </p:txBody>
      </p:sp>
      <p:sp>
        <p:nvSpPr>
          <p:cNvPr id="19" name="TextBox 18"/>
          <p:cNvSpPr txBox="1"/>
          <p:nvPr/>
        </p:nvSpPr>
        <p:spPr>
          <a:xfrm>
            <a:off x="9585655" y="3912999"/>
            <a:ext cx="1737360" cy="206532"/>
          </a:xfrm>
          <a:prstGeom prst="rect">
            <a:avLst/>
          </a:prstGeom>
          <a:noFill/>
        </p:spPr>
        <p:txBody>
          <a:bodyPr wrap="square" anchor="t" lIns="0" rIns="0" tIns="0" bIns="0"/>
          <a:lstStyle/>
          <a:p>
            <a:pPr algn="l">
              <a:lnSpc>
                <a:spcPct val="112000"/>
              </a:lnSpc>
              <a:spcBef>
                <a:spcPts val="0"/>
              </a:spcBef>
            </a:pPr>
            <a:r>
              <a:rPr sz="1200" b="0" i="0">
                <a:solidFill>
                  <a:srgbClr val="111111"/>
                </a:solidFill>
                <a:latin typeface="Inter"/>
              </a:rPr>
              <a:t>Answer only</a:t>
            </a:r>
          </a:p>
        </p:txBody>
      </p:sp>
      <p:sp>
        <p:nvSpPr>
          <p:cNvPr id="20" name="Rectangle 19"/>
          <p:cNvSpPr/>
          <p:nvPr/>
        </p:nvSpPr>
        <p:spPr>
          <a:xfrm>
            <a:off x="822960" y="4165251"/>
            <a:ext cx="10545775" cy="9525"/>
          </a:xfrm>
          <a:prstGeom prst="rect">
            <a:avLst/>
          </a:prstGeom>
          <a:solidFill>
            <a:srgbClr val="D9D9DE"/>
          </a:solidFill>
          <a:ln>
            <a:noFill/>
          </a:ln>
        </p:spPr>
        <p:txBody>
          <a:bodyPr rtlCol="0" anchor="ctr"/>
          <a:lstStyle/>
          <a:p>
            <a:pPr algn="ctr"/>
          </a:p>
        </p:txBody>
      </p:sp>
      <p:sp>
        <p:nvSpPr>
          <p:cNvPr id="21" name="TextBox 20"/>
          <p:cNvSpPr txBox="1"/>
          <p:nvPr/>
        </p:nvSpPr>
        <p:spPr>
          <a:xfrm>
            <a:off x="868680" y="4210971"/>
            <a:ext cx="6613855" cy="206532"/>
          </a:xfrm>
          <a:prstGeom prst="rect">
            <a:avLst/>
          </a:prstGeom>
          <a:noFill/>
        </p:spPr>
        <p:txBody>
          <a:bodyPr wrap="square" anchor="t" lIns="0" rIns="0" tIns="0" bIns="0"/>
          <a:lstStyle/>
          <a:p>
            <a:pPr algn="l">
              <a:lnSpc>
                <a:spcPct val="112000"/>
              </a:lnSpc>
              <a:spcBef>
                <a:spcPts val="0"/>
              </a:spcBef>
            </a:pPr>
            <a:r>
              <a:rPr sz="1200" b="0" i="0">
                <a:solidFill>
                  <a:srgbClr val="111111"/>
                </a:solidFill>
                <a:latin typeface="Inter"/>
              </a:rPr>
              <a:t>How can i undo changes between two commits? (24 views)</a:t>
            </a:r>
          </a:p>
        </p:txBody>
      </p:sp>
      <p:sp>
        <p:nvSpPr>
          <p:cNvPr id="22" name="TextBox 21"/>
          <p:cNvSpPr txBox="1"/>
          <p:nvPr/>
        </p:nvSpPr>
        <p:spPr>
          <a:xfrm>
            <a:off x="7573975" y="4210971"/>
            <a:ext cx="1920240" cy="206532"/>
          </a:xfrm>
          <a:prstGeom prst="rect">
            <a:avLst/>
          </a:prstGeom>
          <a:noFill/>
        </p:spPr>
        <p:txBody>
          <a:bodyPr wrap="square" anchor="t" lIns="0" rIns="0" tIns="0" bIns="0"/>
          <a:lstStyle/>
          <a:p>
            <a:pPr algn="l">
              <a:lnSpc>
                <a:spcPct val="112000"/>
              </a:lnSpc>
              <a:spcBef>
                <a:spcPts val="0"/>
              </a:spcBef>
            </a:pPr>
            <a:r>
              <a:rPr sz="1200" b="0" i="0">
                <a:solidFill>
                  <a:srgbClr val="111111"/>
                </a:solidFill>
                <a:latin typeface="Noto Sans Mono"/>
              </a:rPr>
              <a:t>git revert</a:t>
            </a:r>
          </a:p>
        </p:txBody>
      </p:sp>
      <p:sp>
        <p:nvSpPr>
          <p:cNvPr id="23" name="TextBox 22"/>
          <p:cNvSpPr txBox="1"/>
          <p:nvPr/>
        </p:nvSpPr>
        <p:spPr>
          <a:xfrm>
            <a:off x="9585655" y="4210971"/>
            <a:ext cx="1737360" cy="206532"/>
          </a:xfrm>
          <a:prstGeom prst="rect">
            <a:avLst/>
          </a:prstGeom>
          <a:noFill/>
        </p:spPr>
        <p:txBody>
          <a:bodyPr wrap="square" anchor="t" lIns="0" rIns="0" tIns="0" bIns="0"/>
          <a:lstStyle/>
          <a:p>
            <a:pPr algn="l">
              <a:lnSpc>
                <a:spcPct val="112000"/>
              </a:lnSpc>
              <a:spcBef>
                <a:spcPts val="0"/>
              </a:spcBef>
            </a:pPr>
            <a:r>
              <a:rPr sz="1200" b="0" i="0">
                <a:solidFill>
                  <a:srgbClr val="111111"/>
                </a:solidFill>
                <a:latin typeface="Inter"/>
              </a:rPr>
              <a:t>Answer only</a:t>
            </a:r>
          </a:p>
        </p:txBody>
      </p:sp>
      <p:sp>
        <p:nvSpPr>
          <p:cNvPr id="24" name="Rectangle 23"/>
          <p:cNvSpPr/>
          <p:nvPr/>
        </p:nvSpPr>
        <p:spPr>
          <a:xfrm>
            <a:off x="822960" y="4463223"/>
            <a:ext cx="10545775" cy="9525"/>
          </a:xfrm>
          <a:prstGeom prst="rect">
            <a:avLst/>
          </a:prstGeom>
          <a:solidFill>
            <a:srgbClr val="D9D9DE"/>
          </a:solidFill>
          <a:ln>
            <a:noFill/>
          </a:ln>
        </p:spPr>
        <p:txBody>
          <a:bodyPr rtlCol="0" anchor="ctr"/>
          <a:lstStyle/>
          <a:p>
            <a:pPr algn="ctr"/>
          </a:p>
        </p:txBody>
      </p:sp>
      <p:sp>
        <p:nvSpPr>
          <p:cNvPr id="25" name="TextBox 24"/>
          <p:cNvSpPr txBox="1"/>
          <p:nvPr/>
        </p:nvSpPr>
        <p:spPr>
          <a:xfrm>
            <a:off x="868680" y="4508943"/>
            <a:ext cx="6613855" cy="206532"/>
          </a:xfrm>
          <a:prstGeom prst="rect">
            <a:avLst/>
          </a:prstGeom>
          <a:noFill/>
        </p:spPr>
        <p:txBody>
          <a:bodyPr wrap="square" anchor="t" lIns="0" rIns="0" tIns="0" bIns="0"/>
          <a:lstStyle/>
          <a:p>
            <a:pPr algn="l">
              <a:lnSpc>
                <a:spcPct val="112000"/>
              </a:lnSpc>
              <a:spcBef>
                <a:spcPts val="0"/>
              </a:spcBef>
            </a:pPr>
            <a:r>
              <a:rPr sz="1200" b="0" i="0">
                <a:solidFill>
                  <a:srgbClr val="111111"/>
                </a:solidFill>
                <a:latin typeface="Inter"/>
              </a:rPr>
              <a:t>git 'merge' only existing files (1,378 views)</a:t>
            </a:r>
          </a:p>
        </p:txBody>
      </p:sp>
      <p:sp>
        <p:nvSpPr>
          <p:cNvPr id="26" name="TextBox 25"/>
          <p:cNvSpPr txBox="1"/>
          <p:nvPr/>
        </p:nvSpPr>
        <p:spPr>
          <a:xfrm>
            <a:off x="7573975" y="4508943"/>
            <a:ext cx="1920240" cy="206532"/>
          </a:xfrm>
          <a:prstGeom prst="rect">
            <a:avLst/>
          </a:prstGeom>
          <a:noFill/>
        </p:spPr>
        <p:txBody>
          <a:bodyPr wrap="square" anchor="t" lIns="0" rIns="0" tIns="0" bIns="0"/>
          <a:lstStyle/>
          <a:p>
            <a:pPr algn="l">
              <a:lnSpc>
                <a:spcPct val="112000"/>
              </a:lnSpc>
              <a:spcBef>
                <a:spcPts val="0"/>
              </a:spcBef>
            </a:pPr>
            <a:r>
              <a:rPr sz="1200" b="0" i="0">
                <a:solidFill>
                  <a:srgbClr val="111111"/>
                </a:solidFill>
                <a:latin typeface="Noto Sans Mono"/>
              </a:rPr>
              <a:t>git clean</a:t>
            </a:r>
          </a:p>
        </p:txBody>
      </p:sp>
      <p:sp>
        <p:nvSpPr>
          <p:cNvPr id="27" name="TextBox 26"/>
          <p:cNvSpPr txBox="1"/>
          <p:nvPr/>
        </p:nvSpPr>
        <p:spPr>
          <a:xfrm>
            <a:off x="9585655" y="4508943"/>
            <a:ext cx="1737360" cy="206532"/>
          </a:xfrm>
          <a:prstGeom prst="rect">
            <a:avLst/>
          </a:prstGeom>
          <a:noFill/>
        </p:spPr>
        <p:txBody>
          <a:bodyPr wrap="square" anchor="t" lIns="0" rIns="0" tIns="0" bIns="0"/>
          <a:lstStyle/>
          <a:p>
            <a:pPr algn="l">
              <a:lnSpc>
                <a:spcPct val="112000"/>
              </a:lnSpc>
              <a:spcBef>
                <a:spcPts val="0"/>
              </a:spcBef>
            </a:pPr>
            <a:r>
              <a:rPr sz="1200" b="0" i="0">
                <a:solidFill>
                  <a:srgbClr val="111111"/>
                </a:solidFill>
                <a:latin typeface="Inter"/>
              </a:rPr>
              <a:t>Yes</a:t>
            </a:r>
          </a:p>
        </p:txBody>
      </p:sp>
      <p:sp>
        <p:nvSpPr>
          <p:cNvPr id="28" name="Rectangle 27"/>
          <p:cNvSpPr/>
          <p:nvPr/>
        </p:nvSpPr>
        <p:spPr>
          <a:xfrm>
            <a:off x="822960" y="4761195"/>
            <a:ext cx="10545775" cy="9525"/>
          </a:xfrm>
          <a:prstGeom prst="rect">
            <a:avLst/>
          </a:prstGeom>
          <a:solidFill>
            <a:srgbClr val="D9D9DE"/>
          </a:solidFill>
          <a:ln>
            <a:noFill/>
          </a:ln>
        </p:spPr>
        <p:txBody>
          <a:bodyPr rtlCol="0" anchor="ctr"/>
          <a:lstStyle/>
          <a:p>
            <a:pPr algn="ctr"/>
          </a:p>
        </p:txBody>
      </p:sp>
      <p:sp>
        <p:nvSpPr>
          <p:cNvPr id="29" name="TextBox 28"/>
          <p:cNvSpPr txBox="1"/>
          <p:nvPr/>
        </p:nvSpPr>
        <p:spPr>
          <a:xfrm>
            <a:off x="868680" y="4806915"/>
            <a:ext cx="6613855" cy="206532"/>
          </a:xfrm>
          <a:prstGeom prst="rect">
            <a:avLst/>
          </a:prstGeom>
          <a:noFill/>
        </p:spPr>
        <p:txBody>
          <a:bodyPr wrap="square" anchor="t" lIns="0" rIns="0" tIns="0" bIns="0"/>
          <a:lstStyle/>
          <a:p>
            <a:pPr algn="l">
              <a:lnSpc>
                <a:spcPct val="112000"/>
              </a:lnSpc>
              <a:spcBef>
                <a:spcPts val="0"/>
              </a:spcBef>
            </a:pPr>
            <a:r>
              <a:rPr sz="1200" b="0" i="0">
                <a:solidFill>
                  <a:srgbClr val="111111"/>
                </a:solidFill>
                <a:latin typeface="Inter"/>
              </a:rPr>
              <a:t>Git branch not working the way I expected it to (2,989 views)</a:t>
            </a:r>
          </a:p>
        </p:txBody>
      </p:sp>
      <p:sp>
        <p:nvSpPr>
          <p:cNvPr id="30" name="TextBox 29"/>
          <p:cNvSpPr txBox="1"/>
          <p:nvPr/>
        </p:nvSpPr>
        <p:spPr>
          <a:xfrm>
            <a:off x="7573975" y="4806915"/>
            <a:ext cx="1920240" cy="206532"/>
          </a:xfrm>
          <a:prstGeom prst="rect">
            <a:avLst/>
          </a:prstGeom>
          <a:noFill/>
        </p:spPr>
        <p:txBody>
          <a:bodyPr wrap="square" anchor="t" lIns="0" rIns="0" tIns="0" bIns="0"/>
          <a:lstStyle/>
          <a:p>
            <a:pPr algn="l">
              <a:lnSpc>
                <a:spcPct val="112000"/>
              </a:lnSpc>
              <a:spcBef>
                <a:spcPts val="0"/>
              </a:spcBef>
            </a:pPr>
            <a:r>
              <a:rPr sz="1200" b="0" i="0">
                <a:solidFill>
                  <a:srgbClr val="111111"/>
                </a:solidFill>
                <a:latin typeface="Noto Sans Mono"/>
              </a:rPr>
              <a:t>git reset</a:t>
            </a:r>
          </a:p>
        </p:txBody>
      </p:sp>
      <p:sp>
        <p:nvSpPr>
          <p:cNvPr id="31" name="TextBox 30"/>
          <p:cNvSpPr txBox="1"/>
          <p:nvPr/>
        </p:nvSpPr>
        <p:spPr>
          <a:xfrm>
            <a:off x="9585655" y="4806915"/>
            <a:ext cx="1737360" cy="206532"/>
          </a:xfrm>
          <a:prstGeom prst="rect">
            <a:avLst/>
          </a:prstGeom>
          <a:noFill/>
        </p:spPr>
        <p:txBody>
          <a:bodyPr wrap="square" anchor="t" lIns="0" rIns="0" tIns="0" bIns="0"/>
          <a:lstStyle/>
          <a:p>
            <a:pPr algn="l">
              <a:lnSpc>
                <a:spcPct val="112000"/>
              </a:lnSpc>
              <a:spcBef>
                <a:spcPts val="0"/>
              </a:spcBef>
            </a:pPr>
            <a:r>
              <a:rPr sz="1200" b="0" i="0">
                <a:solidFill>
                  <a:srgbClr val="111111"/>
                </a:solidFill>
                <a:latin typeface="Inter"/>
              </a:rPr>
              <a:t>Yes</a:t>
            </a:r>
          </a:p>
        </p:txBody>
      </p:sp>
      <p:sp>
        <p:nvSpPr>
          <p:cNvPr id="32" name="Rectangle 31"/>
          <p:cNvSpPr/>
          <p:nvPr/>
        </p:nvSpPr>
        <p:spPr>
          <a:xfrm>
            <a:off x="822960" y="5059167"/>
            <a:ext cx="10545775" cy="9525"/>
          </a:xfrm>
          <a:prstGeom prst="rect">
            <a:avLst/>
          </a:prstGeom>
          <a:solidFill>
            <a:srgbClr val="D9D9DE"/>
          </a:solidFill>
          <a:ln>
            <a:noFill/>
          </a:ln>
        </p:spPr>
        <p:txBody>
          <a:bodyPr rtlCol="0" anchor="ctr"/>
          <a:lstStyle/>
          <a:p>
            <a:pPr algn="ctr"/>
          </a:p>
        </p:txBody>
      </p:sp>
      <p:sp>
        <p:nvSpPr>
          <p:cNvPr id="33" name="TextBox 32"/>
          <p:cNvSpPr txBox="1"/>
          <p:nvPr/>
        </p:nvSpPr>
        <p:spPr>
          <a:xfrm>
            <a:off x="868680" y="5104887"/>
            <a:ext cx="6613855" cy="206532"/>
          </a:xfrm>
          <a:prstGeom prst="rect">
            <a:avLst/>
          </a:prstGeom>
          <a:noFill/>
        </p:spPr>
        <p:txBody>
          <a:bodyPr wrap="square" anchor="t" lIns="0" rIns="0" tIns="0" bIns="0"/>
          <a:lstStyle/>
          <a:p>
            <a:pPr algn="l">
              <a:lnSpc>
                <a:spcPct val="112000"/>
              </a:lnSpc>
              <a:spcBef>
                <a:spcPts val="0"/>
              </a:spcBef>
            </a:pPr>
            <a:r>
              <a:rPr sz="1200" b="0" i="0">
                <a:solidFill>
                  <a:srgbClr val="111111"/>
                </a:solidFill>
                <a:latin typeface="Inter"/>
              </a:rPr>
              <a:t>revert a commit after push, checkout a commit behind and modification of files (46 views)</a:t>
            </a:r>
          </a:p>
        </p:txBody>
      </p:sp>
      <p:sp>
        <p:nvSpPr>
          <p:cNvPr id="34" name="TextBox 33"/>
          <p:cNvSpPr txBox="1"/>
          <p:nvPr/>
        </p:nvSpPr>
        <p:spPr>
          <a:xfrm>
            <a:off x="7573975" y="5104887"/>
            <a:ext cx="1920240" cy="206532"/>
          </a:xfrm>
          <a:prstGeom prst="rect">
            <a:avLst/>
          </a:prstGeom>
          <a:noFill/>
        </p:spPr>
        <p:txBody>
          <a:bodyPr wrap="square" anchor="t" lIns="0" rIns="0" tIns="0" bIns="0"/>
          <a:lstStyle/>
          <a:p>
            <a:pPr algn="l">
              <a:lnSpc>
                <a:spcPct val="112000"/>
              </a:lnSpc>
              <a:spcBef>
                <a:spcPts val="0"/>
              </a:spcBef>
            </a:pPr>
            <a:r>
              <a:rPr sz="1200" b="0" i="0">
                <a:solidFill>
                  <a:srgbClr val="111111"/>
                </a:solidFill>
                <a:latin typeface="Noto Sans Mono"/>
              </a:rPr>
              <a:t>git revert</a:t>
            </a:r>
          </a:p>
        </p:txBody>
      </p:sp>
      <p:sp>
        <p:nvSpPr>
          <p:cNvPr id="35" name="TextBox 34"/>
          <p:cNvSpPr txBox="1"/>
          <p:nvPr/>
        </p:nvSpPr>
        <p:spPr>
          <a:xfrm>
            <a:off x="9585655" y="5104887"/>
            <a:ext cx="1737360" cy="206532"/>
          </a:xfrm>
          <a:prstGeom prst="rect">
            <a:avLst/>
          </a:prstGeom>
          <a:noFill/>
        </p:spPr>
        <p:txBody>
          <a:bodyPr wrap="square" anchor="t" lIns="0" rIns="0" tIns="0" bIns="0"/>
          <a:lstStyle/>
          <a:p>
            <a:pPr algn="l">
              <a:lnSpc>
                <a:spcPct val="112000"/>
              </a:lnSpc>
              <a:spcBef>
                <a:spcPts val="0"/>
              </a:spcBef>
            </a:pPr>
            <a:r>
              <a:rPr sz="1200" b="0" i="0">
                <a:solidFill>
                  <a:srgbClr val="111111"/>
                </a:solidFill>
                <a:latin typeface="Inter"/>
              </a:rPr>
              <a:t>Answer only</a:t>
            </a:r>
          </a:p>
        </p:txBody>
      </p:sp>
      <p:sp>
        <p:nvSpPr>
          <p:cNvPr id="36" name="Rectangle 35"/>
          <p:cNvSpPr/>
          <p:nvPr/>
        </p:nvSpPr>
        <p:spPr>
          <a:xfrm>
            <a:off x="822960" y="5357139"/>
            <a:ext cx="10545775" cy="9525"/>
          </a:xfrm>
          <a:prstGeom prst="rect">
            <a:avLst/>
          </a:prstGeom>
          <a:solidFill>
            <a:srgbClr val="D9D9DE"/>
          </a:solidFill>
          <a:ln>
            <a:noFill/>
          </a:ln>
        </p:spPr>
        <p:txBody>
          <a:bodyPr rtlCol="0" anchor="ctr"/>
          <a:lstStyle/>
          <a:p>
            <a:pPr algn="ctr"/>
          </a:p>
        </p:txBody>
      </p:sp>
      <p:sp>
        <p:nvSpPr>
          <p:cNvPr id="37" name="TextBox 36"/>
          <p:cNvSpPr txBox="1"/>
          <p:nvPr/>
        </p:nvSpPr>
        <p:spPr>
          <a:xfrm>
            <a:off x="868680" y="5402859"/>
            <a:ext cx="6613855" cy="206532"/>
          </a:xfrm>
          <a:prstGeom prst="rect">
            <a:avLst/>
          </a:prstGeom>
          <a:noFill/>
        </p:spPr>
        <p:txBody>
          <a:bodyPr wrap="square" anchor="t" lIns="0" rIns="0" tIns="0" bIns="0"/>
          <a:lstStyle/>
          <a:p>
            <a:pPr algn="l">
              <a:lnSpc>
                <a:spcPct val="112000"/>
              </a:lnSpc>
              <a:spcBef>
                <a:spcPts val="0"/>
              </a:spcBef>
            </a:pPr>
            <a:r>
              <a:rPr sz="1200" b="0" i="0">
                <a:solidFill>
                  <a:srgbClr val="111111"/>
                </a:solidFill>
                <a:latin typeface="Inter"/>
              </a:rPr>
              <a:t>Revert erroneous git checkout (45 views)</a:t>
            </a:r>
          </a:p>
        </p:txBody>
      </p:sp>
      <p:sp>
        <p:nvSpPr>
          <p:cNvPr id="38" name="TextBox 37"/>
          <p:cNvSpPr txBox="1"/>
          <p:nvPr/>
        </p:nvSpPr>
        <p:spPr>
          <a:xfrm>
            <a:off x="7573975" y="5402859"/>
            <a:ext cx="1920240" cy="206532"/>
          </a:xfrm>
          <a:prstGeom prst="rect">
            <a:avLst/>
          </a:prstGeom>
          <a:noFill/>
        </p:spPr>
        <p:txBody>
          <a:bodyPr wrap="square" anchor="t" lIns="0" rIns="0" tIns="0" bIns="0"/>
          <a:lstStyle/>
          <a:p>
            <a:pPr algn="l">
              <a:lnSpc>
                <a:spcPct val="112000"/>
              </a:lnSpc>
              <a:spcBef>
                <a:spcPts val="0"/>
              </a:spcBef>
            </a:pPr>
            <a:r>
              <a:rPr sz="1200" b="0" i="0">
                <a:solidFill>
                  <a:srgbClr val="111111"/>
                </a:solidFill>
                <a:latin typeface="Noto Sans Mono"/>
              </a:rPr>
              <a:t>git stash</a:t>
            </a:r>
          </a:p>
        </p:txBody>
      </p:sp>
      <p:sp>
        <p:nvSpPr>
          <p:cNvPr id="39" name="TextBox 38"/>
          <p:cNvSpPr txBox="1"/>
          <p:nvPr/>
        </p:nvSpPr>
        <p:spPr>
          <a:xfrm>
            <a:off x="9585655" y="5402859"/>
            <a:ext cx="1737360" cy="206532"/>
          </a:xfrm>
          <a:prstGeom prst="rect">
            <a:avLst/>
          </a:prstGeom>
          <a:noFill/>
        </p:spPr>
        <p:txBody>
          <a:bodyPr wrap="square" anchor="t" lIns="0" rIns="0" tIns="0" bIns="0"/>
          <a:lstStyle/>
          <a:p>
            <a:pPr algn="l">
              <a:lnSpc>
                <a:spcPct val="112000"/>
              </a:lnSpc>
              <a:spcBef>
                <a:spcPts val="0"/>
              </a:spcBef>
            </a:pPr>
            <a:r>
              <a:rPr sz="1200" b="0" i="0">
                <a:solidFill>
                  <a:srgbClr val="111111"/>
                </a:solidFill>
                <a:latin typeface="Inter"/>
              </a:rPr>
              <a:t>Answer only</a:t>
            </a:r>
          </a:p>
        </p:txBody>
      </p:sp>
      <p:sp>
        <p:nvSpPr>
          <p:cNvPr id="40" name="TextBox 39"/>
          <p:cNvSpPr txBox="1"/>
          <p:nvPr/>
        </p:nvSpPr>
        <p:spPr>
          <a:xfrm>
            <a:off x="822960" y="6022158"/>
            <a:ext cx="10545775" cy="378642"/>
          </a:xfrm>
          <a:prstGeom prst="rect">
            <a:avLst/>
          </a:prstGeom>
          <a:noFill/>
        </p:spPr>
        <p:txBody>
          <a:bodyPr wrap="square" anchor="t" lIns="0" rIns="0" tIns="0" bIns="0"/>
          <a:lstStyle/>
          <a:p>
            <a:pPr algn="l">
              <a:lnSpc>
                <a:spcPct val="112000"/>
              </a:lnSpc>
              <a:spcBef>
                <a:spcPts val="0"/>
              </a:spcBef>
            </a:pPr>
            <a:r>
              <a:rPr sz="2200" b="0" i="1">
                <a:solidFill>
                  <a:srgbClr val="707078"/>
                </a:solidFill>
                <a:latin typeface="Inter"/>
              </a:rPr>
              <a:t>Did they measure “developers find this command hard”?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45775" cy="320040"/>
          </a:xfrm>
          <a:prstGeom prst="rect">
            <a:avLst/>
          </a:prstGeom>
          <a:noFill/>
        </p:spPr>
        <p:txBody>
          <a:bodyPr wrap="square" anchor="t" lIns="0" rIns="0" tIns="0" bIns="0"/>
          <a:lstStyle/>
          <a:p>
            <a:pPr algn="l">
              <a:lnSpc>
                <a:spcPct val="110000"/>
              </a:lnSpc>
            </a:pPr>
            <a:r>
              <a:rPr sz="1600" b="1">
                <a:solidFill>
                  <a:srgbClr val="8B3DFF"/>
                </a:solidFill>
                <a:latin typeface="Inter"/>
              </a:rPr>
              <a:t>3 · THE ANALYSIS</a:t>
            </a:r>
          </a:p>
        </p:txBody>
      </p:sp>
      <p:sp>
        <p:nvSpPr>
          <p:cNvPr id="3" name="TextBox 2"/>
          <p:cNvSpPr txBox="1"/>
          <p:nvPr/>
        </p:nvSpPr>
        <p:spPr>
          <a:xfrm>
            <a:off x="822960" y="868680"/>
            <a:ext cx="10545775" cy="688441"/>
          </a:xfrm>
          <a:prstGeom prst="rect">
            <a:avLst/>
          </a:prstGeom>
          <a:noFill/>
        </p:spPr>
        <p:txBody>
          <a:bodyPr wrap="square" anchor="t" lIns="0" rIns="0" tIns="0" bIns="0"/>
          <a:lstStyle/>
          <a:p>
            <a:pPr algn="l">
              <a:lnSpc>
                <a:spcPct val="112000"/>
              </a:lnSpc>
              <a:spcBef>
                <a:spcPts val="0"/>
              </a:spcBef>
            </a:pPr>
            <a:r>
              <a:rPr sz="4000" b="1" i="0">
                <a:solidFill>
                  <a:srgbClr val="111111"/>
                </a:solidFill>
                <a:latin typeface="Inter"/>
              </a:rPr>
              <a:t>One question, 9.1 million views</a:t>
            </a:r>
          </a:p>
        </p:txBody>
      </p:sp>
      <p:sp>
        <p:nvSpPr>
          <p:cNvPr id="4" name="TextBox 3"/>
          <p:cNvSpPr txBox="1"/>
          <p:nvPr/>
        </p:nvSpPr>
        <p:spPr>
          <a:xfrm>
            <a:off x="822960" y="1831441"/>
            <a:ext cx="10545775" cy="688441"/>
          </a:xfrm>
          <a:prstGeom prst="rect">
            <a:avLst/>
          </a:prstGeom>
          <a:noFill/>
        </p:spPr>
        <p:txBody>
          <a:bodyPr wrap="square" anchor="t" lIns="0" rIns="0" tIns="0" bIns="0"/>
          <a:lstStyle/>
          <a:p>
            <a:pPr algn="l">
              <a:lnSpc>
                <a:spcPct val="112000"/>
              </a:lnSpc>
              <a:spcBef>
                <a:spcPts val="0"/>
              </a:spcBef>
            </a:pPr>
            <a:r>
              <a:rPr sz="2000" b="0" i="0">
                <a:solidFill>
                  <a:srgbClr val="111111"/>
                </a:solidFill>
                <a:latin typeface="Inter"/>
              </a:rPr>
              <a:t>“How do I undo the most recent local commits in Git?” names no command. Its accepted answer counts it for five. Without it, </a:t>
            </a:r>
            <a:r>
              <a:rPr sz="2000" b="0" i="0">
                <a:solidFill>
                  <a:srgbClr val="111111"/>
                </a:solidFill>
                <a:latin typeface="Noto Sans Mono"/>
              </a:rPr>
              <a:t>git reflog</a:t>
            </a:r>
            <a:r>
              <a:rPr sz="2000" b="0" i="0">
                <a:solidFill>
                  <a:srgbClr val="111111"/>
                </a:solidFill>
                <a:latin typeface="Inter"/>
              </a:rPr>
              <a:t> falls from #2 to #8.</a:t>
            </a:r>
          </a:p>
        </p:txBody>
      </p:sp>
      <p:sp>
        <p:nvSpPr>
          <p:cNvPr id="5" name="TextBox 4"/>
          <p:cNvSpPr txBox="1"/>
          <p:nvPr/>
        </p:nvSpPr>
        <p:spPr>
          <a:xfrm>
            <a:off x="914400" y="2839922"/>
            <a:ext cx="2560320" cy="206532"/>
          </a:xfrm>
          <a:prstGeom prst="rect">
            <a:avLst/>
          </a:prstGeom>
          <a:noFill/>
        </p:spPr>
        <p:txBody>
          <a:bodyPr wrap="square" anchor="t" lIns="0" rIns="0" tIns="0" bIns="0"/>
          <a:lstStyle/>
          <a:p>
            <a:pPr algn="l">
              <a:lnSpc>
                <a:spcPct val="112000"/>
              </a:lnSpc>
              <a:spcBef>
                <a:spcPts val="0"/>
              </a:spcBef>
            </a:pPr>
          </a:p>
        </p:txBody>
      </p:sp>
      <p:sp>
        <p:nvSpPr>
          <p:cNvPr id="6" name="TextBox 5"/>
          <p:cNvSpPr txBox="1"/>
          <p:nvPr/>
        </p:nvSpPr>
        <p:spPr>
          <a:xfrm>
            <a:off x="3657600" y="2839922"/>
            <a:ext cx="2417978" cy="206532"/>
          </a:xfrm>
          <a:prstGeom prst="rect">
            <a:avLst/>
          </a:prstGeom>
          <a:noFill/>
        </p:spPr>
        <p:txBody>
          <a:bodyPr wrap="square" anchor="t" lIns="0" rIns="0" tIns="0" bIns="0"/>
          <a:lstStyle/>
          <a:p>
            <a:pPr algn="ctr">
              <a:lnSpc>
                <a:spcPct val="112000"/>
              </a:lnSpc>
              <a:spcBef>
                <a:spcPts val="0"/>
              </a:spcBef>
            </a:pPr>
            <a:r>
              <a:rPr sz="1200" b="1" i="0">
                <a:solidFill>
                  <a:srgbClr val="707078"/>
                </a:solidFill>
                <a:latin typeface="Inter"/>
              </a:rPr>
              <a:t>PAPER: MEAN VIEWS</a:t>
            </a:r>
          </a:p>
        </p:txBody>
      </p:sp>
      <p:sp>
        <p:nvSpPr>
          <p:cNvPr id="7" name="TextBox 6"/>
          <p:cNvSpPr txBox="1"/>
          <p:nvPr/>
        </p:nvSpPr>
        <p:spPr>
          <a:xfrm>
            <a:off x="6258458" y="2839922"/>
            <a:ext cx="2417978" cy="206532"/>
          </a:xfrm>
          <a:prstGeom prst="rect">
            <a:avLst/>
          </a:prstGeom>
          <a:noFill/>
        </p:spPr>
        <p:txBody>
          <a:bodyPr wrap="square" anchor="t" lIns="0" rIns="0" tIns="0" bIns="0"/>
          <a:lstStyle/>
          <a:p>
            <a:pPr algn="ctr">
              <a:lnSpc>
                <a:spcPct val="112000"/>
              </a:lnSpc>
              <a:spcBef>
                <a:spcPts val="0"/>
              </a:spcBef>
            </a:pPr>
            <a:r>
              <a:rPr sz="1200" b="1" i="0">
                <a:solidFill>
                  <a:srgbClr val="707078"/>
                </a:solidFill>
                <a:latin typeface="Inter"/>
              </a:rPr>
              <a:t>MEDIAN VIEWS</a:t>
            </a:r>
          </a:p>
        </p:txBody>
      </p:sp>
      <p:sp>
        <p:nvSpPr>
          <p:cNvPr id="8" name="TextBox 7"/>
          <p:cNvSpPr txBox="1"/>
          <p:nvPr/>
        </p:nvSpPr>
        <p:spPr>
          <a:xfrm>
            <a:off x="8859316" y="2839922"/>
            <a:ext cx="2417978" cy="206532"/>
          </a:xfrm>
          <a:prstGeom prst="rect">
            <a:avLst/>
          </a:prstGeom>
          <a:noFill/>
        </p:spPr>
        <p:txBody>
          <a:bodyPr wrap="square" anchor="t" lIns="0" rIns="0" tIns="0" bIns="0"/>
          <a:lstStyle/>
          <a:p>
            <a:pPr algn="ctr">
              <a:lnSpc>
                <a:spcPct val="112000"/>
              </a:lnSpc>
              <a:spcBef>
                <a:spcPts val="0"/>
              </a:spcBef>
            </a:pPr>
            <a:r>
              <a:rPr sz="1200" b="1" i="0">
                <a:solidFill>
                  <a:srgbClr val="707078"/>
                </a:solidFill>
                <a:latin typeface="Inter"/>
              </a:rPr>
              <a:t>ASKER NAMES IT</a:t>
            </a:r>
          </a:p>
        </p:txBody>
      </p:sp>
      <p:sp>
        <p:nvSpPr>
          <p:cNvPr id="9" name="Rectangle 8"/>
          <p:cNvSpPr/>
          <p:nvPr/>
        </p:nvSpPr>
        <p:spPr>
          <a:xfrm>
            <a:off x="822960" y="3137894"/>
            <a:ext cx="10545774" cy="9525"/>
          </a:xfrm>
          <a:prstGeom prst="rect">
            <a:avLst/>
          </a:prstGeom>
          <a:solidFill>
            <a:srgbClr val="D9D9DE"/>
          </a:solidFill>
          <a:ln>
            <a:noFill/>
          </a:ln>
        </p:spPr>
        <p:txBody>
          <a:bodyPr rtlCol="0" anchor="ctr"/>
          <a:lstStyle/>
          <a:p>
            <a:pPr algn="ctr"/>
          </a:p>
        </p:txBody>
      </p:sp>
      <p:sp>
        <p:nvSpPr>
          <p:cNvPr id="10" name="TextBox 9"/>
          <p:cNvSpPr txBox="1"/>
          <p:nvPr/>
        </p:nvSpPr>
        <p:spPr>
          <a:xfrm>
            <a:off x="914400" y="3229334"/>
            <a:ext cx="2560320" cy="292587"/>
          </a:xfrm>
          <a:prstGeom prst="rect">
            <a:avLst/>
          </a:prstGeom>
          <a:noFill/>
        </p:spPr>
        <p:txBody>
          <a:bodyPr wrap="square" anchor="t" lIns="0" rIns="0" tIns="0" bIns="0"/>
          <a:lstStyle/>
          <a:p>
            <a:pPr algn="l">
              <a:lnSpc>
                <a:spcPct val="112000"/>
              </a:lnSpc>
              <a:spcBef>
                <a:spcPts val="0"/>
              </a:spcBef>
            </a:pPr>
            <a:r>
              <a:rPr sz="1700" b="1" i="0">
                <a:solidFill>
                  <a:srgbClr val="111111"/>
                </a:solidFill>
                <a:latin typeface="Noto Sans Mono"/>
              </a:rPr>
              <a:t>git revert</a:t>
            </a:r>
          </a:p>
        </p:txBody>
      </p:sp>
      <p:sp>
        <p:nvSpPr>
          <p:cNvPr id="11" name="TextBox 10"/>
          <p:cNvSpPr txBox="1"/>
          <p:nvPr/>
        </p:nvSpPr>
        <p:spPr>
          <a:xfrm>
            <a:off x="3657600" y="3229334"/>
            <a:ext cx="2417978" cy="292587"/>
          </a:xfrm>
          <a:prstGeom prst="rect">
            <a:avLst/>
          </a:prstGeom>
          <a:noFill/>
        </p:spPr>
        <p:txBody>
          <a:bodyPr wrap="square" anchor="t" lIns="0" rIns="0" tIns="0" bIns="0"/>
          <a:lstStyle/>
          <a:p>
            <a:pPr algn="ctr">
              <a:lnSpc>
                <a:spcPct val="112000"/>
              </a:lnSpc>
              <a:spcBef>
                <a:spcPts val="0"/>
              </a:spcBef>
            </a:pPr>
            <a:r>
              <a:rPr sz="1700" b="1" i="0">
                <a:solidFill>
                  <a:srgbClr val="8B3DFF"/>
                </a:solidFill>
                <a:latin typeface="Inter"/>
              </a:rPr>
              <a:t>#1</a:t>
            </a:r>
          </a:p>
        </p:txBody>
      </p:sp>
      <p:sp>
        <p:nvSpPr>
          <p:cNvPr id="12" name="TextBox 11"/>
          <p:cNvSpPr txBox="1"/>
          <p:nvPr/>
        </p:nvSpPr>
        <p:spPr>
          <a:xfrm>
            <a:off x="6258458" y="3229334"/>
            <a:ext cx="2417978" cy="292587"/>
          </a:xfrm>
          <a:prstGeom prst="rect">
            <a:avLst/>
          </a:prstGeom>
          <a:noFill/>
        </p:spPr>
        <p:txBody>
          <a:bodyPr wrap="square" anchor="t" lIns="0" rIns="0" tIns="0" bIns="0"/>
          <a:lstStyle/>
          <a:p>
            <a:pPr algn="ctr">
              <a:lnSpc>
                <a:spcPct val="112000"/>
              </a:lnSpc>
              <a:spcBef>
                <a:spcPts val="0"/>
              </a:spcBef>
            </a:pPr>
            <a:r>
              <a:rPr sz="1700" b="0" i="0">
                <a:solidFill>
                  <a:srgbClr val="111111"/>
                </a:solidFill>
                <a:latin typeface="Inter"/>
              </a:rPr>
              <a:t>#60</a:t>
            </a:r>
          </a:p>
        </p:txBody>
      </p:sp>
      <p:sp>
        <p:nvSpPr>
          <p:cNvPr id="13" name="TextBox 12"/>
          <p:cNvSpPr txBox="1"/>
          <p:nvPr/>
        </p:nvSpPr>
        <p:spPr>
          <a:xfrm>
            <a:off x="8859316" y="3229334"/>
            <a:ext cx="2417978" cy="292587"/>
          </a:xfrm>
          <a:prstGeom prst="rect">
            <a:avLst/>
          </a:prstGeom>
          <a:noFill/>
        </p:spPr>
        <p:txBody>
          <a:bodyPr wrap="square" anchor="t" lIns="0" rIns="0" tIns="0" bIns="0"/>
          <a:lstStyle/>
          <a:p>
            <a:pPr algn="ctr">
              <a:lnSpc>
                <a:spcPct val="112000"/>
              </a:lnSpc>
              <a:spcBef>
                <a:spcPts val="0"/>
              </a:spcBef>
            </a:pPr>
            <a:r>
              <a:rPr sz="1700" b="0" i="0">
                <a:solidFill>
                  <a:srgbClr val="111111"/>
                </a:solidFill>
                <a:latin typeface="Inter"/>
              </a:rPr>
              <a:t>#1</a:t>
            </a:r>
          </a:p>
        </p:txBody>
      </p:sp>
      <p:sp>
        <p:nvSpPr>
          <p:cNvPr id="14" name="Rectangle 13"/>
          <p:cNvSpPr/>
          <p:nvPr/>
        </p:nvSpPr>
        <p:spPr>
          <a:xfrm>
            <a:off x="822960" y="3613361"/>
            <a:ext cx="10545774" cy="9525"/>
          </a:xfrm>
          <a:prstGeom prst="rect">
            <a:avLst/>
          </a:prstGeom>
          <a:solidFill>
            <a:srgbClr val="D9D9DE"/>
          </a:solidFill>
          <a:ln>
            <a:noFill/>
          </a:ln>
        </p:spPr>
        <p:txBody>
          <a:bodyPr rtlCol="0" anchor="ctr"/>
          <a:lstStyle/>
          <a:p>
            <a:pPr algn="ctr"/>
          </a:p>
        </p:txBody>
      </p:sp>
      <p:sp>
        <p:nvSpPr>
          <p:cNvPr id="15" name="TextBox 14"/>
          <p:cNvSpPr txBox="1"/>
          <p:nvPr/>
        </p:nvSpPr>
        <p:spPr>
          <a:xfrm>
            <a:off x="914400" y="3704801"/>
            <a:ext cx="2560320" cy="292587"/>
          </a:xfrm>
          <a:prstGeom prst="rect">
            <a:avLst/>
          </a:prstGeom>
          <a:noFill/>
        </p:spPr>
        <p:txBody>
          <a:bodyPr wrap="square" anchor="t" lIns="0" rIns="0" tIns="0" bIns="0"/>
          <a:lstStyle/>
          <a:p>
            <a:pPr algn="l">
              <a:lnSpc>
                <a:spcPct val="112000"/>
              </a:lnSpc>
              <a:spcBef>
                <a:spcPts val="0"/>
              </a:spcBef>
            </a:pPr>
            <a:r>
              <a:rPr sz="1700" b="1" i="0">
                <a:solidFill>
                  <a:srgbClr val="111111"/>
                </a:solidFill>
                <a:latin typeface="Noto Sans Mono"/>
              </a:rPr>
              <a:t>git reflog</a:t>
            </a:r>
          </a:p>
        </p:txBody>
      </p:sp>
      <p:sp>
        <p:nvSpPr>
          <p:cNvPr id="16" name="TextBox 15"/>
          <p:cNvSpPr txBox="1"/>
          <p:nvPr/>
        </p:nvSpPr>
        <p:spPr>
          <a:xfrm>
            <a:off x="3657600" y="3704801"/>
            <a:ext cx="2417978" cy="292587"/>
          </a:xfrm>
          <a:prstGeom prst="rect">
            <a:avLst/>
          </a:prstGeom>
          <a:noFill/>
        </p:spPr>
        <p:txBody>
          <a:bodyPr wrap="square" anchor="t" lIns="0" rIns="0" tIns="0" bIns="0"/>
          <a:lstStyle/>
          <a:p>
            <a:pPr algn="ctr">
              <a:lnSpc>
                <a:spcPct val="112000"/>
              </a:lnSpc>
              <a:spcBef>
                <a:spcPts val="0"/>
              </a:spcBef>
            </a:pPr>
            <a:r>
              <a:rPr sz="1700" b="1" i="0">
                <a:solidFill>
                  <a:srgbClr val="8B3DFF"/>
                </a:solidFill>
                <a:latin typeface="Inter"/>
              </a:rPr>
              <a:t>#2</a:t>
            </a:r>
          </a:p>
        </p:txBody>
      </p:sp>
      <p:sp>
        <p:nvSpPr>
          <p:cNvPr id="17" name="TextBox 16"/>
          <p:cNvSpPr txBox="1"/>
          <p:nvPr/>
        </p:nvSpPr>
        <p:spPr>
          <a:xfrm>
            <a:off x="6258458" y="3704801"/>
            <a:ext cx="2417978" cy="292587"/>
          </a:xfrm>
          <a:prstGeom prst="rect">
            <a:avLst/>
          </a:prstGeom>
          <a:noFill/>
        </p:spPr>
        <p:txBody>
          <a:bodyPr wrap="square" anchor="t" lIns="0" rIns="0" tIns="0" bIns="0"/>
          <a:lstStyle/>
          <a:p>
            <a:pPr algn="ctr">
              <a:lnSpc>
                <a:spcPct val="112000"/>
              </a:lnSpc>
              <a:spcBef>
                <a:spcPts val="0"/>
              </a:spcBef>
            </a:pPr>
            <a:r>
              <a:rPr sz="1700" b="0" i="0">
                <a:solidFill>
                  <a:srgbClr val="111111"/>
                </a:solidFill>
                <a:latin typeface="Inter"/>
              </a:rPr>
              <a:t>#57</a:t>
            </a:r>
          </a:p>
        </p:txBody>
      </p:sp>
      <p:sp>
        <p:nvSpPr>
          <p:cNvPr id="18" name="TextBox 17"/>
          <p:cNvSpPr txBox="1"/>
          <p:nvPr/>
        </p:nvSpPr>
        <p:spPr>
          <a:xfrm>
            <a:off x="8859316" y="3704801"/>
            <a:ext cx="2417978" cy="292587"/>
          </a:xfrm>
          <a:prstGeom prst="rect">
            <a:avLst/>
          </a:prstGeom>
          <a:noFill/>
        </p:spPr>
        <p:txBody>
          <a:bodyPr wrap="square" anchor="t" lIns="0" rIns="0" tIns="0" bIns="0"/>
          <a:lstStyle/>
          <a:p>
            <a:pPr algn="ctr">
              <a:lnSpc>
                <a:spcPct val="112000"/>
              </a:lnSpc>
              <a:spcBef>
                <a:spcPts val="0"/>
              </a:spcBef>
            </a:pPr>
            <a:r>
              <a:rPr sz="1700" b="0" i="0">
                <a:solidFill>
                  <a:srgbClr val="111111"/>
                </a:solidFill>
                <a:latin typeface="Inter"/>
              </a:rPr>
              <a:t>#40</a:t>
            </a:r>
          </a:p>
        </p:txBody>
      </p:sp>
      <p:sp>
        <p:nvSpPr>
          <p:cNvPr id="19" name="Rectangle 18"/>
          <p:cNvSpPr/>
          <p:nvPr/>
        </p:nvSpPr>
        <p:spPr>
          <a:xfrm>
            <a:off x="822960" y="4088828"/>
            <a:ext cx="10545774" cy="9525"/>
          </a:xfrm>
          <a:prstGeom prst="rect">
            <a:avLst/>
          </a:prstGeom>
          <a:solidFill>
            <a:srgbClr val="D9D9DE"/>
          </a:solidFill>
          <a:ln>
            <a:noFill/>
          </a:ln>
        </p:spPr>
        <p:txBody>
          <a:bodyPr rtlCol="0" anchor="ctr"/>
          <a:lstStyle/>
          <a:p>
            <a:pPr algn="ctr"/>
          </a:p>
        </p:txBody>
      </p:sp>
      <p:sp>
        <p:nvSpPr>
          <p:cNvPr id="20" name="TextBox 19"/>
          <p:cNvSpPr txBox="1"/>
          <p:nvPr/>
        </p:nvSpPr>
        <p:spPr>
          <a:xfrm>
            <a:off x="914400" y="4180268"/>
            <a:ext cx="2560320" cy="292587"/>
          </a:xfrm>
          <a:prstGeom prst="rect">
            <a:avLst/>
          </a:prstGeom>
          <a:noFill/>
        </p:spPr>
        <p:txBody>
          <a:bodyPr wrap="square" anchor="t" lIns="0" rIns="0" tIns="0" bIns="0"/>
          <a:lstStyle/>
          <a:p>
            <a:pPr algn="l">
              <a:lnSpc>
                <a:spcPct val="112000"/>
              </a:lnSpc>
              <a:spcBef>
                <a:spcPts val="0"/>
              </a:spcBef>
            </a:pPr>
            <a:r>
              <a:rPr sz="1700" b="1" i="0">
                <a:solidFill>
                  <a:srgbClr val="111111"/>
                </a:solidFill>
                <a:latin typeface="Noto Sans Mono"/>
              </a:rPr>
              <a:t>git stash</a:t>
            </a:r>
          </a:p>
        </p:txBody>
      </p:sp>
      <p:sp>
        <p:nvSpPr>
          <p:cNvPr id="21" name="TextBox 20"/>
          <p:cNvSpPr txBox="1"/>
          <p:nvPr/>
        </p:nvSpPr>
        <p:spPr>
          <a:xfrm>
            <a:off x="3657600" y="4180268"/>
            <a:ext cx="2417978" cy="292587"/>
          </a:xfrm>
          <a:prstGeom prst="rect">
            <a:avLst/>
          </a:prstGeom>
          <a:noFill/>
        </p:spPr>
        <p:txBody>
          <a:bodyPr wrap="square" anchor="t" lIns="0" rIns="0" tIns="0" bIns="0"/>
          <a:lstStyle/>
          <a:p>
            <a:pPr algn="ctr">
              <a:lnSpc>
                <a:spcPct val="112000"/>
              </a:lnSpc>
              <a:spcBef>
                <a:spcPts val="0"/>
              </a:spcBef>
            </a:pPr>
            <a:r>
              <a:rPr sz="1700" b="1" i="0">
                <a:solidFill>
                  <a:srgbClr val="8B3DFF"/>
                </a:solidFill>
                <a:latin typeface="Inter"/>
              </a:rPr>
              <a:t>#3</a:t>
            </a:r>
          </a:p>
        </p:txBody>
      </p:sp>
      <p:sp>
        <p:nvSpPr>
          <p:cNvPr id="22" name="TextBox 21"/>
          <p:cNvSpPr txBox="1"/>
          <p:nvPr/>
        </p:nvSpPr>
        <p:spPr>
          <a:xfrm>
            <a:off x="6258458" y="4180268"/>
            <a:ext cx="2417978" cy="292587"/>
          </a:xfrm>
          <a:prstGeom prst="rect">
            <a:avLst/>
          </a:prstGeom>
          <a:noFill/>
        </p:spPr>
        <p:txBody>
          <a:bodyPr wrap="square" anchor="t" lIns="0" rIns="0" tIns="0" bIns="0"/>
          <a:lstStyle/>
          <a:p>
            <a:pPr algn="ctr">
              <a:lnSpc>
                <a:spcPct val="112000"/>
              </a:lnSpc>
              <a:spcBef>
                <a:spcPts val="0"/>
              </a:spcBef>
            </a:pPr>
            <a:r>
              <a:rPr sz="1700" b="0" i="0">
                <a:solidFill>
                  <a:srgbClr val="111111"/>
                </a:solidFill>
                <a:latin typeface="Inter"/>
              </a:rPr>
              <a:t>#39</a:t>
            </a:r>
          </a:p>
        </p:txBody>
      </p:sp>
      <p:sp>
        <p:nvSpPr>
          <p:cNvPr id="23" name="TextBox 22"/>
          <p:cNvSpPr txBox="1"/>
          <p:nvPr/>
        </p:nvSpPr>
        <p:spPr>
          <a:xfrm>
            <a:off x="8859316" y="4180268"/>
            <a:ext cx="2417978" cy="292587"/>
          </a:xfrm>
          <a:prstGeom prst="rect">
            <a:avLst/>
          </a:prstGeom>
          <a:noFill/>
        </p:spPr>
        <p:txBody>
          <a:bodyPr wrap="square" anchor="t" lIns="0" rIns="0" tIns="0" bIns="0"/>
          <a:lstStyle/>
          <a:p>
            <a:pPr algn="ctr">
              <a:lnSpc>
                <a:spcPct val="112000"/>
              </a:lnSpc>
              <a:spcBef>
                <a:spcPts val="0"/>
              </a:spcBef>
            </a:pPr>
            <a:r>
              <a:rPr sz="1700" b="0" i="0">
                <a:solidFill>
                  <a:srgbClr val="111111"/>
                </a:solidFill>
                <a:latin typeface="Inter"/>
              </a:rPr>
              <a:t>#6</a:t>
            </a:r>
          </a:p>
        </p:txBody>
      </p:sp>
      <p:sp>
        <p:nvSpPr>
          <p:cNvPr id="24" name="Rectangle 23"/>
          <p:cNvSpPr/>
          <p:nvPr/>
        </p:nvSpPr>
        <p:spPr>
          <a:xfrm>
            <a:off x="822960" y="4564295"/>
            <a:ext cx="10545774" cy="9525"/>
          </a:xfrm>
          <a:prstGeom prst="rect">
            <a:avLst/>
          </a:prstGeom>
          <a:solidFill>
            <a:srgbClr val="D9D9DE"/>
          </a:solidFill>
          <a:ln>
            <a:noFill/>
          </a:ln>
        </p:spPr>
        <p:txBody>
          <a:bodyPr rtlCol="0" anchor="ctr"/>
          <a:lstStyle/>
          <a:p>
            <a:pPr algn="ctr"/>
          </a:p>
        </p:txBody>
      </p:sp>
      <p:sp>
        <p:nvSpPr>
          <p:cNvPr id="25" name="TextBox 24"/>
          <p:cNvSpPr txBox="1"/>
          <p:nvPr/>
        </p:nvSpPr>
        <p:spPr>
          <a:xfrm>
            <a:off x="914400" y="4655735"/>
            <a:ext cx="2560320" cy="292587"/>
          </a:xfrm>
          <a:prstGeom prst="rect">
            <a:avLst/>
          </a:prstGeom>
          <a:noFill/>
        </p:spPr>
        <p:txBody>
          <a:bodyPr wrap="square" anchor="t" lIns="0" rIns="0" tIns="0" bIns="0"/>
          <a:lstStyle/>
          <a:p>
            <a:pPr algn="l">
              <a:lnSpc>
                <a:spcPct val="112000"/>
              </a:lnSpc>
              <a:spcBef>
                <a:spcPts val="0"/>
              </a:spcBef>
            </a:pPr>
            <a:r>
              <a:rPr sz="1700" b="1" i="0">
                <a:solidFill>
                  <a:srgbClr val="111111"/>
                </a:solidFill>
                <a:latin typeface="Noto Sans Mono"/>
              </a:rPr>
              <a:t>git clean</a:t>
            </a:r>
          </a:p>
        </p:txBody>
      </p:sp>
      <p:sp>
        <p:nvSpPr>
          <p:cNvPr id="26" name="TextBox 25"/>
          <p:cNvSpPr txBox="1"/>
          <p:nvPr/>
        </p:nvSpPr>
        <p:spPr>
          <a:xfrm>
            <a:off x="3657600" y="4655735"/>
            <a:ext cx="2417978" cy="292587"/>
          </a:xfrm>
          <a:prstGeom prst="rect">
            <a:avLst/>
          </a:prstGeom>
          <a:noFill/>
        </p:spPr>
        <p:txBody>
          <a:bodyPr wrap="square" anchor="t" lIns="0" rIns="0" tIns="0" bIns="0"/>
          <a:lstStyle/>
          <a:p>
            <a:pPr algn="ctr">
              <a:lnSpc>
                <a:spcPct val="112000"/>
              </a:lnSpc>
              <a:spcBef>
                <a:spcPts val="0"/>
              </a:spcBef>
            </a:pPr>
            <a:r>
              <a:rPr sz="1700" b="1" i="0">
                <a:solidFill>
                  <a:srgbClr val="8B3DFF"/>
                </a:solidFill>
                <a:latin typeface="Inter"/>
              </a:rPr>
              <a:t>#4</a:t>
            </a:r>
          </a:p>
        </p:txBody>
      </p:sp>
      <p:sp>
        <p:nvSpPr>
          <p:cNvPr id="27" name="TextBox 26"/>
          <p:cNvSpPr txBox="1"/>
          <p:nvPr/>
        </p:nvSpPr>
        <p:spPr>
          <a:xfrm>
            <a:off x="6258458" y="4655735"/>
            <a:ext cx="2417978" cy="292587"/>
          </a:xfrm>
          <a:prstGeom prst="rect">
            <a:avLst/>
          </a:prstGeom>
          <a:noFill/>
        </p:spPr>
        <p:txBody>
          <a:bodyPr wrap="square" anchor="t" lIns="0" rIns="0" tIns="0" bIns="0"/>
          <a:lstStyle/>
          <a:p>
            <a:pPr algn="ctr">
              <a:lnSpc>
                <a:spcPct val="112000"/>
              </a:lnSpc>
              <a:spcBef>
                <a:spcPts val="0"/>
              </a:spcBef>
            </a:pPr>
            <a:r>
              <a:rPr sz="1700" b="0" i="0">
                <a:solidFill>
                  <a:srgbClr val="111111"/>
                </a:solidFill>
                <a:latin typeface="Inter"/>
              </a:rPr>
              <a:t>#27</a:t>
            </a:r>
          </a:p>
        </p:txBody>
      </p:sp>
      <p:sp>
        <p:nvSpPr>
          <p:cNvPr id="28" name="TextBox 27"/>
          <p:cNvSpPr txBox="1"/>
          <p:nvPr/>
        </p:nvSpPr>
        <p:spPr>
          <a:xfrm>
            <a:off x="8859316" y="4655735"/>
            <a:ext cx="2417978" cy="292587"/>
          </a:xfrm>
          <a:prstGeom prst="rect">
            <a:avLst/>
          </a:prstGeom>
          <a:noFill/>
        </p:spPr>
        <p:txBody>
          <a:bodyPr wrap="square" anchor="t" lIns="0" rIns="0" tIns="0" bIns="0"/>
          <a:lstStyle/>
          <a:p>
            <a:pPr algn="ctr">
              <a:lnSpc>
                <a:spcPct val="112000"/>
              </a:lnSpc>
              <a:spcBef>
                <a:spcPts val="0"/>
              </a:spcBef>
            </a:pPr>
            <a:r>
              <a:rPr sz="1700" b="0" i="0">
                <a:solidFill>
                  <a:srgbClr val="111111"/>
                </a:solidFill>
                <a:latin typeface="Inter"/>
              </a:rPr>
              <a:t>#42</a:t>
            </a:r>
          </a:p>
        </p:txBody>
      </p:sp>
      <p:sp>
        <p:nvSpPr>
          <p:cNvPr id="29" name="Rectangle 28"/>
          <p:cNvSpPr/>
          <p:nvPr/>
        </p:nvSpPr>
        <p:spPr>
          <a:xfrm>
            <a:off x="822960" y="5039762"/>
            <a:ext cx="10545774" cy="9525"/>
          </a:xfrm>
          <a:prstGeom prst="rect">
            <a:avLst/>
          </a:prstGeom>
          <a:solidFill>
            <a:srgbClr val="D9D9DE"/>
          </a:solidFill>
          <a:ln>
            <a:noFill/>
          </a:ln>
        </p:spPr>
        <p:txBody>
          <a:bodyPr rtlCol="0" anchor="ctr"/>
          <a:lstStyle/>
          <a:p>
            <a:pPr algn="ctr"/>
          </a:p>
        </p:txBody>
      </p:sp>
      <p:sp>
        <p:nvSpPr>
          <p:cNvPr id="30" name="TextBox 29"/>
          <p:cNvSpPr txBox="1"/>
          <p:nvPr/>
        </p:nvSpPr>
        <p:spPr>
          <a:xfrm>
            <a:off x="914400" y="5131202"/>
            <a:ext cx="2560320" cy="292587"/>
          </a:xfrm>
          <a:prstGeom prst="rect">
            <a:avLst/>
          </a:prstGeom>
          <a:noFill/>
        </p:spPr>
        <p:txBody>
          <a:bodyPr wrap="square" anchor="t" lIns="0" rIns="0" tIns="0" bIns="0"/>
          <a:lstStyle/>
          <a:p>
            <a:pPr algn="l">
              <a:lnSpc>
                <a:spcPct val="112000"/>
              </a:lnSpc>
              <a:spcBef>
                <a:spcPts val="0"/>
              </a:spcBef>
            </a:pPr>
            <a:r>
              <a:rPr sz="1700" b="1" i="0">
                <a:solidFill>
                  <a:srgbClr val="111111"/>
                </a:solidFill>
                <a:latin typeface="Noto Sans Mono"/>
              </a:rPr>
              <a:t>git reset</a:t>
            </a:r>
          </a:p>
        </p:txBody>
      </p:sp>
      <p:sp>
        <p:nvSpPr>
          <p:cNvPr id="31" name="TextBox 30"/>
          <p:cNvSpPr txBox="1"/>
          <p:nvPr/>
        </p:nvSpPr>
        <p:spPr>
          <a:xfrm>
            <a:off x="3657600" y="5131202"/>
            <a:ext cx="2417978" cy="292587"/>
          </a:xfrm>
          <a:prstGeom prst="rect">
            <a:avLst/>
          </a:prstGeom>
          <a:noFill/>
        </p:spPr>
        <p:txBody>
          <a:bodyPr wrap="square" anchor="t" lIns="0" rIns="0" tIns="0" bIns="0"/>
          <a:lstStyle/>
          <a:p>
            <a:pPr algn="ctr">
              <a:lnSpc>
                <a:spcPct val="112000"/>
              </a:lnSpc>
              <a:spcBef>
                <a:spcPts val="0"/>
              </a:spcBef>
            </a:pPr>
            <a:r>
              <a:rPr sz="1700" b="1" i="0">
                <a:solidFill>
                  <a:srgbClr val="8B3DFF"/>
                </a:solidFill>
                <a:latin typeface="Inter"/>
              </a:rPr>
              <a:t>#5</a:t>
            </a:r>
          </a:p>
        </p:txBody>
      </p:sp>
      <p:sp>
        <p:nvSpPr>
          <p:cNvPr id="32" name="TextBox 31"/>
          <p:cNvSpPr txBox="1"/>
          <p:nvPr/>
        </p:nvSpPr>
        <p:spPr>
          <a:xfrm>
            <a:off x="6258458" y="5131202"/>
            <a:ext cx="2417978" cy="292587"/>
          </a:xfrm>
          <a:prstGeom prst="rect">
            <a:avLst/>
          </a:prstGeom>
          <a:noFill/>
        </p:spPr>
        <p:txBody>
          <a:bodyPr wrap="square" anchor="t" lIns="0" rIns="0" tIns="0" bIns="0"/>
          <a:lstStyle/>
          <a:p>
            <a:pPr algn="ctr">
              <a:lnSpc>
                <a:spcPct val="112000"/>
              </a:lnSpc>
              <a:spcBef>
                <a:spcPts val="0"/>
              </a:spcBef>
            </a:pPr>
            <a:r>
              <a:rPr sz="1700" b="0" i="0">
                <a:solidFill>
                  <a:srgbClr val="111111"/>
                </a:solidFill>
                <a:latin typeface="Inter"/>
              </a:rPr>
              <a:t>#43</a:t>
            </a:r>
          </a:p>
        </p:txBody>
      </p:sp>
      <p:sp>
        <p:nvSpPr>
          <p:cNvPr id="33" name="TextBox 32"/>
          <p:cNvSpPr txBox="1"/>
          <p:nvPr/>
        </p:nvSpPr>
        <p:spPr>
          <a:xfrm>
            <a:off x="8859316" y="5131202"/>
            <a:ext cx="2417978" cy="292587"/>
          </a:xfrm>
          <a:prstGeom prst="rect">
            <a:avLst/>
          </a:prstGeom>
          <a:noFill/>
        </p:spPr>
        <p:txBody>
          <a:bodyPr wrap="square" anchor="t" lIns="0" rIns="0" tIns="0" bIns="0"/>
          <a:lstStyle/>
          <a:p>
            <a:pPr algn="ctr">
              <a:lnSpc>
                <a:spcPct val="112000"/>
              </a:lnSpc>
              <a:spcBef>
                <a:spcPts val="0"/>
              </a:spcBef>
            </a:pPr>
            <a:r>
              <a:rPr sz="1700" b="0" i="0">
                <a:solidFill>
                  <a:srgbClr val="111111"/>
                </a:solidFill>
                <a:latin typeface="Inter"/>
              </a:rPr>
              <a:t>#4</a:t>
            </a:r>
          </a:p>
        </p:txBody>
      </p:sp>
      <p:sp>
        <p:nvSpPr>
          <p:cNvPr id="34" name="TextBox 33"/>
          <p:cNvSpPr txBox="1"/>
          <p:nvPr/>
        </p:nvSpPr>
        <p:spPr>
          <a:xfrm>
            <a:off x="822960" y="5560949"/>
            <a:ext cx="10545775" cy="223743"/>
          </a:xfrm>
          <a:prstGeom prst="rect">
            <a:avLst/>
          </a:prstGeom>
          <a:noFill/>
        </p:spPr>
        <p:txBody>
          <a:bodyPr wrap="square" anchor="t" lIns="0" rIns="0" tIns="0" bIns="0"/>
          <a:lstStyle/>
          <a:p>
            <a:pPr algn="l">
              <a:lnSpc>
                <a:spcPct val="112000"/>
              </a:lnSpc>
              <a:spcBef>
                <a:spcPts val="0"/>
              </a:spcBef>
            </a:pPr>
            <a:r>
              <a:rPr sz="1300" b="0" i="0">
                <a:solidFill>
                  <a:srgbClr val="707078"/>
                </a:solidFill>
                <a:latin typeface="Inter"/>
              </a:rPr>
              <a:t>Our re-run of the paper’s rule on its data. Rank among the 62 commands in 200+ questions, the paper’s filter.</a:t>
            </a:r>
          </a:p>
        </p:txBody>
      </p:sp>
      <p:sp>
        <p:nvSpPr>
          <p:cNvPr id="35" name="TextBox 34"/>
          <p:cNvSpPr txBox="1"/>
          <p:nvPr/>
        </p:nvSpPr>
        <p:spPr>
          <a:xfrm>
            <a:off x="822960" y="6022158"/>
            <a:ext cx="10545775" cy="378642"/>
          </a:xfrm>
          <a:prstGeom prst="rect">
            <a:avLst/>
          </a:prstGeom>
          <a:noFill/>
        </p:spPr>
        <p:txBody>
          <a:bodyPr wrap="square" anchor="t" lIns="0" rIns="0" tIns="0" bIns="0"/>
          <a:lstStyle/>
          <a:p>
            <a:pPr algn="l">
              <a:lnSpc>
                <a:spcPct val="112000"/>
              </a:lnSpc>
              <a:spcBef>
                <a:spcPts val="0"/>
              </a:spcBef>
            </a:pPr>
            <a:r>
              <a:rPr sz="2200" b="0" i="1">
                <a:solidFill>
                  <a:srgbClr val="707078"/>
                </a:solidFill>
                <a:latin typeface="Inter"/>
              </a:rPr>
              <a:t>Do you believe their answer to RQ3?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45775" cy="320040"/>
          </a:xfrm>
          <a:prstGeom prst="rect">
            <a:avLst/>
          </a:prstGeom>
          <a:noFill/>
        </p:spPr>
        <p:txBody>
          <a:bodyPr wrap="square" anchor="t" lIns="0" rIns="0" tIns="0" bIns="0"/>
          <a:lstStyle/>
          <a:p>
            <a:pPr algn="l">
              <a:lnSpc>
                <a:spcPct val="110000"/>
              </a:lnSpc>
            </a:pPr>
            <a:r>
              <a:rPr sz="1600" b="1">
                <a:solidFill>
                  <a:srgbClr val="8B3DFF"/>
                </a:solidFill>
                <a:latin typeface="Inter"/>
              </a:rPr>
              <a:t>BREAK</a:t>
            </a:r>
          </a:p>
        </p:txBody>
      </p:sp>
      <p:sp>
        <p:nvSpPr>
          <p:cNvPr id="3" name="TextBox 2"/>
          <p:cNvSpPr txBox="1"/>
          <p:nvPr/>
        </p:nvSpPr>
        <p:spPr>
          <a:xfrm>
            <a:off x="822960" y="2103120"/>
            <a:ext cx="10545775" cy="1135928"/>
          </a:xfrm>
          <a:prstGeom prst="rect">
            <a:avLst/>
          </a:prstGeom>
          <a:noFill/>
        </p:spPr>
        <p:txBody>
          <a:bodyPr wrap="square" anchor="t" lIns="0" rIns="0" tIns="0" bIns="0"/>
          <a:lstStyle/>
          <a:p>
            <a:pPr algn="l">
              <a:lnSpc>
                <a:spcPct val="112000"/>
              </a:lnSpc>
              <a:spcBef>
                <a:spcPts val="0"/>
              </a:spcBef>
            </a:pPr>
            <a:r>
              <a:rPr sz="6600" b="1" i="0">
                <a:solidFill>
                  <a:srgbClr val="111111"/>
                </a:solidFill>
                <a:latin typeface="Inter"/>
              </a:rPr>
              <a:t>Break</a:t>
            </a:r>
          </a:p>
        </p:txBody>
      </p:sp>
      <p:sp>
        <p:nvSpPr>
          <p:cNvPr id="4" name="TextBox 3"/>
          <p:cNvSpPr txBox="1"/>
          <p:nvPr/>
        </p:nvSpPr>
        <p:spPr>
          <a:xfrm>
            <a:off x="822960" y="3559088"/>
            <a:ext cx="8647535" cy="447487"/>
          </a:xfrm>
          <a:prstGeom prst="rect">
            <a:avLst/>
          </a:prstGeom>
          <a:noFill/>
        </p:spPr>
        <p:txBody>
          <a:bodyPr wrap="square" anchor="t" lIns="0" rIns="0" tIns="0" bIns="0"/>
          <a:lstStyle/>
          <a:p>
            <a:pPr algn="l">
              <a:lnSpc>
                <a:spcPct val="112000"/>
              </a:lnSpc>
              <a:spcBef>
                <a:spcPts val="0"/>
              </a:spcBef>
            </a:pPr>
            <a:r>
              <a:rPr sz="2600" b="0" i="0">
                <a:solidFill>
                  <a:srgbClr val="707078"/>
                </a:solidFill>
                <a:latin typeface="Inter"/>
              </a:rPr>
              <a:t>5 minutes. Then groups.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ECFB"/>
        </a:solidFill>
        <a:effectLst/>
      </p:bgPr>
    </p:bg>
    <p:spTree>
      <p:nvGrpSpPr>
        <p:cNvPr id="1" name=""/>
        <p:cNvGrpSpPr/>
        <p:nvPr/>
      </p:nvGrpSpPr>
      <p:grpSpPr/>
      <p:sp>
        <p:nvSpPr>
          <p:cNvPr id="2" name="TextBox 1"/>
          <p:cNvSpPr txBox="1"/>
          <p:nvPr/>
        </p:nvSpPr>
        <p:spPr>
          <a:xfrm>
            <a:off x="822960" y="502920"/>
            <a:ext cx="10545775" cy="320040"/>
          </a:xfrm>
          <a:prstGeom prst="rect">
            <a:avLst/>
          </a:prstGeom>
          <a:noFill/>
        </p:spPr>
        <p:txBody>
          <a:bodyPr wrap="square" anchor="t" lIns="0" rIns="0" tIns="0" bIns="0"/>
          <a:lstStyle/>
          <a:p>
            <a:pPr algn="l">
              <a:lnSpc>
                <a:spcPct val="110000"/>
              </a:lnSpc>
            </a:pPr>
            <a:r>
              <a:rPr sz="1600" b="1">
                <a:solidFill>
                  <a:srgbClr val="8B3DFF"/>
                </a:solidFill>
                <a:latin typeface="Inter"/>
              </a:rPr>
              <a:t>4 · DO YOU BELIEVE IT?</a:t>
            </a:r>
          </a:p>
        </p:txBody>
      </p:sp>
      <p:sp>
        <p:nvSpPr>
          <p:cNvPr id="3" name="Rounded Rectangle 2"/>
          <p:cNvSpPr/>
          <p:nvPr/>
        </p:nvSpPr>
        <p:spPr>
          <a:xfrm>
            <a:off x="9997135" y="457200"/>
            <a:ext cx="1371600" cy="457200"/>
          </a:xfrm>
          <a:prstGeom prst="roundRect">
            <a:avLst>
              <a:gd name="adj" fmla="val 50000"/>
            </a:avLst>
          </a:prstGeom>
          <a:solidFill>
            <a:srgbClr val="FFFFFF"/>
          </a:solidFill>
          <a:ln>
            <a:noFill/>
          </a:ln>
          <a:effectLst/>
        </p:spPr>
        <p:txBody>
          <a:bodyPr rtlCol="0" anchor="ctr" lIns="0" rIns="0" tIns="0" bIns="0"/>
          <a:lstStyle/>
          <a:p>
            <a:pPr algn="ctr"/>
            <a:r>
              <a:rPr sz="1600" b="1">
                <a:solidFill>
                  <a:srgbClr val="111111"/>
                </a:solidFill>
                <a:latin typeface="Inter"/>
              </a:rPr>
              <a:t>8 min</a:t>
            </a:r>
          </a:p>
        </p:txBody>
      </p:sp>
      <p:sp>
        <p:nvSpPr>
          <p:cNvPr id="4" name="TextBox 3"/>
          <p:cNvSpPr txBox="1"/>
          <p:nvPr/>
        </p:nvSpPr>
        <p:spPr>
          <a:xfrm>
            <a:off x="822960" y="868680"/>
            <a:ext cx="8899855" cy="688441"/>
          </a:xfrm>
          <a:prstGeom prst="rect">
            <a:avLst/>
          </a:prstGeom>
          <a:noFill/>
        </p:spPr>
        <p:txBody>
          <a:bodyPr wrap="square" anchor="t" lIns="0" rIns="0" tIns="0" bIns="0"/>
          <a:lstStyle/>
          <a:p>
            <a:pPr algn="l">
              <a:lnSpc>
                <a:spcPct val="112000"/>
              </a:lnSpc>
              <a:spcBef>
                <a:spcPts val="0"/>
              </a:spcBef>
            </a:pPr>
            <a:r>
              <a:rPr sz="4000" b="1" i="0">
                <a:solidFill>
                  <a:srgbClr val="111111"/>
                </a:solidFill>
                <a:latin typeface="Inter"/>
              </a:rPr>
              <a:t>Put one claim on trial</a:t>
            </a:r>
          </a:p>
        </p:txBody>
      </p:sp>
      <p:sp>
        <p:nvSpPr>
          <p:cNvPr id="5" name="TextBox 4"/>
          <p:cNvSpPr txBox="1"/>
          <p:nvPr/>
        </p:nvSpPr>
        <p:spPr>
          <a:xfrm>
            <a:off x="822960" y="1831441"/>
            <a:ext cx="8647535" cy="1159661"/>
          </a:xfrm>
          <a:prstGeom prst="rect">
            <a:avLst/>
          </a:prstGeom>
          <a:noFill/>
        </p:spPr>
        <p:txBody>
          <a:bodyPr wrap="square" anchor="t" lIns="0" rIns="0" tIns="0" bIns="0"/>
          <a:lstStyle/>
          <a:p>
            <a:pPr algn="l">
              <a:lnSpc>
                <a:spcPct val="112000"/>
              </a:lnSpc>
              <a:spcBef>
                <a:spcPts val="0"/>
              </a:spcBef>
            </a:pPr>
            <a:r>
              <a:rPr sz="2000" b="0" i="0">
                <a:solidFill>
                  <a:srgbClr val="111111"/>
                </a:solidFill>
                <a:latin typeface="Inter"/>
              </a:rPr>
              <a:t>Your group gets one of the paper’s claims.</a:t>
            </a:r>
          </a:p>
          <a:p>
            <a:pPr algn="l">
              <a:lnSpc>
                <a:spcPct val="112000"/>
              </a:lnSpc>
              <a:spcBef>
                <a:spcPts val="1000"/>
              </a:spcBef>
            </a:pPr>
            <a:r>
              <a:rPr sz="2000" b="0" i="0">
                <a:solidFill>
                  <a:srgbClr val="111111"/>
                </a:solidFill>
                <a:latin typeface="Inter"/>
              </a:rPr>
              <a:t>Write what they measured, then the strongest sentence the data supports.</a:t>
            </a:r>
          </a:p>
        </p:txBody>
      </p:sp>
      <p:sp>
        <p:nvSpPr>
          <p:cNvPr id="6" name="Rounded Rectangle 5"/>
          <p:cNvSpPr/>
          <p:nvPr/>
        </p:nvSpPr>
        <p:spPr>
          <a:xfrm>
            <a:off x="822960" y="3219702"/>
            <a:ext cx="5181447" cy="1313992"/>
          </a:xfrm>
          <a:prstGeom prst="roundRect">
            <a:avLst>
              <a:gd name="adj" fmla="val 6000"/>
            </a:avLst>
          </a:prstGeom>
          <a:solidFill>
            <a:srgbClr val="FFFFFF"/>
          </a:solidFill>
          <a:ln w="19050">
            <a:solidFill>
              <a:srgbClr val="D9D9DE"/>
            </a:solidFill>
          </a:ln>
          <a:effectLst/>
        </p:spPr>
        <p:txBody>
          <a:bodyPr rtlCol="0" anchor="ctr"/>
          <a:lstStyle/>
          <a:p/>
        </p:txBody>
      </p:sp>
      <p:sp>
        <p:nvSpPr>
          <p:cNvPr id="7" name="TextBox 6"/>
          <p:cNvSpPr txBox="1"/>
          <p:nvPr/>
        </p:nvSpPr>
        <p:spPr>
          <a:xfrm>
            <a:off x="1005840" y="3356862"/>
            <a:ext cx="4815687" cy="201168"/>
          </a:xfrm>
          <a:prstGeom prst="rect">
            <a:avLst/>
          </a:prstGeom>
          <a:noFill/>
        </p:spPr>
        <p:txBody>
          <a:bodyPr wrap="square" anchor="t" lIns="0" rIns="0" tIns="0" bIns="0"/>
          <a:lstStyle/>
          <a:p>
            <a:pPr algn="l">
              <a:lnSpc>
                <a:spcPct val="110000"/>
              </a:lnSpc>
            </a:pPr>
            <a:r>
              <a:rPr sz="1100" b="1">
                <a:solidFill>
                  <a:srgbClr val="707078"/>
                </a:solidFill>
                <a:latin typeface="Inter"/>
              </a:rPr>
              <a:t>RQ2 ANSWER, §3.2</a:t>
            </a:r>
          </a:p>
        </p:txBody>
      </p:sp>
      <p:sp>
        <p:nvSpPr>
          <p:cNvPr id="8" name="TextBox 7"/>
          <p:cNvSpPr txBox="1"/>
          <p:nvPr/>
        </p:nvSpPr>
        <p:spPr>
          <a:xfrm>
            <a:off x="1005840" y="3576318"/>
            <a:ext cx="4815687" cy="774496"/>
          </a:xfrm>
          <a:prstGeom prst="rect">
            <a:avLst/>
          </a:prstGeom>
          <a:noFill/>
        </p:spPr>
        <p:txBody>
          <a:bodyPr wrap="square" anchor="t" lIns="0" rIns="0" tIns="0" bIns="0"/>
          <a:lstStyle/>
          <a:p>
            <a:pPr algn="l">
              <a:lnSpc>
                <a:spcPct val="112000"/>
              </a:lnSpc>
              <a:spcBef>
                <a:spcPts val="0"/>
              </a:spcBef>
            </a:pPr>
            <a:r>
              <a:rPr sz="1500" b="0" i="1">
                <a:solidFill>
                  <a:srgbClr val="111111"/>
                </a:solidFill>
                <a:latin typeface="Inter"/>
              </a:rPr>
              <a:t>“This suggests that even developers with years of development experience can have trouble using Git commands.”</a:t>
            </a:r>
          </a:p>
        </p:txBody>
      </p:sp>
      <p:sp>
        <p:nvSpPr>
          <p:cNvPr id="9" name="Rounded Rectangle 8"/>
          <p:cNvSpPr/>
          <p:nvPr/>
        </p:nvSpPr>
        <p:spPr>
          <a:xfrm>
            <a:off x="6187287" y="3219702"/>
            <a:ext cx="5181447" cy="1313992"/>
          </a:xfrm>
          <a:prstGeom prst="roundRect">
            <a:avLst>
              <a:gd name="adj" fmla="val 6000"/>
            </a:avLst>
          </a:prstGeom>
          <a:solidFill>
            <a:srgbClr val="FFFFFF"/>
          </a:solidFill>
          <a:ln w="19050">
            <a:solidFill>
              <a:srgbClr val="D9D9DE"/>
            </a:solidFill>
          </a:ln>
          <a:effectLst/>
        </p:spPr>
        <p:txBody>
          <a:bodyPr rtlCol="0" anchor="ctr"/>
          <a:lstStyle/>
          <a:p/>
        </p:txBody>
      </p:sp>
      <p:sp>
        <p:nvSpPr>
          <p:cNvPr id="10" name="TextBox 9"/>
          <p:cNvSpPr txBox="1"/>
          <p:nvPr/>
        </p:nvSpPr>
        <p:spPr>
          <a:xfrm>
            <a:off x="6370167" y="3356862"/>
            <a:ext cx="4815687" cy="201168"/>
          </a:xfrm>
          <a:prstGeom prst="rect">
            <a:avLst/>
          </a:prstGeom>
          <a:noFill/>
        </p:spPr>
        <p:txBody>
          <a:bodyPr wrap="square" anchor="t" lIns="0" rIns="0" tIns="0" bIns="0"/>
          <a:lstStyle/>
          <a:p>
            <a:pPr algn="l">
              <a:lnSpc>
                <a:spcPct val="110000"/>
              </a:lnSpc>
            </a:pPr>
            <a:r>
              <a:rPr sz="1100" b="1">
                <a:solidFill>
                  <a:srgbClr val="707078"/>
                </a:solidFill>
                <a:latin typeface="Inter"/>
              </a:rPr>
              <a:t>§1, FINDING (4); RQ4, §3.4</a:t>
            </a:r>
          </a:p>
        </p:txBody>
      </p:sp>
      <p:sp>
        <p:nvSpPr>
          <p:cNvPr id="11" name="TextBox 10"/>
          <p:cNvSpPr txBox="1"/>
          <p:nvPr/>
        </p:nvSpPr>
        <p:spPr>
          <a:xfrm>
            <a:off x="6370167" y="3576318"/>
            <a:ext cx="4815687" cy="774496"/>
          </a:xfrm>
          <a:prstGeom prst="rect">
            <a:avLst/>
          </a:prstGeom>
          <a:noFill/>
        </p:spPr>
        <p:txBody>
          <a:bodyPr wrap="square" anchor="t" lIns="0" rIns="0" tIns="0" bIns="0"/>
          <a:lstStyle/>
          <a:p>
            <a:pPr algn="l">
              <a:lnSpc>
                <a:spcPct val="112000"/>
              </a:lnSpc>
              <a:spcBef>
                <a:spcPts val="0"/>
              </a:spcBef>
            </a:pPr>
            <a:r>
              <a:rPr sz="1500" b="0" i="1">
                <a:solidFill>
                  <a:srgbClr val="111111"/>
                </a:solidFill>
                <a:latin typeface="Inter"/>
              </a:rPr>
              <a:t>“…for the more frequently-used commands, git credential and git submodule are among the most difficult ones.”</a:t>
            </a:r>
          </a:p>
        </p:txBody>
      </p:sp>
      <p:sp>
        <p:nvSpPr>
          <p:cNvPr id="12" name="Rounded Rectangle 11"/>
          <p:cNvSpPr/>
          <p:nvPr/>
        </p:nvSpPr>
        <p:spPr>
          <a:xfrm>
            <a:off x="822960" y="4716574"/>
            <a:ext cx="5181447" cy="1055827"/>
          </a:xfrm>
          <a:prstGeom prst="roundRect">
            <a:avLst>
              <a:gd name="adj" fmla="val 6000"/>
            </a:avLst>
          </a:prstGeom>
          <a:solidFill>
            <a:srgbClr val="FFFFFF"/>
          </a:solidFill>
          <a:ln w="19050">
            <a:solidFill>
              <a:srgbClr val="D9D9DE"/>
            </a:solidFill>
          </a:ln>
          <a:effectLst/>
        </p:spPr>
        <p:txBody>
          <a:bodyPr rtlCol="0" anchor="ctr"/>
          <a:lstStyle/>
          <a:p/>
        </p:txBody>
      </p:sp>
      <p:sp>
        <p:nvSpPr>
          <p:cNvPr id="13" name="TextBox 12"/>
          <p:cNvSpPr txBox="1"/>
          <p:nvPr/>
        </p:nvSpPr>
        <p:spPr>
          <a:xfrm>
            <a:off x="1005840" y="4853734"/>
            <a:ext cx="4815687" cy="201168"/>
          </a:xfrm>
          <a:prstGeom prst="rect">
            <a:avLst/>
          </a:prstGeom>
          <a:noFill/>
        </p:spPr>
        <p:txBody>
          <a:bodyPr wrap="square" anchor="t" lIns="0" rIns="0" tIns="0" bIns="0"/>
          <a:lstStyle/>
          <a:p>
            <a:pPr algn="l">
              <a:lnSpc>
                <a:spcPct val="110000"/>
              </a:lnSpc>
            </a:pPr>
            <a:r>
              <a:rPr sz="1100" b="1">
                <a:solidFill>
                  <a:srgbClr val="707078"/>
                </a:solidFill>
                <a:latin typeface="Inter"/>
              </a:rPr>
              <a:t>ABSTRACT; RQ5, §3.5</a:t>
            </a:r>
          </a:p>
        </p:txBody>
      </p:sp>
      <p:sp>
        <p:nvSpPr>
          <p:cNvPr id="14" name="TextBox 13"/>
          <p:cNvSpPr txBox="1"/>
          <p:nvPr/>
        </p:nvSpPr>
        <p:spPr>
          <a:xfrm>
            <a:off x="1005840" y="5073190"/>
            <a:ext cx="4815687" cy="258165"/>
          </a:xfrm>
          <a:prstGeom prst="rect">
            <a:avLst/>
          </a:prstGeom>
          <a:noFill/>
        </p:spPr>
        <p:txBody>
          <a:bodyPr wrap="square" anchor="t" lIns="0" rIns="0" tIns="0" bIns="0"/>
          <a:lstStyle/>
          <a:p>
            <a:pPr algn="l">
              <a:lnSpc>
                <a:spcPct val="112000"/>
              </a:lnSpc>
              <a:spcBef>
                <a:spcPts val="0"/>
              </a:spcBef>
            </a:pPr>
            <a:r>
              <a:rPr sz="1500" b="0" i="1">
                <a:solidFill>
                  <a:srgbClr val="111111"/>
                </a:solidFill>
                <a:latin typeface="Inter"/>
              </a:rPr>
              <a:t>“Self-learning is the primary learning approach.”</a:t>
            </a:r>
          </a:p>
        </p:txBody>
      </p:sp>
      <p:sp>
        <p:nvSpPr>
          <p:cNvPr id="15" name="Rounded Rectangle 14"/>
          <p:cNvSpPr/>
          <p:nvPr/>
        </p:nvSpPr>
        <p:spPr>
          <a:xfrm>
            <a:off x="6187287" y="4716574"/>
            <a:ext cx="5181447" cy="1055827"/>
          </a:xfrm>
          <a:prstGeom prst="roundRect">
            <a:avLst>
              <a:gd name="adj" fmla="val 6000"/>
            </a:avLst>
          </a:prstGeom>
          <a:solidFill>
            <a:srgbClr val="FFFFFF"/>
          </a:solidFill>
          <a:ln w="19050">
            <a:solidFill>
              <a:srgbClr val="D9D9DE"/>
            </a:solidFill>
          </a:ln>
          <a:effectLst/>
        </p:spPr>
        <p:txBody>
          <a:bodyPr rtlCol="0" anchor="ctr"/>
          <a:lstStyle/>
          <a:p/>
        </p:txBody>
      </p:sp>
      <p:sp>
        <p:nvSpPr>
          <p:cNvPr id="16" name="TextBox 15"/>
          <p:cNvSpPr txBox="1"/>
          <p:nvPr/>
        </p:nvSpPr>
        <p:spPr>
          <a:xfrm>
            <a:off x="6370167" y="4853734"/>
            <a:ext cx="4815687" cy="201168"/>
          </a:xfrm>
          <a:prstGeom prst="rect">
            <a:avLst/>
          </a:prstGeom>
          <a:noFill/>
        </p:spPr>
        <p:txBody>
          <a:bodyPr wrap="square" anchor="t" lIns="0" rIns="0" tIns="0" bIns="0"/>
          <a:lstStyle/>
          <a:p>
            <a:pPr algn="l">
              <a:lnSpc>
                <a:spcPct val="110000"/>
              </a:lnSpc>
            </a:pPr>
            <a:r>
              <a:rPr sz="1100" b="1">
                <a:solidFill>
                  <a:srgbClr val="707078"/>
                </a:solidFill>
                <a:latin typeface="Inter"/>
              </a:rPr>
              <a:t>CONCLUSION, §7</a:t>
            </a:r>
          </a:p>
        </p:txBody>
      </p:sp>
      <p:sp>
        <p:nvSpPr>
          <p:cNvPr id="17" name="TextBox 16"/>
          <p:cNvSpPr txBox="1"/>
          <p:nvPr/>
        </p:nvSpPr>
        <p:spPr>
          <a:xfrm>
            <a:off x="6370167" y="5073190"/>
            <a:ext cx="4815687" cy="516331"/>
          </a:xfrm>
          <a:prstGeom prst="rect">
            <a:avLst/>
          </a:prstGeom>
          <a:noFill/>
        </p:spPr>
        <p:txBody>
          <a:bodyPr wrap="square" anchor="t" lIns="0" rIns="0" tIns="0" bIns="0"/>
          <a:lstStyle/>
          <a:p>
            <a:pPr algn="l">
              <a:lnSpc>
                <a:spcPct val="112000"/>
              </a:lnSpc>
              <a:spcBef>
                <a:spcPts val="0"/>
              </a:spcBef>
            </a:pPr>
            <a:r>
              <a:rPr sz="1500" b="0" i="1">
                <a:solidFill>
                  <a:srgbClr val="111111"/>
                </a:solidFill>
                <a:latin typeface="Inter"/>
              </a:rPr>
              <a:t>“the number of questions related to Git commands has been growing steadily”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45775" cy="320040"/>
          </a:xfrm>
          <a:prstGeom prst="rect">
            <a:avLst/>
          </a:prstGeom>
          <a:noFill/>
        </p:spPr>
        <p:txBody>
          <a:bodyPr wrap="square" anchor="t" lIns="0" rIns="0" tIns="0" bIns="0"/>
          <a:lstStyle/>
          <a:p>
            <a:pPr algn="l">
              <a:lnSpc>
                <a:spcPct val="110000"/>
              </a:lnSpc>
            </a:pPr>
            <a:r>
              <a:rPr sz="1600" b="1">
                <a:solidFill>
                  <a:srgbClr val="8B3DFF"/>
                </a:solidFill>
                <a:latin typeface="Inter"/>
              </a:rPr>
              <a:t>4 · DO YOU BELIEVE IT?</a:t>
            </a:r>
          </a:p>
        </p:txBody>
      </p:sp>
      <p:sp>
        <p:nvSpPr>
          <p:cNvPr id="3" name="TextBox 2"/>
          <p:cNvSpPr txBox="1"/>
          <p:nvPr/>
        </p:nvSpPr>
        <p:spPr>
          <a:xfrm>
            <a:off x="822960" y="868680"/>
            <a:ext cx="10545775" cy="688441"/>
          </a:xfrm>
          <a:prstGeom prst="rect">
            <a:avLst/>
          </a:prstGeom>
          <a:noFill/>
        </p:spPr>
        <p:txBody>
          <a:bodyPr wrap="square" anchor="t" lIns="0" rIns="0" tIns="0" bIns="0"/>
          <a:lstStyle/>
          <a:p>
            <a:pPr algn="l">
              <a:lnSpc>
                <a:spcPct val="112000"/>
              </a:lnSpc>
              <a:spcBef>
                <a:spcPts val="0"/>
              </a:spcBef>
            </a:pPr>
            <a:r>
              <a:rPr sz="4000" b="1" i="0">
                <a:solidFill>
                  <a:srgbClr val="111111"/>
                </a:solidFill>
                <a:latin typeface="Inter"/>
              </a:rPr>
              <a:t>The verdicts (1/2)</a:t>
            </a:r>
          </a:p>
        </p:txBody>
      </p:sp>
      <p:sp>
        <p:nvSpPr>
          <p:cNvPr id="4" name="TextBox 3"/>
          <p:cNvSpPr txBox="1"/>
          <p:nvPr/>
        </p:nvSpPr>
        <p:spPr>
          <a:xfrm>
            <a:off x="822960" y="1831441"/>
            <a:ext cx="10545775" cy="619597"/>
          </a:xfrm>
          <a:prstGeom prst="rect">
            <a:avLst/>
          </a:prstGeom>
          <a:noFill/>
        </p:spPr>
        <p:txBody>
          <a:bodyPr wrap="square" anchor="t" lIns="0" rIns="0" tIns="0" bIns="0"/>
          <a:lstStyle/>
          <a:p>
            <a:pPr algn="l">
              <a:lnSpc>
                <a:spcPct val="112000"/>
              </a:lnSpc>
              <a:spcBef>
                <a:spcPts val="0"/>
              </a:spcBef>
            </a:pPr>
            <a:r>
              <a:rPr sz="1800" b="0" i="0">
                <a:solidFill>
                  <a:srgbClr val="111111"/>
                </a:solidFill>
                <a:latin typeface="Inter"/>
              </a:rPr>
              <a:t>The title asks whether developers know how to use Git commands. Nothing in the paper watches anyone use one.</a:t>
            </a:r>
          </a:p>
        </p:txBody>
      </p:sp>
      <p:sp>
        <p:nvSpPr>
          <p:cNvPr id="5" name="Rounded Rectangle 4"/>
          <p:cNvSpPr/>
          <p:nvPr/>
        </p:nvSpPr>
        <p:spPr>
          <a:xfrm>
            <a:off x="822960" y="2679638"/>
            <a:ext cx="5181447" cy="3085692"/>
          </a:xfrm>
          <a:prstGeom prst="roundRect">
            <a:avLst>
              <a:gd name="adj" fmla="val 6000"/>
            </a:avLst>
          </a:prstGeom>
          <a:solidFill>
            <a:srgbClr val="FFFFFF"/>
          </a:solidFill>
          <a:ln w="19050">
            <a:solidFill>
              <a:srgbClr val="D9D9DE"/>
            </a:solidFill>
          </a:ln>
          <a:effectLst/>
        </p:spPr>
        <p:txBody>
          <a:bodyPr rtlCol="0" anchor="ctr"/>
          <a:lstStyle/>
          <a:p/>
        </p:txBody>
      </p:sp>
      <p:sp>
        <p:nvSpPr>
          <p:cNvPr id="6" name="TextBox 5"/>
          <p:cNvSpPr txBox="1"/>
          <p:nvPr/>
        </p:nvSpPr>
        <p:spPr>
          <a:xfrm>
            <a:off x="1005840" y="2816798"/>
            <a:ext cx="4815687" cy="774496"/>
          </a:xfrm>
          <a:prstGeom prst="rect">
            <a:avLst/>
          </a:prstGeom>
          <a:noFill/>
        </p:spPr>
        <p:txBody>
          <a:bodyPr wrap="square" anchor="t" lIns="0" rIns="0" tIns="0" bIns="0"/>
          <a:lstStyle/>
          <a:p>
            <a:pPr algn="l">
              <a:lnSpc>
                <a:spcPct val="112000"/>
              </a:lnSpc>
              <a:spcBef>
                <a:spcPts val="0"/>
              </a:spcBef>
            </a:pPr>
            <a:r>
              <a:rPr sz="1500" b="0" i="1">
                <a:solidFill>
                  <a:srgbClr val="111111"/>
                </a:solidFill>
                <a:latin typeface="Inter"/>
              </a:rPr>
              <a:t>“This suggests that even developers with years of development experience can have trouble using Git commands.”</a:t>
            </a:r>
          </a:p>
        </p:txBody>
      </p:sp>
      <p:sp>
        <p:nvSpPr>
          <p:cNvPr id="7" name="TextBox 6"/>
          <p:cNvSpPr txBox="1"/>
          <p:nvPr/>
        </p:nvSpPr>
        <p:spPr>
          <a:xfrm>
            <a:off x="1005840" y="3682734"/>
            <a:ext cx="4815687" cy="201168"/>
          </a:xfrm>
          <a:prstGeom prst="rect">
            <a:avLst/>
          </a:prstGeom>
          <a:noFill/>
        </p:spPr>
        <p:txBody>
          <a:bodyPr wrap="square" anchor="t" lIns="0" rIns="0" tIns="0" bIns="0"/>
          <a:lstStyle/>
          <a:p>
            <a:pPr algn="l">
              <a:lnSpc>
                <a:spcPct val="110000"/>
              </a:lnSpc>
            </a:pPr>
            <a:r>
              <a:rPr sz="1100" b="1">
                <a:solidFill>
                  <a:srgbClr val="707078"/>
                </a:solidFill>
                <a:latin typeface="Inter"/>
              </a:rPr>
              <a:t>THEY MEASURED</a:t>
            </a:r>
          </a:p>
        </p:txBody>
      </p:sp>
      <p:sp>
        <p:nvSpPr>
          <p:cNvPr id="8" name="TextBox 7"/>
          <p:cNvSpPr txBox="1"/>
          <p:nvPr/>
        </p:nvSpPr>
        <p:spPr>
          <a:xfrm>
            <a:off x="1005840" y="3902190"/>
            <a:ext cx="4815687" cy="240954"/>
          </a:xfrm>
          <a:prstGeom prst="rect">
            <a:avLst/>
          </a:prstGeom>
          <a:noFill/>
        </p:spPr>
        <p:txBody>
          <a:bodyPr wrap="square" anchor="t" lIns="0" rIns="0" tIns="0" bIns="0"/>
          <a:lstStyle/>
          <a:p>
            <a:pPr algn="l">
              <a:lnSpc>
                <a:spcPct val="112000"/>
              </a:lnSpc>
              <a:spcBef>
                <a:spcPts val="0"/>
              </a:spcBef>
            </a:pPr>
            <a:r>
              <a:rPr sz="1400" b="0" i="0">
                <a:solidFill>
                  <a:srgbClr val="111111"/>
                </a:solidFill>
                <a:latin typeface="Inter"/>
              </a:rPr>
              <a:t>Years since the asker registered on Stack Overflow.</a:t>
            </a:r>
          </a:p>
        </p:txBody>
      </p:sp>
      <p:sp>
        <p:nvSpPr>
          <p:cNvPr id="9" name="Rounded Rectangle 8"/>
          <p:cNvSpPr/>
          <p:nvPr/>
        </p:nvSpPr>
        <p:spPr>
          <a:xfrm>
            <a:off x="1005840" y="4234584"/>
            <a:ext cx="4815687" cy="865957"/>
          </a:xfrm>
          <a:prstGeom prst="roundRect">
            <a:avLst>
              <a:gd name="adj" fmla="val 10000"/>
            </a:avLst>
          </a:prstGeom>
          <a:solidFill>
            <a:srgbClr val="F4ECFB"/>
          </a:solidFill>
          <a:ln>
            <a:noFill/>
          </a:ln>
          <a:effectLst/>
        </p:spPr>
        <p:txBody>
          <a:bodyPr rtlCol="0" anchor="ctr"/>
          <a:lstStyle/>
          <a:p/>
        </p:txBody>
      </p:sp>
      <p:sp>
        <p:nvSpPr>
          <p:cNvPr id="10" name="TextBox 9"/>
          <p:cNvSpPr txBox="1"/>
          <p:nvPr/>
        </p:nvSpPr>
        <p:spPr>
          <a:xfrm>
            <a:off x="1097280" y="4289448"/>
            <a:ext cx="4815687" cy="228600"/>
          </a:xfrm>
          <a:prstGeom prst="rect">
            <a:avLst/>
          </a:prstGeom>
          <a:noFill/>
        </p:spPr>
        <p:txBody>
          <a:bodyPr wrap="square" anchor="t" lIns="0" rIns="0" tIns="0" bIns="0"/>
          <a:lstStyle/>
          <a:p>
            <a:pPr algn="l">
              <a:lnSpc>
                <a:spcPct val="110000"/>
              </a:lnSpc>
            </a:pPr>
            <a:r>
              <a:rPr sz="1100" b="1">
                <a:solidFill>
                  <a:srgbClr val="8B3DFF"/>
                </a:solidFill>
                <a:latin typeface="Inter"/>
              </a:rPr>
              <a:t>THE DATA SUPPORTS</a:t>
            </a:r>
          </a:p>
        </p:txBody>
      </p:sp>
      <p:sp>
        <p:nvSpPr>
          <p:cNvPr id="11" name="TextBox 10"/>
          <p:cNvSpPr txBox="1"/>
          <p:nvPr/>
        </p:nvSpPr>
        <p:spPr>
          <a:xfrm>
            <a:off x="1097280" y="4508904"/>
            <a:ext cx="4632807" cy="481909"/>
          </a:xfrm>
          <a:prstGeom prst="rect">
            <a:avLst/>
          </a:prstGeom>
          <a:noFill/>
        </p:spPr>
        <p:txBody>
          <a:bodyPr wrap="square" anchor="t" lIns="0" rIns="0" tIns="0" bIns="0"/>
          <a:lstStyle/>
          <a:p>
            <a:pPr algn="l">
              <a:lnSpc>
                <a:spcPct val="112000"/>
              </a:lnSpc>
              <a:spcBef>
                <a:spcPts val="0"/>
              </a:spcBef>
            </a:pPr>
            <a:r>
              <a:rPr sz="1400" b="0" i="0">
                <a:solidFill>
                  <a:srgbClr val="111111"/>
                </a:solidFill>
                <a:latin typeface="Inter"/>
              </a:rPr>
              <a:t>Many Git questions come from Stack Overflow accounts that are years old.</a:t>
            </a:r>
          </a:p>
        </p:txBody>
      </p:sp>
      <p:sp>
        <p:nvSpPr>
          <p:cNvPr id="12" name="Rounded Rectangle 11"/>
          <p:cNvSpPr/>
          <p:nvPr/>
        </p:nvSpPr>
        <p:spPr>
          <a:xfrm>
            <a:off x="6187287" y="2679638"/>
            <a:ext cx="5181447" cy="3085692"/>
          </a:xfrm>
          <a:prstGeom prst="roundRect">
            <a:avLst>
              <a:gd name="adj" fmla="val 6000"/>
            </a:avLst>
          </a:prstGeom>
          <a:solidFill>
            <a:srgbClr val="FFFFFF"/>
          </a:solidFill>
          <a:ln w="19050">
            <a:solidFill>
              <a:srgbClr val="D9D9DE"/>
            </a:solidFill>
          </a:ln>
          <a:effectLst/>
        </p:spPr>
        <p:txBody>
          <a:bodyPr rtlCol="0" anchor="ctr"/>
          <a:lstStyle/>
          <a:p/>
        </p:txBody>
      </p:sp>
      <p:sp>
        <p:nvSpPr>
          <p:cNvPr id="13" name="TextBox 12"/>
          <p:cNvSpPr txBox="1"/>
          <p:nvPr/>
        </p:nvSpPr>
        <p:spPr>
          <a:xfrm>
            <a:off x="6370167" y="2816798"/>
            <a:ext cx="4815687" cy="774496"/>
          </a:xfrm>
          <a:prstGeom prst="rect">
            <a:avLst/>
          </a:prstGeom>
          <a:noFill/>
        </p:spPr>
        <p:txBody>
          <a:bodyPr wrap="square" anchor="t" lIns="0" rIns="0" tIns="0" bIns="0"/>
          <a:lstStyle/>
          <a:p>
            <a:pPr algn="l">
              <a:lnSpc>
                <a:spcPct val="112000"/>
              </a:lnSpc>
              <a:spcBef>
                <a:spcPts val="0"/>
              </a:spcBef>
            </a:pPr>
            <a:r>
              <a:rPr sz="1500" b="0" i="1">
                <a:solidFill>
                  <a:srgbClr val="111111"/>
                </a:solidFill>
                <a:latin typeface="Inter"/>
              </a:rPr>
              <a:t>“…for the more frequently-used commands, git credential and git submodule are among the most difficult ones.”</a:t>
            </a:r>
          </a:p>
        </p:txBody>
      </p:sp>
      <p:sp>
        <p:nvSpPr>
          <p:cNvPr id="14" name="TextBox 13"/>
          <p:cNvSpPr txBox="1"/>
          <p:nvPr/>
        </p:nvSpPr>
        <p:spPr>
          <a:xfrm>
            <a:off x="6370167" y="3682734"/>
            <a:ext cx="4815687" cy="201168"/>
          </a:xfrm>
          <a:prstGeom prst="rect">
            <a:avLst/>
          </a:prstGeom>
          <a:noFill/>
        </p:spPr>
        <p:txBody>
          <a:bodyPr wrap="square" anchor="t" lIns="0" rIns="0" tIns="0" bIns="0"/>
          <a:lstStyle/>
          <a:p>
            <a:pPr algn="l">
              <a:lnSpc>
                <a:spcPct val="110000"/>
              </a:lnSpc>
            </a:pPr>
            <a:r>
              <a:rPr sz="1100" b="1">
                <a:solidFill>
                  <a:srgbClr val="707078"/>
                </a:solidFill>
                <a:latin typeface="Inter"/>
              </a:rPr>
              <a:t>THEY MEASURED</a:t>
            </a:r>
          </a:p>
        </p:txBody>
      </p:sp>
      <p:sp>
        <p:nvSpPr>
          <p:cNvPr id="15" name="TextBox 14"/>
          <p:cNvSpPr txBox="1"/>
          <p:nvPr/>
        </p:nvSpPr>
        <p:spPr>
          <a:xfrm>
            <a:off x="6370167" y="3902190"/>
            <a:ext cx="4815687" cy="481909"/>
          </a:xfrm>
          <a:prstGeom prst="rect">
            <a:avLst/>
          </a:prstGeom>
          <a:noFill/>
        </p:spPr>
        <p:txBody>
          <a:bodyPr wrap="square" anchor="t" lIns="0" rIns="0" tIns="0" bIns="0"/>
          <a:lstStyle/>
          <a:p>
            <a:pPr algn="l">
              <a:lnSpc>
                <a:spcPct val="112000"/>
              </a:lnSpc>
              <a:spcBef>
                <a:spcPts val="0"/>
              </a:spcBef>
            </a:pPr>
            <a:r>
              <a:rPr sz="1400" b="0" i="0">
                <a:solidFill>
                  <a:srgbClr val="111111"/>
                </a:solidFill>
                <a:latin typeface="Inter"/>
              </a:rPr>
              <a:t>The share of a command’s questions where the asker never marked an answer as accepted.</a:t>
            </a:r>
          </a:p>
        </p:txBody>
      </p:sp>
      <p:sp>
        <p:nvSpPr>
          <p:cNvPr id="16" name="Rounded Rectangle 15"/>
          <p:cNvSpPr/>
          <p:nvPr/>
        </p:nvSpPr>
        <p:spPr>
          <a:xfrm>
            <a:off x="6370167" y="4475539"/>
            <a:ext cx="4815687" cy="1106911"/>
          </a:xfrm>
          <a:prstGeom prst="roundRect">
            <a:avLst>
              <a:gd name="adj" fmla="val 10000"/>
            </a:avLst>
          </a:prstGeom>
          <a:solidFill>
            <a:srgbClr val="F4ECFB"/>
          </a:solidFill>
          <a:ln>
            <a:noFill/>
          </a:ln>
          <a:effectLst/>
        </p:spPr>
        <p:txBody>
          <a:bodyPr rtlCol="0" anchor="ctr"/>
          <a:lstStyle/>
          <a:p/>
        </p:txBody>
      </p:sp>
      <p:sp>
        <p:nvSpPr>
          <p:cNvPr id="17" name="TextBox 16"/>
          <p:cNvSpPr txBox="1"/>
          <p:nvPr/>
        </p:nvSpPr>
        <p:spPr>
          <a:xfrm>
            <a:off x="6461607" y="4530403"/>
            <a:ext cx="4815687" cy="228600"/>
          </a:xfrm>
          <a:prstGeom prst="rect">
            <a:avLst/>
          </a:prstGeom>
          <a:noFill/>
        </p:spPr>
        <p:txBody>
          <a:bodyPr wrap="square" anchor="t" lIns="0" rIns="0" tIns="0" bIns="0"/>
          <a:lstStyle/>
          <a:p>
            <a:pPr algn="l">
              <a:lnSpc>
                <a:spcPct val="110000"/>
              </a:lnSpc>
            </a:pPr>
            <a:r>
              <a:rPr sz="1100" b="1">
                <a:solidFill>
                  <a:srgbClr val="8B3DFF"/>
                </a:solidFill>
                <a:latin typeface="Inter"/>
              </a:rPr>
              <a:t>THE DATA SUPPORTS</a:t>
            </a:r>
          </a:p>
        </p:txBody>
      </p:sp>
      <p:sp>
        <p:nvSpPr>
          <p:cNvPr id="18" name="TextBox 17"/>
          <p:cNvSpPr txBox="1"/>
          <p:nvPr/>
        </p:nvSpPr>
        <p:spPr>
          <a:xfrm>
            <a:off x="6461607" y="4749859"/>
            <a:ext cx="4632807" cy="722863"/>
          </a:xfrm>
          <a:prstGeom prst="rect">
            <a:avLst/>
          </a:prstGeom>
          <a:noFill/>
        </p:spPr>
        <p:txBody>
          <a:bodyPr wrap="square" anchor="t" lIns="0" rIns="0" tIns="0" bIns="0"/>
          <a:lstStyle/>
          <a:p>
            <a:pPr algn="l">
              <a:lnSpc>
                <a:spcPct val="112000"/>
              </a:lnSpc>
              <a:spcBef>
                <a:spcPts val="0"/>
              </a:spcBef>
            </a:pPr>
            <a:r>
              <a:rPr sz="1400" b="0" i="0">
                <a:solidFill>
                  <a:srgbClr val="111111"/>
                </a:solidFill>
                <a:latin typeface="Inter"/>
              </a:rPr>
              <a:t>These questions end without an accepted answer more often (43.0%, 37.5%) than Git questions overall (36.5%, our re-run).</a:t>
            </a:r>
          </a:p>
        </p:txBody>
      </p:sp>
      <p:sp>
        <p:nvSpPr>
          <p:cNvPr id="19" name="TextBox 18"/>
          <p:cNvSpPr txBox="1"/>
          <p:nvPr/>
        </p:nvSpPr>
        <p:spPr>
          <a:xfrm>
            <a:off x="822960" y="6022158"/>
            <a:ext cx="10545775" cy="378642"/>
          </a:xfrm>
          <a:prstGeom prst="rect">
            <a:avLst/>
          </a:prstGeom>
          <a:noFill/>
        </p:spPr>
        <p:txBody>
          <a:bodyPr wrap="square" anchor="t" lIns="0" rIns="0" tIns="0" bIns="0"/>
          <a:lstStyle/>
          <a:p>
            <a:pPr algn="l">
              <a:lnSpc>
                <a:spcPct val="112000"/>
              </a:lnSpc>
              <a:spcBef>
                <a:spcPts val="0"/>
              </a:spcBef>
            </a:pPr>
            <a:r>
              <a:rPr sz="2200" b="0" i="1">
                <a:solidFill>
                  <a:srgbClr val="707078"/>
                </a:solidFill>
                <a:latin typeface="Inter"/>
              </a:rPr>
              <a:t>Which claim survives best?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45775" cy="320040"/>
          </a:xfrm>
          <a:prstGeom prst="rect">
            <a:avLst/>
          </a:prstGeom>
          <a:noFill/>
        </p:spPr>
        <p:txBody>
          <a:bodyPr wrap="square" anchor="t" lIns="0" rIns="0" tIns="0" bIns="0"/>
          <a:lstStyle/>
          <a:p>
            <a:pPr algn="l">
              <a:lnSpc>
                <a:spcPct val="110000"/>
              </a:lnSpc>
            </a:pPr>
            <a:r>
              <a:rPr sz="1600" b="1">
                <a:solidFill>
                  <a:srgbClr val="8B3DFF"/>
                </a:solidFill>
                <a:latin typeface="Inter"/>
              </a:rPr>
              <a:t>4 · DO YOU BELIEVE IT?</a:t>
            </a:r>
          </a:p>
        </p:txBody>
      </p:sp>
      <p:sp>
        <p:nvSpPr>
          <p:cNvPr id="3" name="TextBox 2"/>
          <p:cNvSpPr txBox="1"/>
          <p:nvPr/>
        </p:nvSpPr>
        <p:spPr>
          <a:xfrm>
            <a:off x="822960" y="868680"/>
            <a:ext cx="10545775" cy="688441"/>
          </a:xfrm>
          <a:prstGeom prst="rect">
            <a:avLst/>
          </a:prstGeom>
          <a:noFill/>
        </p:spPr>
        <p:txBody>
          <a:bodyPr wrap="square" anchor="t" lIns="0" rIns="0" tIns="0" bIns="0"/>
          <a:lstStyle/>
          <a:p>
            <a:pPr algn="l">
              <a:lnSpc>
                <a:spcPct val="112000"/>
              </a:lnSpc>
              <a:spcBef>
                <a:spcPts val="0"/>
              </a:spcBef>
            </a:pPr>
            <a:r>
              <a:rPr sz="4000" b="1" i="0">
                <a:solidFill>
                  <a:srgbClr val="111111"/>
                </a:solidFill>
                <a:latin typeface="Inter"/>
              </a:rPr>
              <a:t>The verdicts (2/2)</a:t>
            </a:r>
          </a:p>
        </p:txBody>
      </p:sp>
      <p:sp>
        <p:nvSpPr>
          <p:cNvPr id="4" name="TextBox 3"/>
          <p:cNvSpPr txBox="1"/>
          <p:nvPr/>
        </p:nvSpPr>
        <p:spPr>
          <a:xfrm>
            <a:off x="822960" y="1831441"/>
            <a:ext cx="10545775" cy="619597"/>
          </a:xfrm>
          <a:prstGeom prst="rect">
            <a:avLst/>
          </a:prstGeom>
          <a:noFill/>
        </p:spPr>
        <p:txBody>
          <a:bodyPr wrap="square" anchor="t" lIns="0" rIns="0" tIns="0" bIns="0"/>
          <a:lstStyle/>
          <a:p>
            <a:pPr algn="l">
              <a:lnSpc>
                <a:spcPct val="112000"/>
              </a:lnSpc>
              <a:spcBef>
                <a:spcPts val="0"/>
              </a:spcBef>
            </a:pPr>
            <a:r>
              <a:rPr sz="1800" b="0" i="0">
                <a:solidFill>
                  <a:srgbClr val="111111"/>
                </a:solidFill>
                <a:latin typeface="Inter"/>
              </a:rPr>
              <a:t>The title asks whether developers know how to use Git commands. Nothing in the paper watches anyone use one.</a:t>
            </a:r>
          </a:p>
        </p:txBody>
      </p:sp>
      <p:sp>
        <p:nvSpPr>
          <p:cNvPr id="5" name="Rounded Rectangle 4"/>
          <p:cNvSpPr/>
          <p:nvPr/>
        </p:nvSpPr>
        <p:spPr>
          <a:xfrm>
            <a:off x="822960" y="2679638"/>
            <a:ext cx="5181447" cy="2827527"/>
          </a:xfrm>
          <a:prstGeom prst="roundRect">
            <a:avLst>
              <a:gd name="adj" fmla="val 6000"/>
            </a:avLst>
          </a:prstGeom>
          <a:solidFill>
            <a:srgbClr val="FFFFFF"/>
          </a:solidFill>
          <a:ln w="19050">
            <a:solidFill>
              <a:srgbClr val="D9D9DE"/>
            </a:solidFill>
          </a:ln>
          <a:effectLst/>
        </p:spPr>
        <p:txBody>
          <a:bodyPr rtlCol="0" anchor="ctr"/>
          <a:lstStyle/>
          <a:p/>
        </p:txBody>
      </p:sp>
      <p:sp>
        <p:nvSpPr>
          <p:cNvPr id="6" name="TextBox 5"/>
          <p:cNvSpPr txBox="1"/>
          <p:nvPr/>
        </p:nvSpPr>
        <p:spPr>
          <a:xfrm>
            <a:off x="1005840" y="2816798"/>
            <a:ext cx="4815687" cy="258165"/>
          </a:xfrm>
          <a:prstGeom prst="rect">
            <a:avLst/>
          </a:prstGeom>
          <a:noFill/>
        </p:spPr>
        <p:txBody>
          <a:bodyPr wrap="square" anchor="t" lIns="0" rIns="0" tIns="0" bIns="0"/>
          <a:lstStyle/>
          <a:p>
            <a:pPr algn="l">
              <a:lnSpc>
                <a:spcPct val="112000"/>
              </a:lnSpc>
              <a:spcBef>
                <a:spcPts val="0"/>
              </a:spcBef>
            </a:pPr>
            <a:r>
              <a:rPr sz="1500" b="0" i="1">
                <a:solidFill>
                  <a:srgbClr val="111111"/>
                </a:solidFill>
                <a:latin typeface="Inter"/>
              </a:rPr>
              <a:t>“Self-learning is the primary learning approach.”</a:t>
            </a:r>
          </a:p>
        </p:txBody>
      </p:sp>
      <p:sp>
        <p:nvSpPr>
          <p:cNvPr id="7" name="TextBox 6"/>
          <p:cNvSpPr txBox="1"/>
          <p:nvPr/>
        </p:nvSpPr>
        <p:spPr>
          <a:xfrm>
            <a:off x="1005840" y="3166403"/>
            <a:ext cx="4815687" cy="201168"/>
          </a:xfrm>
          <a:prstGeom prst="rect">
            <a:avLst/>
          </a:prstGeom>
          <a:noFill/>
        </p:spPr>
        <p:txBody>
          <a:bodyPr wrap="square" anchor="t" lIns="0" rIns="0" tIns="0" bIns="0"/>
          <a:lstStyle/>
          <a:p>
            <a:pPr algn="l">
              <a:lnSpc>
                <a:spcPct val="110000"/>
              </a:lnSpc>
            </a:pPr>
            <a:r>
              <a:rPr sz="1100" b="1">
                <a:solidFill>
                  <a:srgbClr val="707078"/>
                </a:solidFill>
                <a:latin typeface="Inter"/>
              </a:rPr>
              <a:t>THEY MEASURED</a:t>
            </a:r>
          </a:p>
        </p:txBody>
      </p:sp>
      <p:sp>
        <p:nvSpPr>
          <p:cNvPr id="8" name="TextBox 7"/>
          <p:cNvSpPr txBox="1"/>
          <p:nvPr/>
        </p:nvSpPr>
        <p:spPr>
          <a:xfrm>
            <a:off x="1005840" y="3385859"/>
            <a:ext cx="4815687" cy="722863"/>
          </a:xfrm>
          <a:prstGeom prst="rect">
            <a:avLst/>
          </a:prstGeom>
          <a:noFill/>
        </p:spPr>
        <p:txBody>
          <a:bodyPr wrap="square" anchor="t" lIns="0" rIns="0" tIns="0" bIns="0"/>
          <a:lstStyle/>
          <a:p>
            <a:pPr algn="l">
              <a:lnSpc>
                <a:spcPct val="112000"/>
              </a:lnSpc>
              <a:spcBef>
                <a:spcPts val="0"/>
              </a:spcBef>
            </a:pPr>
            <a:r>
              <a:rPr sz="1400" b="0" i="0">
                <a:solidFill>
                  <a:srgbClr val="111111"/>
                </a:solidFill>
                <a:latin typeface="Inter"/>
              </a:rPr>
              <a:t>What 92 of 508 invited people ticked. The practitioners invited had recently asked a Git question on Stack Overflow.</a:t>
            </a:r>
          </a:p>
        </p:txBody>
      </p:sp>
      <p:sp>
        <p:nvSpPr>
          <p:cNvPr id="9" name="Rounded Rectangle 8"/>
          <p:cNvSpPr/>
          <p:nvPr/>
        </p:nvSpPr>
        <p:spPr>
          <a:xfrm>
            <a:off x="1005840" y="4200162"/>
            <a:ext cx="4815687" cy="865957"/>
          </a:xfrm>
          <a:prstGeom prst="roundRect">
            <a:avLst>
              <a:gd name="adj" fmla="val 10000"/>
            </a:avLst>
          </a:prstGeom>
          <a:solidFill>
            <a:srgbClr val="F4ECFB"/>
          </a:solidFill>
          <a:ln>
            <a:noFill/>
          </a:ln>
          <a:effectLst/>
        </p:spPr>
        <p:txBody>
          <a:bodyPr rtlCol="0" anchor="ctr"/>
          <a:lstStyle/>
          <a:p/>
        </p:txBody>
      </p:sp>
      <p:sp>
        <p:nvSpPr>
          <p:cNvPr id="10" name="TextBox 9"/>
          <p:cNvSpPr txBox="1"/>
          <p:nvPr/>
        </p:nvSpPr>
        <p:spPr>
          <a:xfrm>
            <a:off x="1097280" y="4255026"/>
            <a:ext cx="4815687" cy="228600"/>
          </a:xfrm>
          <a:prstGeom prst="rect">
            <a:avLst/>
          </a:prstGeom>
          <a:noFill/>
        </p:spPr>
        <p:txBody>
          <a:bodyPr wrap="square" anchor="t" lIns="0" rIns="0" tIns="0" bIns="0"/>
          <a:lstStyle/>
          <a:p>
            <a:pPr algn="l">
              <a:lnSpc>
                <a:spcPct val="110000"/>
              </a:lnSpc>
            </a:pPr>
            <a:r>
              <a:rPr sz="1100" b="1">
                <a:solidFill>
                  <a:srgbClr val="8B3DFF"/>
                </a:solidFill>
                <a:latin typeface="Inter"/>
              </a:rPr>
              <a:t>THE DATA SUPPORTS</a:t>
            </a:r>
          </a:p>
        </p:txBody>
      </p:sp>
      <p:sp>
        <p:nvSpPr>
          <p:cNvPr id="11" name="TextBox 10"/>
          <p:cNvSpPr txBox="1"/>
          <p:nvPr/>
        </p:nvSpPr>
        <p:spPr>
          <a:xfrm>
            <a:off x="1097280" y="4474482"/>
            <a:ext cx="4632807" cy="481909"/>
          </a:xfrm>
          <a:prstGeom prst="rect">
            <a:avLst/>
          </a:prstGeom>
          <a:noFill/>
        </p:spPr>
        <p:txBody>
          <a:bodyPr wrap="square" anchor="t" lIns="0" rIns="0" tIns="0" bIns="0"/>
          <a:lstStyle/>
          <a:p>
            <a:pPr algn="l">
              <a:lnSpc>
                <a:spcPct val="112000"/>
              </a:lnSpc>
              <a:spcBef>
                <a:spcPts val="0"/>
              </a:spcBef>
            </a:pPr>
            <a:r>
              <a:rPr sz="1400" b="0" i="0">
                <a:solidFill>
                  <a:srgbClr val="111111"/>
                </a:solidFill>
                <a:latin typeface="Inter"/>
              </a:rPr>
              <a:t>Most of these 92 say they learned from the internet (85) and the documentation (76).</a:t>
            </a:r>
          </a:p>
        </p:txBody>
      </p:sp>
      <p:sp>
        <p:nvSpPr>
          <p:cNvPr id="12" name="Rounded Rectangle 11"/>
          <p:cNvSpPr/>
          <p:nvPr/>
        </p:nvSpPr>
        <p:spPr>
          <a:xfrm>
            <a:off x="6187287" y="2679638"/>
            <a:ext cx="5181447" cy="2827527"/>
          </a:xfrm>
          <a:prstGeom prst="roundRect">
            <a:avLst>
              <a:gd name="adj" fmla="val 6000"/>
            </a:avLst>
          </a:prstGeom>
          <a:solidFill>
            <a:srgbClr val="FFFFFF"/>
          </a:solidFill>
          <a:ln w="19050">
            <a:solidFill>
              <a:srgbClr val="D9D9DE"/>
            </a:solidFill>
          </a:ln>
          <a:effectLst/>
        </p:spPr>
        <p:txBody>
          <a:bodyPr rtlCol="0" anchor="ctr"/>
          <a:lstStyle/>
          <a:p/>
        </p:txBody>
      </p:sp>
      <p:sp>
        <p:nvSpPr>
          <p:cNvPr id="13" name="TextBox 12"/>
          <p:cNvSpPr txBox="1"/>
          <p:nvPr/>
        </p:nvSpPr>
        <p:spPr>
          <a:xfrm>
            <a:off x="6370167" y="2816798"/>
            <a:ext cx="4815687" cy="516331"/>
          </a:xfrm>
          <a:prstGeom prst="rect">
            <a:avLst/>
          </a:prstGeom>
          <a:noFill/>
        </p:spPr>
        <p:txBody>
          <a:bodyPr wrap="square" anchor="t" lIns="0" rIns="0" tIns="0" bIns="0"/>
          <a:lstStyle/>
          <a:p>
            <a:pPr algn="l">
              <a:lnSpc>
                <a:spcPct val="112000"/>
              </a:lnSpc>
              <a:spcBef>
                <a:spcPts val="0"/>
              </a:spcBef>
            </a:pPr>
            <a:r>
              <a:rPr sz="1500" b="0" i="1">
                <a:solidFill>
                  <a:srgbClr val="111111"/>
                </a:solidFill>
                <a:latin typeface="Inter"/>
              </a:rPr>
              <a:t>“the number of questions related to Git commands has been growing steadily”</a:t>
            </a:r>
          </a:p>
        </p:txBody>
      </p:sp>
      <p:sp>
        <p:nvSpPr>
          <p:cNvPr id="14" name="TextBox 13"/>
          <p:cNvSpPr txBox="1"/>
          <p:nvPr/>
        </p:nvSpPr>
        <p:spPr>
          <a:xfrm>
            <a:off x="6370167" y="3424569"/>
            <a:ext cx="4815687" cy="201168"/>
          </a:xfrm>
          <a:prstGeom prst="rect">
            <a:avLst/>
          </a:prstGeom>
          <a:noFill/>
        </p:spPr>
        <p:txBody>
          <a:bodyPr wrap="square" anchor="t" lIns="0" rIns="0" tIns="0" bIns="0"/>
          <a:lstStyle/>
          <a:p>
            <a:pPr algn="l">
              <a:lnSpc>
                <a:spcPct val="110000"/>
              </a:lnSpc>
            </a:pPr>
            <a:r>
              <a:rPr sz="1100" b="1">
                <a:solidFill>
                  <a:srgbClr val="707078"/>
                </a:solidFill>
                <a:latin typeface="Inter"/>
              </a:rPr>
              <a:t>THEY MEASURED</a:t>
            </a:r>
          </a:p>
        </p:txBody>
      </p:sp>
      <p:sp>
        <p:nvSpPr>
          <p:cNvPr id="15" name="TextBox 14"/>
          <p:cNvSpPr txBox="1"/>
          <p:nvPr/>
        </p:nvSpPr>
        <p:spPr>
          <a:xfrm>
            <a:off x="6370167" y="3644025"/>
            <a:ext cx="4815687" cy="481909"/>
          </a:xfrm>
          <a:prstGeom prst="rect">
            <a:avLst/>
          </a:prstGeom>
          <a:noFill/>
        </p:spPr>
        <p:txBody>
          <a:bodyPr wrap="square" anchor="t" lIns="0" rIns="0" tIns="0" bIns="0"/>
          <a:lstStyle/>
          <a:p>
            <a:pPr algn="l">
              <a:lnSpc>
                <a:spcPct val="112000"/>
              </a:lnSpc>
              <a:spcBef>
                <a:spcPts val="0"/>
              </a:spcBef>
            </a:pPr>
            <a:r>
              <a:rPr sz="1400" b="0" i="0">
                <a:solidFill>
                  <a:srgbClr val="111111"/>
                </a:solidFill>
                <a:latin typeface="Inter"/>
              </a:rPr>
              <a:t>Git questions per year (Fig. 2a), and their share of all Stack Overflow questions (Table 1).</a:t>
            </a:r>
          </a:p>
        </p:txBody>
      </p:sp>
      <p:sp>
        <p:nvSpPr>
          <p:cNvPr id="16" name="Rounded Rectangle 15"/>
          <p:cNvSpPr/>
          <p:nvPr/>
        </p:nvSpPr>
        <p:spPr>
          <a:xfrm>
            <a:off x="6370167" y="4217374"/>
            <a:ext cx="4815687" cy="1106911"/>
          </a:xfrm>
          <a:prstGeom prst="roundRect">
            <a:avLst>
              <a:gd name="adj" fmla="val 10000"/>
            </a:avLst>
          </a:prstGeom>
          <a:solidFill>
            <a:srgbClr val="F4ECFB"/>
          </a:solidFill>
          <a:ln>
            <a:noFill/>
          </a:ln>
          <a:effectLst/>
        </p:spPr>
        <p:txBody>
          <a:bodyPr rtlCol="0" anchor="ctr"/>
          <a:lstStyle/>
          <a:p/>
        </p:txBody>
      </p:sp>
      <p:sp>
        <p:nvSpPr>
          <p:cNvPr id="17" name="TextBox 16"/>
          <p:cNvSpPr txBox="1"/>
          <p:nvPr/>
        </p:nvSpPr>
        <p:spPr>
          <a:xfrm>
            <a:off x="6461607" y="4272238"/>
            <a:ext cx="4815687" cy="228600"/>
          </a:xfrm>
          <a:prstGeom prst="rect">
            <a:avLst/>
          </a:prstGeom>
          <a:noFill/>
        </p:spPr>
        <p:txBody>
          <a:bodyPr wrap="square" anchor="t" lIns="0" rIns="0" tIns="0" bIns="0"/>
          <a:lstStyle/>
          <a:p>
            <a:pPr algn="l">
              <a:lnSpc>
                <a:spcPct val="110000"/>
              </a:lnSpc>
            </a:pPr>
            <a:r>
              <a:rPr sz="1100" b="1">
                <a:solidFill>
                  <a:srgbClr val="8B3DFF"/>
                </a:solidFill>
                <a:latin typeface="Inter"/>
              </a:rPr>
              <a:t>THE DATA SUPPORTS</a:t>
            </a:r>
          </a:p>
        </p:txBody>
      </p:sp>
      <p:sp>
        <p:nvSpPr>
          <p:cNvPr id="18" name="TextBox 17"/>
          <p:cNvSpPr txBox="1"/>
          <p:nvPr/>
        </p:nvSpPr>
        <p:spPr>
          <a:xfrm>
            <a:off x="6461607" y="4491694"/>
            <a:ext cx="4632807" cy="722863"/>
          </a:xfrm>
          <a:prstGeom prst="rect">
            <a:avLst/>
          </a:prstGeom>
          <a:noFill/>
        </p:spPr>
        <p:txBody>
          <a:bodyPr wrap="square" anchor="t" lIns="0" rIns="0" tIns="0" bIns="0"/>
          <a:lstStyle/>
          <a:p>
            <a:pPr algn="l">
              <a:lnSpc>
                <a:spcPct val="112000"/>
              </a:lnSpc>
              <a:spcBef>
                <a:spcPts val="0"/>
              </a:spcBef>
            </a:pPr>
            <a:r>
              <a:rPr sz="1400" b="0" i="0">
                <a:solidFill>
                  <a:srgbClr val="111111"/>
                </a:solidFill>
                <a:latin typeface="Inter"/>
              </a:rPr>
              <a:t>Questions peaked in 2016 (9,125), fell to 7,076 in 2019, then rose again. Their share has held at about 0.4% since 2010.</a:t>
            </a:r>
          </a:p>
        </p:txBody>
      </p:sp>
      <p:sp>
        <p:nvSpPr>
          <p:cNvPr id="19" name="TextBox 18"/>
          <p:cNvSpPr txBox="1"/>
          <p:nvPr/>
        </p:nvSpPr>
        <p:spPr>
          <a:xfrm>
            <a:off x="822960" y="6022158"/>
            <a:ext cx="10545775" cy="378642"/>
          </a:xfrm>
          <a:prstGeom prst="rect">
            <a:avLst/>
          </a:prstGeom>
          <a:noFill/>
        </p:spPr>
        <p:txBody>
          <a:bodyPr wrap="square" anchor="t" lIns="0" rIns="0" tIns="0" bIns="0"/>
          <a:lstStyle/>
          <a:p>
            <a:pPr algn="l">
              <a:lnSpc>
                <a:spcPct val="112000"/>
              </a:lnSpc>
              <a:spcBef>
                <a:spcPts val="0"/>
              </a:spcBef>
            </a:pPr>
            <a:r>
              <a:rPr sz="2200" b="0" i="1">
                <a:solidFill>
                  <a:srgbClr val="707078"/>
                </a:solidFill>
                <a:latin typeface="Inter"/>
              </a:rPr>
              <a:t>Which claim survives best?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ECFB"/>
        </a:solidFill>
        <a:effectLst/>
      </p:bgPr>
    </p:bg>
    <p:spTree>
      <p:nvGrpSpPr>
        <p:cNvPr id="1" name=""/>
        <p:cNvGrpSpPr/>
        <p:nvPr/>
      </p:nvGrpSpPr>
      <p:grpSpPr/>
      <p:sp>
        <p:nvSpPr>
          <p:cNvPr id="2" name="TextBox 1"/>
          <p:cNvSpPr txBox="1"/>
          <p:nvPr/>
        </p:nvSpPr>
        <p:spPr>
          <a:xfrm>
            <a:off x="822960" y="502920"/>
            <a:ext cx="10545775" cy="320040"/>
          </a:xfrm>
          <a:prstGeom prst="rect">
            <a:avLst/>
          </a:prstGeom>
          <a:noFill/>
        </p:spPr>
        <p:txBody>
          <a:bodyPr wrap="square" anchor="t" lIns="0" rIns="0" tIns="0" bIns="0"/>
          <a:lstStyle/>
          <a:p>
            <a:pPr algn="l">
              <a:lnSpc>
                <a:spcPct val="110000"/>
              </a:lnSpc>
            </a:pPr>
            <a:r>
              <a:rPr sz="1600" b="1">
                <a:solidFill>
                  <a:srgbClr val="8B3DFF"/>
                </a:solidFill>
                <a:latin typeface="Inter"/>
              </a:rPr>
              <a:t>5 · DESIGN</a:t>
            </a:r>
          </a:p>
        </p:txBody>
      </p:sp>
      <p:sp>
        <p:nvSpPr>
          <p:cNvPr id="3" name="Rounded Rectangle 2"/>
          <p:cNvSpPr/>
          <p:nvPr/>
        </p:nvSpPr>
        <p:spPr>
          <a:xfrm>
            <a:off x="9997135" y="457200"/>
            <a:ext cx="1371600" cy="457200"/>
          </a:xfrm>
          <a:prstGeom prst="roundRect">
            <a:avLst>
              <a:gd name="adj" fmla="val 50000"/>
            </a:avLst>
          </a:prstGeom>
          <a:solidFill>
            <a:srgbClr val="FFFFFF"/>
          </a:solidFill>
          <a:ln>
            <a:noFill/>
          </a:ln>
          <a:effectLst/>
        </p:spPr>
        <p:txBody>
          <a:bodyPr rtlCol="0" anchor="ctr" lIns="0" rIns="0" tIns="0" bIns="0"/>
          <a:lstStyle/>
          <a:p>
            <a:pPr algn="ctr"/>
            <a:r>
              <a:rPr sz="1600" b="1">
                <a:solidFill>
                  <a:srgbClr val="111111"/>
                </a:solidFill>
                <a:latin typeface="Inter"/>
              </a:rPr>
              <a:t>10 min</a:t>
            </a:r>
          </a:p>
        </p:txBody>
      </p:sp>
      <p:sp>
        <p:nvSpPr>
          <p:cNvPr id="4" name="TextBox 3"/>
          <p:cNvSpPr txBox="1"/>
          <p:nvPr/>
        </p:nvSpPr>
        <p:spPr>
          <a:xfrm>
            <a:off x="822960" y="868680"/>
            <a:ext cx="8899855" cy="688441"/>
          </a:xfrm>
          <a:prstGeom prst="rect">
            <a:avLst/>
          </a:prstGeom>
          <a:noFill/>
        </p:spPr>
        <p:txBody>
          <a:bodyPr wrap="square" anchor="t" lIns="0" rIns="0" tIns="0" bIns="0"/>
          <a:lstStyle/>
          <a:p>
            <a:pPr algn="l">
              <a:lnSpc>
                <a:spcPct val="112000"/>
              </a:lnSpc>
              <a:spcBef>
                <a:spcPts val="0"/>
              </a:spcBef>
            </a:pPr>
            <a:r>
              <a:rPr sz="4000" b="1" i="0">
                <a:solidFill>
                  <a:srgbClr val="111111"/>
                </a:solidFill>
                <a:latin typeface="Inter"/>
              </a:rPr>
              <a:t>Design for the need that survived</a:t>
            </a:r>
          </a:p>
        </p:txBody>
      </p:sp>
      <p:sp>
        <p:nvSpPr>
          <p:cNvPr id="5" name="TextBox 4"/>
          <p:cNvSpPr txBox="1"/>
          <p:nvPr/>
        </p:nvSpPr>
        <p:spPr>
          <a:xfrm>
            <a:off x="822960" y="1831441"/>
            <a:ext cx="8647535" cy="1848103"/>
          </a:xfrm>
          <a:prstGeom prst="rect">
            <a:avLst/>
          </a:prstGeom>
          <a:noFill/>
        </p:spPr>
        <p:txBody>
          <a:bodyPr wrap="square" anchor="t" lIns="0" rIns="0" tIns="0" bIns="0"/>
          <a:lstStyle/>
          <a:p>
            <a:pPr algn="l">
              <a:lnSpc>
                <a:spcPct val="112000"/>
              </a:lnSpc>
              <a:spcBef>
                <a:spcPts val="0"/>
              </a:spcBef>
            </a:pPr>
            <a:r>
              <a:rPr sz="2000" b="0" i="0">
                <a:solidFill>
                  <a:srgbClr val="111111"/>
                </a:solidFill>
                <a:latin typeface="Inter"/>
              </a:rPr>
              <a:t>The need: undo. The most-viewed Git question asks how to undo the most recent local commits.</a:t>
            </a:r>
          </a:p>
          <a:p>
            <a:pPr algn="l">
              <a:lnSpc>
                <a:spcPct val="112000"/>
              </a:lnSpc>
              <a:spcBef>
                <a:spcPts val="1000"/>
              </a:spcBef>
            </a:pPr>
            <a:r>
              <a:rPr sz="2000" b="0" i="0">
                <a:solidFill>
                  <a:srgbClr val="111111"/>
                </a:solidFill>
                <a:latin typeface="Inter"/>
              </a:rPr>
              <a:t>Its accepted answer’s fix is </a:t>
            </a:r>
            <a:r>
              <a:rPr sz="2000" b="0" i="0">
                <a:solidFill>
                  <a:srgbClr val="111111"/>
                </a:solidFill>
                <a:latin typeface="Noto Sans Mono"/>
              </a:rPr>
              <a:t>git reset HEAD~</a:t>
            </a:r>
            <a:r>
              <a:rPr sz="2000" b="0" i="0">
                <a:solidFill>
                  <a:srgbClr val="111111"/>
                </a:solidFill>
                <a:latin typeface="Inter"/>
              </a:rPr>
              <a:t>. Its further reading points to </a:t>
            </a:r>
            <a:r>
              <a:rPr sz="2000" b="0" i="0">
                <a:solidFill>
                  <a:srgbClr val="111111"/>
                </a:solidFill>
                <a:latin typeface="Noto Sans Mono"/>
              </a:rPr>
              <a:t>git reflog</a:t>
            </a:r>
            <a:r>
              <a:rPr sz="2000" b="0" i="0">
                <a:solidFill>
                  <a:srgbClr val="111111"/>
                </a:solidFill>
                <a:latin typeface="Inter"/>
              </a:rPr>
              <a:t>: the record Git already keeps of where HEAD has been.</a:t>
            </a:r>
          </a:p>
        </p:txBody>
      </p:sp>
      <p:sp>
        <p:nvSpPr>
          <p:cNvPr id="6" name="Rounded Rectangle 5"/>
          <p:cNvSpPr/>
          <p:nvPr/>
        </p:nvSpPr>
        <p:spPr>
          <a:xfrm>
            <a:off x="822960" y="3908144"/>
            <a:ext cx="3393338" cy="1021405"/>
          </a:xfrm>
          <a:prstGeom prst="roundRect">
            <a:avLst>
              <a:gd name="adj" fmla="val 6000"/>
            </a:avLst>
          </a:prstGeom>
          <a:solidFill>
            <a:srgbClr val="FFFFFF"/>
          </a:solidFill>
          <a:ln w="19050">
            <a:solidFill>
              <a:srgbClr val="D9D9DE"/>
            </a:solidFill>
          </a:ln>
          <a:effectLst/>
        </p:spPr>
        <p:txBody>
          <a:bodyPr rtlCol="0" anchor="ctr"/>
          <a:lstStyle/>
          <a:p/>
        </p:txBody>
      </p:sp>
      <p:sp>
        <p:nvSpPr>
          <p:cNvPr id="7" name="TextBox 6"/>
          <p:cNvSpPr txBox="1"/>
          <p:nvPr/>
        </p:nvSpPr>
        <p:spPr>
          <a:xfrm>
            <a:off x="1005840" y="4045304"/>
            <a:ext cx="3027578" cy="201168"/>
          </a:xfrm>
          <a:prstGeom prst="rect">
            <a:avLst/>
          </a:prstGeom>
          <a:noFill/>
        </p:spPr>
        <p:txBody>
          <a:bodyPr wrap="square" anchor="t" lIns="0" rIns="0" tIns="0" bIns="0"/>
          <a:lstStyle/>
          <a:p>
            <a:pPr algn="l">
              <a:lnSpc>
                <a:spcPct val="110000"/>
              </a:lnSpc>
            </a:pPr>
            <a:r>
              <a:rPr sz="1100" b="1">
                <a:solidFill>
                  <a:srgbClr val="707078"/>
                </a:solidFill>
                <a:latin typeface="Inter"/>
              </a:rPr>
              <a:t>ONE CHANGE TO GIT</a:t>
            </a:r>
          </a:p>
        </p:txBody>
      </p:sp>
      <p:sp>
        <p:nvSpPr>
          <p:cNvPr id="8" name="TextBox 7"/>
          <p:cNvSpPr txBox="1"/>
          <p:nvPr/>
        </p:nvSpPr>
        <p:spPr>
          <a:xfrm>
            <a:off x="1005840" y="4264760"/>
            <a:ext cx="3027578" cy="240954"/>
          </a:xfrm>
          <a:prstGeom prst="rect">
            <a:avLst/>
          </a:prstGeom>
          <a:noFill/>
        </p:spPr>
        <p:txBody>
          <a:bodyPr wrap="square" anchor="t" lIns="0" rIns="0" tIns="0" bIns="0"/>
          <a:lstStyle/>
          <a:p>
            <a:pPr algn="l">
              <a:lnSpc>
                <a:spcPct val="112000"/>
              </a:lnSpc>
              <a:spcBef>
                <a:spcPts val="0"/>
              </a:spcBef>
            </a:pPr>
            <a:r>
              <a:rPr sz="1400" b="0" i="0">
                <a:solidFill>
                  <a:srgbClr val="111111"/>
                </a:solidFill>
                <a:latin typeface="Inter"/>
              </a:rPr>
              <a:t>e.g. what the user sees or types</a:t>
            </a:r>
          </a:p>
        </p:txBody>
      </p:sp>
      <p:sp>
        <p:nvSpPr>
          <p:cNvPr id="9" name="Rounded Rectangle 8"/>
          <p:cNvSpPr/>
          <p:nvPr/>
        </p:nvSpPr>
        <p:spPr>
          <a:xfrm>
            <a:off x="4399178" y="3908144"/>
            <a:ext cx="3393338" cy="1021405"/>
          </a:xfrm>
          <a:prstGeom prst="roundRect">
            <a:avLst>
              <a:gd name="adj" fmla="val 6000"/>
            </a:avLst>
          </a:prstGeom>
          <a:solidFill>
            <a:srgbClr val="FFFFFF"/>
          </a:solidFill>
          <a:ln w="19050">
            <a:solidFill>
              <a:srgbClr val="D9D9DE"/>
            </a:solidFill>
          </a:ln>
          <a:effectLst/>
        </p:spPr>
        <p:txBody>
          <a:bodyPr rtlCol="0" anchor="ctr"/>
          <a:lstStyle/>
          <a:p/>
        </p:txBody>
      </p:sp>
      <p:sp>
        <p:nvSpPr>
          <p:cNvPr id="10" name="TextBox 9"/>
          <p:cNvSpPr txBox="1"/>
          <p:nvPr/>
        </p:nvSpPr>
        <p:spPr>
          <a:xfrm>
            <a:off x="4582058" y="4045304"/>
            <a:ext cx="3027578" cy="201168"/>
          </a:xfrm>
          <a:prstGeom prst="rect">
            <a:avLst/>
          </a:prstGeom>
          <a:noFill/>
        </p:spPr>
        <p:txBody>
          <a:bodyPr wrap="square" anchor="t" lIns="0" rIns="0" tIns="0" bIns="0"/>
          <a:lstStyle/>
          <a:p>
            <a:pPr algn="l">
              <a:lnSpc>
                <a:spcPct val="110000"/>
              </a:lnSpc>
            </a:pPr>
            <a:r>
              <a:rPr sz="1100" b="1">
                <a:solidFill>
                  <a:srgbClr val="707078"/>
                </a:solidFill>
                <a:latin typeface="Inter"/>
              </a:rPr>
              <a:t>THE STUDY THAT WOULD SHOW IT WORKS</a:t>
            </a:r>
          </a:p>
        </p:txBody>
      </p:sp>
      <p:sp>
        <p:nvSpPr>
          <p:cNvPr id="11" name="TextBox 10"/>
          <p:cNvSpPr txBox="1"/>
          <p:nvPr/>
        </p:nvSpPr>
        <p:spPr>
          <a:xfrm>
            <a:off x="4582058" y="4264760"/>
            <a:ext cx="3027578" cy="481909"/>
          </a:xfrm>
          <a:prstGeom prst="rect">
            <a:avLst/>
          </a:prstGeom>
          <a:noFill/>
        </p:spPr>
        <p:txBody>
          <a:bodyPr wrap="square" anchor="t" lIns="0" rIns="0" tIns="0" bIns="0"/>
          <a:lstStyle/>
          <a:p>
            <a:pPr algn="l">
              <a:lnSpc>
                <a:spcPct val="112000"/>
              </a:lnSpc>
              <a:spcBef>
                <a:spcPts val="0"/>
              </a:spcBef>
            </a:pPr>
            <a:r>
              <a:rPr sz="1400" b="0" i="0">
                <a:solidFill>
                  <a:srgbClr val="111111"/>
                </a:solidFill>
                <a:latin typeface="Inter"/>
              </a:rPr>
              <a:t>Does … increase/decrease … for … doing …?</a:t>
            </a:r>
          </a:p>
        </p:txBody>
      </p:sp>
      <p:sp>
        <p:nvSpPr>
          <p:cNvPr id="12" name="Rounded Rectangle 11"/>
          <p:cNvSpPr/>
          <p:nvPr/>
        </p:nvSpPr>
        <p:spPr>
          <a:xfrm>
            <a:off x="7975396" y="3908144"/>
            <a:ext cx="3393338" cy="1021405"/>
          </a:xfrm>
          <a:prstGeom prst="roundRect">
            <a:avLst>
              <a:gd name="adj" fmla="val 6000"/>
            </a:avLst>
          </a:prstGeom>
          <a:solidFill>
            <a:srgbClr val="FFFFFF"/>
          </a:solidFill>
          <a:ln w="19050">
            <a:solidFill>
              <a:srgbClr val="D9D9DE"/>
            </a:solidFill>
          </a:ln>
          <a:effectLst/>
        </p:spPr>
        <p:txBody>
          <a:bodyPr rtlCol="0" anchor="ctr"/>
          <a:lstStyle/>
          <a:p/>
        </p:txBody>
      </p:sp>
      <p:sp>
        <p:nvSpPr>
          <p:cNvPr id="13" name="TextBox 12"/>
          <p:cNvSpPr txBox="1"/>
          <p:nvPr/>
        </p:nvSpPr>
        <p:spPr>
          <a:xfrm>
            <a:off x="8158276" y="4045304"/>
            <a:ext cx="3027578" cy="201168"/>
          </a:xfrm>
          <a:prstGeom prst="rect">
            <a:avLst/>
          </a:prstGeom>
          <a:noFill/>
        </p:spPr>
        <p:txBody>
          <a:bodyPr wrap="square" anchor="t" lIns="0" rIns="0" tIns="0" bIns="0"/>
          <a:lstStyle/>
          <a:p>
            <a:pPr algn="l">
              <a:lnSpc>
                <a:spcPct val="110000"/>
              </a:lnSpc>
            </a:pPr>
            <a:r>
              <a:rPr sz="1100" b="1">
                <a:solidFill>
                  <a:srgbClr val="707078"/>
                </a:solidFill>
                <a:latin typeface="Inter"/>
              </a:rPr>
              <a:t>YOUR DATA</a:t>
            </a:r>
          </a:p>
        </p:txBody>
      </p:sp>
      <p:sp>
        <p:nvSpPr>
          <p:cNvPr id="14" name="TextBox 13"/>
          <p:cNvSpPr txBox="1"/>
          <p:nvPr/>
        </p:nvSpPr>
        <p:spPr>
          <a:xfrm>
            <a:off x="8158276" y="4264760"/>
            <a:ext cx="3027578" cy="481909"/>
          </a:xfrm>
          <a:prstGeom prst="rect">
            <a:avLst/>
          </a:prstGeom>
          <a:noFill/>
        </p:spPr>
        <p:txBody>
          <a:bodyPr wrap="square" anchor="t" lIns="0" rIns="0" tIns="0" bIns="0"/>
          <a:lstStyle/>
          <a:p>
            <a:pPr algn="l">
              <a:lnSpc>
                <a:spcPct val="112000"/>
              </a:lnSpc>
              <a:spcBef>
                <a:spcPts val="0"/>
              </a:spcBef>
            </a:pPr>
            <a:r>
              <a:rPr sz="1400" b="0" i="0">
                <a:solidFill>
                  <a:srgbClr val="111111"/>
                </a:solidFill>
                <a:latin typeface="Inter"/>
              </a:rPr>
              <a:t>Watch people, collect traces, or ask them? Which, exactly?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45775" cy="320040"/>
          </a:xfrm>
          <a:prstGeom prst="rect">
            <a:avLst/>
          </a:prstGeom>
          <a:noFill/>
        </p:spPr>
        <p:txBody>
          <a:bodyPr wrap="square" anchor="t" lIns="0" rIns="0" tIns="0" bIns="0"/>
          <a:lstStyle/>
          <a:p>
            <a:pPr algn="l">
              <a:lnSpc>
                <a:spcPct val="110000"/>
              </a:lnSpc>
            </a:pPr>
            <a:r>
              <a:rPr sz="1600" b="1">
                <a:solidFill>
                  <a:srgbClr val="8B3DFF"/>
                </a:solidFill>
                <a:latin typeface="Inter"/>
              </a:rPr>
              <a:t>5 · DESIGN</a:t>
            </a:r>
          </a:p>
        </p:txBody>
      </p:sp>
      <p:sp>
        <p:nvSpPr>
          <p:cNvPr id="3" name="TextBox 2"/>
          <p:cNvSpPr txBox="1"/>
          <p:nvPr/>
        </p:nvSpPr>
        <p:spPr>
          <a:xfrm>
            <a:off x="822960" y="868680"/>
            <a:ext cx="10545775" cy="688441"/>
          </a:xfrm>
          <a:prstGeom prst="rect">
            <a:avLst/>
          </a:prstGeom>
          <a:noFill/>
        </p:spPr>
        <p:txBody>
          <a:bodyPr wrap="square" anchor="t" lIns="0" rIns="0" tIns="0" bIns="0"/>
          <a:lstStyle/>
          <a:p>
            <a:pPr algn="l">
              <a:lnSpc>
                <a:spcPct val="112000"/>
              </a:lnSpc>
              <a:spcBef>
                <a:spcPts val="0"/>
              </a:spcBef>
            </a:pPr>
            <a:r>
              <a:rPr sz="4000" b="1" i="0">
                <a:solidFill>
                  <a:srgbClr val="111111"/>
                </a:solidFill>
                <a:latin typeface="Inter"/>
              </a:rPr>
              <a:t>Your designs</a:t>
            </a:r>
          </a:p>
        </p:txBody>
      </p:sp>
      <p:sp>
        <p:nvSpPr>
          <p:cNvPr id="4" name="TextBox 3"/>
          <p:cNvSpPr txBox="1"/>
          <p:nvPr/>
        </p:nvSpPr>
        <p:spPr>
          <a:xfrm>
            <a:off x="822960" y="1831441"/>
            <a:ext cx="8647535" cy="757285"/>
          </a:xfrm>
          <a:prstGeom prst="rect">
            <a:avLst/>
          </a:prstGeom>
          <a:noFill/>
        </p:spPr>
        <p:txBody>
          <a:bodyPr wrap="square" anchor="t" lIns="0" rIns="0" tIns="0" bIns="0"/>
          <a:lstStyle/>
          <a:p>
            <a:pPr algn="l">
              <a:lnSpc>
                <a:spcPct val="112000"/>
              </a:lnSpc>
              <a:spcBef>
                <a:spcPts val="0"/>
              </a:spcBef>
            </a:pPr>
            <a:r>
              <a:rPr sz="2200" b="0" i="0">
                <a:solidFill>
                  <a:srgbClr val="707078"/>
                </a:solidFill>
                <a:latin typeface="Inter"/>
              </a:rPr>
              <a:t>Each group reads its change, the study that would show it works, and its data. The app shows all of them.</a:t>
            </a:r>
          </a:p>
        </p:txBody>
      </p:sp>
      <p:sp>
        <p:nvSpPr>
          <p:cNvPr id="5" name="TextBox 4"/>
          <p:cNvSpPr txBox="1"/>
          <p:nvPr/>
        </p:nvSpPr>
        <p:spPr>
          <a:xfrm>
            <a:off x="822960" y="6022158"/>
            <a:ext cx="10545775" cy="378642"/>
          </a:xfrm>
          <a:prstGeom prst="rect">
            <a:avLst/>
          </a:prstGeom>
          <a:noFill/>
        </p:spPr>
        <p:txBody>
          <a:bodyPr wrap="square" anchor="t" lIns="0" rIns="0" tIns="0" bIns="0"/>
          <a:lstStyle/>
          <a:p>
            <a:pPr algn="l">
              <a:lnSpc>
                <a:spcPct val="112000"/>
              </a:lnSpc>
              <a:spcBef>
                <a:spcPts val="0"/>
              </a:spcBef>
            </a:pPr>
            <a:r>
              <a:rPr sz="2200" b="0" i="1">
                <a:solidFill>
                  <a:srgbClr val="707078"/>
                </a:solidFill>
                <a:latin typeface="Inter"/>
              </a:rPr>
              <a:t>Which of these could you test by watching people?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45775" cy="320040"/>
          </a:xfrm>
          <a:prstGeom prst="rect">
            <a:avLst/>
          </a:prstGeom>
          <a:noFill/>
        </p:spPr>
        <p:txBody>
          <a:bodyPr wrap="square" anchor="t" lIns="0" rIns="0" tIns="0" bIns="0"/>
          <a:lstStyle/>
          <a:p>
            <a:pPr algn="l">
              <a:lnSpc>
                <a:spcPct val="110000"/>
              </a:lnSpc>
            </a:pPr>
            <a:r>
              <a:rPr sz="1600" b="1">
                <a:solidFill>
                  <a:srgbClr val="8B3DFF"/>
                </a:solidFill>
                <a:latin typeface="Inter"/>
              </a:rPr>
              <a:t>5 · DESIGN</a:t>
            </a:r>
          </a:p>
        </p:txBody>
      </p:sp>
      <p:sp>
        <p:nvSpPr>
          <p:cNvPr id="3" name="TextBox 2"/>
          <p:cNvSpPr txBox="1"/>
          <p:nvPr/>
        </p:nvSpPr>
        <p:spPr>
          <a:xfrm>
            <a:off x="822960" y="868680"/>
            <a:ext cx="10545775" cy="688441"/>
          </a:xfrm>
          <a:prstGeom prst="rect">
            <a:avLst/>
          </a:prstGeom>
          <a:noFill/>
        </p:spPr>
        <p:txBody>
          <a:bodyPr wrap="square" anchor="t" lIns="0" rIns="0" tIns="0" bIns="0"/>
          <a:lstStyle/>
          <a:p>
            <a:pPr algn="l">
              <a:lnSpc>
                <a:spcPct val="112000"/>
              </a:lnSpc>
              <a:spcBef>
                <a:spcPts val="0"/>
              </a:spcBef>
            </a:pPr>
            <a:r>
              <a:rPr sz="4000" b="1" i="0">
                <a:solidFill>
                  <a:srgbClr val="111111"/>
                </a:solidFill>
                <a:latin typeface="Inter"/>
              </a:rPr>
              <a:t>What Git and Jujutsu did</a:t>
            </a:r>
          </a:p>
        </p:txBody>
      </p:sp>
      <p:sp>
        <p:nvSpPr>
          <p:cNvPr id="4" name="TextBox 3"/>
          <p:cNvSpPr txBox="1"/>
          <p:nvPr/>
        </p:nvSpPr>
        <p:spPr>
          <a:xfrm>
            <a:off x="822960" y="1831441"/>
            <a:ext cx="8647535" cy="2398856"/>
          </a:xfrm>
          <a:prstGeom prst="rect">
            <a:avLst/>
          </a:prstGeom>
          <a:noFill/>
        </p:spPr>
        <p:txBody>
          <a:bodyPr wrap="square" anchor="t" lIns="0" rIns="0" tIns="0" bIns="0"/>
          <a:lstStyle/>
          <a:p>
            <a:pPr algn="l">
              <a:lnSpc>
                <a:spcPct val="112000"/>
              </a:lnSpc>
              <a:spcBef>
                <a:spcPts val="0"/>
              </a:spcBef>
            </a:pPr>
            <a:r>
              <a:rPr sz="2200" b="0" i="0">
                <a:solidFill>
                  <a:srgbClr val="111111"/>
                </a:solidFill>
                <a:latin typeface="Inter"/>
              </a:rPr>
              <a:t>Git 2.23 (2019) split </a:t>
            </a:r>
            <a:r>
              <a:rPr sz="2200" b="0" i="0">
                <a:solidFill>
                  <a:srgbClr val="111111"/>
                </a:solidFill>
                <a:latin typeface="Noto Sans Mono"/>
              </a:rPr>
              <a:t>git checkout</a:t>
            </a:r>
            <a:r>
              <a:rPr sz="2200" b="0" i="0">
                <a:solidFill>
                  <a:srgbClr val="111111"/>
                </a:solidFill>
                <a:latin typeface="Inter"/>
              </a:rPr>
              <a:t> into </a:t>
            </a:r>
            <a:r>
              <a:rPr sz="2200" b="0" i="0">
                <a:solidFill>
                  <a:srgbClr val="111111"/>
                </a:solidFill>
                <a:latin typeface="Noto Sans Mono"/>
              </a:rPr>
              <a:t>git switch</a:t>
            </a:r>
            <a:r>
              <a:rPr sz="2200" b="0" i="0">
                <a:solidFill>
                  <a:srgbClr val="111111"/>
                </a:solidFill>
                <a:latin typeface="Inter"/>
              </a:rPr>
              <a:t> and </a:t>
            </a:r>
            <a:r>
              <a:rPr sz="2200" b="0" i="0">
                <a:solidFill>
                  <a:srgbClr val="111111"/>
                </a:solidFill>
                <a:latin typeface="Noto Sans Mono"/>
              </a:rPr>
              <a:t>git restore</a:t>
            </a:r>
            <a:r>
              <a:rPr sz="2200" b="0" i="0">
                <a:solidFill>
                  <a:srgbClr val="111111"/>
                </a:solidFill>
                <a:latin typeface="Inter"/>
              </a:rPr>
              <a:t>. In 2020 a developer “working with Git for years” asked what </a:t>
            </a:r>
            <a:r>
              <a:rPr sz="2200" b="0" i="0">
                <a:solidFill>
                  <a:srgbClr val="111111"/>
                </a:solidFill>
                <a:latin typeface="Noto Sans Mono"/>
              </a:rPr>
              <a:t>git checkout [file]</a:t>
            </a:r>
            <a:r>
              <a:rPr sz="2200" b="0" i="0">
                <a:solidFill>
                  <a:srgbClr val="111111"/>
                </a:solidFill>
                <a:latin typeface="Inter"/>
              </a:rPr>
              <a:t> does next to </a:t>
            </a:r>
            <a:r>
              <a:rPr sz="2200" b="0" i="0">
                <a:solidFill>
                  <a:srgbClr val="111111"/>
                </a:solidFill>
                <a:latin typeface="Noto Sans Mono"/>
              </a:rPr>
              <a:t>git restore</a:t>
            </a:r>
            <a:r>
              <a:rPr sz="2200" b="0" i="0">
                <a:solidFill>
                  <a:srgbClr val="111111"/>
                </a:solidFill>
                <a:latin typeface="Inter"/>
              </a:rPr>
              <a:t>: the paper’s reference [41].</a:t>
            </a:r>
          </a:p>
          <a:p>
            <a:pPr algn="l">
              <a:lnSpc>
                <a:spcPct val="112000"/>
              </a:lnSpc>
              <a:spcBef>
                <a:spcPts val="1000"/>
              </a:spcBef>
            </a:pPr>
            <a:r>
              <a:rPr sz="2200" b="0" i="0">
                <a:solidFill>
                  <a:srgbClr val="111111"/>
                </a:solidFill>
                <a:latin typeface="Inter"/>
              </a:rPr>
              <a:t>Jujutsu (</a:t>
            </a:r>
            <a:r>
              <a:rPr sz="2200" b="0" i="0">
                <a:solidFill>
                  <a:srgbClr val="111111"/>
                </a:solidFill>
                <a:latin typeface="Noto Sans Mono"/>
              </a:rPr>
              <a:t>jj</a:t>
            </a:r>
            <a:r>
              <a:rPr sz="2200" b="0" i="0">
                <a:solidFill>
                  <a:srgbClr val="111111"/>
                </a:solidFill>
                <a:latin typeface="Inter"/>
              </a:rPr>
              <a:t>) logs every operation, and </a:t>
            </a:r>
            <a:r>
              <a:rPr sz="2200" b="0" i="0">
                <a:solidFill>
                  <a:srgbClr val="111111"/>
                </a:solidFill>
                <a:latin typeface="Noto Sans Mono"/>
              </a:rPr>
              <a:t>jj undo</a:t>
            </a:r>
            <a:r>
              <a:rPr sz="2200" b="0" i="0">
                <a:solidFill>
                  <a:srgbClr val="111111"/>
                </a:solidFill>
                <a:latin typeface="Inter"/>
              </a:rPr>
              <a:t> reverses the last one.</a:t>
            </a:r>
          </a:p>
        </p:txBody>
      </p:sp>
      <p:sp>
        <p:nvSpPr>
          <p:cNvPr id="5" name="TextBox 4"/>
          <p:cNvSpPr txBox="1"/>
          <p:nvPr/>
        </p:nvSpPr>
        <p:spPr>
          <a:xfrm>
            <a:off x="822960" y="6022158"/>
            <a:ext cx="10545775" cy="378642"/>
          </a:xfrm>
          <a:prstGeom prst="rect">
            <a:avLst/>
          </a:prstGeom>
          <a:noFill/>
        </p:spPr>
        <p:txBody>
          <a:bodyPr wrap="square" anchor="t" lIns="0" rIns="0" tIns="0" bIns="0"/>
          <a:lstStyle/>
          <a:p>
            <a:pPr algn="l">
              <a:lnSpc>
                <a:spcPct val="112000"/>
              </a:lnSpc>
              <a:spcBef>
                <a:spcPts val="0"/>
              </a:spcBef>
            </a:pPr>
            <a:r>
              <a:rPr sz="2200" b="0" i="1">
                <a:solidFill>
                  <a:srgbClr val="707078"/>
                </a:solidFill>
                <a:latin typeface="Inter"/>
              </a:rPr>
              <a:t>Which data would convince Git’s maintainers your change works?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ECFB"/>
        </a:solidFill>
        <a:effectLst/>
      </p:bgPr>
    </p:bg>
    <p:spTree>
      <p:nvGrpSpPr>
        <p:cNvPr id="1" name=""/>
        <p:cNvGrpSpPr/>
        <p:nvPr/>
      </p:nvGrpSpPr>
      <p:grpSpPr/>
      <p:sp>
        <p:nvSpPr>
          <p:cNvPr id="2" name="TextBox 1"/>
          <p:cNvSpPr txBox="1"/>
          <p:nvPr/>
        </p:nvSpPr>
        <p:spPr>
          <a:xfrm>
            <a:off x="822960" y="502920"/>
            <a:ext cx="10545775" cy="320040"/>
          </a:xfrm>
          <a:prstGeom prst="rect">
            <a:avLst/>
          </a:prstGeom>
          <a:noFill/>
        </p:spPr>
        <p:txBody>
          <a:bodyPr wrap="square" anchor="t" lIns="0" rIns="0" tIns="0" bIns="0"/>
          <a:lstStyle/>
          <a:p>
            <a:pPr algn="l">
              <a:lnSpc>
                <a:spcPct val="110000"/>
              </a:lnSpc>
            </a:pPr>
            <a:r>
              <a:rPr sz="1600" b="1">
                <a:solidFill>
                  <a:srgbClr val="8B3DFF"/>
                </a:solidFill>
                <a:latin typeface="Inter"/>
              </a:rPr>
              <a:t>EXIT</a:t>
            </a:r>
          </a:p>
        </p:txBody>
      </p:sp>
      <p:sp>
        <p:nvSpPr>
          <p:cNvPr id="3" name="Rounded Rectangle 2"/>
          <p:cNvSpPr/>
          <p:nvPr/>
        </p:nvSpPr>
        <p:spPr>
          <a:xfrm>
            <a:off x="9997135" y="457200"/>
            <a:ext cx="1371600" cy="457200"/>
          </a:xfrm>
          <a:prstGeom prst="roundRect">
            <a:avLst>
              <a:gd name="adj" fmla="val 50000"/>
            </a:avLst>
          </a:prstGeom>
          <a:solidFill>
            <a:srgbClr val="FFFFFF"/>
          </a:solidFill>
          <a:ln>
            <a:noFill/>
          </a:ln>
          <a:effectLst/>
        </p:spPr>
        <p:txBody>
          <a:bodyPr rtlCol="0" anchor="ctr" lIns="0" rIns="0" tIns="0" bIns="0"/>
          <a:lstStyle/>
          <a:p>
            <a:pPr algn="ctr"/>
            <a:r>
              <a:rPr sz="1600" b="1">
                <a:solidFill>
                  <a:srgbClr val="111111"/>
                </a:solidFill>
                <a:latin typeface="Inter"/>
              </a:rPr>
              <a:t>2 min</a:t>
            </a:r>
          </a:p>
        </p:txBody>
      </p:sp>
      <p:sp>
        <p:nvSpPr>
          <p:cNvPr id="4" name="TextBox 3"/>
          <p:cNvSpPr txBox="1"/>
          <p:nvPr/>
        </p:nvSpPr>
        <p:spPr>
          <a:xfrm>
            <a:off x="822960" y="868680"/>
            <a:ext cx="8899855" cy="1376883"/>
          </a:xfrm>
          <a:prstGeom prst="rect">
            <a:avLst/>
          </a:prstGeom>
          <a:noFill/>
        </p:spPr>
        <p:txBody>
          <a:bodyPr wrap="square" anchor="t" lIns="0" rIns="0" tIns="0" bIns="0"/>
          <a:lstStyle/>
          <a:p>
            <a:pPr algn="l">
              <a:lnSpc>
                <a:spcPct val="112000"/>
              </a:lnSpc>
              <a:spcBef>
                <a:spcPts val="0"/>
              </a:spcBef>
            </a:pPr>
            <a:r>
              <a:rPr sz="4000" b="1" i="0">
                <a:solidFill>
                  <a:srgbClr val="111111"/>
                </a:solidFill>
                <a:latin typeface="Inter"/>
              </a:rPr>
              <a:t>One new idea for building tools for people</a:t>
            </a:r>
          </a:p>
        </p:txBody>
      </p:sp>
      <p:sp>
        <p:nvSpPr>
          <p:cNvPr id="5" name="TextBox 4"/>
          <p:cNvSpPr txBox="1"/>
          <p:nvPr/>
        </p:nvSpPr>
        <p:spPr>
          <a:xfrm>
            <a:off x="822960" y="2519883"/>
            <a:ext cx="8647535" cy="378642"/>
          </a:xfrm>
          <a:prstGeom prst="rect">
            <a:avLst/>
          </a:prstGeom>
          <a:noFill/>
        </p:spPr>
        <p:txBody>
          <a:bodyPr wrap="square" anchor="t" lIns="0" rIns="0" tIns="0" bIns="0"/>
          <a:lstStyle/>
          <a:p>
            <a:pPr algn="l">
              <a:lnSpc>
                <a:spcPct val="112000"/>
              </a:lnSpc>
              <a:spcBef>
                <a:spcPts val="0"/>
              </a:spcBef>
            </a:pPr>
            <a:r>
              <a:rPr sz="2200" b="0" i="0">
                <a:solidFill>
                  <a:srgbClr val="111111"/>
                </a:solidFill>
                <a:latin typeface="Inter"/>
              </a:rPr>
              <a:t>One line, on your own.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630"/>
        </a:solidFill>
        <a:effectLst/>
      </p:bgPr>
    </p:bg>
    <p:spTree>
      <p:nvGrpSpPr>
        <p:cNvPr id="1" name=""/>
        <p:cNvGrpSpPr/>
        <p:nvPr/>
      </p:nvGrpSpPr>
      <p:grpSpPr/>
      <p:sp>
        <p:nvSpPr>
          <p:cNvPr id="2" name="TextBox 1"/>
          <p:cNvSpPr txBox="1"/>
          <p:nvPr/>
        </p:nvSpPr>
        <p:spPr>
          <a:xfrm>
            <a:off x="822960" y="502920"/>
            <a:ext cx="10545775" cy="320040"/>
          </a:xfrm>
          <a:prstGeom prst="rect">
            <a:avLst/>
          </a:prstGeom>
          <a:noFill/>
        </p:spPr>
        <p:txBody>
          <a:bodyPr wrap="square" anchor="t" lIns="0" rIns="0" tIns="0" bIns="0"/>
          <a:lstStyle/>
          <a:p>
            <a:pPr algn="l">
              <a:lnSpc>
                <a:spcPct val="110000"/>
              </a:lnSpc>
            </a:pPr>
            <a:r>
              <a:rPr sz="1600" b="1">
                <a:solidFill>
                  <a:srgbClr val="8B3DFF"/>
                </a:solidFill>
                <a:latin typeface="Inter"/>
              </a:rPr>
              <a:t>THURSDAY</a:t>
            </a:r>
          </a:p>
        </p:txBody>
      </p:sp>
      <p:sp>
        <p:nvSpPr>
          <p:cNvPr id="3" name="TextBox 2"/>
          <p:cNvSpPr txBox="1"/>
          <p:nvPr/>
        </p:nvSpPr>
        <p:spPr>
          <a:xfrm>
            <a:off x="822960" y="2103120"/>
            <a:ext cx="10545775" cy="1135928"/>
          </a:xfrm>
          <a:prstGeom prst="rect">
            <a:avLst/>
          </a:prstGeom>
          <a:noFill/>
        </p:spPr>
        <p:txBody>
          <a:bodyPr wrap="square" anchor="t" lIns="0" rIns="0" tIns="0" bIns="0"/>
          <a:lstStyle/>
          <a:p>
            <a:pPr algn="l">
              <a:lnSpc>
                <a:spcPct val="112000"/>
              </a:lnSpc>
              <a:spcBef>
                <a:spcPts val="0"/>
              </a:spcBef>
            </a:pPr>
            <a:r>
              <a:rPr sz="6600" b="1" i="0">
                <a:solidFill>
                  <a:srgbClr val="FFFFFF"/>
                </a:solidFill>
                <a:latin typeface="Inter"/>
              </a:rPr>
              <a:t>Asking is not using.</a:t>
            </a:r>
          </a:p>
        </p:txBody>
      </p:sp>
      <p:sp>
        <p:nvSpPr>
          <p:cNvPr id="4" name="TextBox 3"/>
          <p:cNvSpPr txBox="1"/>
          <p:nvPr/>
        </p:nvSpPr>
        <p:spPr>
          <a:xfrm>
            <a:off x="822960" y="3559088"/>
            <a:ext cx="8647535" cy="1916948"/>
          </a:xfrm>
          <a:prstGeom prst="rect">
            <a:avLst/>
          </a:prstGeom>
          <a:noFill/>
        </p:spPr>
        <p:txBody>
          <a:bodyPr wrap="square" anchor="t" lIns="0" rIns="0" tIns="0" bIns="0"/>
          <a:lstStyle/>
          <a:p>
            <a:pPr algn="l">
              <a:lnSpc>
                <a:spcPct val="112000"/>
              </a:lnSpc>
              <a:spcBef>
                <a:spcPts val="0"/>
              </a:spcBef>
            </a:pPr>
            <a:r>
              <a:rPr sz="2600" b="0" i="0">
                <a:solidFill>
                  <a:srgbClr val="FFFFFF"/>
                </a:solidFill>
                <a:latin typeface="Inter"/>
              </a:rPr>
              <a:t>Tuesday: flat history is data loss. Thursday: asking is not using.</a:t>
            </a:r>
          </a:p>
          <a:p>
            <a:pPr algn="l">
              <a:lnSpc>
                <a:spcPct val="112000"/>
              </a:lnSpc>
              <a:spcBef>
                <a:spcPts val="1000"/>
              </a:spcBef>
            </a:pPr>
            <a:r>
              <a:rPr sz="2600" b="0" i="0">
                <a:solidFill>
                  <a:srgbClr val="FFFFFF"/>
                </a:solidFill>
                <a:latin typeface="Inter"/>
              </a:rPr>
              <a:t>Both: check what your data actually records before you believe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