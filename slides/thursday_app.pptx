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Yang, Zhang, Pan, Xu, Zhou, Huang. ACM TOSEM 2022. Data: github.com/gitcommandstudy/gitcommands.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Tuesday we ran real Git. Today we judge a study of people asking about Git, then design with what survives. You leave with one new idea about tools for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Answer for yourself. The projector shows totals only. We will compare you with the paper’s 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Sarah’s first rule: identify the research question first. Five RQs. Four come from Stack Overflow posts, one from a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Vote on your laptop. Sarah’s three kinds of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Need-finding, which Sarah also calls reconnaissance. Ask whether the question is interesting before judging the method.</a:t>
            </a:r>
          </a:p>
          <a:p/>
          <a:p>
            <a:r>
              <a:t>Ask: Is the question interesting?</a:t>
            </a:r>
          </a:p>
          <a:p/>
          <a:p>
            <a:r>
              <a:t>Hope to hear: Yes, if it tells tool designers which needs to design for. A ranking of command names alone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Vote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Accept “self-report” as a good argument: say why it is still a trace. Recruiting note (footnote 7): the authors found emails through GitHub accounts, say they were unaware that GitHub’s policy discourages emailing users this way, and recommend others not follow the practice.</a:t>
            </a:r>
          </a:p>
          <a:p/>
          <a:p>
            <a:r>
              <a:t>Ask: Can this data answer “do developers know how to use Git commands?”</a:t>
            </a:r>
          </a:p>
          <a:p/>
          <a:p>
            <a:r>
              <a:t>Hope to hear: No. It shows what people asked about, not what they can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Sarah: we could learn false things. Questions shape responses, and people have no durable, reliable memory of facts. Be nervous about Likert-style self-ratings.</a:t>
            </a:r>
          </a:p>
          <a:p/>
          <a:p>
            <a:r>
              <a:t>Ask: Your level, and how you learned: which would you trust?</a:t>
            </a:r>
          </a:p>
          <a:p/>
          <a:p>
            <a:r>
              <a:t>Hope to hear: Neither fully. A level is a self-rated judgment on a scale; “how I learned” is a memory shaped by the options. And most of the 92 were found through Stack Overflow, which favours internet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Eight posts, drawn at random from short, answered posts that the paper credits to its top-5 commands. Read the question first, then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9.1M-view question is “How do I undo the most recent local commits in Git?”. Dropping each command’s top two posts, revert, stash, clean and reset stay in the top 5 and reflog falls to #7 (our re-run): undo questions really are heavily viewed; reflog’s place rests on one post. Sarah: have they operationalized their measure well?</a:t>
            </a:r>
          </a:p>
          <a:p/>
          <a:p>
            <a:r>
              <a:t>Ask: Did they measure “developers find this command hard”?</a:t>
            </a:r>
          </a:p>
          <a:p/>
          <a:p>
            <a:r>
              <a:t>Hope to hear: They measured “this command appears near a question”. That mixes three things your labels separate.</a:t>
            </a:r>
          </a:p>
          <a:p/>
          <a:p>
            <a:r>
              <a:t>On screen in the app, not on this slide: Our re-run: one question with 9.1 million views names no command and counts for five. Without it, git reflog falls from #2 to #8.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qualitative coding: the step the paper does not describe. Work alone,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Sarah: vibes are not an answer. Did they say what approach they used? Read out the comment you disagreed on most.</a:t>
            </a:r>
          </a:p>
          <a:p/>
          <a:p>
            <a:r>
              <a:t>Ask: What would make Table 8 trustworthy?</a:t>
            </a:r>
          </a:p>
          <a:p/>
          <a:p>
            <a:r>
              <a:t>Hope to hear: A named method (for example thematic analysis), a codebook, two independent coders and their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you press Next: everyone opens the /thu tab again, and “here” on your console matches the room. Groups form when you press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One claim per group. The paper is open on your laptops; the hint points to the section.</a:t>
            </a:r>
          </a:p>
          <a:p/>
          <a:p>
            <a:r>
              <a:t>The hint each group sees:</a:t>
            </a:r>
          </a:p>
          <a:p>
            <a:r>
              <a:t>- "This suggests that even developers with years of development experience can have trouble using Git commands." Look at: How did they measure experience? (§2.1 Step 4; §5)</a:t>
            </a:r>
          </a:p>
          <a:p>
            <a:r>
              <a:t>- "…for the more frequently-used commands, git credential and git submodule are among the most difficult ones." Look at: How does a post get counted for a command? Our re-run: 36.5% of all 80,370 Git questions have no accepted answer.</a:t>
            </a:r>
          </a:p>
          <a:p>
            <a:r>
              <a:t>- "Self-learning is the primary learning approach." Look at: Who was invited, and how? (§2.2, Table 7)</a:t>
            </a:r>
          </a:p>
          <a:p>
            <a:r>
              <a:t>- "This result, although surprising, is consistent with the conclusion we obtained in RQ2, indicating that even experienced developers still have doubts about Git usage." Look at: What is the evidence for “doubts”? (§3.5, Fig. 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Read each group’s sentence, then the model answer under it. Students see the reasons on their laptops.</a:t>
            </a:r>
          </a:p>
          <a:p/>
          <a:p>
            <a:r>
              <a:t>Ask: Which claim survives best, and why?</a:t>
            </a:r>
          </a:p>
          <a:p/>
          <a:p>
            <a:r>
              <a:t>Hope to hear: The experience claim survives as written, because it is weak. The other three shrink to what was measured.</a:t>
            </a:r>
          </a:p>
          <a:p/>
          <a:p>
            <a:r>
              <a:t>Each claim: what they measured, and why it shrinks.</a:t>
            </a:r>
          </a:p>
          <a:p>
            <a:r>
              <a:t>- "This suggests that even developers with years of development experience can have trouble using Git commands." Measured: Years since the asker registered on Stack Overflow (§5 calls it a proxy), and two quoted askers ([37], [41]). It survives because “can have trouble” is a weak claim. It cannot say how common trouble is, or separate Git experience from programming experience: experienced programmers can be new to Git, as in Paper 1’s Microsoft teams switching from Source Depot and Team Foundation Server.</a:t>
            </a:r>
          </a:p>
          <a:p>
            <a:r>
              <a:t>- "…for the more frequently-used commands, git credential and git submodule are among the most difficult ones." Measured: The share of a command’s questions where the asker never marked an answer as accepted. An accepted answer is one click by the asker, and §5 notes askers may forget it. A post counted through its accepted answer has one by construction, so commands that appear in fixes look easy: git reflog lacks one in 20.7% of its posts, but in 46.3% of the posts whose asker names it (our re-run).</a:t>
            </a:r>
          </a:p>
          <a:p>
            <a:r>
              <a:t>- "Self-learning is the primary learning approach." Measured: What 92 of 508 invited people ticked. The practitioners invited had recently asked a Git question on Stack Overflow. Most respondents were found through Stack Overflow, which favours internet learners, although all 18 academics ticked the internet too. And “how I learned” is a memory, shaped by the options offered.</a:t>
            </a:r>
          </a:p>
          <a:p>
            <a:r>
              <a:t>- "This result, although surprising, is consistent with the conclusion we obtained in RQ2, indicating that even experienced developers still have doubts about Git usage." Measured: A self-rated level on a five-step scale, novice to expert, from 92 respondents. A self-rating is a judgment: modesty, the labels offered and what “expert” means all move it. It measures neither doubts nor skill. Sarah: be nervous about Likert scales and introspection.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Read each group’s sentence, then the model answer under it. Students see the reasons on their laptops.</a:t>
            </a:r>
          </a:p>
          <a:p/>
          <a:p>
            <a:r>
              <a:t>Ask: Which claim survives best, and why?</a:t>
            </a:r>
          </a:p>
          <a:p/>
          <a:p>
            <a:r>
              <a:t>Hope to hear: The experience claim survives as written, because it is weak. The other three shrink to what was measured.</a:t>
            </a:r>
          </a:p>
          <a:p/>
          <a:p>
            <a:r>
              <a:t>Each claim: what they measured, and why it shrinks.</a:t>
            </a:r>
          </a:p>
          <a:p>
            <a:r>
              <a:t>- "This suggests that even developers with years of development experience can have trouble using Git commands." Measured: Years since the asker registered on Stack Overflow (§5 calls it a proxy), and two quoted askers ([37], [41]). It survives because “can have trouble” is a weak claim. It cannot say how common trouble is, or separate Git experience from programming experience: experienced programmers can be new to Git, as in Paper 1’s Microsoft teams switching from Source Depot and Team Foundation Server.</a:t>
            </a:r>
          </a:p>
          <a:p>
            <a:r>
              <a:t>- "…for the more frequently-used commands, git credential and git submodule are among the most difficult ones." Measured: The share of a command’s questions where the asker never marked an answer as accepted. An accepted answer is one click by the asker, and §5 notes askers may forget it. A post counted through its accepted answer has one by construction, so commands that appear in fixes look easy: git reflog lacks one in 20.7% of its posts, but in 46.3% of the posts whose asker names it (our re-run).</a:t>
            </a:r>
          </a:p>
          <a:p>
            <a:r>
              <a:t>- "Self-learning is the primary learning approach." Measured: What 92 of 508 invited people ticked. The practitioners invited had recently asked a Git question on Stack Overflow. Most respondents were found through Stack Overflow, which favours internet learners, although all 18 academics ticked the internet too. And “how I learned” is a memory, shaped by the options offered.</a:t>
            </a:r>
          </a:p>
          <a:p>
            <a:r>
              <a:t>- "This result, although surprising, is consistent with the conclusion we obtained in RQ2, indicating that even experienced developers still have doubts about Git usage." Measured: A self-rated level on a five-step scale, novice to expert, from 92 respondents. A self-rating is a judgment: modesty, the labels offered and what “expert” means all move it. It measures neither doubts nor skill. Sarah: be nervous about Likert scales and introspection.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Asking data is fine for finding a need; whether a fix works needs an evaluative study. Sarah’s shape: does ⟨tool⟩ increase or decrease ⟨measure⟩ for ⟨audience⟩ doing ⟨task⟩? Tuesday’s Safety diary was the reflog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One group at a time: the change, the study, the measure, the data.</a:t>
            </a:r>
          </a:p>
          <a:p/>
          <a:p>
            <a:r>
              <a:t>Ask: Which of these could you test by watching people? Which threat is hardest?</a:t>
            </a:r>
          </a:p>
          <a:p/>
          <a:p>
            <a:r>
              <a:t>Hope to hear: The ones with a measure you can see: time to recover, recoveries that succeed. A learning effect, if the same people try both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 new command makes new questions. Whether it helped is an evaluative question, and nobody answers it by counting posts.</a:t>
            </a:r>
          </a:p>
          <a:p/>
          <a:p>
            <a:r>
              <a:t>Ask: Which data would convince Git’s maintainers your change works?</a:t>
            </a:r>
          </a:p>
          <a:p/>
          <a:p>
            <a:r>
              <a:t>Hope to hear: Observation or traces of real use: time to recover, recoveries that succeed. Not a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Fair to the authors: need-finding from public data is useful, and they published it. What breaks is turning counts of asking into claims about difficulty and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Sarah’s bar: nobody leaves without a new insight about designing tools for humans.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Thank you. Export the answers from Details, then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111111"/>
                </a:solidFill>
                <a:latin typeface="Inter"/>
              </a:rPr>
              <a:t>Git, Part 2: The Humans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2044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707078"/>
                </a:solidFill>
                <a:latin typeface="Inter"/>
              </a:rPr>
              <a:t>User Study Day · Do Developers Really Know How to Use Git Commands? A Large-Scale Study Using Stack Overflow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8B3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CS294 Modern Programming Tools · Thursday · 80 minutes (76 + 4 of buffer)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THURSDAY · GIT,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8000" b="1">
                <a:solidFill>
                  <a:srgbClr val="111111"/>
                </a:solidFill>
                <a:latin typeface="Inter"/>
              </a:rPr>
              <a:t>The Humans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8647535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3000" b="0" i="0">
                <a:solidFill>
                  <a:srgbClr val="111111"/>
                </a:solidFill>
                <a:latin typeface="Inter"/>
              </a:rPr>
              <a:t>Open the class link (it ends in /thu) and type your first name.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24502"/>
            <a:ext cx="8647535" cy="98019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707078"/>
                </a:solidFill>
                <a:latin typeface="Inter"/>
              </a:rPr>
              <a:t>Do Developers Really Know How to Use Git Commands? A Large-Scale Study Using Stack Overflow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800" b="0" i="0">
                <a:solidFill>
                  <a:srgbClr val="707078"/>
                </a:solidFill>
                <a:latin typeface="Inter"/>
              </a:rPr>
              <a:t>Yang, Zhang, Pan, Xu, Zhou, Huang · ACM TOSEM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BE THE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Take the paper’s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8842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real questions, from the authors’ published form.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92 developers answered them. You are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25"/>
            <a:ext cx="8647535" cy="19697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2. What is your professional area?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3. What is your highest degree?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4. How many years have you been using Git?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5. Which of the following levels do you consider your ability to use Git to be?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6. What are the main approaches you used to learn Git commands?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7. Do you have any suggestions for potential new developers on learning Git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51241"/>
            <a:ext cx="8647535" cy="2237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300" b="0" i="0">
                <a:solidFill>
                  <a:srgbClr val="707078"/>
                </a:solidFill>
                <a:latin typeface="Inter"/>
              </a:rPr>
              <a:t>Q1 of the form, the donation choice, is left 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paper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3144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2881"/>
            <a:ext cx="3108960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RQ1 · How many Git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92288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80,370 questions, 2008–2020. Since 2010, about 0.4% of all Stack Overflow questions each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99496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0936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RQ2 · Who asks?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690936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In 2020, 40.0% of Git askers had registered more than 5 years earlier (21.2% of all askers).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6755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58991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RQ3 · Which commands?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45899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Most viewed on average, among commands in 200+ questions: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revert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reflog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stash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clean</a:t>
            </a:r>
            <a:r>
              <a:rPr sz="1700" b="0" i="0">
                <a:solidFill>
                  <a:srgbClr val="111111"/>
                </a:solidFill>
                <a:latin typeface="Inter"/>
              </a:rPr>
              <a:t>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reset</a:t>
            </a:r>
            <a:r>
              <a:rPr sz="1700" b="0" i="0">
                <a:solidFill>
                  <a:srgbClr val="111111"/>
                </a:solidFill>
                <a:latin typeface="Inter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35606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27046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RQ4 · Which are hardest?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227046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Most often without an accepted answer: rare commands; among frequent ones,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credential</a:t>
            </a:r>
            <a:r>
              <a:rPr sz="1700" b="0" i="0">
                <a:solidFill>
                  <a:srgbClr val="111111"/>
                </a:solidFill>
                <a:latin typeface="Inter"/>
              </a:rPr>
              <a:t> and </a:t>
            </a:r>
            <a:r>
              <a:rPr sz="1700" b="0" i="0">
                <a:solidFill>
                  <a:srgbClr val="111111"/>
                </a:solidFill>
                <a:latin typeface="Noto Sans Mono"/>
              </a:rPr>
              <a:t>git submodule</a:t>
            </a:r>
            <a:r>
              <a:rPr sz="1700" b="0" i="0">
                <a:solidFill>
                  <a:srgbClr val="111111"/>
                </a:solidFill>
                <a:latin typeface="Inter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0366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95101"/>
            <a:ext cx="3108960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11111"/>
                </a:solidFill>
                <a:latin typeface="Inter"/>
              </a:rPr>
              <a:t>RQ5 · How do people learn?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995101"/>
            <a:ext cx="7071055" cy="58517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Survey, 92 of 508 invited: 81.7% of ticked approaches are self-learning.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What kind of study is this?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2881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041753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Need-finding: what problems do people have?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1249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700121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Formative: which solution looks promising?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39617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3358489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Evaluative: did our tool work?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1 ·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Need-finding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7161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1959457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6A34A"/>
                </a:solidFill>
                <a:latin typeface="Inter"/>
              </a:rPr>
              <a:t>Need-finding: what problems do people have? 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89225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471521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Formative: which solution looks promising?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1289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983585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Evaluative: did our tool work?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04793"/>
            <a:ext cx="8647535" cy="14350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Its shape: what problems do developers face when using Git commands?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A need-finding study must see what goes badly </a:t>
            </a:r>
            <a:r>
              <a:rPr sz="1900" b="1" i="0">
                <a:solidFill>
                  <a:srgbClr val="111111"/>
                </a:solidFill>
                <a:latin typeface="Inter"/>
              </a:rPr>
              <a:t>and</a:t>
            </a:r>
            <a:r>
              <a:rPr sz="1900" b="0" i="0">
                <a:solidFill>
                  <a:srgbClr val="111111"/>
                </a:solidFill>
                <a:latin typeface="Inter"/>
              </a:rPr>
              <a:t> what goes well. Stack Overflow questions record what people got stuck on; when Git just worked, nobody asked.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Is the question interesting?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Stack Overflow posts are…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2881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041753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Observation: someone watched people use 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1249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700121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Traces: records people left while working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39617"/>
            <a:ext cx="1054577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3358489"/>
            <a:ext cx="10088575" cy="3442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Self-report: people describing their own experience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Traces. Of asking.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7161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1959457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Observation: someone watched people use 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89225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471521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1" i="0">
                <a:solidFill>
                  <a:srgbClr val="16A34A"/>
                </a:solidFill>
                <a:latin typeface="Inter"/>
              </a:rPr>
              <a:t>Traces: records people left while working  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01289"/>
            <a:ext cx="10545775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983585"/>
            <a:ext cx="10088575" cy="2925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Self-report: people describing their own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04793"/>
            <a:ext cx="8647535" cy="18890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Sarah’s ladder: watching beats traces, traces beat asking. Stack Overflow questions are on her list of traces.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Traces of asking, not of using. A question body is also partly self-report: the asker describes the problem.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Inter"/>
              </a:rPr>
              <a:t>RQ5 is a survey. Nobody in this paper was watched using Git.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Can this data answer “do developers know how to use Git commands?”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2 ·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You and the paper’s 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105639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81.7% is 161 of 197 ticked boxes. By people: 85 of 92 ticked the internet.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Invited: developers who had recently asked a Git question on Stack Overflow, plus some researchers. 92 of 508 answered.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164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07078"/>
                </a:solidFill>
                <a:latin typeface="Inter"/>
              </a:rPr>
              <a:t>THE PAPER’S 92: HOW THEY LEARNED (SHARE OF PEOPLE)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6390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In class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53706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743200" y="3537060"/>
            <a:ext cx="196118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90007" y="346390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3092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Online courses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3866244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743200" y="3866244"/>
            <a:ext cx="245148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90007" y="3793092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22276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Peers or seniors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195428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2743200" y="4195428"/>
            <a:ext cx="36772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90007" y="4122276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51460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Documentation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4524612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2743200" y="4524612"/>
            <a:ext cx="1863129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90007" y="4451460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80644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Internet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853796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743200" y="4853796"/>
            <a:ext cx="208376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90007" y="4780644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0982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Other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518298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2743200" y="51829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90007" y="510982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31164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707078"/>
                </a:solidFill>
                <a:latin typeface="Inter"/>
              </a:rPr>
              <a:t>THE PAPER’S 92: GIT LEVEL, SELF-RATED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3463908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Novice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0407" y="3537060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290407" y="35370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637214" y="3463908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0167" y="3793092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Advanced beginner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90407" y="3866244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290407" y="3866244"/>
            <a:ext cx="637386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637214" y="3793092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28%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0167" y="4122276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Competent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90407" y="4195428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290407" y="4195428"/>
            <a:ext cx="1274772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637214" y="4122276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57%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167" y="4451460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Proficient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90407" y="4524612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290407" y="4524612"/>
            <a:ext cx="269663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637214" y="4451460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12%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167" y="4780644"/>
            <a:ext cx="192024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Expert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90407" y="4853796"/>
            <a:ext cx="2255367" cy="182880"/>
          </a:xfrm>
          <a:prstGeom prst="roundRect">
            <a:avLst>
              <a:gd name="adj" fmla="val 50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290407" y="485379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9B9C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637214" y="4780644"/>
            <a:ext cx="640080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503020"/>
            <a:ext cx="10545775" cy="2237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300" b="0" i="0">
                <a:solidFill>
                  <a:srgbClr val="707078"/>
                </a:solidFill>
                <a:latin typeface="Inter"/>
              </a:rPr>
              <a:t>Median years using Git: 8. In class, the app shows your answers next to these.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Your level, and how you learned: which would you trust?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Check the rule on 8 real posts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415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paper’s rule: a post counts for every Git command in its question </a:t>
            </a:r>
            <a:r>
              <a:rPr sz="2200" b="1" i="0">
                <a:solidFill>
                  <a:srgbClr val="111111"/>
                </a:solidFill>
                <a:latin typeface="Inter"/>
              </a:rPr>
              <a:t>or its accepted answer</a:t>
            </a:r>
            <a:r>
              <a:rPr sz="2200" b="0" i="0">
                <a:solidFill>
                  <a:srgbClr val="111111"/>
                </a:solidFill>
                <a:latin typeface="Inter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For each post: is the asker stuck on that command, do they need it without knowing its name, or is it not about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STUCK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58227"/>
            <a:ext cx="3027578" cy="24095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They ask about this 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82058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NEEDS IT, CAN’T NAME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4058227"/>
            <a:ext cx="3027578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It would solve their problem; they don’t know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5396" y="3701611"/>
            <a:ext cx="3393338" cy="10214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58276" y="3838771"/>
            <a:ext cx="3027578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NOT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058227"/>
            <a:ext cx="3027578" cy="24095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It is only mentioned.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51616"/>
            <a:ext cx="8647535" cy="115230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On your laptop: 8 posts, each with the question, the accepted answer, and the command the paper counted it for.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Drawn at random from short, answered posts credited to the top-5 commands (analysis/thursday_numbers.py, seed 294).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rule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901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The rule counts all 8 posts the same. In 5, only the accepted answer names the command.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500" b="0" i="0">
                <a:solidFill>
                  <a:srgbClr val="111111"/>
                </a:solidFill>
                <a:latin typeface="Inter"/>
              </a:rPr>
              <a:t>“Stuck on it” is evidence a command is confusing. “Needs it, can’t name it” supports the paper’s own idea of recommending commands (§4.1).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97529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73975" y="2897529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COUNTED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2897529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ASKER NAMES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4978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95501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how to move back commit (6,163 views)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975" y="3195501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reflog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5655" y="3195501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4775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93473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How do I remove a single file from the staging area (undo git add)? (656,913 views)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975" y="3493473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5655" y="3493473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4572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1445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Undo a Git merge that hasn't been pushed yet (2,371,183 views)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3975" y="3791445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reflog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5655" y="3791445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43697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89417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How can i undo changes between two commits? (24 views)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3975" y="4089417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revert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4089417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341669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387389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'merge' only existing files (1,378 views)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975" y="4387389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clean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4387389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63964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85361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Git branch not working the way I expected it to (2,989 views)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3975" y="4685361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5655" y="4685361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93761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983333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revert a commit after push, checkout a commit behind and modification of files (46 views)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3975" y="4983333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revert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5655" y="4983333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23558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281305"/>
            <a:ext cx="661385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Revert erroneous git checkout (45 views)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73975" y="5281305"/>
            <a:ext cx="192024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Noto Sans Mono"/>
              </a:rPr>
              <a:t>git stash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5655" y="5281305"/>
            <a:ext cx="173736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Answer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Did they measure “developers find this command hard”?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Code the comments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415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The paper’s Table 8: seven survey comments, each placed in one of six categories.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Put each comment where you would. Then we compare with the paper, and with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1611"/>
            <a:ext cx="8647535" cy="27537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707078"/>
                </a:solidFill>
                <a:latin typeface="Inter"/>
              </a:rPr>
              <a:t>The paper’s six categories: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50139"/>
            <a:ext cx="8647535" cy="18427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Learning and improving from practice (18)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Making the best use of the internet (17)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Understanding basic concepts and principles first (14)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Emphasizing the importance of Git (9)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Mastering only the basic commands (5)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Having the basic needs satisfied by Git GUI tools (2)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3 · THE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Coding without a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12973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The paper sorted 65 comments into 6 categories “for better delivery purposes”. It names no method and reports no second coder or agreement.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700" b="0" i="0">
                <a:solidFill>
                  <a:srgbClr val="111111"/>
                </a:solidFill>
                <a:latin typeface="Inter"/>
              </a:rPr>
              <a:t>It did measure agreement elsewhere: Cohen’s kappa 0.844 for which posts are about Git commands (§2.1).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29959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8215" y="3329959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1" i="0">
                <a:solidFill>
                  <a:srgbClr val="707078"/>
                </a:solidFill>
                <a:latin typeface="Inter"/>
              </a:rPr>
              <a:t>THE PAPER’S 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8221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627931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#56 “Git is an extremely important tool to our routine as software …”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8215" y="3627931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Emphasizing the importance of Git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8018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25903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#32 “There are so many commands, I think it is better to learn them in 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8215" y="3925903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Learning and improving from practice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78155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23875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#89 “Git is not a tool you have to go pretty deep to learn. Since it is a …”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8215" y="4223875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Mastering only the basic commands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76127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21847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#26 “The difficulty with git is that when problems arise, you have to dive …”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8215" y="4521847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Understanding basic concepts and principles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74099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19819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#21 “All I want is to concentrate on my development, and dump the code …”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8215" y="4819819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Having the basic needs satisfied by Git GUI tools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72071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17791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#77 “Git is my VCS of choice, as I’ve learned how it works and have use 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8215" y="5117791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Learning and improving from practice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370043"/>
            <a:ext cx="10545775" cy="9525"/>
          </a:xfrm>
          <a:prstGeom prst="rect">
            <a:avLst/>
          </a:prstGeom>
          <a:solidFill>
            <a:srgbClr val="D9D9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15763"/>
            <a:ext cx="6248095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#42 “Years on, I still constantly have to search the internet for help …”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8215" y="5415763"/>
            <a:ext cx="4114800" cy="206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200" b="0" i="0">
                <a:solidFill>
                  <a:srgbClr val="111111"/>
                </a:solidFill>
                <a:latin typeface="Inter"/>
              </a:rPr>
              <a:t>Making the best use of the internet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What would make Table 8 trustworthy?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1135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6600" b="1" i="0">
                <a:solidFill>
                  <a:srgbClr val="111111"/>
                </a:solidFill>
                <a:latin typeface="Inter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59088"/>
            <a:ext cx="8647535" cy="44748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600" b="0" i="0">
                <a:solidFill>
                  <a:srgbClr val="707078"/>
                </a:solidFill>
                <a:latin typeface="Inter"/>
              </a:rPr>
              <a:t>5 minutes. Then groups.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Put one claim on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15966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Your group gets one of the paper’s claims. One person types.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000" b="0" i="0">
                <a:solidFill>
                  <a:srgbClr val="111111"/>
                </a:solidFill>
                <a:latin typeface="Inter"/>
              </a:rPr>
              <a:t>Write what they measured, then the strongest sentence the data supports.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19702"/>
            <a:ext cx="5181447" cy="1313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356862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RQ2 ANSWER, §3.2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7631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suggests that even developers with years of development experience can have trouble using Git commands.”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3219702"/>
            <a:ext cx="5181447" cy="1313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0167" y="3356862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§1, FINDING (4); RQ4, §3.4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357631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“…for the more frequently-used commands, git credential and git submodule are among the most difficult ones.”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16574"/>
            <a:ext cx="5181447" cy="1572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4853734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ABSTRACT; RQ5, §3.5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3190"/>
            <a:ext cx="4815687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“Self-learning is the primary learning approach.”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16574"/>
            <a:ext cx="5181447" cy="1572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0167" y="4853734"/>
            <a:ext cx="4815687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073190"/>
            <a:ext cx="4815687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result, although surprising, is consistent with the conclusion we obtained in RQ2, indicating that even experienced developers still have doubts about Git usage.”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verdicts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61959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title asks whether developers know how to use Git commands. Nothing in the paper watches anyone use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79638"/>
            <a:ext cx="5181447" cy="253384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79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suggests that even developers with years of development experience can have trouble using Git commands.”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682734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737598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57054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As written, it holds: some long-registered askers, including the two quoted, had trouble.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679638"/>
            <a:ext cx="5181447" cy="253384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0167" y="2816798"/>
            <a:ext cx="4815687" cy="7744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“…for the more frequently-used commands, git credential and git submodule are among the most difficult ones.”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682734"/>
            <a:ext cx="4815687" cy="1347866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1607" y="3737598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957054"/>
            <a:ext cx="4632807" cy="96381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git credential’s questions lack an accepted answer more often than Git questions overall (paper: 43.0%; our re-run: 39.3% vs 36.5%). git submodule’s barely differ (37.5%).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claim survives best, and why?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4 · DO YOU BELIEVE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verdicts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10545775" cy="61959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title asks whether developers know how to use Git commands. Nothing in the paper watches anyone use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79638"/>
            <a:ext cx="5181447" cy="2310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798"/>
            <a:ext cx="4815687" cy="258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“Self-learning is the primary learning approach.”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166403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221267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40723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Most of these 92 say they learned from the internet (85) and the documentation (76).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679638"/>
            <a:ext cx="5181447" cy="2310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0167" y="2816798"/>
            <a:ext cx="4815687" cy="103266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0" i="1">
                <a:solidFill>
                  <a:srgbClr val="111111"/>
                </a:solidFill>
                <a:latin typeface="Inter"/>
              </a:rPr>
              <a:t>“This result, although surprising, is consistent with the conclusion we obtained in RQ2, indicating that even experienced developers still have doubts about Git usage.”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940900"/>
            <a:ext cx="4815687" cy="865957"/>
          </a:xfrm>
          <a:prstGeom prst="roundRect">
            <a:avLst>
              <a:gd name="adj" fmla="val 1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1607" y="3995764"/>
            <a:ext cx="4815687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8B3DFF"/>
                </a:solidFill>
                <a:latin typeface="Inter"/>
              </a:rPr>
              <a:t>THE DATA SUPPORTS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4215220"/>
            <a:ext cx="4632807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Most of these 92, many with more than five years of Git, rate themselves competent or below (79 of 92).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claim survives best, and why?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Design for the need that survived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31441"/>
            <a:ext cx="8647535" cy="167599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The need: undo. The most-viewed Git question asks how to undo the most recent local commits. Its accepted answer’s fix is </a:t>
            </a:r>
            <a:r>
              <a:rPr sz="1800" b="0" i="0">
                <a:solidFill>
                  <a:srgbClr val="111111"/>
                </a:solidFill>
                <a:latin typeface="Noto Sans Mono"/>
              </a:rPr>
              <a:t>git reset HEAD~</a:t>
            </a:r>
            <a:r>
              <a:rPr sz="1800" b="0" i="0">
                <a:solidFill>
                  <a:srgbClr val="111111"/>
                </a:solidFill>
                <a:latin typeface="Inter"/>
              </a:rPr>
              <a:t>; its further reading points to </a:t>
            </a:r>
            <a:r>
              <a:rPr sz="1800" b="0" i="0">
                <a:solidFill>
                  <a:srgbClr val="111111"/>
                </a:solidFill>
                <a:latin typeface="Noto Sans Mono"/>
              </a:rPr>
              <a:t>git reflog</a:t>
            </a:r>
            <a:r>
              <a:rPr sz="1800" b="0" i="0">
                <a:solidFill>
                  <a:srgbClr val="111111"/>
                </a:solidFill>
                <a:latin typeface="Inter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800" b="0" i="0">
                <a:solidFill>
                  <a:srgbClr val="111111"/>
                </a:solidFill>
                <a:latin typeface="Inter"/>
              </a:rPr>
              <a:t>Why do people have to ask? Design one change, and the study that would show it 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ONE CHANGE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2650"/>
            <a:ext cx="2133523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What the user sees or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5123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88003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THE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4092650"/>
            <a:ext cx="2133523" cy="72286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Does … increase/decrease … for … doing 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6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0166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MEASURE, AND ONE THREAT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6" y="4092650"/>
            <a:ext cx="2133523" cy="4819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e.g. time to recover; threat: a learning effect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449" y="3736034"/>
            <a:ext cx="2499283" cy="1262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329" y="3873194"/>
            <a:ext cx="2133523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707078"/>
                </a:solidFill>
                <a:latin typeface="Inter"/>
              </a:rPr>
              <a:t>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329" y="4092650"/>
            <a:ext cx="2133523" cy="72286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111111"/>
                </a:solidFill>
                <a:latin typeface="Inter"/>
              </a:rPr>
              <a:t>Watch people, collect traces, or ask them? Which, exactly?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Your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75728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707078"/>
                </a:solidFill>
                <a:latin typeface="Inter"/>
              </a:rPr>
              <a:t>Each group reads its change, its study, its measure and threat, and its data. The app shows all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of these could you test by watching people? Which threat is hardest?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5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What Git and Jujutsu 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8647535" cy="23988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Git 2.23 (2019) split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checkout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into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switch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and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restore</a:t>
            </a:r>
            <a:r>
              <a:rPr sz="2200" b="0" i="0">
                <a:solidFill>
                  <a:srgbClr val="111111"/>
                </a:solidFill>
                <a:latin typeface="Inter"/>
              </a:rPr>
              <a:t>. In 2020 a developer “working with Git for years” asked what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checkout [file]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does next to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git restore</a:t>
            </a:r>
            <a:r>
              <a:rPr sz="2200" b="0" i="0">
                <a:solidFill>
                  <a:srgbClr val="111111"/>
                </a:solidFill>
                <a:latin typeface="Inter"/>
              </a:rPr>
              <a:t>: the paper’s reference [41].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Jujutsu (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jj</a:t>
            </a:r>
            <a:r>
              <a:rPr sz="2200" b="0" i="0">
                <a:solidFill>
                  <a:srgbClr val="111111"/>
                </a:solidFill>
                <a:latin typeface="Inter"/>
              </a:rPr>
              <a:t>) logs every operation, and </a:t>
            </a:r>
            <a:r>
              <a:rPr sz="2200" b="0" i="0">
                <a:solidFill>
                  <a:srgbClr val="111111"/>
                </a:solidFill>
                <a:latin typeface="Noto Sans Mono"/>
              </a:rPr>
              <a:t>jj undo</a:t>
            </a:r>
            <a:r>
              <a:rPr sz="2200" b="0" i="0">
                <a:solidFill>
                  <a:srgbClr val="111111"/>
                </a:solidFill>
                <a:latin typeface="Inter"/>
              </a:rPr>
              <a:t> reverses the last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22158"/>
            <a:ext cx="1054577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1">
                <a:solidFill>
                  <a:srgbClr val="707078"/>
                </a:solidFill>
                <a:latin typeface="Inter"/>
              </a:rPr>
              <a:t>Which data would convince Git’s maintainers your change works?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THURSDAY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6884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The paper: what holds, what doesn’t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31441"/>
            <a:ext cx="504428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6A34A"/>
                </a:solidFill>
                <a:latin typeface="Inter"/>
              </a:rPr>
              <a:t>Holds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42921"/>
            <a:ext cx="5044287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80081"/>
            <a:ext cx="5044287" cy="25078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✓ Git questions are many, and steady: about 0.4% of Stack Overflow a year.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✓ Undo is a real need: the most-viewed Git question asks how to undo a commit.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✓ Experienced developers can have trouble: true, as written.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✓ The data is public, so anyone can check it. We did.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31441"/>
            <a:ext cx="504428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DC2626"/>
                </a:solidFill>
                <a:latin typeface="Inter"/>
              </a:rPr>
              <a:t>Does not hold, as written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42921"/>
            <a:ext cx="5044287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4447" y="2380081"/>
            <a:ext cx="5044287" cy="31601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✗ “Hardest commands”: the rule counts fixes in answers as problems.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✗ The command ranking: one post moves </a:t>
            </a:r>
            <a:r>
              <a:rPr sz="1600" b="0" i="0">
                <a:solidFill>
                  <a:srgbClr val="111111"/>
                </a:solidFill>
                <a:latin typeface="Noto Sans Mono"/>
              </a:rPr>
              <a:t>git reflog</a:t>
            </a:r>
            <a:r>
              <a:rPr sz="1600" b="0" i="0">
                <a:solidFill>
                  <a:srgbClr val="111111"/>
                </a:solidFill>
                <a:latin typeface="Inter"/>
              </a:rPr>
              <a:t> from #8 to #2.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✗ “Self-learning is primary”: asked of people found on Stack Overflow.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✗ Table 8 and “doubts”: no coding method; self-ratings, not skill.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600" b="0" i="0">
                <a:solidFill>
                  <a:srgbClr val="111111"/>
                </a:solidFill>
                <a:latin typeface="Inter"/>
              </a:rPr>
              <a:t>✗ The title’s question: nobody was watched using Git.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EXIT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97135" y="457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11111"/>
                </a:solidFill>
                <a:latin typeface="Inter"/>
              </a:rPr>
              <a:t>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8899855" cy="13768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000" b="1" i="0">
                <a:solidFill>
                  <a:srgbClr val="111111"/>
                </a:solidFill>
                <a:latin typeface="Inter"/>
              </a:rPr>
              <a:t>One new idea for building tools for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9883"/>
            <a:ext cx="8647535" cy="37864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200" b="0" i="0">
                <a:solidFill>
                  <a:srgbClr val="111111"/>
                </a:solidFill>
                <a:latin typeface="Inter"/>
              </a:rPr>
              <a:t>One line, on your own.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8B3DFF"/>
                </a:solidFill>
                <a:latin typeface="Inter"/>
              </a:rPr>
              <a:t>THURSDAY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1135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6600" b="1" i="0">
                <a:solidFill>
                  <a:srgbClr val="FFFFFF"/>
                </a:solidFill>
                <a:latin typeface="Inter"/>
              </a:rPr>
              <a:t>Asking is not using.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59088"/>
            <a:ext cx="8647535" cy="19169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600" b="0" i="0">
                <a:solidFill>
                  <a:srgbClr val="FFFFFF"/>
                </a:solidFill>
                <a:latin typeface="Inter"/>
              </a:rPr>
              <a:t>Neither the survey (we ask them) nor Stack Overflow (they ask) shows anyone using Git.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2600" b="0" i="0">
                <a:solidFill>
                  <a:srgbClr val="FFFFFF"/>
                </a:solidFill>
                <a:latin typeface="Inter"/>
              </a:rPr>
              <a:t>Both days: check what your data actually records before you believe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