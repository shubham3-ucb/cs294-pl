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Tuesday you used Git. Today we read a study of what people ask about Git: how it was done, then we check it ourselves, judge its claims, and design a better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Just tell them; there is no quiz here. Nobody was watched using Git: the data is questions people asked, plus a survey. The count is a text match; nobody reads a question to decide what it is about. Two raters did check that the questions are about Git commands at all (Cohen’s kappa 0.844). The survey went to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their five findings. “Most viewed” is an average over commands with 200 or more questions. “Hardest” means most often without an accepted answer. Today we check whether the data supports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Sarah’s point: the question shapes the answer, so be careful with self-ratings.</a:t>
            </a:r>
          </a:p>
          <a:p/>
          <a:p>
            <a:r>
              <a:t>Ask: Would you trust your own answers?</a:t>
            </a:r>
          </a:p>
          <a:p/>
          <a:p>
            <a:r>
              <a:t>Hope to hear: Not fully. A level is a judgment, and “how I learned” is a memory, shaped by the options on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but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 paper measure which commands are hard?</a:t>
            </a:r>
          </a:p>
          <a:p/>
          <a:p>
            <a:r>
              <a:t>Hope to hear: No. It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point: a feeling is not a method. The paper sorted 65 comments “for better delivery purposes”, with no method named. It did measure agreement elsewhere (Cohen’s kappa 0.844, §2.1).</a:t>
            </a:r>
          </a:p>
          <a:p/>
          <a:p>
            <a:r>
              <a:t>Ask: Would another team get the same categories?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Everything they need is on their screen: the claim and the facts behind it. Nobody needs the paper.</a:t>
            </a:r>
          </a:p>
          <a:p/>
          <a:p>
            <a:r>
              <a:t>The facts each group sees with its claim:</a:t>
            </a:r>
          </a:p>
          <a:p>
            <a:r>
              <a:t>- "This suggests that even developers with years of development experience can have trouble using Git commands." The authors measured experience as the years since the asker joined Stack Overflow. In 2020, 40.0% of Git askers had joined more than 5 years earlier. Among all Stack Overflow askers, 21.2% had. The authors themselves call this a stand-in for experience (§5). Two askers are quoted saying they have programmed for years and still struggle with Git.</a:t>
            </a:r>
          </a:p>
          <a:p>
            <a:r>
              <a:t>- "…for the more frequently-used commands, git credential and git submodule are among the most difficult ones." “Difficult” was measured as the share of a command’s questions where the asker never marked an answer as accepted. git credential: 43.0% of 328 questions. git submodule: 37.5% of 2,911. All Git questions together: 36.5% (our count on the paper’s data). A question counts for a command when the command’s name appears in the question or in its accepted answer. Accepting an answer is one click by the asker. The authors note askers may forget it (§5).</a:t>
            </a:r>
          </a:p>
          <a:p>
            <a:r>
              <a:t>- "Self-learning is the primary learning approach." The survey was sent to 508 people. 92 answered. The people invited were developers who had recently asked a Git question on Stack Overflow, plus some researchers. Of all the learning approaches ticked, 81.7% were self-learning (161 of 197 ticks). By people: 85 of 92 ticked the internet, 76 the documentation.</a:t>
            </a:r>
          </a:p>
          <a:p>
            <a:r>
              <a:t>- "This result, although surprising, is consistent with the conclusion we obtained in RQ2, indicating that even experienced developers still have doubts about Git usage." The 92 rated their own Git level on a five-step scale: novice, advanced beginner, competent, proficient, expert. 79 of 92 chose competent or below. Many of them had used Git for more than five years. Nobody’s Git skill was tested.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Ask them: why do people have to ask how to undo? The most-viewed question asks how to undo the last commit; its accepted answer’s fix is git reset HEAD~, and its further reading points to git reflog. Asking can find a need; only a test with real users shows that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change, test, measure and risk, data. Git itself added git switch and git restore in 2019; only a test with users could tell whether they helped. Jujutsu (jj) has an operation log and jj undo. In 2020 a developer “working with Git for years” asked what git checkout [file] does next to git restore (the paper’s reference [41]): new commands bring new questions.</a:t>
            </a:r>
          </a:p>
          <a:p/>
          <a:p>
            <a:r>
              <a:t>Ask: Which of these could you test by watching people?</a:t>
            </a:r>
          </a:p>
          <a:p/>
          <a:p>
            <a:r>
              <a:t>Hope to hear: The ones with a measure you can see: time to recover, or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fair to the authors: finding needs from public data is useful, and they published their data. What breaks is turning counts of questions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(74 + 6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A study of Git users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These are the paper’s survey questions, which 92 developers answered.</a:t>
            </a:r>
          </a:p>
          <a:p>
            <a:pPr algn="l">
              <a:lnSpc>
                <a:spcPct val="112000"/>
              </a:lnSpc>
              <a:spcBef>
                <a:spcPts val="1000"/>
              </a:spcBef>
            </a:pPr>
            <a:r>
              <a:rPr sz="2200" b="0" i="0">
                <a:solidFill>
                  <a:srgbClr val="111111"/>
                </a:solidFill>
                <a:latin typeface="Inter"/>
              </a:rPr>
              <a:t>Answer them for yourself on your laptop.</a:t>
            </a:r>
          </a:p>
        </p:txBody>
      </p:sp>
      <p:sp>
        <p:nvSpPr>
          <p:cNvPr id="6" name="TextBox 5"/>
          <p:cNvSpPr txBox="1"/>
          <p:nvPr/>
        </p:nvSpPr>
        <p:spPr>
          <a:xfrm>
            <a:off x="822960" y="3322968"/>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2. What is your professional area?</a:t>
            </a:r>
          </a:p>
          <a:p>
            <a:pPr algn="l">
              <a:lnSpc>
                <a:spcPct val="112000"/>
              </a:lnSpc>
              <a:spcBef>
                <a:spcPts val="500"/>
              </a:spcBef>
            </a:pPr>
            <a:r>
              <a:rPr sz="1600" b="0" i="0">
                <a:solidFill>
                  <a:srgbClr val="111111"/>
                </a:solidFill>
                <a:latin typeface="Inter"/>
              </a:rPr>
              <a:t>3. What is your highest degree?</a:t>
            </a:r>
          </a:p>
          <a:p>
            <a:pPr algn="l">
              <a:lnSpc>
                <a:spcPct val="112000"/>
              </a:lnSpc>
              <a:spcBef>
                <a:spcPts val="500"/>
              </a:spcBef>
            </a:pPr>
            <a:r>
              <a:rPr sz="1600" b="0" i="0">
                <a:solidFill>
                  <a:srgbClr val="111111"/>
                </a:solidFill>
                <a:latin typeface="Inter"/>
              </a:rPr>
              <a:t>4. How many years have you been using Git?</a:t>
            </a:r>
          </a:p>
          <a:p>
            <a:pPr algn="l">
              <a:lnSpc>
                <a:spcPct val="112000"/>
              </a:lnSpc>
              <a:spcBef>
                <a:spcPts val="500"/>
              </a:spcBef>
            </a:pPr>
            <a:r>
              <a:rPr sz="1600" b="0" i="0">
                <a:solidFill>
                  <a:srgbClr val="111111"/>
                </a:solidFill>
                <a:latin typeface="Inter"/>
              </a:rPr>
              <a:t>5. Which of the following levels do you consider your ability to use Git to be?</a:t>
            </a:r>
          </a:p>
          <a:p>
            <a:pPr algn="l">
              <a:lnSpc>
                <a:spcPct val="112000"/>
              </a:lnSpc>
              <a:spcBef>
                <a:spcPts val="500"/>
              </a:spcBef>
            </a:pPr>
            <a:r>
              <a:rPr sz="1600" b="0" i="0">
                <a:solidFill>
                  <a:srgbClr val="111111"/>
                </a:solidFill>
                <a:latin typeface="Inter"/>
              </a:rPr>
              <a:t>6. What are the main approaches you used to learn Git commands?</a:t>
            </a:r>
          </a:p>
          <a:p>
            <a:pPr algn="l">
              <a:lnSpc>
                <a:spcPct val="112000"/>
              </a:lnSpc>
              <a:spcBef>
                <a:spcPts val="500"/>
              </a:spcBef>
            </a:pPr>
            <a:r>
              <a:rPr sz="1600" b="0" i="0">
                <a:solidFill>
                  <a:srgbClr val="111111"/>
                </a:solidFill>
                <a:latin typeface="Inter"/>
              </a:rPr>
              <a:t>7. Do you have any suggestions for potential new developers on learning Git commands</a:t>
            </a:r>
          </a:p>
        </p:txBody>
      </p:sp>
      <p:sp>
        <p:nvSpPr>
          <p:cNvPr id="7" name="TextBox 6"/>
          <p:cNvSpPr txBox="1"/>
          <p:nvPr/>
        </p:nvSpPr>
        <p:spPr>
          <a:xfrm>
            <a:off x="822960" y="5429884"/>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Q1 of the form, the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authors collected 80,370 Stack Overflow questions about Git commands, asked between 2008 and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Count</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question counts for a command when the command’s name appears in the question or in its accepted answer.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For each command they measured how often its questions were viewed, and how often a question had no accepted answer.</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Survey</a:t>
            </a:r>
          </a:p>
        </p:txBody>
      </p:sp>
      <p:sp>
        <p:nvSpPr>
          <p:cNvPr id="15" name="TextBox 14"/>
          <p:cNvSpPr txBox="1"/>
          <p:nvPr/>
        </p:nvSpPr>
        <p:spPr>
          <a:xfrm>
            <a:off x="3474720" y="4536844"/>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They also sent a survey to 508 developers, and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paper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 questions have been a steady 0.4% of all Stack Overflow questions each year since 2010.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askers have old Stack Overflow accounts. In 2020, 40% had joined more than 5 years earlier.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most-viewed commands are mostly about undoing work: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and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4536844"/>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most often lack an accepted answer. Among common commands,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 do.</a:t>
            </a:r>
          </a:p>
        </p:txBody>
      </p:sp>
      <p:sp>
        <p:nvSpPr>
          <p:cNvPr id="16" name="Rectangle 15"/>
          <p:cNvSpPr/>
          <p:nvPr/>
        </p:nvSpPr>
        <p:spPr>
          <a:xfrm>
            <a:off x="822960" y="5316725"/>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5408165"/>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5408165"/>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92 surveyed say they learned mostly on their own: 81.7% of the boxes they ticked were self-learning.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answers next to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paper’s 92 were found mostly through Stack Overflow.</a:t>
            </a:r>
          </a:p>
          <a:p>
            <a:pPr algn="l">
              <a:lnSpc>
                <a:spcPct val="112000"/>
              </a:lnSpc>
              <a:spcBef>
                <a:spcPts val="1000"/>
              </a:spcBef>
            </a:pPr>
            <a:r>
              <a:rPr sz="1800" b="0" i="0">
                <a:solidFill>
                  <a:srgbClr val="111111"/>
                </a:solidFill>
                <a:latin typeface="Inter"/>
              </a:rPr>
              <a:t>Their answers, like yours, are self-ratings and memories.</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counted each of these posts as a question about one command.</a:t>
            </a:r>
          </a:p>
          <a:p>
            <a:pPr algn="l">
              <a:lnSpc>
                <a:spcPct val="112000"/>
              </a:lnSpc>
              <a:spcBef>
                <a:spcPts val="1000"/>
              </a:spcBef>
            </a:pPr>
            <a:r>
              <a:rPr sz="2200" b="0" i="0">
                <a:solidFill>
                  <a:srgbClr val="111111"/>
                </a:solidFill>
                <a:latin typeface="Inter"/>
              </a:rPr>
              <a:t>Read each post on your laptop and pick one of the three labels.</a:t>
            </a:r>
          </a:p>
        </p:txBody>
      </p:sp>
      <p:sp>
        <p:nvSpPr>
          <p:cNvPr id="6" name="Rounded Rectangle 5"/>
          <p:cNvSpPr/>
          <p:nvPr/>
        </p:nvSpPr>
        <p:spPr>
          <a:xfrm>
            <a:off x="822960"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STUCK ON IT</a:t>
            </a:r>
          </a:p>
        </p:txBody>
      </p:sp>
      <p:sp>
        <p:nvSpPr>
          <p:cNvPr id="8" name="TextBox 7"/>
          <p:cNvSpPr txBox="1"/>
          <p:nvPr/>
        </p:nvSpPr>
        <p:spPr>
          <a:xfrm>
            <a:off x="1005840"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asker is asking about this command.</a:t>
            </a:r>
          </a:p>
        </p:txBody>
      </p:sp>
      <p:sp>
        <p:nvSpPr>
          <p:cNvPr id="9" name="Rounded Rectangle 8"/>
          <p:cNvSpPr/>
          <p:nvPr/>
        </p:nvSpPr>
        <p:spPr>
          <a:xfrm>
            <a:off x="4399178"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NEEDS IT BUT DOESN’T KNOW IT</a:t>
            </a:r>
          </a:p>
        </p:txBody>
      </p:sp>
      <p:sp>
        <p:nvSpPr>
          <p:cNvPr id="11" name="TextBox 10"/>
          <p:cNvSpPr txBox="1"/>
          <p:nvPr/>
        </p:nvSpPr>
        <p:spPr>
          <a:xfrm>
            <a:off x="4582058"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This command would solve their problem, but they do not know it.</a:t>
            </a:r>
          </a:p>
        </p:txBody>
      </p:sp>
      <p:sp>
        <p:nvSpPr>
          <p:cNvPr id="12" name="Rounded Rectangle 11"/>
          <p:cNvSpPr/>
          <p:nvPr/>
        </p:nvSpPr>
        <p:spPr>
          <a:xfrm>
            <a:off x="7975396"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NOT ABOUT IT</a:t>
            </a:r>
          </a:p>
        </p:txBody>
      </p:sp>
      <p:sp>
        <p:nvSpPr>
          <p:cNvPr id="14" name="TextBox 13"/>
          <p:cNvSpPr txBox="1"/>
          <p:nvPr/>
        </p:nvSpPr>
        <p:spPr>
          <a:xfrm>
            <a:off x="8158276"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is only mentioned; the post is about something else.</a:t>
            </a:r>
          </a:p>
        </p:txBody>
      </p:sp>
      <p:sp>
        <p:nvSpPr>
          <p:cNvPr id="15" name="TextBox 14"/>
          <p:cNvSpPr txBox="1"/>
          <p:nvPr/>
        </p:nvSpPr>
        <p:spPr>
          <a:xfrm>
            <a:off x="822960" y="4561126"/>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counted for the five most-viewed commands.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labels for the 8 posts</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the 8 posts, the command is named only in the accepted answer, not by the asker.</a:t>
            </a:r>
          </a:p>
          <a:p>
            <a:pPr algn="l">
              <a:lnSpc>
                <a:spcPct val="112000"/>
              </a:lnSpc>
              <a:spcBef>
                <a:spcPts val="1000"/>
              </a:spcBef>
            </a:pPr>
            <a:r>
              <a:rPr sz="1500" b="0" i="0">
                <a:solidFill>
                  <a:srgbClr val="111111"/>
                </a:solidFill>
                <a:latin typeface="Inter"/>
              </a:rPr>
              <a:t>The paper still counts all 8 as questions about that command.</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 paper measure which commands are hard?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1641570"/>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the 65 comments from its survey into 6 categories.</a:t>
            </a:r>
          </a:p>
          <a:p>
            <a:pPr algn="l">
              <a:lnSpc>
                <a:spcPct val="112000"/>
              </a:lnSpc>
              <a:spcBef>
                <a:spcPts val="1000"/>
              </a:spcBef>
            </a:pPr>
            <a:r>
              <a:rPr sz="2200" b="0" i="0">
                <a:solidFill>
                  <a:srgbClr val="111111"/>
                </a:solidFill>
                <a:latin typeface="Inter"/>
              </a:rPr>
              <a:t>On your laptop, put each of these 7 comments into one of those categories.</a:t>
            </a:r>
          </a:p>
        </p:txBody>
      </p:sp>
      <p:sp>
        <p:nvSpPr>
          <p:cNvPr id="6" name="TextBox 5"/>
          <p:cNvSpPr txBox="1"/>
          <p:nvPr/>
        </p:nvSpPr>
        <p:spPr>
          <a:xfrm>
            <a:off x="822960" y="3701611"/>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4050139"/>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sorting next to the paper’s</a:t>
            </a:r>
          </a:p>
        </p:txBody>
      </p:sp>
      <p:sp>
        <p:nvSpPr>
          <p:cNvPr id="4" name="TextBox 3"/>
          <p:cNvSpPr txBox="1"/>
          <p:nvPr/>
        </p:nvSpPr>
        <p:spPr>
          <a:xfrm>
            <a:off x="822960" y="1831441"/>
            <a:ext cx="10545775" cy="1004762"/>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does not say how it sorted the comments, or whether two people agreed.</a:t>
            </a:r>
          </a:p>
          <a:p>
            <a:pPr algn="l">
              <a:lnSpc>
                <a:spcPct val="112000"/>
              </a:lnSpc>
              <a:spcBef>
                <a:spcPts val="1000"/>
              </a:spcBef>
            </a:pPr>
            <a:r>
              <a:rPr sz="1700" b="0" i="0">
                <a:solidFill>
                  <a:srgbClr val="111111"/>
                </a:solidFill>
                <a:latin typeface="Inter"/>
              </a:rPr>
              <a:t>The usual practice is that two people sort independently, and the paper reports how often they agreed.</a:t>
            </a:r>
          </a:p>
        </p:txBody>
      </p:sp>
      <p:sp>
        <p:nvSpPr>
          <p:cNvPr id="5" name="TextBox 4"/>
          <p:cNvSpPr txBox="1"/>
          <p:nvPr/>
        </p:nvSpPr>
        <p:spPr>
          <a:xfrm>
            <a:off x="868680" y="3037371"/>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3037371"/>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3289623"/>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3353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3353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587595"/>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6333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6333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885567"/>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9312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9312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418353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422925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422925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481511"/>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52723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52723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779483"/>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82520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82520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5077455"/>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512317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512317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We take five minutes, then work in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Check one claim from the paper</a:t>
            </a:r>
          </a:p>
        </p:txBody>
      </p:sp>
      <p:sp>
        <p:nvSpPr>
          <p:cNvPr id="5" name="TextBox 4"/>
          <p:cNvSpPr txBox="1"/>
          <p:nvPr/>
        </p:nvSpPr>
        <p:spPr>
          <a:xfrm>
            <a:off x="822960" y="1831441"/>
            <a:ext cx="8647535" cy="115966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has one sentence from the paper, and the facts behind it.</a:t>
            </a:r>
          </a:p>
          <a:p>
            <a:pPr algn="l">
              <a:lnSpc>
                <a:spcPct val="112000"/>
              </a:lnSpc>
              <a:spcBef>
                <a:spcPts val="1000"/>
              </a:spcBef>
            </a:pPr>
            <a:r>
              <a:rPr sz="2000" b="0" i="0">
                <a:solidFill>
                  <a:srgbClr val="111111"/>
                </a:solidFill>
                <a:latin typeface="Inter"/>
              </a:rPr>
              <a:t>Write what the facts really show, then what you would need to believe the claim.</a:t>
            </a:r>
          </a:p>
        </p:txBody>
      </p:sp>
      <p:sp>
        <p:nvSpPr>
          <p:cNvPr id="6" name="Rounded Rectangle 5"/>
          <p:cNvSpPr/>
          <p:nvPr/>
        </p:nvSpPr>
        <p:spPr>
          <a:xfrm>
            <a:off x="822960" y="3219702"/>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356862"/>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RQ2, §3.2</a:t>
            </a:r>
          </a:p>
        </p:txBody>
      </p:sp>
      <p:sp>
        <p:nvSpPr>
          <p:cNvPr id="8" name="TextBox 7"/>
          <p:cNvSpPr txBox="1"/>
          <p:nvPr/>
        </p:nvSpPr>
        <p:spPr>
          <a:xfrm>
            <a:off x="1005840" y="356447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9" name="Rounded Rectangle 8"/>
          <p:cNvSpPr/>
          <p:nvPr/>
        </p:nvSpPr>
        <p:spPr>
          <a:xfrm>
            <a:off x="6187287" y="3219702"/>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6370167" y="3356862"/>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§1, FINDING 4; §3.4</a:t>
            </a:r>
          </a:p>
        </p:txBody>
      </p:sp>
      <p:sp>
        <p:nvSpPr>
          <p:cNvPr id="11" name="TextBox 10"/>
          <p:cNvSpPr txBox="1"/>
          <p:nvPr/>
        </p:nvSpPr>
        <p:spPr>
          <a:xfrm>
            <a:off x="6370167" y="356447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822960" y="4704727"/>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1005840" y="4841887"/>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ABSTRACT; §3.5</a:t>
            </a:r>
          </a:p>
        </p:txBody>
      </p:sp>
      <p:sp>
        <p:nvSpPr>
          <p:cNvPr id="14" name="TextBox 13"/>
          <p:cNvSpPr txBox="1"/>
          <p:nvPr/>
        </p:nvSpPr>
        <p:spPr>
          <a:xfrm>
            <a:off x="1005840" y="5049496"/>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5" name="Rounded Rectangle 14"/>
          <p:cNvSpPr/>
          <p:nvPr/>
        </p:nvSpPr>
        <p:spPr>
          <a:xfrm>
            <a:off x="6187287" y="4704727"/>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6370167" y="4841887"/>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§3.5</a:t>
            </a:r>
          </a:p>
        </p:txBody>
      </p:sp>
      <p:sp>
        <p:nvSpPr>
          <p:cNvPr id="17" name="TextBox 16"/>
          <p:cNvSpPr txBox="1"/>
          <p:nvPr/>
        </p:nvSpPr>
        <p:spPr>
          <a:xfrm>
            <a:off x="6370167" y="5049496"/>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(1/2)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4061377"/>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335697"/>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people with old Stack Overflow accounts asked for help. The claim is true as written.</a:t>
            </a:r>
          </a:p>
        </p:txBody>
      </p:sp>
      <p:sp>
        <p:nvSpPr>
          <p:cNvPr id="10" name="Rounded Rectangle 9"/>
          <p:cNvSpPr/>
          <p:nvPr/>
        </p:nvSpPr>
        <p:spPr>
          <a:xfrm>
            <a:off x="6187287"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4061377"/>
            <a:ext cx="4815687" cy="1106911"/>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335697"/>
            <a:ext cx="4632807"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git credential the share is above average (43.0% against 36.5% overall); for git submodule it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(2/2)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3545046"/>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59991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819366"/>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people say they learned mostly from the internet and the documentation.</a:t>
            </a:r>
          </a:p>
        </p:txBody>
      </p:sp>
      <p:sp>
        <p:nvSpPr>
          <p:cNvPr id="10" name="Rounded Rectangle 9"/>
          <p:cNvSpPr/>
          <p:nvPr/>
        </p:nvSpPr>
        <p:spPr>
          <a:xfrm>
            <a:off x="6187287"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4319543"/>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374407"/>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593863"/>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10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most-viewed Git question asks how to undo the last commit.</a:t>
            </a:r>
          </a:p>
          <a:p>
            <a:pPr algn="l">
              <a:lnSpc>
                <a:spcPct val="112000"/>
              </a:lnSpc>
              <a:spcBef>
                <a:spcPts val="1000"/>
              </a:spcBef>
            </a:pPr>
            <a:r>
              <a:rPr sz="1800" b="0" i="0">
                <a:solidFill>
                  <a:srgbClr val="111111"/>
                </a:solidFill>
                <a:latin typeface="Inter"/>
              </a:rPr>
              <a:t>Design one change, and say how you would test whether it helps.</a:t>
            </a:r>
          </a:p>
        </p:txBody>
      </p:sp>
      <p:sp>
        <p:nvSpPr>
          <p:cNvPr id="6" name="Rounded Rectangle 5"/>
          <p:cNvSpPr/>
          <p:nvPr/>
        </p:nvSpPr>
        <p:spPr>
          <a:xfrm>
            <a:off x="822960"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2943797"/>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YOUR CHANGE</a:t>
            </a:r>
          </a:p>
        </p:txBody>
      </p:sp>
      <p:sp>
        <p:nvSpPr>
          <p:cNvPr id="8" name="TextBox 7"/>
          <p:cNvSpPr txBox="1"/>
          <p:nvPr/>
        </p:nvSpPr>
        <p:spPr>
          <a:xfrm>
            <a:off x="1005840" y="3151406"/>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What the user would see or type</a:t>
            </a:r>
          </a:p>
        </p:txBody>
      </p:sp>
      <p:sp>
        <p:nvSpPr>
          <p:cNvPr id="9" name="Rounded Rectangle 8"/>
          <p:cNvSpPr/>
          <p:nvPr/>
        </p:nvSpPr>
        <p:spPr>
          <a:xfrm>
            <a:off x="3505123"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3688003" y="2943797"/>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HOW YOU WOULD TEST IT</a:t>
            </a:r>
          </a:p>
        </p:txBody>
      </p:sp>
      <p:sp>
        <p:nvSpPr>
          <p:cNvPr id="11" name="TextBox 10"/>
          <p:cNvSpPr txBox="1"/>
          <p:nvPr/>
        </p:nvSpPr>
        <p:spPr>
          <a:xfrm>
            <a:off x="3688003" y="3151406"/>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does it cut the time to recover, and for whom?</a:t>
            </a:r>
          </a:p>
        </p:txBody>
      </p:sp>
      <p:sp>
        <p:nvSpPr>
          <p:cNvPr id="12" name="Rounded Rectangle 11"/>
          <p:cNvSpPr/>
          <p:nvPr/>
        </p:nvSpPr>
        <p:spPr>
          <a:xfrm>
            <a:off x="6187286"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6"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WHAT YOU WOULD MEASURE, AND ONE RISK</a:t>
            </a:r>
          </a:p>
        </p:txBody>
      </p:sp>
      <p:sp>
        <p:nvSpPr>
          <p:cNvPr id="14" name="TextBox 13"/>
          <p:cNvSpPr txBox="1"/>
          <p:nvPr/>
        </p:nvSpPr>
        <p:spPr>
          <a:xfrm>
            <a:off x="6370166" y="3340727"/>
            <a:ext cx="2133523" cy="963818"/>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time to recover; a risk is that people learn from the first try</a:t>
            </a:r>
          </a:p>
        </p:txBody>
      </p:sp>
      <p:sp>
        <p:nvSpPr>
          <p:cNvPr id="15" name="Rounded Rectangle 14"/>
          <p:cNvSpPr/>
          <p:nvPr/>
        </p:nvSpPr>
        <p:spPr>
          <a:xfrm>
            <a:off x="8869449"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9052329"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HOW YOU WOULD COLLECT THE DATA</a:t>
            </a:r>
          </a:p>
        </p:txBody>
      </p:sp>
      <p:sp>
        <p:nvSpPr>
          <p:cNvPr id="17" name="TextBox 16"/>
          <p:cNvSpPr txBox="1"/>
          <p:nvPr/>
        </p:nvSpPr>
        <p:spPr>
          <a:xfrm>
            <a:off x="9052329" y="3340727"/>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Would you watch people, log real use, or ask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test, its measure and risk, and its data. The app shows all of them.</a:t>
            </a:r>
          </a:p>
        </p:txBody>
      </p:sp>
      <p:sp>
        <p:nvSpPr>
          <p:cNvPr id="5" name="TextBox 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of these could you test by watching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in the paper, and what does not</a:t>
            </a:r>
          </a:p>
        </p:txBody>
      </p:sp>
      <p:sp>
        <p:nvSpPr>
          <p:cNvPr id="4" name="TextBox 3"/>
          <p:cNvSpPr txBox="1"/>
          <p:nvPr/>
        </p:nvSpPr>
        <p:spPr>
          <a:xfrm>
            <a:off x="822960" y="2519883"/>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931363"/>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3068523"/>
            <a:ext cx="5044287" cy="223243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There are many Git questions, and their share is steady.</a:t>
            </a:r>
          </a:p>
          <a:p>
            <a:pPr algn="l">
              <a:lnSpc>
                <a:spcPct val="112000"/>
              </a:lnSpc>
              <a:spcBef>
                <a:spcPts val="800"/>
              </a:spcBef>
            </a:pPr>
            <a:r>
              <a:rPr sz="1600" b="0" i="0">
                <a:solidFill>
                  <a:srgbClr val="111111"/>
                </a:solidFill>
                <a:latin typeface="Inter"/>
              </a:rPr>
              <a:t>✓ Undoing work is a real need.</a:t>
            </a:r>
          </a:p>
          <a:p>
            <a:pPr algn="l">
              <a:lnSpc>
                <a:spcPct val="112000"/>
              </a:lnSpc>
              <a:spcBef>
                <a:spcPts val="800"/>
              </a:spcBef>
            </a:pPr>
            <a:r>
              <a:rPr sz="1600" b="0" i="0">
                <a:solidFill>
                  <a:srgbClr val="111111"/>
                </a:solidFill>
                <a:latin typeface="Inter"/>
              </a:rPr>
              <a:t>✓ Long-time Stack Overflow users can still get stuck.</a:t>
            </a:r>
          </a:p>
          <a:p>
            <a:pPr algn="l">
              <a:lnSpc>
                <a:spcPct val="112000"/>
              </a:lnSpc>
              <a:spcBef>
                <a:spcPts val="800"/>
              </a:spcBef>
            </a:pPr>
            <a:r>
              <a:rPr sz="1600" b="0" i="0">
                <a:solidFill>
                  <a:srgbClr val="111111"/>
                </a:solidFill>
                <a:latin typeface="Inter"/>
              </a:rPr>
              <a:t>✓ The data is public, and we could check it ourselves.</a:t>
            </a:r>
          </a:p>
        </p:txBody>
      </p:sp>
      <p:sp>
        <p:nvSpPr>
          <p:cNvPr id="7" name="TextBox 6"/>
          <p:cNvSpPr txBox="1"/>
          <p:nvPr/>
        </p:nvSpPr>
        <p:spPr>
          <a:xfrm>
            <a:off x="6324447" y="2519883"/>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 not hold as written</a:t>
            </a:r>
          </a:p>
        </p:txBody>
      </p:sp>
      <p:sp>
        <p:nvSpPr>
          <p:cNvPr id="8" name="Rectangle 7"/>
          <p:cNvSpPr/>
          <p:nvPr/>
        </p:nvSpPr>
        <p:spPr>
          <a:xfrm>
            <a:off x="6324447" y="2931363"/>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3068523"/>
            <a:ext cx="5044287" cy="316016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 hardness ranking counts a command in the fix as the problem.</a:t>
            </a:r>
          </a:p>
          <a:p>
            <a:pPr algn="l">
              <a:lnSpc>
                <a:spcPct val="112000"/>
              </a:lnSpc>
              <a:spcBef>
                <a:spcPts val="800"/>
              </a:spcBef>
            </a:pPr>
            <a:r>
              <a:rPr sz="1600" b="0" i="0">
                <a:solidFill>
                  <a:srgbClr val="111111"/>
                </a:solidFill>
                <a:latin typeface="Inter"/>
              </a:rPr>
              <a:t>✗ The most-viewed ranking rests on a few posts; one post lifts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That developers learn on their own was asked of people found on Stack Overflow.</a:t>
            </a:r>
          </a:p>
          <a:p>
            <a:pPr algn="l">
              <a:lnSpc>
                <a:spcPct val="112000"/>
              </a:lnSpc>
              <a:spcBef>
                <a:spcPts val="800"/>
              </a:spcBef>
            </a:pPr>
            <a:r>
              <a:rPr sz="1600" b="0" i="0">
                <a:solidFill>
                  <a:srgbClr val="111111"/>
                </a:solidFill>
                <a:latin typeface="Inter"/>
              </a:rPr>
              <a:t>✗ The comment categories have no stated method, and the “doubts” are self-ratings.</a:t>
            </a:r>
          </a:p>
          <a:p>
            <a:pPr algn="l">
              <a:lnSpc>
                <a:spcPct val="112000"/>
              </a:lnSpc>
              <a:spcBef>
                <a:spcPts val="800"/>
              </a:spcBef>
            </a:pPr>
            <a:r>
              <a:rPr sz="1600" b="0" i="0">
                <a:solidFill>
                  <a:srgbClr val="111111"/>
                </a:solidFill>
                <a:latin typeface="Inter"/>
              </a:rPr>
              <a:t>✗ The title’s question stays open, because nobody was watched.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On your laptop, finish this sentence in one line of your own.</a:t>
            </a:r>
          </a:p>
          <a:p>
            <a:pPr algn="l">
              <a:lnSpc>
                <a:spcPct val="112000"/>
              </a:lnSpc>
              <a:spcBef>
                <a:spcPts val="1000"/>
              </a:spcBef>
            </a:pPr>
            <a:r>
              <a:rPr sz="2200" b="0" i="0">
                <a:solidFill>
                  <a:srgbClr val="111111"/>
                </a:solidFill>
                <a:latin typeface="Inter"/>
              </a:rPr>
              <a:t>When you build a tool for people,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Thank you</a:t>
            </a:r>
          </a:p>
        </p:txBody>
      </p:sp>
      <p:sp>
        <p:nvSpPr>
          <p:cNvPr id="4" name="TextBox 3"/>
          <p:cNvSpPr txBox="1"/>
          <p:nvPr/>
        </p:nvSpPr>
        <p:spPr>
          <a:xfrm>
            <a:off x="822960" y="3559088"/>
            <a:ext cx="8647535" cy="894974"/>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What people ask shows where they get stuck, not what they can 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