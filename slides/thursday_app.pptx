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Tuesday you used Git. Today we read a study of what people ask about Git: how it was done, then we check it ourselves, judge its claims, and design a better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Just tell them; there is no quiz here. Nobody was watched using Git: the data is questions people asked, plus a survey. The count is a text match; nobody reads a question to decide what it is about. Two raters did check that the questions are about Git commands at all (Cohen’s kappa 0.844). The survey went to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their five findings. “Most viewed” is an average over commands with 200 or more questions. “Hardest” means most often without an accepted answer. Today we check whether the data supports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Sarah’s point: the question shapes the answer, so be careful with self-ratings.</a:t>
            </a:r>
          </a:p>
          <a:p/>
          <a:p>
            <a:r>
              <a:t>Ask: Would you trust your own answers?</a:t>
            </a:r>
          </a:p>
          <a:p/>
          <a:p>
            <a:r>
              <a:t>Hope to hear: Not fully. A level is a judgment, and “how I learned” is a memory, shaped by the options on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but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 paper measure which commands are hard?</a:t>
            </a:r>
          </a:p>
          <a:p/>
          <a:p>
            <a:r>
              <a:t>Hope to hear: No. It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point: a feeling is not a method. The paper sorted 65 comments “for better delivery purposes”, with no method named. It did measure agreement elsewhere (Cohen’s kappa 0.844, §2.1).</a:t>
            </a:r>
          </a:p>
          <a:p/>
          <a:p>
            <a:r>
              <a:t>Ask: Would another team get the same categories?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The paper is open on their laptops; the hint points to the section.</a:t>
            </a:r>
          </a:p>
          <a:p/>
          <a:p>
            <a:r>
              <a:t>The hint each group sees:</a:t>
            </a:r>
          </a:p>
          <a:p>
            <a:r>
              <a:t>- "This suggests that even developers with years of development experience can have trouble using Git commands." Look at: How did the authors measure experience? See §2.1 Step 4 and §5.</a:t>
            </a:r>
          </a:p>
          <a:p>
            <a:r>
              <a:t>- "…for the more frequently-used commands, git credential and git submodule are among the most difficult ones." Look at: What does “difficult” mean in §3.4? For comparison, 36.5% of all the Git questions have no accepted answer (our count on the paper’s data).</a:t>
            </a:r>
          </a:p>
          <a:p>
            <a:r>
              <a:t>- "Self-learning is the primary learning approach." Look at: Who was asked, and how were they found? See §2.2.</a:t>
            </a:r>
          </a:p>
          <a:p>
            <a:r>
              <a:t>- "This result, although surprising, is consistent with the conclusion we obtained in RQ2, indicating that even experienced developers still have doubts about Git usage." Look at: What is the evidence for “doubts”? See §3.5 and Figure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(§5).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Ask them: why do people have to ask how to undo? The most-viewed question asks how to undo the last commit; its accepted answer’s fix is git reset HEAD~, and its further reading points to git reflog. Asking can find a need; only a test with real users shows that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change, test, measure and risk, data. Git itself added git switch and git restore in 2019; only a test with users could tell whether they helped. Jujutsu (jj) has an operation log and jj undo. In 2020 a developer “working with Git for years” asked what git checkout [file] does next to git restore (the paper’s reference [41]): new commands bring new questions.</a:t>
            </a:r>
          </a:p>
          <a:p/>
          <a:p>
            <a:r>
              <a:t>Ask: Which of these could you test by watching people?</a:t>
            </a:r>
          </a:p>
          <a:p/>
          <a:p>
            <a:r>
              <a:t>Hope to hear: The ones with a measure you can see: time to recover, or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fair to the authors: finding needs from public data is useful, and they published their data. What breaks is turning counts of questions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(74 + 6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A study of Git users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These are the paper’s survey questions, which 92 developers answered.</a:t>
            </a:r>
          </a:p>
          <a:p>
            <a:pPr algn="l">
              <a:lnSpc>
                <a:spcPct val="112000"/>
              </a:lnSpc>
              <a:spcBef>
                <a:spcPts val="1000"/>
              </a:spcBef>
            </a:pPr>
            <a:r>
              <a:rPr sz="2200" b="0" i="0">
                <a:solidFill>
                  <a:srgbClr val="111111"/>
                </a:solidFill>
                <a:latin typeface="Inter"/>
              </a:rPr>
              <a:t>Answer them for yourself on your laptop.</a:t>
            </a:r>
          </a:p>
        </p:txBody>
      </p:sp>
      <p:sp>
        <p:nvSpPr>
          <p:cNvPr id="6" name="TextBox 5"/>
          <p:cNvSpPr txBox="1"/>
          <p:nvPr/>
        </p:nvSpPr>
        <p:spPr>
          <a:xfrm>
            <a:off x="822960" y="3322968"/>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2. What is your professional area?</a:t>
            </a:r>
          </a:p>
          <a:p>
            <a:pPr algn="l">
              <a:lnSpc>
                <a:spcPct val="112000"/>
              </a:lnSpc>
              <a:spcBef>
                <a:spcPts val="500"/>
              </a:spcBef>
            </a:pPr>
            <a:r>
              <a:rPr sz="1600" b="0" i="0">
                <a:solidFill>
                  <a:srgbClr val="111111"/>
                </a:solidFill>
                <a:latin typeface="Inter"/>
              </a:rPr>
              <a:t>3. What is your highest degree?</a:t>
            </a:r>
          </a:p>
          <a:p>
            <a:pPr algn="l">
              <a:lnSpc>
                <a:spcPct val="112000"/>
              </a:lnSpc>
              <a:spcBef>
                <a:spcPts val="500"/>
              </a:spcBef>
            </a:pPr>
            <a:r>
              <a:rPr sz="1600" b="0" i="0">
                <a:solidFill>
                  <a:srgbClr val="111111"/>
                </a:solidFill>
                <a:latin typeface="Inter"/>
              </a:rPr>
              <a:t>4. How many years have you been using Git?</a:t>
            </a:r>
          </a:p>
          <a:p>
            <a:pPr algn="l">
              <a:lnSpc>
                <a:spcPct val="112000"/>
              </a:lnSpc>
              <a:spcBef>
                <a:spcPts val="500"/>
              </a:spcBef>
            </a:pPr>
            <a:r>
              <a:rPr sz="1600" b="0" i="0">
                <a:solidFill>
                  <a:srgbClr val="111111"/>
                </a:solidFill>
                <a:latin typeface="Inter"/>
              </a:rPr>
              <a:t>5. Which of the following levels do you consider your ability to use Git to be?</a:t>
            </a:r>
          </a:p>
          <a:p>
            <a:pPr algn="l">
              <a:lnSpc>
                <a:spcPct val="112000"/>
              </a:lnSpc>
              <a:spcBef>
                <a:spcPts val="500"/>
              </a:spcBef>
            </a:pPr>
            <a:r>
              <a:rPr sz="1600" b="0" i="0">
                <a:solidFill>
                  <a:srgbClr val="111111"/>
                </a:solidFill>
                <a:latin typeface="Inter"/>
              </a:rPr>
              <a:t>6. What are the main approaches you used to learn Git commands?</a:t>
            </a:r>
          </a:p>
          <a:p>
            <a:pPr algn="l">
              <a:lnSpc>
                <a:spcPct val="112000"/>
              </a:lnSpc>
              <a:spcBef>
                <a:spcPts val="500"/>
              </a:spcBef>
            </a:pPr>
            <a:r>
              <a:rPr sz="1600" b="0" i="0">
                <a:solidFill>
                  <a:srgbClr val="111111"/>
                </a:solidFill>
                <a:latin typeface="Inter"/>
              </a:rPr>
              <a:t>7. Do you have any suggestions for potential new developers on learning Git commands</a:t>
            </a:r>
          </a:p>
        </p:txBody>
      </p:sp>
      <p:sp>
        <p:nvSpPr>
          <p:cNvPr id="7" name="TextBox 6"/>
          <p:cNvSpPr txBox="1"/>
          <p:nvPr/>
        </p:nvSpPr>
        <p:spPr>
          <a:xfrm>
            <a:off x="822960" y="5429884"/>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Q1 of the form, the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authors collected 80,370 Stack Overflow questions about Git commands, asked between 2008 and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Count</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question counts for a command when the command’s name appears in the question or in its accepted answer.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For each command they measured how often its questions were viewed, and how often a question had no accepted answer.</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Survey</a:t>
            </a:r>
          </a:p>
        </p:txBody>
      </p:sp>
      <p:sp>
        <p:nvSpPr>
          <p:cNvPr id="15" name="TextBox 14"/>
          <p:cNvSpPr txBox="1"/>
          <p:nvPr/>
        </p:nvSpPr>
        <p:spPr>
          <a:xfrm>
            <a:off x="3474720" y="4536844"/>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They also sent a survey to 508 developers, and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paper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 questions have been a steady 0.4% of all Stack Overflow questions each year since 2010.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askers have old Stack Overflow accounts. In 2020, 40% had joined more than 5 years earlier.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most-viewed commands are mostly about undoing work: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and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4536844"/>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most often lack an accepted answer. Among common commands,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 do.</a:t>
            </a:r>
          </a:p>
        </p:txBody>
      </p:sp>
      <p:sp>
        <p:nvSpPr>
          <p:cNvPr id="16" name="Rectangle 15"/>
          <p:cNvSpPr/>
          <p:nvPr/>
        </p:nvSpPr>
        <p:spPr>
          <a:xfrm>
            <a:off x="822960" y="5316725"/>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5408165"/>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5408165"/>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92 surveyed say they learned mostly on their own: 81.7% of the boxes they ticked were self-learning.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answers next to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paper’s 92 were found mostly through Stack Overflow.</a:t>
            </a:r>
          </a:p>
          <a:p>
            <a:pPr algn="l">
              <a:lnSpc>
                <a:spcPct val="112000"/>
              </a:lnSpc>
              <a:spcBef>
                <a:spcPts val="1000"/>
              </a:spcBef>
            </a:pPr>
            <a:r>
              <a:rPr sz="1800" b="0" i="0">
                <a:solidFill>
                  <a:srgbClr val="111111"/>
                </a:solidFill>
                <a:latin typeface="Inter"/>
              </a:rPr>
              <a:t>Their answers, like yours, are self-ratings and memories.</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counted each of these posts as a question about one command.</a:t>
            </a:r>
          </a:p>
          <a:p>
            <a:pPr algn="l">
              <a:lnSpc>
                <a:spcPct val="112000"/>
              </a:lnSpc>
              <a:spcBef>
                <a:spcPts val="1000"/>
              </a:spcBef>
            </a:pPr>
            <a:r>
              <a:rPr sz="2200" b="0" i="0">
                <a:solidFill>
                  <a:srgbClr val="111111"/>
                </a:solidFill>
                <a:latin typeface="Inter"/>
              </a:rPr>
              <a:t>Read each post on your laptop and pick one of the three labels.</a:t>
            </a:r>
          </a:p>
        </p:txBody>
      </p:sp>
      <p:sp>
        <p:nvSpPr>
          <p:cNvPr id="6" name="Rounded Rectangle 5"/>
          <p:cNvSpPr/>
          <p:nvPr/>
        </p:nvSpPr>
        <p:spPr>
          <a:xfrm>
            <a:off x="822960"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STUCK ON IT</a:t>
            </a:r>
          </a:p>
        </p:txBody>
      </p:sp>
      <p:sp>
        <p:nvSpPr>
          <p:cNvPr id="8" name="TextBox 7"/>
          <p:cNvSpPr txBox="1"/>
          <p:nvPr/>
        </p:nvSpPr>
        <p:spPr>
          <a:xfrm>
            <a:off x="1005840"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asker is asking about this command.</a:t>
            </a:r>
          </a:p>
        </p:txBody>
      </p:sp>
      <p:sp>
        <p:nvSpPr>
          <p:cNvPr id="9" name="Rounded Rectangle 8"/>
          <p:cNvSpPr/>
          <p:nvPr/>
        </p:nvSpPr>
        <p:spPr>
          <a:xfrm>
            <a:off x="4399178"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NEEDS IT BUT DOESN’T KNOW IT</a:t>
            </a:r>
          </a:p>
        </p:txBody>
      </p:sp>
      <p:sp>
        <p:nvSpPr>
          <p:cNvPr id="11" name="TextBox 10"/>
          <p:cNvSpPr txBox="1"/>
          <p:nvPr/>
        </p:nvSpPr>
        <p:spPr>
          <a:xfrm>
            <a:off x="4582058"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This command would solve their problem, but they do not know it.</a:t>
            </a:r>
          </a:p>
        </p:txBody>
      </p:sp>
      <p:sp>
        <p:nvSpPr>
          <p:cNvPr id="12" name="Rounded Rectangle 11"/>
          <p:cNvSpPr/>
          <p:nvPr/>
        </p:nvSpPr>
        <p:spPr>
          <a:xfrm>
            <a:off x="7975396" y="3322968"/>
            <a:ext cx="3393338" cy="100955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NOT ABOUT IT</a:t>
            </a:r>
          </a:p>
        </p:txBody>
      </p:sp>
      <p:sp>
        <p:nvSpPr>
          <p:cNvPr id="14" name="TextBox 13"/>
          <p:cNvSpPr txBox="1"/>
          <p:nvPr/>
        </p:nvSpPr>
        <p:spPr>
          <a:xfrm>
            <a:off x="8158276"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is only mentioned; the post is about something else.</a:t>
            </a:r>
          </a:p>
        </p:txBody>
      </p:sp>
      <p:sp>
        <p:nvSpPr>
          <p:cNvPr id="15" name="TextBox 14"/>
          <p:cNvSpPr txBox="1"/>
          <p:nvPr/>
        </p:nvSpPr>
        <p:spPr>
          <a:xfrm>
            <a:off x="822960" y="4561126"/>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counted for the five most-viewed commands.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labels for the 8 posts</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the 8 posts, the command is named only in the accepted answer, not by the asker.</a:t>
            </a:r>
          </a:p>
          <a:p>
            <a:pPr algn="l">
              <a:lnSpc>
                <a:spcPct val="112000"/>
              </a:lnSpc>
              <a:spcBef>
                <a:spcPts val="1000"/>
              </a:spcBef>
            </a:pPr>
            <a:r>
              <a:rPr sz="1500" b="0" i="0">
                <a:solidFill>
                  <a:srgbClr val="111111"/>
                </a:solidFill>
                <a:latin typeface="Inter"/>
              </a:rPr>
              <a:t>The paper still counts all 8 as questions about that command.</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 paper measure which commands are hard?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1641570"/>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the 65 comments from its survey into 6 categories.</a:t>
            </a:r>
          </a:p>
          <a:p>
            <a:pPr algn="l">
              <a:lnSpc>
                <a:spcPct val="112000"/>
              </a:lnSpc>
              <a:spcBef>
                <a:spcPts val="1000"/>
              </a:spcBef>
            </a:pPr>
            <a:r>
              <a:rPr sz="2200" b="0" i="0">
                <a:solidFill>
                  <a:srgbClr val="111111"/>
                </a:solidFill>
                <a:latin typeface="Inter"/>
              </a:rPr>
              <a:t>On your laptop, put each of these 7 comments into one of those categories.</a:t>
            </a:r>
          </a:p>
        </p:txBody>
      </p:sp>
      <p:sp>
        <p:nvSpPr>
          <p:cNvPr id="6" name="TextBox 5"/>
          <p:cNvSpPr txBox="1"/>
          <p:nvPr/>
        </p:nvSpPr>
        <p:spPr>
          <a:xfrm>
            <a:off x="822960" y="3701611"/>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4050139"/>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sorting next to the paper’s</a:t>
            </a:r>
          </a:p>
        </p:txBody>
      </p:sp>
      <p:sp>
        <p:nvSpPr>
          <p:cNvPr id="4" name="TextBox 3"/>
          <p:cNvSpPr txBox="1"/>
          <p:nvPr/>
        </p:nvSpPr>
        <p:spPr>
          <a:xfrm>
            <a:off x="822960" y="1831441"/>
            <a:ext cx="10545775" cy="1004762"/>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does not say how it sorted the comments, or whether two people agreed.</a:t>
            </a:r>
          </a:p>
          <a:p>
            <a:pPr algn="l">
              <a:lnSpc>
                <a:spcPct val="112000"/>
              </a:lnSpc>
              <a:spcBef>
                <a:spcPts val="1000"/>
              </a:spcBef>
            </a:pPr>
            <a:r>
              <a:rPr sz="1700" b="0" i="0">
                <a:solidFill>
                  <a:srgbClr val="111111"/>
                </a:solidFill>
                <a:latin typeface="Inter"/>
              </a:rPr>
              <a:t>The usual practice is that two people sort independently, and the paper reports how often they agreed.</a:t>
            </a:r>
          </a:p>
        </p:txBody>
      </p:sp>
      <p:sp>
        <p:nvSpPr>
          <p:cNvPr id="5" name="TextBox 4"/>
          <p:cNvSpPr txBox="1"/>
          <p:nvPr/>
        </p:nvSpPr>
        <p:spPr>
          <a:xfrm>
            <a:off x="868680" y="3037371"/>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3037371"/>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3289623"/>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3353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3353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587595"/>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6333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6333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885567"/>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9312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9312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418353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422925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422925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481511"/>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52723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52723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779483"/>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82520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82520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5077455"/>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512317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512317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We take five minutes, then work in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Check one claim from the paper</a:t>
            </a:r>
          </a:p>
        </p:txBody>
      </p:sp>
      <p:sp>
        <p:nvSpPr>
          <p:cNvPr id="5" name="TextBox 4"/>
          <p:cNvSpPr txBox="1"/>
          <p:nvPr/>
        </p:nvSpPr>
        <p:spPr>
          <a:xfrm>
            <a:off x="822960" y="1831441"/>
            <a:ext cx="8647535" cy="81544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has one sentence from the paper to check.</a:t>
            </a:r>
          </a:p>
          <a:p>
            <a:pPr algn="l">
              <a:lnSpc>
                <a:spcPct val="112000"/>
              </a:lnSpc>
              <a:spcBef>
                <a:spcPts val="1000"/>
              </a:spcBef>
            </a:pPr>
            <a:r>
              <a:rPr sz="2000" b="0" i="0">
                <a:solidFill>
                  <a:srgbClr val="111111"/>
                </a:solidFill>
                <a:latin typeface="Inter"/>
              </a:rPr>
              <a:t>Write what the authors measured, then what that really shows.</a:t>
            </a:r>
          </a:p>
        </p:txBody>
      </p:sp>
      <p:sp>
        <p:nvSpPr>
          <p:cNvPr id="6" name="Rounded Rectangle 5"/>
          <p:cNvSpPr/>
          <p:nvPr/>
        </p:nvSpPr>
        <p:spPr>
          <a:xfrm>
            <a:off x="822960" y="2875481"/>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012641"/>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RQ2, §3.2</a:t>
            </a:r>
          </a:p>
        </p:txBody>
      </p:sp>
      <p:sp>
        <p:nvSpPr>
          <p:cNvPr id="8" name="TextBox 7"/>
          <p:cNvSpPr txBox="1"/>
          <p:nvPr/>
        </p:nvSpPr>
        <p:spPr>
          <a:xfrm>
            <a:off x="1005840" y="3220250"/>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9" name="Rounded Rectangle 8"/>
          <p:cNvSpPr/>
          <p:nvPr/>
        </p:nvSpPr>
        <p:spPr>
          <a:xfrm>
            <a:off x="6187287" y="2875481"/>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6370167" y="3012641"/>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§1, FINDING 4; §3.4</a:t>
            </a:r>
          </a:p>
        </p:txBody>
      </p:sp>
      <p:sp>
        <p:nvSpPr>
          <p:cNvPr id="11" name="TextBox 10"/>
          <p:cNvSpPr txBox="1"/>
          <p:nvPr/>
        </p:nvSpPr>
        <p:spPr>
          <a:xfrm>
            <a:off x="6370167" y="3220250"/>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822960" y="4360506"/>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1005840" y="4497666"/>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ABSTRACT; §3.5</a:t>
            </a:r>
          </a:p>
        </p:txBody>
      </p:sp>
      <p:sp>
        <p:nvSpPr>
          <p:cNvPr id="14" name="TextBox 13"/>
          <p:cNvSpPr txBox="1"/>
          <p:nvPr/>
        </p:nvSpPr>
        <p:spPr>
          <a:xfrm>
            <a:off x="1005840" y="4705275"/>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5" name="Rounded Rectangle 14"/>
          <p:cNvSpPr/>
          <p:nvPr/>
        </p:nvSpPr>
        <p:spPr>
          <a:xfrm>
            <a:off x="6187287" y="4360506"/>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6370167" y="4497666"/>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§3.5</a:t>
            </a:r>
          </a:p>
        </p:txBody>
      </p:sp>
      <p:sp>
        <p:nvSpPr>
          <p:cNvPr id="17" name="TextBox 16"/>
          <p:cNvSpPr txBox="1"/>
          <p:nvPr/>
        </p:nvSpPr>
        <p:spPr>
          <a:xfrm>
            <a:off x="6370167" y="4705275"/>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(1/2)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4061377"/>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335697"/>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people with old Stack Overflow accounts asked for help. The claim is true as written.</a:t>
            </a:r>
          </a:p>
        </p:txBody>
      </p:sp>
      <p:sp>
        <p:nvSpPr>
          <p:cNvPr id="10" name="Rounded Rectangle 9"/>
          <p:cNvSpPr/>
          <p:nvPr/>
        </p:nvSpPr>
        <p:spPr>
          <a:xfrm>
            <a:off x="6187287"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4061377"/>
            <a:ext cx="4815687" cy="1106911"/>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335697"/>
            <a:ext cx="4632807"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git credential the share is above average (43.0% against 36.5% overall); for git submodule it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(2/2)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3545046"/>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59991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819366"/>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people say they learned mostly from the internet and the documentation.</a:t>
            </a:r>
          </a:p>
        </p:txBody>
      </p:sp>
      <p:sp>
        <p:nvSpPr>
          <p:cNvPr id="10" name="Rounded Rectangle 9"/>
          <p:cNvSpPr/>
          <p:nvPr/>
        </p:nvSpPr>
        <p:spPr>
          <a:xfrm>
            <a:off x="6187287"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4319543"/>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374407"/>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593863"/>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10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most-viewed Git question asks how to undo the last commit.</a:t>
            </a:r>
          </a:p>
          <a:p>
            <a:pPr algn="l">
              <a:lnSpc>
                <a:spcPct val="112000"/>
              </a:lnSpc>
              <a:spcBef>
                <a:spcPts val="1000"/>
              </a:spcBef>
            </a:pPr>
            <a:r>
              <a:rPr sz="1800" b="0" i="0">
                <a:solidFill>
                  <a:srgbClr val="111111"/>
                </a:solidFill>
                <a:latin typeface="Inter"/>
              </a:rPr>
              <a:t>Design one change, and say how you would test whether it helps.</a:t>
            </a:r>
          </a:p>
        </p:txBody>
      </p:sp>
      <p:sp>
        <p:nvSpPr>
          <p:cNvPr id="6" name="Rounded Rectangle 5"/>
          <p:cNvSpPr/>
          <p:nvPr/>
        </p:nvSpPr>
        <p:spPr>
          <a:xfrm>
            <a:off x="822960"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2943797"/>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YOUR CHANGE</a:t>
            </a:r>
          </a:p>
        </p:txBody>
      </p:sp>
      <p:sp>
        <p:nvSpPr>
          <p:cNvPr id="8" name="TextBox 7"/>
          <p:cNvSpPr txBox="1"/>
          <p:nvPr/>
        </p:nvSpPr>
        <p:spPr>
          <a:xfrm>
            <a:off x="1005840" y="3151406"/>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What the user would see or type</a:t>
            </a:r>
          </a:p>
        </p:txBody>
      </p:sp>
      <p:sp>
        <p:nvSpPr>
          <p:cNvPr id="9" name="Rounded Rectangle 8"/>
          <p:cNvSpPr/>
          <p:nvPr/>
        </p:nvSpPr>
        <p:spPr>
          <a:xfrm>
            <a:off x="3505123"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3688003" y="2943797"/>
            <a:ext cx="2133523" cy="189321"/>
          </a:xfrm>
          <a:prstGeom prst="rect">
            <a:avLst/>
          </a:prstGeom>
          <a:noFill/>
        </p:spPr>
        <p:txBody>
          <a:bodyPr wrap="square" anchor="t" lIns="0" rIns="0" tIns="0" bIns="0"/>
          <a:lstStyle/>
          <a:p>
            <a:pPr algn="l">
              <a:lnSpc>
                <a:spcPct val="110000"/>
              </a:lnSpc>
            </a:pPr>
            <a:r>
              <a:rPr sz="1100" b="1">
                <a:solidFill>
                  <a:srgbClr val="707078"/>
                </a:solidFill>
                <a:latin typeface="Inter"/>
              </a:rPr>
              <a:t>HOW YOU WOULD TEST IT</a:t>
            </a:r>
          </a:p>
        </p:txBody>
      </p:sp>
      <p:sp>
        <p:nvSpPr>
          <p:cNvPr id="11" name="TextBox 10"/>
          <p:cNvSpPr txBox="1"/>
          <p:nvPr/>
        </p:nvSpPr>
        <p:spPr>
          <a:xfrm>
            <a:off x="3688003" y="3151406"/>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does it cut the time to recover, and for whom?</a:t>
            </a:r>
          </a:p>
        </p:txBody>
      </p:sp>
      <p:sp>
        <p:nvSpPr>
          <p:cNvPr id="12" name="Rounded Rectangle 11"/>
          <p:cNvSpPr/>
          <p:nvPr/>
        </p:nvSpPr>
        <p:spPr>
          <a:xfrm>
            <a:off x="6187286"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6"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WHAT YOU WOULD MEASURE, AND ONE RISK</a:t>
            </a:r>
          </a:p>
        </p:txBody>
      </p:sp>
      <p:sp>
        <p:nvSpPr>
          <p:cNvPr id="14" name="TextBox 13"/>
          <p:cNvSpPr txBox="1"/>
          <p:nvPr/>
        </p:nvSpPr>
        <p:spPr>
          <a:xfrm>
            <a:off x="6370166" y="3340727"/>
            <a:ext cx="2133523" cy="963818"/>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time to recover; a risk is that people learn from the first try</a:t>
            </a:r>
          </a:p>
        </p:txBody>
      </p:sp>
      <p:sp>
        <p:nvSpPr>
          <p:cNvPr id="15" name="Rounded Rectangle 14"/>
          <p:cNvSpPr/>
          <p:nvPr/>
        </p:nvSpPr>
        <p:spPr>
          <a:xfrm>
            <a:off x="8869449"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9052329"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HOW YOU WOULD COLLECT THE DATA</a:t>
            </a:r>
          </a:p>
        </p:txBody>
      </p:sp>
      <p:sp>
        <p:nvSpPr>
          <p:cNvPr id="17" name="TextBox 16"/>
          <p:cNvSpPr txBox="1"/>
          <p:nvPr/>
        </p:nvSpPr>
        <p:spPr>
          <a:xfrm>
            <a:off x="9052329" y="3340727"/>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Would you watch people, log real use, or ask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test, its measure and risk, and its data. The app shows all of them.</a:t>
            </a:r>
          </a:p>
        </p:txBody>
      </p:sp>
      <p:sp>
        <p:nvSpPr>
          <p:cNvPr id="5" name="TextBox 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of these could you test by watching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in the paper, and what does not</a:t>
            </a:r>
          </a:p>
        </p:txBody>
      </p:sp>
      <p:sp>
        <p:nvSpPr>
          <p:cNvPr id="4" name="TextBox 3"/>
          <p:cNvSpPr txBox="1"/>
          <p:nvPr/>
        </p:nvSpPr>
        <p:spPr>
          <a:xfrm>
            <a:off x="822960" y="2519883"/>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931363"/>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3068523"/>
            <a:ext cx="5044287" cy="223243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There are many Git questions, and their share is steady.</a:t>
            </a:r>
          </a:p>
          <a:p>
            <a:pPr algn="l">
              <a:lnSpc>
                <a:spcPct val="112000"/>
              </a:lnSpc>
              <a:spcBef>
                <a:spcPts val="800"/>
              </a:spcBef>
            </a:pPr>
            <a:r>
              <a:rPr sz="1600" b="0" i="0">
                <a:solidFill>
                  <a:srgbClr val="111111"/>
                </a:solidFill>
                <a:latin typeface="Inter"/>
              </a:rPr>
              <a:t>✓ Undoing work is a real need.</a:t>
            </a:r>
          </a:p>
          <a:p>
            <a:pPr algn="l">
              <a:lnSpc>
                <a:spcPct val="112000"/>
              </a:lnSpc>
              <a:spcBef>
                <a:spcPts val="800"/>
              </a:spcBef>
            </a:pPr>
            <a:r>
              <a:rPr sz="1600" b="0" i="0">
                <a:solidFill>
                  <a:srgbClr val="111111"/>
                </a:solidFill>
                <a:latin typeface="Inter"/>
              </a:rPr>
              <a:t>✓ Long-time Stack Overflow users can still get stuck.</a:t>
            </a:r>
          </a:p>
          <a:p>
            <a:pPr algn="l">
              <a:lnSpc>
                <a:spcPct val="112000"/>
              </a:lnSpc>
              <a:spcBef>
                <a:spcPts val="800"/>
              </a:spcBef>
            </a:pPr>
            <a:r>
              <a:rPr sz="1600" b="0" i="0">
                <a:solidFill>
                  <a:srgbClr val="111111"/>
                </a:solidFill>
                <a:latin typeface="Inter"/>
              </a:rPr>
              <a:t>✓ The data is public, and we could check it ourselves.</a:t>
            </a:r>
          </a:p>
        </p:txBody>
      </p:sp>
      <p:sp>
        <p:nvSpPr>
          <p:cNvPr id="7" name="TextBox 6"/>
          <p:cNvSpPr txBox="1"/>
          <p:nvPr/>
        </p:nvSpPr>
        <p:spPr>
          <a:xfrm>
            <a:off x="6324447" y="2519883"/>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 not hold as written</a:t>
            </a:r>
          </a:p>
        </p:txBody>
      </p:sp>
      <p:sp>
        <p:nvSpPr>
          <p:cNvPr id="8" name="Rectangle 7"/>
          <p:cNvSpPr/>
          <p:nvPr/>
        </p:nvSpPr>
        <p:spPr>
          <a:xfrm>
            <a:off x="6324447" y="2931363"/>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3068523"/>
            <a:ext cx="5044287" cy="316016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 hardness ranking counts a command in the fix as the problem.</a:t>
            </a:r>
          </a:p>
          <a:p>
            <a:pPr algn="l">
              <a:lnSpc>
                <a:spcPct val="112000"/>
              </a:lnSpc>
              <a:spcBef>
                <a:spcPts val="800"/>
              </a:spcBef>
            </a:pPr>
            <a:r>
              <a:rPr sz="1600" b="0" i="0">
                <a:solidFill>
                  <a:srgbClr val="111111"/>
                </a:solidFill>
                <a:latin typeface="Inter"/>
              </a:rPr>
              <a:t>✗ The most-viewed ranking rests on a few posts; one post lifts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That developers learn on their own was asked of people found on Stack Overflow.</a:t>
            </a:r>
          </a:p>
          <a:p>
            <a:pPr algn="l">
              <a:lnSpc>
                <a:spcPct val="112000"/>
              </a:lnSpc>
              <a:spcBef>
                <a:spcPts val="800"/>
              </a:spcBef>
            </a:pPr>
            <a:r>
              <a:rPr sz="1600" b="0" i="0">
                <a:solidFill>
                  <a:srgbClr val="111111"/>
                </a:solidFill>
                <a:latin typeface="Inter"/>
              </a:rPr>
              <a:t>✗ The comment categories have no stated method, and the “doubts” are self-ratings.</a:t>
            </a:r>
          </a:p>
          <a:p>
            <a:pPr algn="l">
              <a:lnSpc>
                <a:spcPct val="112000"/>
              </a:lnSpc>
              <a:spcBef>
                <a:spcPts val="800"/>
              </a:spcBef>
            </a:pPr>
            <a:r>
              <a:rPr sz="1600" b="0" i="0">
                <a:solidFill>
                  <a:srgbClr val="111111"/>
                </a:solidFill>
                <a:latin typeface="Inter"/>
              </a:rPr>
              <a:t>✗ The title’s question stays open, because nobody was watched.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On your laptop, finish this sentence in one line of your own.</a:t>
            </a:r>
          </a:p>
          <a:p>
            <a:pPr algn="l">
              <a:lnSpc>
                <a:spcPct val="112000"/>
              </a:lnSpc>
              <a:spcBef>
                <a:spcPts val="1000"/>
              </a:spcBef>
            </a:pPr>
            <a:r>
              <a:rPr sz="2200" b="0" i="0">
                <a:solidFill>
                  <a:srgbClr val="111111"/>
                </a:solidFill>
                <a:latin typeface="Inter"/>
              </a:rPr>
              <a:t>When you build a tool for people,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Thank you</a:t>
            </a:r>
          </a:p>
        </p:txBody>
      </p:sp>
      <p:sp>
        <p:nvSpPr>
          <p:cNvPr id="4" name="TextBox 3"/>
          <p:cNvSpPr txBox="1"/>
          <p:nvPr/>
        </p:nvSpPr>
        <p:spPr>
          <a:xfrm>
            <a:off x="822960" y="3559088"/>
            <a:ext cx="8647535" cy="894974"/>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What people ask shows where they get stuck, not what they can 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