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Yang, Zhang, Pan, Xu, Zhou, Huang. ACM TOSEM 2022. Data: github.com/gitcommandstudy/gitcommands.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Tuesday you used Git. Today we read a study of what people ask about Git: how it was done, then we check it ourselves, judge its claims, and design a better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paper’s real survey questions. The projector shows totals only. We compare you with the 92 later.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Just tell them; there is no quiz here. Nobody was watched using Git: the data is questions people asked, plus a survey. The count is a text match; nobody reads a question to decide what it is about. Two raters did check that the questions are about Git commands at all (Cohen’s kappa 0.844). The survey went to recent Stack Overflow askers and some researchers.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their five findings. “Most viewed” is an average over commands with 200 or more questions. “Hardest” means most often without an accepted answer. Today we check whether the data supports each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81.7% is 161 of 197 ticked boxes; by people, 85 of 92 ticked the internet. Sarah’s point: the question shapes the answer, so be careful with self-ratings.</a:t>
            </a:r>
          </a:p>
          <a:p/>
          <a:p>
            <a:r>
              <a:t>Ask: Would you trust your own answers?</a:t>
            </a:r>
          </a:p>
          <a:p/>
          <a:p>
            <a:r>
              <a:t>Hope to hear: Not fully. A level is a judgment, and “how I learned” is a memory, shaped by the options on the 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Real posts from the paper’s data, drawn at random from short, answered posts. Read the question, then the answer, then pick one label.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“Needs it but doesn’t know it” is real evidence too: it supports the paper’s idea of recommending commands (§4.1). Our re-run of their rule: the most-viewed question, “How do I undo the most recent local commits?” (9.1 million views), names no command; without it, git reflog falls from #2 to #8.</a:t>
            </a:r>
          </a:p>
          <a:p/>
          <a:p>
            <a:r>
              <a:t>Ask: Did the paper measure which commands are hard?</a:t>
            </a:r>
          </a:p>
          <a:p/>
          <a:p>
            <a:r>
              <a:t>Hope to hear: No. It measured where a command’s name appears.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are the example comments from the paper’s Table 8. Work alone, quickly.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point: a feeling is not a method. The paper sorted 65 comments “for better delivery purposes”, with no method named. It did measure agreement elsewhere (Cohen’s kappa 0.844, §2.1).</a:t>
            </a:r>
          </a:p>
          <a:p/>
          <a:p>
            <a:r>
              <a:t>Ask: Would another team get the same categories?</a:t>
            </a:r>
          </a:p>
          <a:p/>
          <a:p>
            <a:r>
              <a:t>Hope to hear: Maybe not. That is why you name a method and report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you press Next: everyone opens the /thu tab again, and “here” on your console matches the room. Groups form when you press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claim per group. Everything they need is on their screen: the claim and the facts behind it. Nobody needs the paper.</a:t>
            </a:r>
          </a:p>
          <a:p/>
          <a:p>
            <a:r>
              <a:t>The facts each group sees with its claim:</a:t>
            </a:r>
          </a:p>
          <a:p>
            <a:r>
              <a:t>- "This suggests that even developers with years of development experience can have trouble using Git commands." The authors measured experience as the years since the asker joined Stack Overflow. In 2020, 40.0% of Git askers had joined more than 5 years earlier. Among all Stack Overflow askers, 21.2% had. The authors themselves call this a stand-in for experience. Two askers are quoted saying they have programmed for years and still struggle with Git.</a:t>
            </a:r>
          </a:p>
          <a:p>
            <a:r>
              <a:t>- "…for the more frequently-used commands, git credential and git submodule are among the most difficult ones." “Difficult” was measured as the share of a command’s questions where the asker never marked an answer as accepted. git credential: 43.0% of 328 questions. git submodule: 37.5% of 2,911. All Git questions together: 36.5% (our count on the paper’s data). A question counts for a command when the command’s name appears in the question or in its accepted answer. Accepting an answer is one click by the asker. The authors note askers may forget it.</a:t>
            </a:r>
          </a:p>
          <a:p>
            <a:r>
              <a:t>- "Self-learning is the primary learning approach." The survey was sent to 508 people. 92 answered. The people invited were developers who had recently asked a Git question on Stack Overflow, plus some researchers. Of all the learning approaches ticked, 81.7% were self-learning (161 of 197 ticks). By people: 85 of 92 ticked the internet, 76 the documentation.</a:t>
            </a:r>
          </a:p>
          <a:p>
            <a:r>
              <a:t>- "This result, although surprising, is consistent with the conclusion we obtained in RQ2, indicating that even experienced developers still have doubts about Git usage." The 92 rated their own Git level on a five-step scale: novice, advanced beginner, competent, proficient, expert. 79 of 92 chose competent or below. Many of them had used Git for more than five years. Nobody’s Git skill was tested.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each group’s sentence, then the model answer. Students see the reasons on their laptops. Be fair: the authors flag the account-age proxy themselves (§5).</a:t>
            </a:r>
          </a:p>
          <a:p/>
          <a:p>
            <a:r>
              <a:t>Ask: Which claim holds up best?</a:t>
            </a:r>
          </a:p>
          <a:p/>
          <a:p>
            <a:r>
              <a:t>Hope to hear: The experience claim, because it asks for little. The other three shrink to what was measured.</a:t>
            </a:r>
          </a:p>
          <a:p/>
          <a:p>
            <a:r>
              <a:t>Each claim: what they measured, and why it shrinks.</a:t>
            </a:r>
          </a:p>
          <a:p>
            <a:r>
              <a:t>- "This suggests that even developers with years of development experience can have trouble using Git commands." Measured: The years since the asker joined Stack Overflow. It holds because “can have trouble” asks for very little. But the age of an account is not Git experience: an experienced programmer can be new to Git, like the Microsoft teams in Tuesday’s paper.</a:t>
            </a:r>
          </a:p>
          <a:p>
            <a:r>
              <a:t>- "…for the more frequently-used commands, git credential and git submodule are among the most difficult ones." Measured: The share of a command’s questions that have no accepted answer. Accepting an answer is one click by the asker, and it is often forgotten. And a post counted through its accepted answer has one by definition, so commands that appear in fixes look easy.</a:t>
            </a:r>
          </a:p>
          <a:p>
            <a:r>
              <a:t>- "Self-learning is the primary learning approach." Measured: The boxes that 92 people ticked about how they learned Git. Most of the 92 were found through Stack Overflow, so people who learn from the internet are over-represented. And how one learned Git is a memory, not a record.</a:t>
            </a:r>
          </a:p>
          <a:p>
            <a:r>
              <a:t>- "This result, although surprising, is consistent with the conclusion we obtained in RQ2, indicating that even experienced developers still have doubts about Git usage." Measured: People rating their own Git level, from novice to expert. A self-rating is a judgment, moved by modesty and by the wording of the levels. It measures neither doubts nor skill.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Ask them: why do people have to ask how to undo? The most-viewed question asks how to undo the last commit; its accepted answer’s fix is git reset HEAD~, and its further reading points to git reflog. Asking can find a need; only a test with real users shows that a fix works. Tuesday’s Safety diary was the reflog on screen.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group at a time: change, test, measure and risk, data. Git itself added git switch and git restore in 2019; only a test with users could tell whether they helped. Jujutsu (jj) has an operation log and jj undo. In 2020 a developer “working with Git for years” asked what git checkout [file] does next to git restore (the paper’s reference [41]): new commands bring new questions.</a:t>
            </a:r>
          </a:p>
          <a:p/>
          <a:p>
            <a:r>
              <a:t>Ask: Which of these could you test by watching people?</a:t>
            </a:r>
          </a:p>
          <a:p/>
          <a:p>
            <a:r>
              <a:t>Hope to hear: The ones with a measure you can see: time to recover, or recoveries that 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 fair to the authors: finding needs from public data is useful, and they published their data. What breaks is turning counts of questions into claims about difficulty and skill.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Sarah’s bar: nobody leaves without a new idea about designing tools for people.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Export the answers from Details, then Reset.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2011680"/>
            <a:ext cx="10545775" cy="1280160"/>
          </a:xfrm>
          <a:prstGeom prst="rect">
            <a:avLst/>
          </a:prstGeom>
          <a:noFill/>
        </p:spPr>
        <p:txBody>
          <a:bodyPr wrap="square" anchor="b" lIns="0" rIns="0" tIns="0" bIns="0"/>
          <a:lstStyle/>
          <a:p>
            <a:pPr algn="l">
              <a:lnSpc>
                <a:spcPct val="110000"/>
              </a:lnSpc>
            </a:pPr>
            <a:r>
              <a:rPr sz="6400" b="1">
                <a:solidFill>
                  <a:srgbClr val="111111"/>
                </a:solidFill>
                <a:latin typeface="Inter"/>
              </a:rPr>
              <a:t>Git, Part 2: The Humans</a:t>
            </a:r>
          </a:p>
        </p:txBody>
      </p:sp>
      <p:sp>
        <p:nvSpPr>
          <p:cNvPr id="3" name="TextBox 2"/>
          <p:cNvSpPr txBox="1"/>
          <p:nvPr/>
        </p:nvSpPr>
        <p:spPr>
          <a:xfrm>
            <a:off x="822960" y="3520440"/>
            <a:ext cx="10545775" cy="1097280"/>
          </a:xfrm>
          <a:prstGeom prst="rect">
            <a:avLst/>
          </a:prstGeom>
          <a:noFill/>
        </p:spPr>
        <p:txBody>
          <a:bodyPr wrap="square" anchor="t" lIns="0" rIns="0" tIns="0" bIns="0"/>
          <a:lstStyle/>
          <a:p>
            <a:pPr algn="l">
              <a:lnSpc>
                <a:spcPct val="110000"/>
              </a:lnSpc>
            </a:pPr>
            <a:r>
              <a:rPr sz="2600" b="0">
                <a:solidFill>
                  <a:srgbClr val="707078"/>
                </a:solidFill>
                <a:latin typeface="Inter"/>
              </a:rPr>
              <a:t>User Study Day · Do Developers Really Know How to Use Git Commands? A Large-Scale Study Using Stack Overflow</a:t>
            </a:r>
          </a:p>
        </p:txBody>
      </p:sp>
      <p:sp>
        <p:nvSpPr>
          <p:cNvPr id="4" name="Rectangle 3"/>
          <p:cNvSpPr/>
          <p:nvPr/>
        </p:nvSpPr>
        <p:spPr>
          <a:xfrm>
            <a:off x="0" y="6309360"/>
            <a:ext cx="12191695" cy="548640"/>
          </a:xfrm>
          <a:prstGeom prst="rect">
            <a:avLst/>
          </a:prstGeom>
          <a:solidFill>
            <a:srgbClr val="8B3DFF"/>
          </a:solidFill>
          <a:ln>
            <a:noFill/>
          </a:ln>
        </p:spPr>
        <p:txBody>
          <a:bodyPr rtlCol="0" anchor="ctr"/>
          <a:lstStyle/>
          <a:p>
            <a:pPr algn="ctr"/>
          </a:p>
        </p:txBody>
      </p:sp>
      <p:sp>
        <p:nvSpPr>
          <p:cNvPr id="5" name="TextBox 4"/>
          <p:cNvSpPr txBox="1"/>
          <p:nvPr/>
        </p:nvSpPr>
        <p:spPr>
          <a:xfrm>
            <a:off x="822960" y="6309360"/>
            <a:ext cx="10545775" cy="548640"/>
          </a:xfrm>
          <a:prstGeom prst="rect">
            <a:avLst/>
          </a:prstGeom>
          <a:noFill/>
        </p:spPr>
        <p:txBody>
          <a:bodyPr wrap="square" anchor="ctr" lIns="0" rIns="0" tIns="0" bIns="0"/>
          <a:lstStyle/>
          <a:p>
            <a:pPr algn="l">
              <a:lnSpc>
                <a:spcPct val="110000"/>
              </a:lnSpc>
            </a:pPr>
            <a:r>
              <a:rPr sz="1800" b="0">
                <a:solidFill>
                  <a:srgbClr val="FFFFFF"/>
                </a:solidFill>
                <a:latin typeface="Inter"/>
              </a:rPr>
              <a:t>CS294 Modern Programming Tools · Thursday · 80 minutes (74 + 6 of buffer)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 · GIT, PART 2</a:t>
            </a:r>
          </a:p>
        </p:txBody>
      </p:sp>
      <p:sp>
        <p:nvSpPr>
          <p:cNvPr id="3" name="TextBox 2"/>
          <p:cNvSpPr txBox="1"/>
          <p:nvPr/>
        </p:nvSpPr>
        <p:spPr>
          <a:xfrm>
            <a:off x="822960" y="1097280"/>
            <a:ext cx="10545775" cy="1463040"/>
          </a:xfrm>
          <a:prstGeom prst="rect">
            <a:avLst/>
          </a:prstGeom>
          <a:noFill/>
        </p:spPr>
        <p:txBody>
          <a:bodyPr wrap="square" anchor="t" lIns="0" rIns="0" tIns="0" bIns="0"/>
          <a:lstStyle/>
          <a:p>
            <a:pPr algn="l">
              <a:lnSpc>
                <a:spcPct val="110000"/>
              </a:lnSpc>
            </a:pPr>
            <a:r>
              <a:rPr sz="8000" b="1">
                <a:solidFill>
                  <a:srgbClr val="111111"/>
                </a:solidFill>
                <a:latin typeface="Inter"/>
              </a:rPr>
              <a:t>A study of Git users</a:t>
            </a:r>
          </a:p>
        </p:txBody>
      </p:sp>
      <p:sp>
        <p:nvSpPr>
          <p:cNvPr id="4" name="TextBox 3"/>
          <p:cNvSpPr txBox="1"/>
          <p:nvPr/>
        </p:nvSpPr>
        <p:spPr>
          <a:xfrm>
            <a:off x="822960" y="3017520"/>
            <a:ext cx="8647535" cy="1032662"/>
          </a:xfrm>
          <a:prstGeom prst="rect">
            <a:avLst/>
          </a:prstGeom>
          <a:noFill/>
        </p:spPr>
        <p:txBody>
          <a:bodyPr wrap="square" anchor="t" lIns="0" rIns="0" tIns="0" bIns="0"/>
          <a:lstStyle/>
          <a:p>
            <a:pPr algn="l">
              <a:lnSpc>
                <a:spcPct val="112000"/>
              </a:lnSpc>
              <a:spcBef>
                <a:spcPts val="0"/>
              </a:spcBef>
            </a:pPr>
            <a:r>
              <a:rPr sz="3000" b="0" i="0">
                <a:solidFill>
                  <a:srgbClr val="111111"/>
                </a:solidFill>
                <a:latin typeface="Inter"/>
              </a:rPr>
              <a:t>Open the class link (it ends in /thu) and type your first name.</a:t>
            </a:r>
          </a:p>
        </p:txBody>
      </p:sp>
      <p:sp>
        <p:nvSpPr>
          <p:cNvPr id="5" name="TextBox 4"/>
          <p:cNvSpPr txBox="1"/>
          <p:nvPr/>
        </p:nvSpPr>
        <p:spPr>
          <a:xfrm>
            <a:off x="822960" y="4324502"/>
            <a:ext cx="8647535" cy="980195"/>
          </a:xfrm>
          <a:prstGeom prst="rect">
            <a:avLst/>
          </a:prstGeom>
          <a:noFill/>
        </p:spPr>
        <p:txBody>
          <a:bodyPr wrap="square" anchor="t" lIns="0" rIns="0" tIns="0" bIns="0"/>
          <a:lstStyle/>
          <a:p>
            <a:pPr algn="l">
              <a:lnSpc>
                <a:spcPct val="112000"/>
              </a:lnSpc>
              <a:spcBef>
                <a:spcPts val="0"/>
              </a:spcBef>
            </a:pPr>
            <a:r>
              <a:rPr sz="1800" b="0" i="0">
                <a:solidFill>
                  <a:srgbClr val="707078"/>
                </a:solidFill>
                <a:latin typeface="Inter"/>
              </a:rPr>
              <a:t>Do Developers Really Know How to Use Git Commands? A Large-Scale Study Using Stack Overflow</a:t>
            </a:r>
          </a:p>
          <a:p>
            <a:pPr algn="l">
              <a:lnSpc>
                <a:spcPct val="112000"/>
              </a:lnSpc>
              <a:spcBef>
                <a:spcPts val="400"/>
              </a:spcBef>
            </a:pPr>
            <a:r>
              <a:rPr sz="1800" b="0" i="0">
                <a:solidFill>
                  <a:srgbClr val="707078"/>
                </a:solidFill>
                <a:latin typeface="Inter"/>
              </a:rPr>
              <a:t>Yang, Zhang, Pan, Xu, Zhou, Huang · ACM TOSEM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WARM-UP</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4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Take the paper’s survey</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These are the paper’s survey questions, which 92 developers answered.</a:t>
            </a:r>
          </a:p>
          <a:p>
            <a:pPr algn="l">
              <a:lnSpc>
                <a:spcPct val="112000"/>
              </a:lnSpc>
              <a:spcBef>
                <a:spcPts val="1000"/>
              </a:spcBef>
            </a:pPr>
            <a:r>
              <a:rPr sz="2200" b="0" i="0">
                <a:solidFill>
                  <a:srgbClr val="111111"/>
                </a:solidFill>
                <a:latin typeface="Inter"/>
              </a:rPr>
              <a:t>Answer them for yourself on your laptop.</a:t>
            </a:r>
          </a:p>
        </p:txBody>
      </p:sp>
      <p:sp>
        <p:nvSpPr>
          <p:cNvPr id="6" name="TextBox 5"/>
          <p:cNvSpPr txBox="1"/>
          <p:nvPr/>
        </p:nvSpPr>
        <p:spPr>
          <a:xfrm>
            <a:off x="822960" y="3322968"/>
            <a:ext cx="8647535" cy="1969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2. What is your professional area?</a:t>
            </a:r>
          </a:p>
          <a:p>
            <a:pPr algn="l">
              <a:lnSpc>
                <a:spcPct val="112000"/>
              </a:lnSpc>
              <a:spcBef>
                <a:spcPts val="500"/>
              </a:spcBef>
            </a:pPr>
            <a:r>
              <a:rPr sz="1600" b="0" i="0">
                <a:solidFill>
                  <a:srgbClr val="111111"/>
                </a:solidFill>
                <a:latin typeface="Inter"/>
              </a:rPr>
              <a:t>3. What is your highest degree?</a:t>
            </a:r>
          </a:p>
          <a:p>
            <a:pPr algn="l">
              <a:lnSpc>
                <a:spcPct val="112000"/>
              </a:lnSpc>
              <a:spcBef>
                <a:spcPts val="500"/>
              </a:spcBef>
            </a:pPr>
            <a:r>
              <a:rPr sz="1600" b="0" i="0">
                <a:solidFill>
                  <a:srgbClr val="111111"/>
                </a:solidFill>
                <a:latin typeface="Inter"/>
              </a:rPr>
              <a:t>4. How many years have you been using Git?</a:t>
            </a:r>
          </a:p>
          <a:p>
            <a:pPr algn="l">
              <a:lnSpc>
                <a:spcPct val="112000"/>
              </a:lnSpc>
              <a:spcBef>
                <a:spcPts val="500"/>
              </a:spcBef>
            </a:pPr>
            <a:r>
              <a:rPr sz="1600" b="0" i="0">
                <a:solidFill>
                  <a:srgbClr val="111111"/>
                </a:solidFill>
                <a:latin typeface="Inter"/>
              </a:rPr>
              <a:t>5. Which of the following levels do you consider your ability to use Git to be?</a:t>
            </a:r>
          </a:p>
          <a:p>
            <a:pPr algn="l">
              <a:lnSpc>
                <a:spcPct val="112000"/>
              </a:lnSpc>
              <a:spcBef>
                <a:spcPts val="500"/>
              </a:spcBef>
            </a:pPr>
            <a:r>
              <a:rPr sz="1600" b="0" i="0">
                <a:solidFill>
                  <a:srgbClr val="111111"/>
                </a:solidFill>
                <a:latin typeface="Inter"/>
              </a:rPr>
              <a:t>6. What are the main approaches you used to learn Git commands?</a:t>
            </a:r>
          </a:p>
          <a:p>
            <a:pPr algn="l">
              <a:lnSpc>
                <a:spcPct val="112000"/>
              </a:lnSpc>
              <a:spcBef>
                <a:spcPts val="500"/>
              </a:spcBef>
            </a:pPr>
            <a:r>
              <a:rPr sz="1600" b="0" i="0">
                <a:solidFill>
                  <a:srgbClr val="111111"/>
                </a:solidFill>
                <a:latin typeface="Inter"/>
              </a:rPr>
              <a:t>7. Do you have any suggestions for potential new developers on learning Git commands</a:t>
            </a:r>
          </a:p>
        </p:txBody>
      </p:sp>
      <p:sp>
        <p:nvSpPr>
          <p:cNvPr id="7" name="TextBox 6"/>
          <p:cNvSpPr txBox="1"/>
          <p:nvPr/>
        </p:nvSpPr>
        <p:spPr>
          <a:xfrm>
            <a:off x="822960" y="5429884"/>
            <a:ext cx="864753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Q1 of the form, the donation choice, is left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How the study was done</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Collect</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authors collected 80,370 Stack Overflow questions about Git commands, asked between 2008 and 2020.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Count</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A question counts for a command when the command’s name appears in the question or in its accepted answer.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Measure</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For each command they measured how often its questions were viewed, and how often a question had no accepted answer.</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Survey</a:t>
            </a:r>
          </a:p>
        </p:txBody>
      </p:sp>
      <p:sp>
        <p:nvSpPr>
          <p:cNvPr id="15" name="TextBox 14"/>
          <p:cNvSpPr txBox="1"/>
          <p:nvPr/>
        </p:nvSpPr>
        <p:spPr>
          <a:xfrm>
            <a:off x="3474720" y="4536844"/>
            <a:ext cx="7802575" cy="344220"/>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They also sent a survey to 508 developers, and 92 answered.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the paper found</a:t>
            </a:r>
          </a:p>
        </p:txBody>
      </p:sp>
      <p:sp>
        <p:nvSpPr>
          <p:cNvPr id="4" name="Rectangle 3"/>
          <p:cNvSpPr/>
          <p:nvPr/>
        </p:nvSpPr>
        <p:spPr>
          <a:xfrm>
            <a:off x="822960" y="1831441"/>
            <a:ext cx="10545775" cy="9525"/>
          </a:xfrm>
          <a:prstGeom prst="rect">
            <a:avLst/>
          </a:prstGeom>
          <a:solidFill>
            <a:srgbClr val="D9D9DE"/>
          </a:solidFill>
          <a:ln>
            <a:noFill/>
          </a:ln>
        </p:spPr>
        <p:txBody>
          <a:bodyPr rtlCol="0" anchor="ctr"/>
          <a:lstStyle/>
          <a:p>
            <a:pPr algn="ctr"/>
          </a:p>
        </p:txBody>
      </p:sp>
      <p:sp>
        <p:nvSpPr>
          <p:cNvPr id="5" name="TextBox 4"/>
          <p:cNvSpPr txBox="1"/>
          <p:nvPr/>
        </p:nvSpPr>
        <p:spPr>
          <a:xfrm>
            <a:off x="914400" y="1922881"/>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many</a:t>
            </a:r>
          </a:p>
        </p:txBody>
      </p:sp>
      <p:sp>
        <p:nvSpPr>
          <p:cNvPr id="6" name="TextBox 5"/>
          <p:cNvSpPr txBox="1"/>
          <p:nvPr/>
        </p:nvSpPr>
        <p:spPr>
          <a:xfrm>
            <a:off x="3474720" y="1922881"/>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Git questions have been a steady 0.4% of all Stack Overflow questions each year since 2010.</a:t>
            </a:r>
          </a:p>
        </p:txBody>
      </p:sp>
      <p:sp>
        <p:nvSpPr>
          <p:cNvPr id="7" name="Rectangle 6"/>
          <p:cNvSpPr/>
          <p:nvPr/>
        </p:nvSpPr>
        <p:spPr>
          <a:xfrm>
            <a:off x="822960" y="2702762"/>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914400" y="2794202"/>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Who asks</a:t>
            </a:r>
          </a:p>
        </p:txBody>
      </p:sp>
      <p:sp>
        <p:nvSpPr>
          <p:cNvPr id="9" name="TextBox 8"/>
          <p:cNvSpPr txBox="1"/>
          <p:nvPr/>
        </p:nvSpPr>
        <p:spPr>
          <a:xfrm>
            <a:off x="3474720" y="2794202"/>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Many askers have old Stack Overflow accounts. In 2020, 40% had joined more than 5 years earlier.</a:t>
            </a:r>
          </a:p>
        </p:txBody>
      </p:sp>
      <p:sp>
        <p:nvSpPr>
          <p:cNvPr id="10" name="Rectangle 9"/>
          <p:cNvSpPr/>
          <p:nvPr/>
        </p:nvSpPr>
        <p:spPr>
          <a:xfrm>
            <a:off x="822960" y="3574083"/>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914400" y="3665523"/>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Most viewed</a:t>
            </a:r>
          </a:p>
        </p:txBody>
      </p:sp>
      <p:sp>
        <p:nvSpPr>
          <p:cNvPr id="12" name="TextBox 11"/>
          <p:cNvSpPr txBox="1"/>
          <p:nvPr/>
        </p:nvSpPr>
        <p:spPr>
          <a:xfrm>
            <a:off x="3474720" y="3665523"/>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most-viewed commands are mostly about undoing work: </a:t>
            </a:r>
            <a:r>
              <a:rPr sz="2000" b="0" i="0">
                <a:solidFill>
                  <a:srgbClr val="111111"/>
                </a:solidFill>
                <a:latin typeface="Noto Sans Mono"/>
              </a:rPr>
              <a:t>revert</a:t>
            </a:r>
            <a:r>
              <a:rPr sz="2000" b="0" i="0">
                <a:solidFill>
                  <a:srgbClr val="111111"/>
                </a:solidFill>
                <a:latin typeface="Inter"/>
              </a:rPr>
              <a:t>, </a:t>
            </a:r>
            <a:r>
              <a:rPr sz="2000" b="0" i="0">
                <a:solidFill>
                  <a:srgbClr val="111111"/>
                </a:solidFill>
                <a:latin typeface="Noto Sans Mono"/>
              </a:rPr>
              <a:t>reflog</a:t>
            </a:r>
            <a:r>
              <a:rPr sz="2000" b="0" i="0">
                <a:solidFill>
                  <a:srgbClr val="111111"/>
                </a:solidFill>
                <a:latin typeface="Inter"/>
              </a:rPr>
              <a:t>, </a:t>
            </a:r>
            <a:r>
              <a:rPr sz="2000" b="0" i="0">
                <a:solidFill>
                  <a:srgbClr val="111111"/>
                </a:solidFill>
                <a:latin typeface="Noto Sans Mono"/>
              </a:rPr>
              <a:t>stash</a:t>
            </a:r>
            <a:r>
              <a:rPr sz="2000" b="0" i="0">
                <a:solidFill>
                  <a:srgbClr val="111111"/>
                </a:solidFill>
                <a:latin typeface="Inter"/>
              </a:rPr>
              <a:t>, </a:t>
            </a:r>
            <a:r>
              <a:rPr sz="2000" b="0" i="0">
                <a:solidFill>
                  <a:srgbClr val="111111"/>
                </a:solidFill>
                <a:latin typeface="Noto Sans Mono"/>
              </a:rPr>
              <a:t>clean</a:t>
            </a:r>
            <a:r>
              <a:rPr sz="2000" b="0" i="0">
                <a:solidFill>
                  <a:srgbClr val="111111"/>
                </a:solidFill>
                <a:latin typeface="Inter"/>
              </a:rPr>
              <a:t> and </a:t>
            </a:r>
            <a:r>
              <a:rPr sz="2000" b="0" i="0">
                <a:solidFill>
                  <a:srgbClr val="111111"/>
                </a:solidFill>
                <a:latin typeface="Noto Sans Mono"/>
              </a:rPr>
              <a:t>reset</a:t>
            </a:r>
            <a:r>
              <a:rPr sz="2000" b="0" i="0">
                <a:solidFill>
                  <a:srgbClr val="111111"/>
                </a:solidFill>
                <a:latin typeface="Inter"/>
              </a:rPr>
              <a:t>.</a:t>
            </a:r>
          </a:p>
        </p:txBody>
      </p:sp>
      <p:sp>
        <p:nvSpPr>
          <p:cNvPr id="13" name="Rectangle 12"/>
          <p:cNvSpPr/>
          <p:nvPr/>
        </p:nvSpPr>
        <p:spPr>
          <a:xfrm>
            <a:off x="822960" y="4445404"/>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914400" y="4536844"/>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Hardest</a:t>
            </a:r>
          </a:p>
        </p:txBody>
      </p:sp>
      <p:sp>
        <p:nvSpPr>
          <p:cNvPr id="15" name="TextBox 14"/>
          <p:cNvSpPr txBox="1"/>
          <p:nvPr/>
        </p:nvSpPr>
        <p:spPr>
          <a:xfrm>
            <a:off x="3474720" y="4536844"/>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Rare commands most often lack an accepted answer. Among common commands, </a:t>
            </a:r>
            <a:r>
              <a:rPr sz="2000" b="0" i="0">
                <a:solidFill>
                  <a:srgbClr val="111111"/>
                </a:solidFill>
                <a:latin typeface="Noto Sans Mono"/>
              </a:rPr>
              <a:t>credential</a:t>
            </a:r>
            <a:r>
              <a:rPr sz="2000" b="0" i="0">
                <a:solidFill>
                  <a:srgbClr val="111111"/>
                </a:solidFill>
                <a:latin typeface="Inter"/>
              </a:rPr>
              <a:t> and </a:t>
            </a:r>
            <a:r>
              <a:rPr sz="2000" b="0" i="0">
                <a:solidFill>
                  <a:srgbClr val="111111"/>
                </a:solidFill>
                <a:latin typeface="Noto Sans Mono"/>
              </a:rPr>
              <a:t>submodule</a:t>
            </a:r>
            <a:r>
              <a:rPr sz="2000" b="0" i="0">
                <a:solidFill>
                  <a:srgbClr val="111111"/>
                </a:solidFill>
                <a:latin typeface="Inter"/>
              </a:rPr>
              <a:t> do.</a:t>
            </a:r>
          </a:p>
        </p:txBody>
      </p:sp>
      <p:sp>
        <p:nvSpPr>
          <p:cNvPr id="16" name="Rectangle 15"/>
          <p:cNvSpPr/>
          <p:nvPr/>
        </p:nvSpPr>
        <p:spPr>
          <a:xfrm>
            <a:off x="822960" y="5316725"/>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914400" y="5408165"/>
            <a:ext cx="2377440" cy="344220"/>
          </a:xfrm>
          <a:prstGeom prst="rect">
            <a:avLst/>
          </a:prstGeom>
          <a:noFill/>
        </p:spPr>
        <p:txBody>
          <a:bodyPr wrap="square" anchor="t" lIns="0" rIns="0" tIns="0" bIns="0"/>
          <a:lstStyle/>
          <a:p>
            <a:pPr algn="l">
              <a:lnSpc>
                <a:spcPct val="112000"/>
              </a:lnSpc>
              <a:spcBef>
                <a:spcPts val="0"/>
              </a:spcBef>
            </a:pPr>
            <a:r>
              <a:rPr sz="2000" b="1" i="0">
                <a:solidFill>
                  <a:srgbClr val="111111"/>
                </a:solidFill>
                <a:latin typeface="Inter"/>
              </a:rPr>
              <a:t>How people learn</a:t>
            </a:r>
          </a:p>
        </p:txBody>
      </p:sp>
      <p:sp>
        <p:nvSpPr>
          <p:cNvPr id="18" name="TextBox 17"/>
          <p:cNvSpPr txBox="1"/>
          <p:nvPr/>
        </p:nvSpPr>
        <p:spPr>
          <a:xfrm>
            <a:off x="3474720" y="5408165"/>
            <a:ext cx="7802575" cy="68844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The 92 surveyed say they learned mostly on their own: 81.7% of the boxes they ticked were self-learning.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1 · THE STUDY</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answers next to the paper’s 92</a:t>
            </a:r>
          </a:p>
        </p:txBody>
      </p:sp>
      <p:sp>
        <p:nvSpPr>
          <p:cNvPr id="4" name="TextBox 3"/>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paper’s 92 were found mostly through Stack Overflow.</a:t>
            </a:r>
          </a:p>
          <a:p>
            <a:pPr algn="l">
              <a:lnSpc>
                <a:spcPct val="112000"/>
              </a:lnSpc>
              <a:spcBef>
                <a:spcPts val="1000"/>
              </a:spcBef>
            </a:pPr>
            <a:r>
              <a:rPr sz="1800" b="0" i="0">
                <a:solidFill>
                  <a:srgbClr val="111111"/>
                </a:solidFill>
                <a:latin typeface="Inter"/>
              </a:rPr>
              <a:t>Their answers, like yours, are self-ratings and memories.</a:t>
            </a:r>
          </a:p>
        </p:txBody>
      </p:sp>
      <p:sp>
        <p:nvSpPr>
          <p:cNvPr id="5" name="TextBox 4"/>
          <p:cNvSpPr txBox="1"/>
          <p:nvPr/>
        </p:nvSpPr>
        <p:spPr>
          <a:xfrm>
            <a:off x="822960"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HOW THEY LEARNED (SHARE OF PEOPLE)</a:t>
            </a:r>
          </a:p>
        </p:txBody>
      </p:sp>
      <p:sp>
        <p:nvSpPr>
          <p:cNvPr id="6" name="TextBox 5"/>
          <p:cNvSpPr txBox="1"/>
          <p:nvPr/>
        </p:nvSpPr>
        <p:spPr>
          <a:xfrm>
            <a:off x="822960"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class</a:t>
            </a:r>
          </a:p>
        </p:txBody>
      </p:sp>
      <p:sp>
        <p:nvSpPr>
          <p:cNvPr id="7" name="Rounded Rectangle 6"/>
          <p:cNvSpPr/>
          <p:nvPr/>
        </p:nvSpPr>
        <p:spPr>
          <a:xfrm>
            <a:off x="2743200" y="3227261"/>
            <a:ext cx="2255367" cy="182880"/>
          </a:xfrm>
          <a:prstGeom prst="roundRect">
            <a:avLst>
              <a:gd name="adj" fmla="val 50000"/>
            </a:avLst>
          </a:prstGeom>
          <a:solidFill>
            <a:srgbClr val="F6F6F8"/>
          </a:solidFill>
          <a:ln>
            <a:noFill/>
          </a:ln>
          <a:effectLst/>
        </p:spPr>
        <p:txBody>
          <a:bodyPr rtlCol="0" anchor="ctr"/>
          <a:lstStyle/>
          <a:p/>
        </p:txBody>
      </p:sp>
      <p:sp>
        <p:nvSpPr>
          <p:cNvPr id="8" name="Rounded Rectangle 7"/>
          <p:cNvSpPr/>
          <p:nvPr/>
        </p:nvSpPr>
        <p:spPr>
          <a:xfrm>
            <a:off x="2743200" y="3227261"/>
            <a:ext cx="196118" cy="182880"/>
          </a:xfrm>
          <a:prstGeom prst="roundRect">
            <a:avLst>
              <a:gd name="adj" fmla="val 50000"/>
            </a:avLst>
          </a:prstGeom>
          <a:solidFill>
            <a:srgbClr val="B9B9C2"/>
          </a:solidFill>
          <a:ln>
            <a:noFill/>
          </a:ln>
          <a:effectLst/>
        </p:spPr>
        <p:txBody>
          <a:bodyPr rtlCol="0" anchor="ctr"/>
          <a:lstStyle/>
          <a:p/>
        </p:txBody>
      </p:sp>
      <p:sp>
        <p:nvSpPr>
          <p:cNvPr id="9" name="TextBox 8"/>
          <p:cNvSpPr txBox="1"/>
          <p:nvPr/>
        </p:nvSpPr>
        <p:spPr>
          <a:xfrm>
            <a:off x="5090007"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a:t>
            </a:r>
          </a:p>
        </p:txBody>
      </p:sp>
      <p:sp>
        <p:nvSpPr>
          <p:cNvPr id="10" name="TextBox 9"/>
          <p:cNvSpPr txBox="1"/>
          <p:nvPr/>
        </p:nvSpPr>
        <p:spPr>
          <a:xfrm>
            <a:off x="822960"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Online courses</a:t>
            </a:r>
          </a:p>
        </p:txBody>
      </p:sp>
      <p:sp>
        <p:nvSpPr>
          <p:cNvPr id="11" name="Rounded Rectangle 10"/>
          <p:cNvSpPr/>
          <p:nvPr/>
        </p:nvSpPr>
        <p:spPr>
          <a:xfrm>
            <a:off x="2743200" y="3556445"/>
            <a:ext cx="2255367" cy="182880"/>
          </a:xfrm>
          <a:prstGeom prst="roundRect">
            <a:avLst>
              <a:gd name="adj" fmla="val 50000"/>
            </a:avLst>
          </a:prstGeom>
          <a:solidFill>
            <a:srgbClr val="F6F6F8"/>
          </a:solidFill>
          <a:ln>
            <a:noFill/>
          </a:ln>
          <a:effectLst/>
        </p:spPr>
        <p:txBody>
          <a:bodyPr rtlCol="0" anchor="ctr"/>
          <a:lstStyle/>
          <a:p/>
        </p:txBody>
      </p:sp>
      <p:sp>
        <p:nvSpPr>
          <p:cNvPr id="12" name="Rounded Rectangle 11"/>
          <p:cNvSpPr/>
          <p:nvPr/>
        </p:nvSpPr>
        <p:spPr>
          <a:xfrm>
            <a:off x="2743200" y="3556445"/>
            <a:ext cx="245148" cy="182880"/>
          </a:xfrm>
          <a:prstGeom prst="roundRect">
            <a:avLst>
              <a:gd name="adj" fmla="val 50000"/>
            </a:avLst>
          </a:prstGeom>
          <a:solidFill>
            <a:srgbClr val="B9B9C2"/>
          </a:solidFill>
          <a:ln>
            <a:noFill/>
          </a:ln>
          <a:effectLst/>
        </p:spPr>
        <p:txBody>
          <a:bodyPr rtlCol="0" anchor="ctr"/>
          <a:lstStyle/>
          <a:p/>
        </p:txBody>
      </p:sp>
      <p:sp>
        <p:nvSpPr>
          <p:cNvPr id="13" name="TextBox 12"/>
          <p:cNvSpPr txBox="1"/>
          <p:nvPr/>
        </p:nvSpPr>
        <p:spPr>
          <a:xfrm>
            <a:off x="5090007"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11%</a:t>
            </a:r>
          </a:p>
        </p:txBody>
      </p:sp>
      <p:sp>
        <p:nvSpPr>
          <p:cNvPr id="14" name="TextBox 13"/>
          <p:cNvSpPr txBox="1"/>
          <p:nvPr/>
        </p:nvSpPr>
        <p:spPr>
          <a:xfrm>
            <a:off x="822960"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Peers or seniors</a:t>
            </a:r>
          </a:p>
        </p:txBody>
      </p:sp>
      <p:sp>
        <p:nvSpPr>
          <p:cNvPr id="15" name="Rounded Rectangle 14"/>
          <p:cNvSpPr/>
          <p:nvPr/>
        </p:nvSpPr>
        <p:spPr>
          <a:xfrm>
            <a:off x="2743200" y="3885629"/>
            <a:ext cx="2255367" cy="182880"/>
          </a:xfrm>
          <a:prstGeom prst="roundRect">
            <a:avLst>
              <a:gd name="adj" fmla="val 50000"/>
            </a:avLst>
          </a:prstGeom>
          <a:solidFill>
            <a:srgbClr val="F6F6F8"/>
          </a:solidFill>
          <a:ln>
            <a:noFill/>
          </a:ln>
          <a:effectLst/>
        </p:spPr>
        <p:txBody>
          <a:bodyPr rtlCol="0" anchor="ctr"/>
          <a:lstStyle/>
          <a:p/>
        </p:txBody>
      </p:sp>
      <p:sp>
        <p:nvSpPr>
          <p:cNvPr id="16" name="Rounded Rectangle 15"/>
          <p:cNvSpPr/>
          <p:nvPr/>
        </p:nvSpPr>
        <p:spPr>
          <a:xfrm>
            <a:off x="2743200" y="3885629"/>
            <a:ext cx="367722" cy="182880"/>
          </a:xfrm>
          <a:prstGeom prst="roundRect">
            <a:avLst>
              <a:gd name="adj" fmla="val 50000"/>
            </a:avLst>
          </a:prstGeom>
          <a:solidFill>
            <a:srgbClr val="B9B9C2"/>
          </a:solidFill>
          <a:ln>
            <a:noFill/>
          </a:ln>
          <a:effectLst/>
        </p:spPr>
        <p:txBody>
          <a:bodyPr rtlCol="0" anchor="ctr"/>
          <a:lstStyle/>
          <a:p/>
        </p:txBody>
      </p:sp>
      <p:sp>
        <p:nvSpPr>
          <p:cNvPr id="17" name="TextBox 16"/>
          <p:cNvSpPr txBox="1"/>
          <p:nvPr/>
        </p:nvSpPr>
        <p:spPr>
          <a:xfrm>
            <a:off x="5090007"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16%</a:t>
            </a:r>
          </a:p>
        </p:txBody>
      </p:sp>
      <p:sp>
        <p:nvSpPr>
          <p:cNvPr id="18" name="TextBox 17"/>
          <p:cNvSpPr txBox="1"/>
          <p:nvPr/>
        </p:nvSpPr>
        <p:spPr>
          <a:xfrm>
            <a:off x="822960"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Documentation</a:t>
            </a:r>
          </a:p>
        </p:txBody>
      </p:sp>
      <p:sp>
        <p:nvSpPr>
          <p:cNvPr id="19" name="Rounded Rectangle 18"/>
          <p:cNvSpPr/>
          <p:nvPr/>
        </p:nvSpPr>
        <p:spPr>
          <a:xfrm>
            <a:off x="2743200" y="4214813"/>
            <a:ext cx="2255367" cy="182880"/>
          </a:xfrm>
          <a:prstGeom prst="roundRect">
            <a:avLst>
              <a:gd name="adj" fmla="val 50000"/>
            </a:avLst>
          </a:prstGeom>
          <a:solidFill>
            <a:srgbClr val="F6F6F8"/>
          </a:solidFill>
          <a:ln>
            <a:noFill/>
          </a:ln>
          <a:effectLst/>
        </p:spPr>
        <p:txBody>
          <a:bodyPr rtlCol="0" anchor="ctr"/>
          <a:lstStyle/>
          <a:p/>
        </p:txBody>
      </p:sp>
      <p:sp>
        <p:nvSpPr>
          <p:cNvPr id="20" name="Rounded Rectangle 19"/>
          <p:cNvSpPr/>
          <p:nvPr/>
        </p:nvSpPr>
        <p:spPr>
          <a:xfrm>
            <a:off x="2743200" y="4214813"/>
            <a:ext cx="1863129" cy="182880"/>
          </a:xfrm>
          <a:prstGeom prst="roundRect">
            <a:avLst>
              <a:gd name="adj" fmla="val 50000"/>
            </a:avLst>
          </a:prstGeom>
          <a:solidFill>
            <a:srgbClr val="B9B9C2"/>
          </a:solidFill>
          <a:ln>
            <a:noFill/>
          </a:ln>
          <a:effectLst/>
        </p:spPr>
        <p:txBody>
          <a:bodyPr rtlCol="0" anchor="ctr"/>
          <a:lstStyle/>
          <a:p/>
        </p:txBody>
      </p:sp>
      <p:sp>
        <p:nvSpPr>
          <p:cNvPr id="21" name="TextBox 20"/>
          <p:cNvSpPr txBox="1"/>
          <p:nvPr/>
        </p:nvSpPr>
        <p:spPr>
          <a:xfrm>
            <a:off x="5090007"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83%</a:t>
            </a:r>
          </a:p>
        </p:txBody>
      </p:sp>
      <p:sp>
        <p:nvSpPr>
          <p:cNvPr id="22" name="TextBox 21"/>
          <p:cNvSpPr txBox="1"/>
          <p:nvPr/>
        </p:nvSpPr>
        <p:spPr>
          <a:xfrm>
            <a:off x="822960"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Internet</a:t>
            </a:r>
          </a:p>
        </p:txBody>
      </p:sp>
      <p:sp>
        <p:nvSpPr>
          <p:cNvPr id="23" name="Rounded Rectangle 22"/>
          <p:cNvSpPr/>
          <p:nvPr/>
        </p:nvSpPr>
        <p:spPr>
          <a:xfrm>
            <a:off x="2743200" y="4543997"/>
            <a:ext cx="2255367" cy="182880"/>
          </a:xfrm>
          <a:prstGeom prst="roundRect">
            <a:avLst>
              <a:gd name="adj" fmla="val 50000"/>
            </a:avLst>
          </a:prstGeom>
          <a:solidFill>
            <a:srgbClr val="F6F6F8"/>
          </a:solidFill>
          <a:ln>
            <a:noFill/>
          </a:ln>
          <a:effectLst/>
        </p:spPr>
        <p:txBody>
          <a:bodyPr rtlCol="0" anchor="ctr"/>
          <a:lstStyle/>
          <a:p/>
        </p:txBody>
      </p:sp>
      <p:sp>
        <p:nvSpPr>
          <p:cNvPr id="24" name="Rounded Rectangle 23"/>
          <p:cNvSpPr/>
          <p:nvPr/>
        </p:nvSpPr>
        <p:spPr>
          <a:xfrm>
            <a:off x="2743200" y="4543997"/>
            <a:ext cx="2083762" cy="182880"/>
          </a:xfrm>
          <a:prstGeom prst="roundRect">
            <a:avLst>
              <a:gd name="adj" fmla="val 50000"/>
            </a:avLst>
          </a:prstGeom>
          <a:solidFill>
            <a:srgbClr val="B9B9C2"/>
          </a:solidFill>
          <a:ln>
            <a:noFill/>
          </a:ln>
          <a:effectLst/>
        </p:spPr>
        <p:txBody>
          <a:bodyPr rtlCol="0" anchor="ctr"/>
          <a:lstStyle/>
          <a:p/>
        </p:txBody>
      </p:sp>
      <p:sp>
        <p:nvSpPr>
          <p:cNvPr id="25" name="TextBox 24"/>
          <p:cNvSpPr txBox="1"/>
          <p:nvPr/>
        </p:nvSpPr>
        <p:spPr>
          <a:xfrm>
            <a:off x="5090007"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92%</a:t>
            </a:r>
          </a:p>
        </p:txBody>
      </p:sp>
      <p:sp>
        <p:nvSpPr>
          <p:cNvPr id="26" name="TextBox 25"/>
          <p:cNvSpPr txBox="1"/>
          <p:nvPr/>
        </p:nvSpPr>
        <p:spPr>
          <a:xfrm>
            <a:off x="822960" y="480002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Other</a:t>
            </a:r>
          </a:p>
        </p:txBody>
      </p:sp>
      <p:sp>
        <p:nvSpPr>
          <p:cNvPr id="27" name="Rounded Rectangle 26"/>
          <p:cNvSpPr/>
          <p:nvPr/>
        </p:nvSpPr>
        <p:spPr>
          <a:xfrm>
            <a:off x="2743200" y="4873181"/>
            <a:ext cx="2255367" cy="182880"/>
          </a:xfrm>
          <a:prstGeom prst="roundRect">
            <a:avLst>
              <a:gd name="adj" fmla="val 50000"/>
            </a:avLst>
          </a:prstGeom>
          <a:solidFill>
            <a:srgbClr val="F6F6F8"/>
          </a:solidFill>
          <a:ln>
            <a:noFill/>
          </a:ln>
          <a:effectLst/>
        </p:spPr>
        <p:txBody>
          <a:bodyPr rtlCol="0" anchor="ctr"/>
          <a:lstStyle/>
          <a:p/>
        </p:txBody>
      </p:sp>
      <p:sp>
        <p:nvSpPr>
          <p:cNvPr id="28" name="Rounded Rectangle 27"/>
          <p:cNvSpPr/>
          <p:nvPr/>
        </p:nvSpPr>
        <p:spPr>
          <a:xfrm>
            <a:off x="2743200" y="4873181"/>
            <a:ext cx="182880" cy="182880"/>
          </a:xfrm>
          <a:prstGeom prst="roundRect">
            <a:avLst>
              <a:gd name="adj" fmla="val 50000"/>
            </a:avLst>
          </a:prstGeom>
          <a:solidFill>
            <a:srgbClr val="B9B9C2"/>
          </a:solidFill>
          <a:ln>
            <a:noFill/>
          </a:ln>
          <a:effectLst/>
        </p:spPr>
        <p:txBody>
          <a:bodyPr rtlCol="0" anchor="ctr"/>
          <a:lstStyle/>
          <a:p/>
        </p:txBody>
      </p:sp>
      <p:sp>
        <p:nvSpPr>
          <p:cNvPr id="29" name="TextBox 28"/>
          <p:cNvSpPr txBox="1"/>
          <p:nvPr/>
        </p:nvSpPr>
        <p:spPr>
          <a:xfrm>
            <a:off x="5090007" y="480002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3%</a:t>
            </a:r>
          </a:p>
        </p:txBody>
      </p:sp>
      <p:sp>
        <p:nvSpPr>
          <p:cNvPr id="30" name="TextBox 29"/>
          <p:cNvSpPr txBox="1"/>
          <p:nvPr/>
        </p:nvSpPr>
        <p:spPr>
          <a:xfrm>
            <a:off x="6370167" y="2806637"/>
            <a:ext cx="4998567" cy="274320"/>
          </a:xfrm>
          <a:prstGeom prst="rect">
            <a:avLst/>
          </a:prstGeom>
          <a:noFill/>
        </p:spPr>
        <p:txBody>
          <a:bodyPr wrap="square" anchor="t" lIns="0" rIns="0" tIns="0" bIns="0"/>
          <a:lstStyle/>
          <a:p>
            <a:pPr algn="l">
              <a:lnSpc>
                <a:spcPct val="110000"/>
              </a:lnSpc>
            </a:pPr>
            <a:r>
              <a:rPr sz="1200" b="1">
                <a:solidFill>
                  <a:srgbClr val="707078"/>
                </a:solidFill>
                <a:latin typeface="Inter"/>
              </a:rPr>
              <a:t>THE PAPER’S 92: GIT LEVEL, SELF-RATED</a:t>
            </a:r>
          </a:p>
        </p:txBody>
      </p:sp>
      <p:sp>
        <p:nvSpPr>
          <p:cNvPr id="31" name="TextBox 30"/>
          <p:cNvSpPr txBox="1"/>
          <p:nvPr/>
        </p:nvSpPr>
        <p:spPr>
          <a:xfrm>
            <a:off x="6370167" y="3154109"/>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Novice</a:t>
            </a:r>
          </a:p>
        </p:txBody>
      </p:sp>
      <p:sp>
        <p:nvSpPr>
          <p:cNvPr id="32" name="Rounded Rectangle 31"/>
          <p:cNvSpPr/>
          <p:nvPr/>
        </p:nvSpPr>
        <p:spPr>
          <a:xfrm>
            <a:off x="8290407" y="3227261"/>
            <a:ext cx="2255367" cy="182880"/>
          </a:xfrm>
          <a:prstGeom prst="roundRect">
            <a:avLst>
              <a:gd name="adj" fmla="val 50000"/>
            </a:avLst>
          </a:prstGeom>
          <a:solidFill>
            <a:srgbClr val="F6F6F8"/>
          </a:solidFill>
          <a:ln>
            <a:noFill/>
          </a:ln>
          <a:effectLst/>
        </p:spPr>
        <p:txBody>
          <a:bodyPr rtlCol="0" anchor="ctr"/>
          <a:lstStyle/>
          <a:p/>
        </p:txBody>
      </p:sp>
      <p:sp>
        <p:nvSpPr>
          <p:cNvPr id="33" name="Rounded Rectangle 32"/>
          <p:cNvSpPr/>
          <p:nvPr/>
        </p:nvSpPr>
        <p:spPr>
          <a:xfrm>
            <a:off x="8290407" y="3227261"/>
            <a:ext cx="182880" cy="182880"/>
          </a:xfrm>
          <a:prstGeom prst="roundRect">
            <a:avLst>
              <a:gd name="adj" fmla="val 50000"/>
            </a:avLst>
          </a:prstGeom>
          <a:solidFill>
            <a:srgbClr val="B9B9C2"/>
          </a:solidFill>
          <a:ln>
            <a:noFill/>
          </a:ln>
          <a:effectLst/>
        </p:spPr>
        <p:txBody>
          <a:bodyPr rtlCol="0" anchor="ctr"/>
          <a:lstStyle/>
          <a:p/>
        </p:txBody>
      </p:sp>
      <p:sp>
        <p:nvSpPr>
          <p:cNvPr id="34" name="TextBox 33"/>
          <p:cNvSpPr txBox="1"/>
          <p:nvPr/>
        </p:nvSpPr>
        <p:spPr>
          <a:xfrm>
            <a:off x="10637214" y="3154109"/>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a:t>
            </a:r>
          </a:p>
        </p:txBody>
      </p:sp>
      <p:sp>
        <p:nvSpPr>
          <p:cNvPr id="35" name="TextBox 34"/>
          <p:cNvSpPr txBox="1"/>
          <p:nvPr/>
        </p:nvSpPr>
        <p:spPr>
          <a:xfrm>
            <a:off x="6370167" y="3483293"/>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Advanced beginner</a:t>
            </a:r>
          </a:p>
        </p:txBody>
      </p:sp>
      <p:sp>
        <p:nvSpPr>
          <p:cNvPr id="36" name="Rounded Rectangle 35"/>
          <p:cNvSpPr/>
          <p:nvPr/>
        </p:nvSpPr>
        <p:spPr>
          <a:xfrm>
            <a:off x="8290407" y="3556445"/>
            <a:ext cx="2255367" cy="182880"/>
          </a:xfrm>
          <a:prstGeom prst="roundRect">
            <a:avLst>
              <a:gd name="adj" fmla="val 50000"/>
            </a:avLst>
          </a:prstGeom>
          <a:solidFill>
            <a:srgbClr val="F6F6F8"/>
          </a:solidFill>
          <a:ln>
            <a:noFill/>
          </a:ln>
          <a:effectLst/>
        </p:spPr>
        <p:txBody>
          <a:bodyPr rtlCol="0" anchor="ctr"/>
          <a:lstStyle/>
          <a:p/>
        </p:txBody>
      </p:sp>
      <p:sp>
        <p:nvSpPr>
          <p:cNvPr id="37" name="Rounded Rectangle 36"/>
          <p:cNvSpPr/>
          <p:nvPr/>
        </p:nvSpPr>
        <p:spPr>
          <a:xfrm>
            <a:off x="8290407" y="3556445"/>
            <a:ext cx="637386" cy="182880"/>
          </a:xfrm>
          <a:prstGeom prst="roundRect">
            <a:avLst>
              <a:gd name="adj" fmla="val 50000"/>
            </a:avLst>
          </a:prstGeom>
          <a:solidFill>
            <a:srgbClr val="B9B9C2"/>
          </a:solidFill>
          <a:ln>
            <a:noFill/>
          </a:ln>
          <a:effectLst/>
        </p:spPr>
        <p:txBody>
          <a:bodyPr rtlCol="0" anchor="ctr"/>
          <a:lstStyle/>
          <a:p/>
        </p:txBody>
      </p:sp>
      <p:sp>
        <p:nvSpPr>
          <p:cNvPr id="38" name="TextBox 37"/>
          <p:cNvSpPr txBox="1"/>
          <p:nvPr/>
        </p:nvSpPr>
        <p:spPr>
          <a:xfrm>
            <a:off x="10637214" y="3483293"/>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28%</a:t>
            </a:r>
          </a:p>
        </p:txBody>
      </p:sp>
      <p:sp>
        <p:nvSpPr>
          <p:cNvPr id="39" name="TextBox 38"/>
          <p:cNvSpPr txBox="1"/>
          <p:nvPr/>
        </p:nvSpPr>
        <p:spPr>
          <a:xfrm>
            <a:off x="6370167" y="3812477"/>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Competent</a:t>
            </a:r>
          </a:p>
        </p:txBody>
      </p:sp>
      <p:sp>
        <p:nvSpPr>
          <p:cNvPr id="40" name="Rounded Rectangle 39"/>
          <p:cNvSpPr/>
          <p:nvPr/>
        </p:nvSpPr>
        <p:spPr>
          <a:xfrm>
            <a:off x="8290407" y="3885629"/>
            <a:ext cx="2255367" cy="182880"/>
          </a:xfrm>
          <a:prstGeom prst="roundRect">
            <a:avLst>
              <a:gd name="adj" fmla="val 50000"/>
            </a:avLst>
          </a:prstGeom>
          <a:solidFill>
            <a:srgbClr val="F6F6F8"/>
          </a:solidFill>
          <a:ln>
            <a:noFill/>
          </a:ln>
          <a:effectLst/>
        </p:spPr>
        <p:txBody>
          <a:bodyPr rtlCol="0" anchor="ctr"/>
          <a:lstStyle/>
          <a:p/>
        </p:txBody>
      </p:sp>
      <p:sp>
        <p:nvSpPr>
          <p:cNvPr id="41" name="Rounded Rectangle 40"/>
          <p:cNvSpPr/>
          <p:nvPr/>
        </p:nvSpPr>
        <p:spPr>
          <a:xfrm>
            <a:off x="8290407" y="3885629"/>
            <a:ext cx="1274772" cy="182880"/>
          </a:xfrm>
          <a:prstGeom prst="roundRect">
            <a:avLst>
              <a:gd name="adj" fmla="val 50000"/>
            </a:avLst>
          </a:prstGeom>
          <a:solidFill>
            <a:srgbClr val="B9B9C2"/>
          </a:solidFill>
          <a:ln>
            <a:noFill/>
          </a:ln>
          <a:effectLst/>
        </p:spPr>
        <p:txBody>
          <a:bodyPr rtlCol="0" anchor="ctr"/>
          <a:lstStyle/>
          <a:p/>
        </p:txBody>
      </p:sp>
      <p:sp>
        <p:nvSpPr>
          <p:cNvPr id="42" name="TextBox 41"/>
          <p:cNvSpPr txBox="1"/>
          <p:nvPr/>
        </p:nvSpPr>
        <p:spPr>
          <a:xfrm>
            <a:off x="10637214" y="3812477"/>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57%</a:t>
            </a:r>
          </a:p>
        </p:txBody>
      </p:sp>
      <p:sp>
        <p:nvSpPr>
          <p:cNvPr id="43" name="TextBox 42"/>
          <p:cNvSpPr txBox="1"/>
          <p:nvPr/>
        </p:nvSpPr>
        <p:spPr>
          <a:xfrm>
            <a:off x="6370167" y="4141661"/>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Proficient</a:t>
            </a:r>
          </a:p>
        </p:txBody>
      </p:sp>
      <p:sp>
        <p:nvSpPr>
          <p:cNvPr id="44" name="Rounded Rectangle 43"/>
          <p:cNvSpPr/>
          <p:nvPr/>
        </p:nvSpPr>
        <p:spPr>
          <a:xfrm>
            <a:off x="8290407" y="4214813"/>
            <a:ext cx="2255367" cy="182880"/>
          </a:xfrm>
          <a:prstGeom prst="roundRect">
            <a:avLst>
              <a:gd name="adj" fmla="val 50000"/>
            </a:avLst>
          </a:prstGeom>
          <a:solidFill>
            <a:srgbClr val="F6F6F8"/>
          </a:solidFill>
          <a:ln>
            <a:noFill/>
          </a:ln>
          <a:effectLst/>
        </p:spPr>
        <p:txBody>
          <a:bodyPr rtlCol="0" anchor="ctr"/>
          <a:lstStyle/>
          <a:p/>
        </p:txBody>
      </p:sp>
      <p:sp>
        <p:nvSpPr>
          <p:cNvPr id="45" name="Rounded Rectangle 44"/>
          <p:cNvSpPr/>
          <p:nvPr/>
        </p:nvSpPr>
        <p:spPr>
          <a:xfrm>
            <a:off x="8290407" y="4214813"/>
            <a:ext cx="269663" cy="182880"/>
          </a:xfrm>
          <a:prstGeom prst="roundRect">
            <a:avLst>
              <a:gd name="adj" fmla="val 50000"/>
            </a:avLst>
          </a:prstGeom>
          <a:solidFill>
            <a:srgbClr val="B9B9C2"/>
          </a:solidFill>
          <a:ln>
            <a:noFill/>
          </a:ln>
          <a:effectLst/>
        </p:spPr>
        <p:txBody>
          <a:bodyPr rtlCol="0" anchor="ctr"/>
          <a:lstStyle/>
          <a:p/>
        </p:txBody>
      </p:sp>
      <p:sp>
        <p:nvSpPr>
          <p:cNvPr id="46" name="TextBox 45"/>
          <p:cNvSpPr txBox="1"/>
          <p:nvPr/>
        </p:nvSpPr>
        <p:spPr>
          <a:xfrm>
            <a:off x="10637214" y="4141661"/>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12%</a:t>
            </a:r>
          </a:p>
        </p:txBody>
      </p:sp>
      <p:sp>
        <p:nvSpPr>
          <p:cNvPr id="47" name="TextBox 46"/>
          <p:cNvSpPr txBox="1"/>
          <p:nvPr/>
        </p:nvSpPr>
        <p:spPr>
          <a:xfrm>
            <a:off x="6370167" y="4470845"/>
            <a:ext cx="1920240" cy="258165"/>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Expert</a:t>
            </a:r>
          </a:p>
        </p:txBody>
      </p:sp>
      <p:sp>
        <p:nvSpPr>
          <p:cNvPr id="48" name="Rounded Rectangle 47"/>
          <p:cNvSpPr/>
          <p:nvPr/>
        </p:nvSpPr>
        <p:spPr>
          <a:xfrm>
            <a:off x="8290407" y="4543997"/>
            <a:ext cx="2255367" cy="182880"/>
          </a:xfrm>
          <a:prstGeom prst="roundRect">
            <a:avLst>
              <a:gd name="adj" fmla="val 50000"/>
            </a:avLst>
          </a:prstGeom>
          <a:solidFill>
            <a:srgbClr val="F6F6F8"/>
          </a:solidFill>
          <a:ln>
            <a:noFill/>
          </a:ln>
          <a:effectLst/>
        </p:spPr>
        <p:txBody>
          <a:bodyPr rtlCol="0" anchor="ctr"/>
          <a:lstStyle/>
          <a:p/>
        </p:txBody>
      </p:sp>
      <p:sp>
        <p:nvSpPr>
          <p:cNvPr id="49" name="Rounded Rectangle 48"/>
          <p:cNvSpPr/>
          <p:nvPr/>
        </p:nvSpPr>
        <p:spPr>
          <a:xfrm>
            <a:off x="8290407" y="4543997"/>
            <a:ext cx="182880" cy="182880"/>
          </a:xfrm>
          <a:prstGeom prst="roundRect">
            <a:avLst>
              <a:gd name="adj" fmla="val 50000"/>
            </a:avLst>
          </a:prstGeom>
          <a:solidFill>
            <a:srgbClr val="B9B9C2"/>
          </a:solidFill>
          <a:ln>
            <a:noFill/>
          </a:ln>
          <a:effectLst/>
        </p:spPr>
        <p:txBody>
          <a:bodyPr rtlCol="0" anchor="ctr"/>
          <a:lstStyle/>
          <a:p/>
        </p:txBody>
      </p:sp>
      <p:sp>
        <p:nvSpPr>
          <p:cNvPr id="50" name="TextBox 49"/>
          <p:cNvSpPr txBox="1"/>
          <p:nvPr/>
        </p:nvSpPr>
        <p:spPr>
          <a:xfrm>
            <a:off x="10637214" y="4470845"/>
            <a:ext cx="640080" cy="258165"/>
          </a:xfrm>
          <a:prstGeom prst="rect">
            <a:avLst/>
          </a:prstGeom>
          <a:noFill/>
        </p:spPr>
        <p:txBody>
          <a:bodyPr wrap="square" anchor="t" lIns="0" rIns="0" tIns="0" bIns="0"/>
          <a:lstStyle/>
          <a:p>
            <a:pPr algn="r">
              <a:lnSpc>
                <a:spcPct val="112000"/>
              </a:lnSpc>
              <a:spcBef>
                <a:spcPts val="0"/>
              </a:spcBef>
            </a:pPr>
            <a:r>
              <a:rPr sz="1500" b="0" i="0">
                <a:solidFill>
                  <a:srgbClr val="111111"/>
                </a:solidFill>
                <a:latin typeface="Inter"/>
              </a:rPr>
              <a:t>2%</a:t>
            </a:r>
          </a:p>
        </p:txBody>
      </p:sp>
      <p:sp>
        <p:nvSpPr>
          <p:cNvPr id="51" name="TextBox 50"/>
          <p:cNvSpPr txBox="1"/>
          <p:nvPr/>
        </p:nvSpPr>
        <p:spPr>
          <a:xfrm>
            <a:off x="822960" y="5193221"/>
            <a:ext cx="10545775" cy="223743"/>
          </a:xfrm>
          <a:prstGeom prst="rect">
            <a:avLst/>
          </a:prstGeom>
          <a:noFill/>
        </p:spPr>
        <p:txBody>
          <a:bodyPr wrap="square" anchor="t" lIns="0" rIns="0" tIns="0" bIns="0"/>
          <a:lstStyle/>
          <a:p>
            <a:pPr algn="l">
              <a:lnSpc>
                <a:spcPct val="112000"/>
              </a:lnSpc>
              <a:spcBef>
                <a:spcPts val="0"/>
              </a:spcBef>
            </a:pPr>
            <a:r>
              <a:rPr sz="1300" b="0" i="0">
                <a:solidFill>
                  <a:srgbClr val="707078"/>
                </a:solidFill>
                <a:latin typeface="Inter"/>
              </a:rPr>
              <a:t>Median years using Git: 8. In class, the app shows your answers next to these.</a:t>
            </a:r>
          </a:p>
        </p:txBody>
      </p:sp>
      <p:sp>
        <p:nvSpPr>
          <p:cNvPr id="52" name="TextBox 51"/>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you trust your own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Read 8 real posts</a:t>
            </a:r>
          </a:p>
        </p:txBody>
      </p:sp>
      <p:sp>
        <p:nvSpPr>
          <p:cNvPr id="5" name="TextBox 4"/>
          <p:cNvSpPr txBox="1"/>
          <p:nvPr/>
        </p:nvSpPr>
        <p:spPr>
          <a:xfrm>
            <a:off x="822960" y="1831441"/>
            <a:ext cx="8647535" cy="1262927"/>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counted each of these posts as a question about one command.</a:t>
            </a:r>
          </a:p>
          <a:p>
            <a:pPr algn="l">
              <a:lnSpc>
                <a:spcPct val="112000"/>
              </a:lnSpc>
              <a:spcBef>
                <a:spcPts val="1000"/>
              </a:spcBef>
            </a:pPr>
            <a:r>
              <a:rPr sz="2200" b="0" i="0">
                <a:solidFill>
                  <a:srgbClr val="111111"/>
                </a:solidFill>
                <a:latin typeface="Inter"/>
              </a:rPr>
              <a:t>Read each post on your laptop and pick one of the three labels.</a:t>
            </a:r>
          </a:p>
        </p:txBody>
      </p:sp>
      <p:sp>
        <p:nvSpPr>
          <p:cNvPr id="6" name="Rounded Rectangle 5"/>
          <p:cNvSpPr/>
          <p:nvPr/>
        </p:nvSpPr>
        <p:spPr>
          <a:xfrm>
            <a:off x="822960"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YES, STUCK ON IT</a:t>
            </a:r>
          </a:p>
        </p:txBody>
      </p:sp>
      <p:sp>
        <p:nvSpPr>
          <p:cNvPr id="8" name="TextBox 7"/>
          <p:cNvSpPr txBox="1"/>
          <p:nvPr/>
        </p:nvSpPr>
        <p:spPr>
          <a:xfrm>
            <a:off x="1005840"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They were asking how to use this command.</a:t>
            </a:r>
          </a:p>
        </p:txBody>
      </p:sp>
      <p:sp>
        <p:nvSpPr>
          <p:cNvPr id="9" name="Rounded Rectangle 8"/>
          <p:cNvSpPr/>
          <p:nvPr/>
        </p:nvSpPr>
        <p:spPr>
          <a:xfrm>
            <a:off x="4399178"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4582058" y="3460128"/>
            <a:ext cx="3027578" cy="378642"/>
          </a:xfrm>
          <a:prstGeom prst="rect">
            <a:avLst/>
          </a:prstGeom>
          <a:noFill/>
        </p:spPr>
        <p:txBody>
          <a:bodyPr wrap="square" anchor="t" lIns="0" rIns="0" tIns="0" bIns="0"/>
          <a:lstStyle/>
          <a:p>
            <a:pPr algn="l">
              <a:lnSpc>
                <a:spcPct val="110000"/>
              </a:lnSpc>
            </a:pPr>
            <a:r>
              <a:rPr sz="1100" b="1">
                <a:solidFill>
                  <a:srgbClr val="707078"/>
                </a:solidFill>
                <a:latin typeface="Inter"/>
              </a:rPr>
              <a:t>NO. THEY NEEDED IT BUT DID NOT KNOW IT</a:t>
            </a:r>
          </a:p>
        </p:txBody>
      </p:sp>
      <p:sp>
        <p:nvSpPr>
          <p:cNvPr id="11" name="TextBox 10"/>
          <p:cNvSpPr txBox="1"/>
          <p:nvPr/>
        </p:nvSpPr>
        <p:spPr>
          <a:xfrm>
            <a:off x="4582058" y="3857058"/>
            <a:ext cx="3027578"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would have fixed their problem, but they did not name it.</a:t>
            </a:r>
          </a:p>
        </p:txBody>
      </p:sp>
      <p:sp>
        <p:nvSpPr>
          <p:cNvPr id="12" name="Rounded Rectangle 11"/>
          <p:cNvSpPr/>
          <p:nvPr/>
        </p:nvSpPr>
        <p:spPr>
          <a:xfrm>
            <a:off x="7975396" y="3322968"/>
            <a:ext cx="3393338" cy="1439833"/>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8158276" y="3460128"/>
            <a:ext cx="3027578" cy="189321"/>
          </a:xfrm>
          <a:prstGeom prst="rect">
            <a:avLst/>
          </a:prstGeom>
          <a:noFill/>
        </p:spPr>
        <p:txBody>
          <a:bodyPr wrap="square" anchor="t" lIns="0" rIns="0" tIns="0" bIns="0"/>
          <a:lstStyle/>
          <a:p>
            <a:pPr algn="l">
              <a:lnSpc>
                <a:spcPct val="110000"/>
              </a:lnSpc>
            </a:pPr>
            <a:r>
              <a:rPr sz="1100" b="1">
                <a:solidFill>
                  <a:srgbClr val="707078"/>
                </a:solidFill>
                <a:latin typeface="Inter"/>
              </a:rPr>
              <a:t>NO. IT IS NOT ABOUT IT</a:t>
            </a:r>
          </a:p>
        </p:txBody>
      </p:sp>
      <p:sp>
        <p:nvSpPr>
          <p:cNvPr id="14" name="TextBox 13"/>
          <p:cNvSpPr txBox="1"/>
          <p:nvPr/>
        </p:nvSpPr>
        <p:spPr>
          <a:xfrm>
            <a:off x="8158276" y="3667737"/>
            <a:ext cx="3027578"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 command is only mentioned in passing.</a:t>
            </a:r>
          </a:p>
        </p:txBody>
      </p:sp>
      <p:sp>
        <p:nvSpPr>
          <p:cNvPr id="15" name="TextBox 14"/>
          <p:cNvSpPr txBox="1"/>
          <p:nvPr/>
        </p:nvSpPr>
        <p:spPr>
          <a:xfrm>
            <a:off x="822960" y="4991401"/>
            <a:ext cx="8647535" cy="115230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On your laptop: 8 posts, each with the question, the accepted answer, and the command the paper counted it for.</a:t>
            </a:r>
          </a:p>
          <a:p>
            <a:pPr algn="l">
              <a:lnSpc>
                <a:spcPct val="112000"/>
              </a:lnSpc>
              <a:spcBef>
                <a:spcPts val="400"/>
              </a:spcBef>
            </a:pPr>
            <a:r>
              <a:rPr sz="1600" b="0" i="0">
                <a:solidFill>
                  <a:srgbClr val="707078"/>
                </a:solidFill>
                <a:latin typeface="Inter"/>
              </a:rPr>
              <a:t>Drawn at random from short, answered posts counted for the five most-viewed commands.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labels for the 8 posts</a:t>
            </a:r>
          </a:p>
        </p:txBody>
      </p:sp>
      <p:sp>
        <p:nvSpPr>
          <p:cNvPr id="4" name="TextBox 3"/>
          <p:cNvSpPr txBox="1"/>
          <p:nvPr/>
        </p:nvSpPr>
        <p:spPr>
          <a:xfrm>
            <a:off x="822960" y="1831441"/>
            <a:ext cx="10545775" cy="643330"/>
          </a:xfrm>
          <a:prstGeom prst="rect">
            <a:avLst/>
          </a:prstGeom>
          <a:noFill/>
        </p:spPr>
        <p:txBody>
          <a:bodyPr wrap="square" anchor="t" lIns="0" rIns="0" tIns="0" bIns="0"/>
          <a:lstStyle/>
          <a:p>
            <a:pPr algn="l">
              <a:lnSpc>
                <a:spcPct val="112000"/>
              </a:lnSpc>
              <a:spcBef>
                <a:spcPts val="0"/>
              </a:spcBef>
            </a:pPr>
            <a:r>
              <a:rPr sz="1500" b="0" i="0">
                <a:solidFill>
                  <a:srgbClr val="111111"/>
                </a:solidFill>
                <a:latin typeface="Inter"/>
              </a:rPr>
              <a:t>In 5 of the 8 posts, the command is named only in the accepted answer, not by the asker.</a:t>
            </a:r>
          </a:p>
          <a:p>
            <a:pPr algn="l">
              <a:lnSpc>
                <a:spcPct val="112000"/>
              </a:lnSpc>
              <a:spcBef>
                <a:spcPts val="1000"/>
              </a:spcBef>
            </a:pPr>
            <a:r>
              <a:rPr sz="1500" b="0" i="0">
                <a:solidFill>
                  <a:srgbClr val="111111"/>
                </a:solidFill>
                <a:latin typeface="Inter"/>
              </a:rPr>
              <a:t>The paper still counts all 8 as questions about that command.</a:t>
            </a:r>
          </a:p>
        </p:txBody>
      </p:sp>
      <p:sp>
        <p:nvSpPr>
          <p:cNvPr id="5" name="TextBox 4"/>
          <p:cNvSpPr txBox="1"/>
          <p:nvPr/>
        </p:nvSpPr>
        <p:spPr>
          <a:xfrm>
            <a:off x="868680" y="2639363"/>
            <a:ext cx="661385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POST</a:t>
            </a:r>
          </a:p>
        </p:txBody>
      </p:sp>
      <p:sp>
        <p:nvSpPr>
          <p:cNvPr id="6" name="TextBox 5"/>
          <p:cNvSpPr txBox="1"/>
          <p:nvPr/>
        </p:nvSpPr>
        <p:spPr>
          <a:xfrm>
            <a:off x="7573975" y="2639363"/>
            <a:ext cx="192024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COUNTED FOR</a:t>
            </a:r>
          </a:p>
        </p:txBody>
      </p:sp>
      <p:sp>
        <p:nvSpPr>
          <p:cNvPr id="7" name="TextBox 6"/>
          <p:cNvSpPr txBox="1"/>
          <p:nvPr/>
        </p:nvSpPr>
        <p:spPr>
          <a:xfrm>
            <a:off x="9585655" y="2639363"/>
            <a:ext cx="173736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ASKER NAMES IT</a:t>
            </a:r>
          </a:p>
        </p:txBody>
      </p:sp>
      <p:sp>
        <p:nvSpPr>
          <p:cNvPr id="8" name="Rectangle 7"/>
          <p:cNvSpPr/>
          <p:nvPr/>
        </p:nvSpPr>
        <p:spPr>
          <a:xfrm>
            <a:off x="822960" y="2891615"/>
            <a:ext cx="10545775" cy="9525"/>
          </a:xfrm>
          <a:prstGeom prst="rect">
            <a:avLst/>
          </a:prstGeom>
          <a:solidFill>
            <a:srgbClr val="D9D9DE"/>
          </a:solidFill>
          <a:ln>
            <a:noFill/>
          </a:ln>
        </p:spPr>
        <p:txBody>
          <a:bodyPr rtlCol="0" anchor="ctr"/>
          <a:lstStyle/>
          <a:p>
            <a:pPr algn="ctr"/>
          </a:p>
        </p:txBody>
      </p:sp>
      <p:sp>
        <p:nvSpPr>
          <p:cNvPr id="9" name="TextBox 8"/>
          <p:cNvSpPr txBox="1"/>
          <p:nvPr/>
        </p:nvSpPr>
        <p:spPr>
          <a:xfrm>
            <a:off x="868680" y="293733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how to move back commit (6,163 views)</a:t>
            </a:r>
          </a:p>
        </p:txBody>
      </p:sp>
      <p:sp>
        <p:nvSpPr>
          <p:cNvPr id="10" name="TextBox 9"/>
          <p:cNvSpPr txBox="1"/>
          <p:nvPr/>
        </p:nvSpPr>
        <p:spPr>
          <a:xfrm>
            <a:off x="7573975" y="293733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1" name="TextBox 10"/>
          <p:cNvSpPr txBox="1"/>
          <p:nvPr/>
        </p:nvSpPr>
        <p:spPr>
          <a:xfrm>
            <a:off x="9585655" y="293733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12" name="Rectangle 11"/>
          <p:cNvSpPr/>
          <p:nvPr/>
        </p:nvSpPr>
        <p:spPr>
          <a:xfrm>
            <a:off x="822960" y="3189587"/>
            <a:ext cx="10545775" cy="9525"/>
          </a:xfrm>
          <a:prstGeom prst="rect">
            <a:avLst/>
          </a:prstGeom>
          <a:solidFill>
            <a:srgbClr val="D9D9DE"/>
          </a:solidFill>
          <a:ln>
            <a:noFill/>
          </a:ln>
        </p:spPr>
        <p:txBody>
          <a:bodyPr rtlCol="0" anchor="ctr"/>
          <a:lstStyle/>
          <a:p>
            <a:pPr algn="ctr"/>
          </a:p>
        </p:txBody>
      </p:sp>
      <p:sp>
        <p:nvSpPr>
          <p:cNvPr id="13" name="TextBox 12"/>
          <p:cNvSpPr txBox="1"/>
          <p:nvPr/>
        </p:nvSpPr>
        <p:spPr>
          <a:xfrm>
            <a:off x="868680" y="323530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do I remove a single file from the staging area (undo git add)? (656,913 views)</a:t>
            </a:r>
          </a:p>
        </p:txBody>
      </p:sp>
      <p:sp>
        <p:nvSpPr>
          <p:cNvPr id="14" name="TextBox 13"/>
          <p:cNvSpPr txBox="1"/>
          <p:nvPr/>
        </p:nvSpPr>
        <p:spPr>
          <a:xfrm>
            <a:off x="7573975" y="323530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15" name="TextBox 14"/>
          <p:cNvSpPr txBox="1"/>
          <p:nvPr/>
        </p:nvSpPr>
        <p:spPr>
          <a:xfrm>
            <a:off x="9585655" y="323530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16" name="Rectangle 15"/>
          <p:cNvSpPr/>
          <p:nvPr/>
        </p:nvSpPr>
        <p:spPr>
          <a:xfrm>
            <a:off x="822960" y="348755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353327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Undo a Git merge that hasn't been pushed yet (2,371,183 views)</a:t>
            </a:r>
          </a:p>
        </p:txBody>
      </p:sp>
      <p:sp>
        <p:nvSpPr>
          <p:cNvPr id="18" name="TextBox 17"/>
          <p:cNvSpPr txBox="1"/>
          <p:nvPr/>
        </p:nvSpPr>
        <p:spPr>
          <a:xfrm>
            <a:off x="7573975" y="353327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reflog</a:t>
            </a:r>
          </a:p>
        </p:txBody>
      </p:sp>
      <p:sp>
        <p:nvSpPr>
          <p:cNvPr id="19" name="TextBox 18"/>
          <p:cNvSpPr txBox="1"/>
          <p:nvPr/>
        </p:nvSpPr>
        <p:spPr>
          <a:xfrm>
            <a:off x="9585655" y="353327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0" name="Rectangle 19"/>
          <p:cNvSpPr/>
          <p:nvPr/>
        </p:nvSpPr>
        <p:spPr>
          <a:xfrm>
            <a:off x="822960" y="3785531"/>
            <a:ext cx="10545775" cy="9525"/>
          </a:xfrm>
          <a:prstGeom prst="rect">
            <a:avLst/>
          </a:prstGeom>
          <a:solidFill>
            <a:srgbClr val="D9D9DE"/>
          </a:solidFill>
          <a:ln>
            <a:noFill/>
          </a:ln>
        </p:spPr>
        <p:txBody>
          <a:bodyPr rtlCol="0" anchor="ctr"/>
          <a:lstStyle/>
          <a:p>
            <a:pPr algn="ctr"/>
          </a:p>
        </p:txBody>
      </p:sp>
      <p:sp>
        <p:nvSpPr>
          <p:cNvPr id="21" name="TextBox 20"/>
          <p:cNvSpPr txBox="1"/>
          <p:nvPr/>
        </p:nvSpPr>
        <p:spPr>
          <a:xfrm>
            <a:off x="868680" y="3831251"/>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How can i undo changes between two commits? (24 views)</a:t>
            </a:r>
          </a:p>
        </p:txBody>
      </p:sp>
      <p:sp>
        <p:nvSpPr>
          <p:cNvPr id="22" name="TextBox 21"/>
          <p:cNvSpPr txBox="1"/>
          <p:nvPr/>
        </p:nvSpPr>
        <p:spPr>
          <a:xfrm>
            <a:off x="7573975" y="3831251"/>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23" name="TextBox 22"/>
          <p:cNvSpPr txBox="1"/>
          <p:nvPr/>
        </p:nvSpPr>
        <p:spPr>
          <a:xfrm>
            <a:off x="9585655" y="3831251"/>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24" name="Rectangle 23"/>
          <p:cNvSpPr/>
          <p:nvPr/>
        </p:nvSpPr>
        <p:spPr>
          <a:xfrm>
            <a:off x="822960" y="4083503"/>
            <a:ext cx="10545775" cy="9525"/>
          </a:xfrm>
          <a:prstGeom prst="rect">
            <a:avLst/>
          </a:prstGeom>
          <a:solidFill>
            <a:srgbClr val="D9D9DE"/>
          </a:solidFill>
          <a:ln>
            <a:noFill/>
          </a:ln>
        </p:spPr>
        <p:txBody>
          <a:bodyPr rtlCol="0" anchor="ctr"/>
          <a:lstStyle/>
          <a:p>
            <a:pPr algn="ctr"/>
          </a:p>
        </p:txBody>
      </p:sp>
      <p:sp>
        <p:nvSpPr>
          <p:cNvPr id="25" name="TextBox 24"/>
          <p:cNvSpPr txBox="1"/>
          <p:nvPr/>
        </p:nvSpPr>
        <p:spPr>
          <a:xfrm>
            <a:off x="868680" y="4129223"/>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'merge' only existing files (1,378 views)</a:t>
            </a:r>
          </a:p>
        </p:txBody>
      </p:sp>
      <p:sp>
        <p:nvSpPr>
          <p:cNvPr id="26" name="TextBox 25"/>
          <p:cNvSpPr txBox="1"/>
          <p:nvPr/>
        </p:nvSpPr>
        <p:spPr>
          <a:xfrm>
            <a:off x="7573975" y="4129223"/>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clean</a:t>
            </a:r>
          </a:p>
        </p:txBody>
      </p:sp>
      <p:sp>
        <p:nvSpPr>
          <p:cNvPr id="27" name="TextBox 26"/>
          <p:cNvSpPr txBox="1"/>
          <p:nvPr/>
        </p:nvSpPr>
        <p:spPr>
          <a:xfrm>
            <a:off x="9585655" y="4129223"/>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28" name="Rectangle 27"/>
          <p:cNvSpPr/>
          <p:nvPr/>
        </p:nvSpPr>
        <p:spPr>
          <a:xfrm>
            <a:off x="822960" y="4381475"/>
            <a:ext cx="10545775" cy="9525"/>
          </a:xfrm>
          <a:prstGeom prst="rect">
            <a:avLst/>
          </a:prstGeom>
          <a:solidFill>
            <a:srgbClr val="D9D9DE"/>
          </a:solidFill>
          <a:ln>
            <a:noFill/>
          </a:ln>
        </p:spPr>
        <p:txBody>
          <a:bodyPr rtlCol="0" anchor="ctr"/>
          <a:lstStyle/>
          <a:p>
            <a:pPr algn="ctr"/>
          </a:p>
        </p:txBody>
      </p:sp>
      <p:sp>
        <p:nvSpPr>
          <p:cNvPr id="29" name="TextBox 28"/>
          <p:cNvSpPr txBox="1"/>
          <p:nvPr/>
        </p:nvSpPr>
        <p:spPr>
          <a:xfrm>
            <a:off x="868680" y="4427195"/>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Git branch not working the way I expected it to (2,989 views)</a:t>
            </a:r>
          </a:p>
        </p:txBody>
      </p:sp>
      <p:sp>
        <p:nvSpPr>
          <p:cNvPr id="30" name="TextBox 29"/>
          <p:cNvSpPr txBox="1"/>
          <p:nvPr/>
        </p:nvSpPr>
        <p:spPr>
          <a:xfrm>
            <a:off x="7573975" y="4427195"/>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reset</a:t>
            </a:r>
          </a:p>
        </p:txBody>
      </p:sp>
      <p:sp>
        <p:nvSpPr>
          <p:cNvPr id="31" name="TextBox 30"/>
          <p:cNvSpPr txBox="1"/>
          <p:nvPr/>
        </p:nvSpPr>
        <p:spPr>
          <a:xfrm>
            <a:off x="9585655" y="4427195"/>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Yes</a:t>
            </a:r>
          </a:p>
        </p:txBody>
      </p:sp>
      <p:sp>
        <p:nvSpPr>
          <p:cNvPr id="32" name="Rectangle 31"/>
          <p:cNvSpPr/>
          <p:nvPr/>
        </p:nvSpPr>
        <p:spPr>
          <a:xfrm>
            <a:off x="822960" y="4679447"/>
            <a:ext cx="10545775" cy="9525"/>
          </a:xfrm>
          <a:prstGeom prst="rect">
            <a:avLst/>
          </a:prstGeom>
          <a:solidFill>
            <a:srgbClr val="D9D9DE"/>
          </a:solidFill>
          <a:ln>
            <a:noFill/>
          </a:ln>
        </p:spPr>
        <p:txBody>
          <a:bodyPr rtlCol="0" anchor="ctr"/>
          <a:lstStyle/>
          <a:p>
            <a:pPr algn="ctr"/>
          </a:p>
        </p:txBody>
      </p:sp>
      <p:sp>
        <p:nvSpPr>
          <p:cNvPr id="33" name="TextBox 32"/>
          <p:cNvSpPr txBox="1"/>
          <p:nvPr/>
        </p:nvSpPr>
        <p:spPr>
          <a:xfrm>
            <a:off x="868680" y="4725167"/>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a commit after push, checkout a commit behind and modification of files (46 views)</a:t>
            </a:r>
          </a:p>
        </p:txBody>
      </p:sp>
      <p:sp>
        <p:nvSpPr>
          <p:cNvPr id="34" name="TextBox 33"/>
          <p:cNvSpPr txBox="1"/>
          <p:nvPr/>
        </p:nvSpPr>
        <p:spPr>
          <a:xfrm>
            <a:off x="7573975" y="4725167"/>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revert</a:t>
            </a:r>
          </a:p>
        </p:txBody>
      </p:sp>
      <p:sp>
        <p:nvSpPr>
          <p:cNvPr id="35" name="TextBox 34"/>
          <p:cNvSpPr txBox="1"/>
          <p:nvPr/>
        </p:nvSpPr>
        <p:spPr>
          <a:xfrm>
            <a:off x="9585655" y="4725167"/>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36" name="Rectangle 35"/>
          <p:cNvSpPr/>
          <p:nvPr/>
        </p:nvSpPr>
        <p:spPr>
          <a:xfrm>
            <a:off x="822960" y="4977419"/>
            <a:ext cx="10545775" cy="9525"/>
          </a:xfrm>
          <a:prstGeom prst="rect">
            <a:avLst/>
          </a:prstGeom>
          <a:solidFill>
            <a:srgbClr val="D9D9DE"/>
          </a:solidFill>
          <a:ln>
            <a:noFill/>
          </a:ln>
        </p:spPr>
        <p:txBody>
          <a:bodyPr rtlCol="0" anchor="ctr"/>
          <a:lstStyle/>
          <a:p>
            <a:pPr algn="ctr"/>
          </a:p>
        </p:txBody>
      </p:sp>
      <p:sp>
        <p:nvSpPr>
          <p:cNvPr id="37" name="TextBox 36"/>
          <p:cNvSpPr txBox="1"/>
          <p:nvPr/>
        </p:nvSpPr>
        <p:spPr>
          <a:xfrm>
            <a:off x="868680" y="5023139"/>
            <a:ext cx="661385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Revert erroneous git checkout (45 views)</a:t>
            </a:r>
          </a:p>
        </p:txBody>
      </p:sp>
      <p:sp>
        <p:nvSpPr>
          <p:cNvPr id="38" name="TextBox 37"/>
          <p:cNvSpPr txBox="1"/>
          <p:nvPr/>
        </p:nvSpPr>
        <p:spPr>
          <a:xfrm>
            <a:off x="7573975" y="5023139"/>
            <a:ext cx="192024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Noto Sans Mono"/>
              </a:rPr>
              <a:t>git stash</a:t>
            </a:r>
          </a:p>
        </p:txBody>
      </p:sp>
      <p:sp>
        <p:nvSpPr>
          <p:cNvPr id="39" name="TextBox 38"/>
          <p:cNvSpPr txBox="1"/>
          <p:nvPr/>
        </p:nvSpPr>
        <p:spPr>
          <a:xfrm>
            <a:off x="9585655" y="5023139"/>
            <a:ext cx="173736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Answer only</a:t>
            </a:r>
          </a:p>
        </p:txBody>
      </p:sp>
      <p:sp>
        <p:nvSpPr>
          <p:cNvPr id="40" name="TextBox 39"/>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Did the paper measure which commands are hard?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5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Sort 7 survey comments</a:t>
            </a:r>
          </a:p>
        </p:txBody>
      </p:sp>
      <p:sp>
        <p:nvSpPr>
          <p:cNvPr id="5" name="TextBox 4"/>
          <p:cNvSpPr txBox="1"/>
          <p:nvPr/>
        </p:nvSpPr>
        <p:spPr>
          <a:xfrm>
            <a:off x="822960" y="1831441"/>
            <a:ext cx="8647535" cy="1641570"/>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The paper sorted the 65 comments from its survey into 6 categories.</a:t>
            </a:r>
          </a:p>
          <a:p>
            <a:pPr algn="l">
              <a:lnSpc>
                <a:spcPct val="112000"/>
              </a:lnSpc>
              <a:spcBef>
                <a:spcPts val="1000"/>
              </a:spcBef>
            </a:pPr>
            <a:r>
              <a:rPr sz="2200" b="0" i="0">
                <a:solidFill>
                  <a:srgbClr val="111111"/>
                </a:solidFill>
                <a:latin typeface="Inter"/>
              </a:rPr>
              <a:t>On your laptop, put each of these 7 comments into one of those categories.</a:t>
            </a:r>
          </a:p>
        </p:txBody>
      </p:sp>
      <p:sp>
        <p:nvSpPr>
          <p:cNvPr id="6" name="TextBox 5"/>
          <p:cNvSpPr txBox="1"/>
          <p:nvPr/>
        </p:nvSpPr>
        <p:spPr>
          <a:xfrm>
            <a:off x="822960" y="3701611"/>
            <a:ext cx="8647535" cy="275376"/>
          </a:xfrm>
          <a:prstGeom prst="rect">
            <a:avLst/>
          </a:prstGeom>
          <a:noFill/>
        </p:spPr>
        <p:txBody>
          <a:bodyPr wrap="square" anchor="t" lIns="0" rIns="0" tIns="0" bIns="0"/>
          <a:lstStyle/>
          <a:p>
            <a:pPr algn="l">
              <a:lnSpc>
                <a:spcPct val="112000"/>
              </a:lnSpc>
              <a:spcBef>
                <a:spcPts val="0"/>
              </a:spcBef>
            </a:pPr>
            <a:r>
              <a:rPr sz="1600" b="0" i="0">
                <a:solidFill>
                  <a:srgbClr val="707078"/>
                </a:solidFill>
                <a:latin typeface="Inter"/>
              </a:rPr>
              <a:t>The paper’s six categories:</a:t>
            </a:r>
          </a:p>
        </p:txBody>
      </p:sp>
      <p:sp>
        <p:nvSpPr>
          <p:cNvPr id="7" name="TextBox 6"/>
          <p:cNvSpPr txBox="1"/>
          <p:nvPr/>
        </p:nvSpPr>
        <p:spPr>
          <a:xfrm>
            <a:off x="822960" y="4050139"/>
            <a:ext cx="8647535" cy="1842756"/>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Learning and improving from practice (18)</a:t>
            </a:r>
          </a:p>
          <a:p>
            <a:pPr algn="l">
              <a:lnSpc>
                <a:spcPct val="112000"/>
              </a:lnSpc>
              <a:spcBef>
                <a:spcPts val="300"/>
              </a:spcBef>
            </a:pPr>
            <a:r>
              <a:rPr sz="1600" b="0" i="0">
                <a:solidFill>
                  <a:srgbClr val="111111"/>
                </a:solidFill>
                <a:latin typeface="Inter"/>
              </a:rPr>
              <a:t>Making the best use of the internet (17)</a:t>
            </a:r>
          </a:p>
          <a:p>
            <a:pPr algn="l">
              <a:lnSpc>
                <a:spcPct val="112000"/>
              </a:lnSpc>
              <a:spcBef>
                <a:spcPts val="300"/>
              </a:spcBef>
            </a:pPr>
            <a:r>
              <a:rPr sz="1600" b="0" i="0">
                <a:solidFill>
                  <a:srgbClr val="111111"/>
                </a:solidFill>
                <a:latin typeface="Inter"/>
              </a:rPr>
              <a:t>Understanding basic concepts and principles first (14)</a:t>
            </a:r>
          </a:p>
          <a:p>
            <a:pPr algn="l">
              <a:lnSpc>
                <a:spcPct val="112000"/>
              </a:lnSpc>
              <a:spcBef>
                <a:spcPts val="300"/>
              </a:spcBef>
            </a:pPr>
            <a:r>
              <a:rPr sz="1600" b="0" i="0">
                <a:solidFill>
                  <a:srgbClr val="111111"/>
                </a:solidFill>
                <a:latin typeface="Inter"/>
              </a:rPr>
              <a:t>Emphasizing the importance of Git (9)</a:t>
            </a:r>
          </a:p>
          <a:p>
            <a:pPr algn="l">
              <a:lnSpc>
                <a:spcPct val="112000"/>
              </a:lnSpc>
              <a:spcBef>
                <a:spcPts val="300"/>
              </a:spcBef>
            </a:pPr>
            <a:r>
              <a:rPr sz="1600" b="0" i="0">
                <a:solidFill>
                  <a:srgbClr val="111111"/>
                </a:solidFill>
                <a:latin typeface="Inter"/>
              </a:rPr>
              <a:t>Mastering only the basic commands (5)</a:t>
            </a:r>
          </a:p>
          <a:p>
            <a:pPr algn="l">
              <a:lnSpc>
                <a:spcPct val="112000"/>
              </a:lnSpc>
              <a:spcBef>
                <a:spcPts val="300"/>
              </a:spcBef>
            </a:pPr>
            <a:r>
              <a:rPr sz="1600" b="0" i="0">
                <a:solidFill>
                  <a:srgbClr val="111111"/>
                </a:solidFill>
                <a:latin typeface="Inter"/>
              </a:rPr>
              <a:t>Having the basic needs satisfied by Git GUI tools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2 · CHECK IT YOURSELF</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sorting next to the paper’s</a:t>
            </a:r>
          </a:p>
        </p:txBody>
      </p:sp>
      <p:sp>
        <p:nvSpPr>
          <p:cNvPr id="4" name="TextBox 3"/>
          <p:cNvSpPr txBox="1"/>
          <p:nvPr/>
        </p:nvSpPr>
        <p:spPr>
          <a:xfrm>
            <a:off x="822960" y="1831441"/>
            <a:ext cx="10545775" cy="1004762"/>
          </a:xfrm>
          <a:prstGeom prst="rect">
            <a:avLst/>
          </a:prstGeom>
          <a:noFill/>
        </p:spPr>
        <p:txBody>
          <a:bodyPr wrap="square" anchor="t" lIns="0" rIns="0" tIns="0" bIns="0"/>
          <a:lstStyle/>
          <a:p>
            <a:pPr algn="l">
              <a:lnSpc>
                <a:spcPct val="112000"/>
              </a:lnSpc>
              <a:spcBef>
                <a:spcPts val="0"/>
              </a:spcBef>
            </a:pPr>
            <a:r>
              <a:rPr sz="1700" b="0" i="0">
                <a:solidFill>
                  <a:srgbClr val="111111"/>
                </a:solidFill>
                <a:latin typeface="Inter"/>
              </a:rPr>
              <a:t>The paper does not say how it sorted the comments, or whether two people agreed.</a:t>
            </a:r>
          </a:p>
          <a:p>
            <a:pPr algn="l">
              <a:lnSpc>
                <a:spcPct val="112000"/>
              </a:lnSpc>
              <a:spcBef>
                <a:spcPts val="1000"/>
              </a:spcBef>
            </a:pPr>
            <a:r>
              <a:rPr sz="1700" b="0" i="0">
                <a:solidFill>
                  <a:srgbClr val="111111"/>
                </a:solidFill>
                <a:latin typeface="Inter"/>
              </a:rPr>
              <a:t>The usual practice is that two people sort independently, and the paper reports how often they agreed.</a:t>
            </a:r>
          </a:p>
        </p:txBody>
      </p:sp>
      <p:sp>
        <p:nvSpPr>
          <p:cNvPr id="5" name="TextBox 4"/>
          <p:cNvSpPr txBox="1"/>
          <p:nvPr/>
        </p:nvSpPr>
        <p:spPr>
          <a:xfrm>
            <a:off x="868680" y="3037371"/>
            <a:ext cx="6248095"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COMMENT</a:t>
            </a:r>
          </a:p>
        </p:txBody>
      </p:sp>
      <p:sp>
        <p:nvSpPr>
          <p:cNvPr id="6" name="TextBox 5"/>
          <p:cNvSpPr txBox="1"/>
          <p:nvPr/>
        </p:nvSpPr>
        <p:spPr>
          <a:xfrm>
            <a:off x="7208215" y="3037371"/>
            <a:ext cx="4114800" cy="206532"/>
          </a:xfrm>
          <a:prstGeom prst="rect">
            <a:avLst/>
          </a:prstGeom>
          <a:noFill/>
        </p:spPr>
        <p:txBody>
          <a:bodyPr wrap="square" anchor="t" lIns="0" rIns="0" tIns="0" bIns="0"/>
          <a:lstStyle/>
          <a:p>
            <a:pPr algn="l">
              <a:lnSpc>
                <a:spcPct val="112000"/>
              </a:lnSpc>
              <a:spcBef>
                <a:spcPts val="0"/>
              </a:spcBef>
            </a:pPr>
            <a:r>
              <a:rPr sz="1200" b="1" i="0">
                <a:solidFill>
                  <a:srgbClr val="707078"/>
                </a:solidFill>
                <a:latin typeface="Inter"/>
              </a:rPr>
              <a:t>THE PAPER’S CATEGORY</a:t>
            </a:r>
          </a:p>
        </p:txBody>
      </p:sp>
      <p:sp>
        <p:nvSpPr>
          <p:cNvPr id="7" name="Rectangle 6"/>
          <p:cNvSpPr/>
          <p:nvPr/>
        </p:nvSpPr>
        <p:spPr>
          <a:xfrm>
            <a:off x="822960" y="3289623"/>
            <a:ext cx="10545775" cy="9525"/>
          </a:xfrm>
          <a:prstGeom prst="rect">
            <a:avLst/>
          </a:prstGeom>
          <a:solidFill>
            <a:srgbClr val="D9D9DE"/>
          </a:solidFill>
          <a:ln>
            <a:noFill/>
          </a:ln>
        </p:spPr>
        <p:txBody>
          <a:bodyPr rtlCol="0" anchor="ctr"/>
          <a:lstStyle/>
          <a:p>
            <a:pPr algn="ctr"/>
          </a:p>
        </p:txBody>
      </p:sp>
      <p:sp>
        <p:nvSpPr>
          <p:cNvPr id="8" name="TextBox 7"/>
          <p:cNvSpPr txBox="1"/>
          <p:nvPr/>
        </p:nvSpPr>
        <p:spPr>
          <a:xfrm>
            <a:off x="868680" y="333534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#56 “Git is an extremely important tool to our routine as software …”</a:t>
            </a:r>
          </a:p>
        </p:txBody>
      </p:sp>
      <p:sp>
        <p:nvSpPr>
          <p:cNvPr id="9" name="TextBox 8"/>
          <p:cNvSpPr txBox="1"/>
          <p:nvPr/>
        </p:nvSpPr>
        <p:spPr>
          <a:xfrm>
            <a:off x="7208215" y="333534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Emphasizing the importance of Git</a:t>
            </a:r>
          </a:p>
        </p:txBody>
      </p:sp>
      <p:sp>
        <p:nvSpPr>
          <p:cNvPr id="10" name="Rectangle 9"/>
          <p:cNvSpPr/>
          <p:nvPr/>
        </p:nvSpPr>
        <p:spPr>
          <a:xfrm>
            <a:off x="822960" y="3587595"/>
            <a:ext cx="10545775" cy="9525"/>
          </a:xfrm>
          <a:prstGeom prst="rect">
            <a:avLst/>
          </a:prstGeom>
          <a:solidFill>
            <a:srgbClr val="D9D9DE"/>
          </a:solidFill>
          <a:ln>
            <a:noFill/>
          </a:ln>
        </p:spPr>
        <p:txBody>
          <a:bodyPr rtlCol="0" anchor="ctr"/>
          <a:lstStyle/>
          <a:p>
            <a:pPr algn="ctr"/>
          </a:p>
        </p:txBody>
      </p:sp>
      <p:sp>
        <p:nvSpPr>
          <p:cNvPr id="11" name="TextBox 10"/>
          <p:cNvSpPr txBox="1"/>
          <p:nvPr/>
        </p:nvSpPr>
        <p:spPr>
          <a:xfrm>
            <a:off x="868680" y="363331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#32 “There are so many commands, I think it is better to learn them in …”</a:t>
            </a:r>
          </a:p>
        </p:txBody>
      </p:sp>
      <p:sp>
        <p:nvSpPr>
          <p:cNvPr id="12" name="TextBox 11"/>
          <p:cNvSpPr txBox="1"/>
          <p:nvPr/>
        </p:nvSpPr>
        <p:spPr>
          <a:xfrm>
            <a:off x="7208215" y="363331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13" name="Rectangle 12"/>
          <p:cNvSpPr/>
          <p:nvPr/>
        </p:nvSpPr>
        <p:spPr>
          <a:xfrm>
            <a:off x="822960" y="3885567"/>
            <a:ext cx="10545775" cy="9525"/>
          </a:xfrm>
          <a:prstGeom prst="rect">
            <a:avLst/>
          </a:prstGeom>
          <a:solidFill>
            <a:srgbClr val="D9D9DE"/>
          </a:solidFill>
          <a:ln>
            <a:noFill/>
          </a:ln>
        </p:spPr>
        <p:txBody>
          <a:bodyPr rtlCol="0" anchor="ctr"/>
          <a:lstStyle/>
          <a:p>
            <a:pPr algn="ctr"/>
          </a:p>
        </p:txBody>
      </p:sp>
      <p:sp>
        <p:nvSpPr>
          <p:cNvPr id="14" name="TextBox 13"/>
          <p:cNvSpPr txBox="1"/>
          <p:nvPr/>
        </p:nvSpPr>
        <p:spPr>
          <a:xfrm>
            <a:off x="868680" y="3931287"/>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#89 “Git is not a tool you have to go pretty deep to learn. Since it is a …”</a:t>
            </a:r>
          </a:p>
        </p:txBody>
      </p:sp>
      <p:sp>
        <p:nvSpPr>
          <p:cNvPr id="15" name="TextBox 14"/>
          <p:cNvSpPr txBox="1"/>
          <p:nvPr/>
        </p:nvSpPr>
        <p:spPr>
          <a:xfrm>
            <a:off x="7208215" y="3931287"/>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Mastering only the basic commands</a:t>
            </a:r>
          </a:p>
        </p:txBody>
      </p:sp>
      <p:sp>
        <p:nvSpPr>
          <p:cNvPr id="16" name="Rectangle 15"/>
          <p:cNvSpPr/>
          <p:nvPr/>
        </p:nvSpPr>
        <p:spPr>
          <a:xfrm>
            <a:off x="822960" y="4183539"/>
            <a:ext cx="10545775" cy="9525"/>
          </a:xfrm>
          <a:prstGeom prst="rect">
            <a:avLst/>
          </a:prstGeom>
          <a:solidFill>
            <a:srgbClr val="D9D9DE"/>
          </a:solidFill>
          <a:ln>
            <a:noFill/>
          </a:ln>
        </p:spPr>
        <p:txBody>
          <a:bodyPr rtlCol="0" anchor="ctr"/>
          <a:lstStyle/>
          <a:p>
            <a:pPr algn="ctr"/>
          </a:p>
        </p:txBody>
      </p:sp>
      <p:sp>
        <p:nvSpPr>
          <p:cNvPr id="17" name="TextBox 16"/>
          <p:cNvSpPr txBox="1"/>
          <p:nvPr/>
        </p:nvSpPr>
        <p:spPr>
          <a:xfrm>
            <a:off x="868680" y="4229259"/>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#26 “The difficulty with git is that when problems arise, you have to dive …”</a:t>
            </a:r>
          </a:p>
        </p:txBody>
      </p:sp>
      <p:sp>
        <p:nvSpPr>
          <p:cNvPr id="18" name="TextBox 17"/>
          <p:cNvSpPr txBox="1"/>
          <p:nvPr/>
        </p:nvSpPr>
        <p:spPr>
          <a:xfrm>
            <a:off x="7208215" y="4229259"/>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Understanding basic concepts and principles first</a:t>
            </a:r>
          </a:p>
        </p:txBody>
      </p:sp>
      <p:sp>
        <p:nvSpPr>
          <p:cNvPr id="19" name="Rectangle 18"/>
          <p:cNvSpPr/>
          <p:nvPr/>
        </p:nvSpPr>
        <p:spPr>
          <a:xfrm>
            <a:off x="822960" y="4481511"/>
            <a:ext cx="10545775" cy="9525"/>
          </a:xfrm>
          <a:prstGeom prst="rect">
            <a:avLst/>
          </a:prstGeom>
          <a:solidFill>
            <a:srgbClr val="D9D9DE"/>
          </a:solidFill>
          <a:ln>
            <a:noFill/>
          </a:ln>
        </p:spPr>
        <p:txBody>
          <a:bodyPr rtlCol="0" anchor="ctr"/>
          <a:lstStyle/>
          <a:p>
            <a:pPr algn="ctr"/>
          </a:p>
        </p:txBody>
      </p:sp>
      <p:sp>
        <p:nvSpPr>
          <p:cNvPr id="20" name="TextBox 19"/>
          <p:cNvSpPr txBox="1"/>
          <p:nvPr/>
        </p:nvSpPr>
        <p:spPr>
          <a:xfrm>
            <a:off x="868680" y="4527231"/>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#21 “All I want is to concentrate on my development, and dump the code …”</a:t>
            </a:r>
          </a:p>
        </p:txBody>
      </p:sp>
      <p:sp>
        <p:nvSpPr>
          <p:cNvPr id="21" name="TextBox 20"/>
          <p:cNvSpPr txBox="1"/>
          <p:nvPr/>
        </p:nvSpPr>
        <p:spPr>
          <a:xfrm>
            <a:off x="7208215" y="4527231"/>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Having the basic needs satisfied by Git GUI tools</a:t>
            </a:r>
          </a:p>
        </p:txBody>
      </p:sp>
      <p:sp>
        <p:nvSpPr>
          <p:cNvPr id="22" name="Rectangle 21"/>
          <p:cNvSpPr/>
          <p:nvPr/>
        </p:nvSpPr>
        <p:spPr>
          <a:xfrm>
            <a:off x="822960" y="4779483"/>
            <a:ext cx="10545775" cy="9525"/>
          </a:xfrm>
          <a:prstGeom prst="rect">
            <a:avLst/>
          </a:prstGeom>
          <a:solidFill>
            <a:srgbClr val="D9D9DE"/>
          </a:solidFill>
          <a:ln>
            <a:noFill/>
          </a:ln>
        </p:spPr>
        <p:txBody>
          <a:bodyPr rtlCol="0" anchor="ctr"/>
          <a:lstStyle/>
          <a:p>
            <a:pPr algn="ctr"/>
          </a:p>
        </p:txBody>
      </p:sp>
      <p:sp>
        <p:nvSpPr>
          <p:cNvPr id="23" name="TextBox 22"/>
          <p:cNvSpPr txBox="1"/>
          <p:nvPr/>
        </p:nvSpPr>
        <p:spPr>
          <a:xfrm>
            <a:off x="868680" y="4825203"/>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#77 “Git is my VCS of choice, as I’ve learned how it works and have use …”</a:t>
            </a:r>
          </a:p>
        </p:txBody>
      </p:sp>
      <p:sp>
        <p:nvSpPr>
          <p:cNvPr id="24" name="TextBox 23"/>
          <p:cNvSpPr txBox="1"/>
          <p:nvPr/>
        </p:nvSpPr>
        <p:spPr>
          <a:xfrm>
            <a:off x="7208215" y="4825203"/>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Learning and improving from practice</a:t>
            </a:r>
          </a:p>
        </p:txBody>
      </p:sp>
      <p:sp>
        <p:nvSpPr>
          <p:cNvPr id="25" name="Rectangle 24"/>
          <p:cNvSpPr/>
          <p:nvPr/>
        </p:nvSpPr>
        <p:spPr>
          <a:xfrm>
            <a:off x="822960" y="5077455"/>
            <a:ext cx="10545775" cy="9525"/>
          </a:xfrm>
          <a:prstGeom prst="rect">
            <a:avLst/>
          </a:prstGeom>
          <a:solidFill>
            <a:srgbClr val="D9D9DE"/>
          </a:solidFill>
          <a:ln>
            <a:noFill/>
          </a:ln>
        </p:spPr>
        <p:txBody>
          <a:bodyPr rtlCol="0" anchor="ctr"/>
          <a:lstStyle/>
          <a:p>
            <a:pPr algn="ctr"/>
          </a:p>
        </p:txBody>
      </p:sp>
      <p:sp>
        <p:nvSpPr>
          <p:cNvPr id="26" name="TextBox 25"/>
          <p:cNvSpPr txBox="1"/>
          <p:nvPr/>
        </p:nvSpPr>
        <p:spPr>
          <a:xfrm>
            <a:off x="868680" y="5123175"/>
            <a:ext cx="6248095"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#42 “Years on, I still constantly have to search the internet for help …”</a:t>
            </a:r>
          </a:p>
        </p:txBody>
      </p:sp>
      <p:sp>
        <p:nvSpPr>
          <p:cNvPr id="27" name="TextBox 26"/>
          <p:cNvSpPr txBox="1"/>
          <p:nvPr/>
        </p:nvSpPr>
        <p:spPr>
          <a:xfrm>
            <a:off x="7208215" y="5123175"/>
            <a:ext cx="4114800" cy="206532"/>
          </a:xfrm>
          <a:prstGeom prst="rect">
            <a:avLst/>
          </a:prstGeom>
          <a:noFill/>
        </p:spPr>
        <p:txBody>
          <a:bodyPr wrap="square" anchor="t" lIns="0" rIns="0" tIns="0" bIns="0"/>
          <a:lstStyle/>
          <a:p>
            <a:pPr algn="l">
              <a:lnSpc>
                <a:spcPct val="112000"/>
              </a:lnSpc>
              <a:spcBef>
                <a:spcPts val="0"/>
              </a:spcBef>
            </a:pPr>
            <a:r>
              <a:rPr sz="1200" b="0" i="0">
                <a:solidFill>
                  <a:srgbClr val="111111"/>
                </a:solidFill>
                <a:latin typeface="Inter"/>
              </a:rPr>
              <a:t>Making the best use of the internet</a:t>
            </a:r>
          </a:p>
        </p:txBody>
      </p:sp>
      <p:sp>
        <p:nvSpPr>
          <p:cNvPr id="28" name="TextBox 27"/>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Would another team get the same categories?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BREAK</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111111"/>
                </a:solidFill>
                <a:latin typeface="Inter"/>
              </a:rPr>
              <a:t>Break</a:t>
            </a:r>
          </a:p>
        </p:txBody>
      </p:sp>
      <p:sp>
        <p:nvSpPr>
          <p:cNvPr id="4" name="TextBox 3"/>
          <p:cNvSpPr txBox="1"/>
          <p:nvPr/>
        </p:nvSpPr>
        <p:spPr>
          <a:xfrm>
            <a:off x="822960" y="3559088"/>
            <a:ext cx="8647535" cy="447487"/>
          </a:xfrm>
          <a:prstGeom prst="rect">
            <a:avLst/>
          </a:prstGeom>
          <a:noFill/>
        </p:spPr>
        <p:txBody>
          <a:bodyPr wrap="square" anchor="t" lIns="0" rIns="0" tIns="0" bIns="0"/>
          <a:lstStyle/>
          <a:p>
            <a:pPr algn="l">
              <a:lnSpc>
                <a:spcPct val="112000"/>
              </a:lnSpc>
              <a:spcBef>
                <a:spcPts val="0"/>
              </a:spcBef>
            </a:pPr>
            <a:r>
              <a:rPr sz="2600" b="0" i="0">
                <a:solidFill>
                  <a:srgbClr val="707078"/>
                </a:solidFill>
                <a:latin typeface="Inter"/>
              </a:rPr>
              <a:t>We take five minutes, then work in groups.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8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Check one claim from the paper</a:t>
            </a:r>
          </a:p>
        </p:txBody>
      </p:sp>
      <p:sp>
        <p:nvSpPr>
          <p:cNvPr id="5" name="TextBox 4"/>
          <p:cNvSpPr txBox="1"/>
          <p:nvPr/>
        </p:nvSpPr>
        <p:spPr>
          <a:xfrm>
            <a:off x="822960" y="1831441"/>
            <a:ext cx="8647535" cy="1159661"/>
          </a:xfrm>
          <a:prstGeom prst="rect">
            <a:avLst/>
          </a:prstGeom>
          <a:noFill/>
        </p:spPr>
        <p:txBody>
          <a:bodyPr wrap="square" anchor="t" lIns="0" rIns="0" tIns="0" bIns="0"/>
          <a:lstStyle/>
          <a:p>
            <a:pPr algn="l">
              <a:lnSpc>
                <a:spcPct val="112000"/>
              </a:lnSpc>
              <a:spcBef>
                <a:spcPts val="0"/>
              </a:spcBef>
            </a:pPr>
            <a:r>
              <a:rPr sz="2000" b="0" i="0">
                <a:solidFill>
                  <a:srgbClr val="111111"/>
                </a:solidFill>
                <a:latin typeface="Inter"/>
              </a:rPr>
              <a:t>Your group has one sentence from the paper, and the facts behind it.</a:t>
            </a:r>
          </a:p>
          <a:p>
            <a:pPr algn="l">
              <a:lnSpc>
                <a:spcPct val="112000"/>
              </a:lnSpc>
              <a:spcBef>
                <a:spcPts val="1000"/>
              </a:spcBef>
            </a:pPr>
            <a:r>
              <a:rPr sz="2000" b="0" i="0">
                <a:solidFill>
                  <a:srgbClr val="111111"/>
                </a:solidFill>
                <a:latin typeface="Inter"/>
              </a:rPr>
              <a:t>Write what the facts really show, then what you would need to believe the claim.</a:t>
            </a:r>
          </a:p>
        </p:txBody>
      </p:sp>
      <p:sp>
        <p:nvSpPr>
          <p:cNvPr id="6" name="Rounded Rectangle 5"/>
          <p:cNvSpPr/>
          <p:nvPr/>
        </p:nvSpPr>
        <p:spPr>
          <a:xfrm>
            <a:off x="822960" y="3219702"/>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3356862"/>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RQ2, §3.2</a:t>
            </a:r>
          </a:p>
        </p:txBody>
      </p:sp>
      <p:sp>
        <p:nvSpPr>
          <p:cNvPr id="8" name="TextBox 7"/>
          <p:cNvSpPr txBox="1"/>
          <p:nvPr/>
        </p:nvSpPr>
        <p:spPr>
          <a:xfrm>
            <a:off x="1005840" y="356447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9" name="Rounded Rectangle 8"/>
          <p:cNvSpPr/>
          <p:nvPr/>
        </p:nvSpPr>
        <p:spPr>
          <a:xfrm>
            <a:off x="6187287" y="3219702"/>
            <a:ext cx="5181447" cy="1302145"/>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6370167" y="3356862"/>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§1, FINDING 4; §3.4</a:t>
            </a:r>
          </a:p>
        </p:txBody>
      </p:sp>
      <p:sp>
        <p:nvSpPr>
          <p:cNvPr id="11" name="TextBox 10"/>
          <p:cNvSpPr txBox="1"/>
          <p:nvPr/>
        </p:nvSpPr>
        <p:spPr>
          <a:xfrm>
            <a:off x="6370167" y="356447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822960" y="4704727"/>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1005840" y="4841887"/>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ABSTRACT; §3.5</a:t>
            </a:r>
          </a:p>
        </p:txBody>
      </p:sp>
      <p:sp>
        <p:nvSpPr>
          <p:cNvPr id="14" name="TextBox 13"/>
          <p:cNvSpPr txBox="1"/>
          <p:nvPr/>
        </p:nvSpPr>
        <p:spPr>
          <a:xfrm>
            <a:off x="1005840" y="5049496"/>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15" name="Rounded Rectangle 14"/>
          <p:cNvSpPr/>
          <p:nvPr/>
        </p:nvSpPr>
        <p:spPr>
          <a:xfrm>
            <a:off x="6187287" y="4704727"/>
            <a:ext cx="5181447" cy="1560311"/>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6370167" y="4841887"/>
            <a:ext cx="4815687" cy="189321"/>
          </a:xfrm>
          <a:prstGeom prst="rect">
            <a:avLst/>
          </a:prstGeom>
          <a:noFill/>
        </p:spPr>
        <p:txBody>
          <a:bodyPr wrap="square" anchor="t" lIns="0" rIns="0" tIns="0" bIns="0"/>
          <a:lstStyle/>
          <a:p>
            <a:pPr algn="l">
              <a:lnSpc>
                <a:spcPct val="110000"/>
              </a:lnSpc>
            </a:pPr>
            <a:r>
              <a:rPr sz="1100" b="1">
                <a:solidFill>
                  <a:srgbClr val="707078"/>
                </a:solidFill>
                <a:latin typeface="Inter"/>
              </a:rPr>
              <a:t>§3.5</a:t>
            </a:r>
          </a:p>
        </p:txBody>
      </p:sp>
      <p:sp>
        <p:nvSpPr>
          <p:cNvPr id="17" name="TextBox 16"/>
          <p:cNvSpPr txBox="1"/>
          <p:nvPr/>
        </p:nvSpPr>
        <p:spPr>
          <a:xfrm>
            <a:off x="6370167" y="5049496"/>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(1/2)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suggests that even developers with years of development experience can have trouble using Git commands.”</a:t>
            </a:r>
          </a:p>
        </p:txBody>
      </p:sp>
      <p:sp>
        <p:nvSpPr>
          <p:cNvPr id="7" name="Rounded Rectangle 6"/>
          <p:cNvSpPr/>
          <p:nvPr/>
        </p:nvSpPr>
        <p:spPr>
          <a:xfrm>
            <a:off x="1005840" y="4061377"/>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4335697"/>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Some people with old Stack Overflow accounts asked for help. The claim is true as written.</a:t>
            </a:r>
          </a:p>
        </p:txBody>
      </p:sp>
      <p:sp>
        <p:nvSpPr>
          <p:cNvPr id="10" name="Rounded Rectangle 9"/>
          <p:cNvSpPr/>
          <p:nvPr/>
        </p:nvSpPr>
        <p:spPr>
          <a:xfrm>
            <a:off x="6187287" y="3058281"/>
            <a:ext cx="5181447" cy="2292887"/>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774496"/>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“…for the more frequently-used commands, git credential and git submodule are among the most difficult ones.”</a:t>
            </a:r>
          </a:p>
        </p:txBody>
      </p:sp>
      <p:sp>
        <p:nvSpPr>
          <p:cNvPr id="12" name="Rounded Rectangle 11"/>
          <p:cNvSpPr/>
          <p:nvPr/>
        </p:nvSpPr>
        <p:spPr>
          <a:xfrm>
            <a:off x="6370167" y="4061377"/>
            <a:ext cx="4815687" cy="1106911"/>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116241"/>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335697"/>
            <a:ext cx="4632807"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git credential the share is above average (43.0% against 36.5% overall); for git submodule it is about average (37.5%).</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3 · JUDGE IT</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The four claims, and what the data supports (2/2)</a:t>
            </a:r>
          </a:p>
        </p:txBody>
      </p:sp>
      <p:sp>
        <p:nvSpPr>
          <p:cNvPr id="4" name="TextBox 3"/>
          <p:cNvSpPr txBox="1"/>
          <p:nvPr/>
        </p:nvSpPr>
        <p:spPr>
          <a:xfrm>
            <a:off x="822960" y="2519883"/>
            <a:ext cx="10545775" cy="309798"/>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Nobody was watched using Git, so the data cannot answer the paper’s title.</a:t>
            </a:r>
          </a:p>
        </p:txBody>
      </p:sp>
      <p:sp>
        <p:nvSpPr>
          <p:cNvPr id="5" name="Rounded Rectangle 4"/>
          <p:cNvSpPr/>
          <p:nvPr/>
        </p:nvSpPr>
        <p:spPr>
          <a:xfrm>
            <a:off x="822960"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6" name="TextBox 5"/>
          <p:cNvSpPr txBox="1"/>
          <p:nvPr/>
        </p:nvSpPr>
        <p:spPr>
          <a:xfrm>
            <a:off x="1005840" y="3195441"/>
            <a:ext cx="4815687" cy="258165"/>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“Self-learning is the primary learning approach.”</a:t>
            </a:r>
          </a:p>
        </p:txBody>
      </p:sp>
      <p:sp>
        <p:nvSpPr>
          <p:cNvPr id="7" name="Rounded Rectangle 6"/>
          <p:cNvSpPr/>
          <p:nvPr/>
        </p:nvSpPr>
        <p:spPr>
          <a:xfrm>
            <a:off x="1005840" y="3545046"/>
            <a:ext cx="4815687" cy="865957"/>
          </a:xfrm>
          <a:prstGeom prst="roundRect">
            <a:avLst>
              <a:gd name="adj" fmla="val 10000"/>
            </a:avLst>
          </a:prstGeom>
          <a:solidFill>
            <a:srgbClr val="F4ECFB"/>
          </a:solidFill>
          <a:ln>
            <a:noFill/>
          </a:ln>
          <a:effectLst/>
        </p:spPr>
        <p:txBody>
          <a:bodyPr rtlCol="0" anchor="ctr"/>
          <a:lstStyle/>
          <a:p/>
        </p:txBody>
      </p:sp>
      <p:sp>
        <p:nvSpPr>
          <p:cNvPr id="8" name="TextBox 7"/>
          <p:cNvSpPr txBox="1"/>
          <p:nvPr/>
        </p:nvSpPr>
        <p:spPr>
          <a:xfrm>
            <a:off x="1097280" y="3599910"/>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9" name="TextBox 8"/>
          <p:cNvSpPr txBox="1"/>
          <p:nvPr/>
        </p:nvSpPr>
        <p:spPr>
          <a:xfrm>
            <a:off x="1097280" y="3819366"/>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These 92 people say they learned mostly from the internet and the documentation.</a:t>
            </a:r>
          </a:p>
        </p:txBody>
      </p:sp>
      <p:sp>
        <p:nvSpPr>
          <p:cNvPr id="10" name="Rounded Rectangle 9"/>
          <p:cNvSpPr/>
          <p:nvPr/>
        </p:nvSpPr>
        <p:spPr>
          <a:xfrm>
            <a:off x="6187287" y="3058281"/>
            <a:ext cx="5181447" cy="2310099"/>
          </a:xfrm>
          <a:prstGeom prst="roundRect">
            <a:avLst>
              <a:gd name="adj" fmla="val 6000"/>
            </a:avLst>
          </a:prstGeom>
          <a:solidFill>
            <a:srgbClr val="FFFFFF"/>
          </a:solidFill>
          <a:ln w="19050">
            <a:solidFill>
              <a:srgbClr val="D9D9DE"/>
            </a:solidFill>
          </a:ln>
          <a:effectLst/>
        </p:spPr>
        <p:txBody>
          <a:bodyPr rtlCol="0" anchor="ctr"/>
          <a:lstStyle/>
          <a:p/>
        </p:txBody>
      </p:sp>
      <p:sp>
        <p:nvSpPr>
          <p:cNvPr id="11" name="TextBox 10"/>
          <p:cNvSpPr txBox="1"/>
          <p:nvPr/>
        </p:nvSpPr>
        <p:spPr>
          <a:xfrm>
            <a:off x="6370167" y="3195441"/>
            <a:ext cx="4815687" cy="1032662"/>
          </a:xfrm>
          <a:prstGeom prst="rect">
            <a:avLst/>
          </a:prstGeom>
          <a:noFill/>
        </p:spPr>
        <p:txBody>
          <a:bodyPr wrap="square" anchor="t" lIns="0" rIns="0" tIns="0" bIns="0"/>
          <a:lstStyle/>
          <a:p>
            <a:pPr algn="l">
              <a:lnSpc>
                <a:spcPct val="112000"/>
              </a:lnSpc>
              <a:spcBef>
                <a:spcPts val="0"/>
              </a:spcBef>
            </a:pPr>
            <a:r>
              <a:rPr sz="1500" b="0" i="1">
                <a:solidFill>
                  <a:srgbClr val="111111"/>
                </a:solidFill>
                <a:latin typeface="Inter"/>
              </a:rPr>
              <a:t>“This result, although surprising, is consistent with the conclusion we obtained in RQ2, indicating that even experienced developers still have doubts about Git usage.”</a:t>
            </a:r>
          </a:p>
        </p:txBody>
      </p:sp>
      <p:sp>
        <p:nvSpPr>
          <p:cNvPr id="12" name="Rounded Rectangle 11"/>
          <p:cNvSpPr/>
          <p:nvPr/>
        </p:nvSpPr>
        <p:spPr>
          <a:xfrm>
            <a:off x="6370167" y="4319543"/>
            <a:ext cx="4815687" cy="865957"/>
          </a:xfrm>
          <a:prstGeom prst="roundRect">
            <a:avLst>
              <a:gd name="adj" fmla="val 10000"/>
            </a:avLst>
          </a:prstGeom>
          <a:solidFill>
            <a:srgbClr val="F4ECFB"/>
          </a:solidFill>
          <a:ln>
            <a:noFill/>
          </a:ln>
          <a:effectLst/>
        </p:spPr>
        <p:txBody>
          <a:bodyPr rtlCol="0" anchor="ctr"/>
          <a:lstStyle/>
          <a:p/>
        </p:txBody>
      </p:sp>
      <p:sp>
        <p:nvSpPr>
          <p:cNvPr id="13" name="TextBox 12"/>
          <p:cNvSpPr txBox="1"/>
          <p:nvPr/>
        </p:nvSpPr>
        <p:spPr>
          <a:xfrm>
            <a:off x="6461607" y="4374407"/>
            <a:ext cx="4815687" cy="228600"/>
          </a:xfrm>
          <a:prstGeom prst="rect">
            <a:avLst/>
          </a:prstGeom>
          <a:noFill/>
        </p:spPr>
        <p:txBody>
          <a:bodyPr wrap="square" anchor="t" lIns="0" rIns="0" tIns="0" bIns="0"/>
          <a:lstStyle/>
          <a:p>
            <a:pPr algn="l">
              <a:lnSpc>
                <a:spcPct val="110000"/>
              </a:lnSpc>
            </a:pPr>
            <a:r>
              <a:rPr sz="1100" b="1">
                <a:solidFill>
                  <a:srgbClr val="8B3DFF"/>
                </a:solidFill>
                <a:latin typeface="Inter"/>
              </a:rPr>
              <a:t>THE DATA SUPPORTS</a:t>
            </a:r>
          </a:p>
        </p:txBody>
      </p:sp>
      <p:sp>
        <p:nvSpPr>
          <p:cNvPr id="14" name="TextBox 13"/>
          <p:cNvSpPr txBox="1"/>
          <p:nvPr/>
        </p:nvSpPr>
        <p:spPr>
          <a:xfrm>
            <a:off x="6461607" y="4593863"/>
            <a:ext cx="4632807"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Most of the 92 rate themselves competent or below (79 of 92).</a:t>
            </a:r>
          </a:p>
        </p:txBody>
      </p:sp>
      <p:sp>
        <p:nvSpPr>
          <p:cNvPr id="15" name="TextBox 1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claim holds up best?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10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Design a better undo</a:t>
            </a:r>
          </a:p>
        </p:txBody>
      </p:sp>
      <p:sp>
        <p:nvSpPr>
          <p:cNvPr id="5" name="TextBox 4"/>
          <p:cNvSpPr txBox="1"/>
          <p:nvPr/>
        </p:nvSpPr>
        <p:spPr>
          <a:xfrm>
            <a:off x="822960" y="1831441"/>
            <a:ext cx="8647535" cy="746596"/>
          </a:xfrm>
          <a:prstGeom prst="rect">
            <a:avLst/>
          </a:prstGeom>
          <a:noFill/>
        </p:spPr>
        <p:txBody>
          <a:bodyPr wrap="square" anchor="t" lIns="0" rIns="0" tIns="0" bIns="0"/>
          <a:lstStyle/>
          <a:p>
            <a:pPr algn="l">
              <a:lnSpc>
                <a:spcPct val="112000"/>
              </a:lnSpc>
              <a:spcBef>
                <a:spcPts val="0"/>
              </a:spcBef>
            </a:pPr>
            <a:r>
              <a:rPr sz="1800" b="0" i="0">
                <a:solidFill>
                  <a:srgbClr val="111111"/>
                </a:solidFill>
                <a:latin typeface="Inter"/>
              </a:rPr>
              <a:t>The most-viewed Git question asks how to undo the last commit.</a:t>
            </a:r>
          </a:p>
          <a:p>
            <a:pPr algn="l">
              <a:lnSpc>
                <a:spcPct val="112000"/>
              </a:lnSpc>
              <a:spcBef>
                <a:spcPts val="1000"/>
              </a:spcBef>
            </a:pPr>
            <a:r>
              <a:rPr sz="1800" b="0" i="0">
                <a:solidFill>
                  <a:srgbClr val="111111"/>
                </a:solidFill>
                <a:latin typeface="Inter"/>
              </a:rPr>
              <a:t>Design one change, and say how you would test whether it helps.</a:t>
            </a:r>
          </a:p>
        </p:txBody>
      </p:sp>
      <p:sp>
        <p:nvSpPr>
          <p:cNvPr id="6" name="Rounded Rectangle 5"/>
          <p:cNvSpPr/>
          <p:nvPr/>
        </p:nvSpPr>
        <p:spPr>
          <a:xfrm>
            <a:off x="822960"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7" name="TextBox 6"/>
          <p:cNvSpPr txBox="1"/>
          <p:nvPr/>
        </p:nvSpPr>
        <p:spPr>
          <a:xfrm>
            <a:off x="1005840"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YOUR CHANGE: WHAT WOULD THE USER SEE OR TYPE?</a:t>
            </a:r>
          </a:p>
        </p:txBody>
      </p:sp>
      <p:sp>
        <p:nvSpPr>
          <p:cNvPr id="8" name="TextBox 7"/>
          <p:cNvSpPr txBox="1"/>
          <p:nvPr/>
        </p:nvSpPr>
        <p:spPr>
          <a:xfrm>
            <a:off x="1005840" y="3340727"/>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a command that undoes the last thing Git did.</a:t>
            </a:r>
          </a:p>
        </p:txBody>
      </p:sp>
      <p:sp>
        <p:nvSpPr>
          <p:cNvPr id="9" name="Rounded Rectangle 8"/>
          <p:cNvSpPr/>
          <p:nvPr/>
        </p:nvSpPr>
        <p:spPr>
          <a:xfrm>
            <a:off x="3505123"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0" name="TextBox 9"/>
          <p:cNvSpPr txBox="1"/>
          <p:nvPr/>
        </p:nvSpPr>
        <p:spPr>
          <a:xfrm>
            <a:off x="3688003" y="2943797"/>
            <a:ext cx="2133523" cy="378642"/>
          </a:xfrm>
          <a:prstGeom prst="rect">
            <a:avLst/>
          </a:prstGeom>
          <a:noFill/>
        </p:spPr>
        <p:txBody>
          <a:bodyPr wrap="square" anchor="t" lIns="0" rIns="0" tIns="0" bIns="0"/>
          <a:lstStyle/>
          <a:p>
            <a:pPr algn="l">
              <a:lnSpc>
                <a:spcPct val="110000"/>
              </a:lnSpc>
            </a:pPr>
            <a:r>
              <a:rPr sz="1100" b="1">
                <a:solidFill>
                  <a:srgbClr val="707078"/>
                </a:solidFill>
                <a:latin typeface="Inter"/>
              </a:rPr>
              <a:t>YOUR TEST: WHO WOULD TRY IT, DOING WHAT TASK?</a:t>
            </a:r>
          </a:p>
        </p:txBody>
      </p:sp>
      <p:sp>
        <p:nvSpPr>
          <p:cNvPr id="11" name="TextBox 10"/>
          <p:cNvSpPr txBox="1"/>
          <p:nvPr/>
        </p:nvSpPr>
        <p:spPr>
          <a:xfrm>
            <a:off x="3688003" y="3340727"/>
            <a:ext cx="2133523" cy="963818"/>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20 students who just made a bad commit, half with the change.</a:t>
            </a:r>
          </a:p>
        </p:txBody>
      </p:sp>
      <p:sp>
        <p:nvSpPr>
          <p:cNvPr id="12" name="Rounded Rectangle 11"/>
          <p:cNvSpPr/>
          <p:nvPr/>
        </p:nvSpPr>
        <p:spPr>
          <a:xfrm>
            <a:off x="6187286"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3" name="TextBox 12"/>
          <p:cNvSpPr txBox="1"/>
          <p:nvPr/>
        </p:nvSpPr>
        <p:spPr>
          <a:xfrm>
            <a:off x="6370166" y="2943797"/>
            <a:ext cx="2133523" cy="567964"/>
          </a:xfrm>
          <a:prstGeom prst="rect">
            <a:avLst/>
          </a:prstGeom>
          <a:noFill/>
        </p:spPr>
        <p:txBody>
          <a:bodyPr wrap="square" anchor="t" lIns="0" rIns="0" tIns="0" bIns="0"/>
          <a:lstStyle/>
          <a:p>
            <a:pPr algn="l">
              <a:lnSpc>
                <a:spcPct val="110000"/>
              </a:lnSpc>
            </a:pPr>
            <a:r>
              <a:rPr sz="1100" b="1">
                <a:solidFill>
                  <a:srgbClr val="707078"/>
                </a:solidFill>
                <a:latin typeface="Inter"/>
              </a:rPr>
              <a:t>WHAT WOULD YOU MEASURE, AND WHAT COULD FOOL YOU?</a:t>
            </a:r>
          </a:p>
        </p:txBody>
      </p:sp>
      <p:sp>
        <p:nvSpPr>
          <p:cNvPr id="14" name="TextBox 13"/>
          <p:cNvSpPr txBox="1"/>
          <p:nvPr/>
        </p:nvSpPr>
        <p:spPr>
          <a:xfrm>
            <a:off x="6370166" y="3530049"/>
            <a:ext cx="2133523" cy="722863"/>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time to recover; people get faster on the second try.</a:t>
            </a:r>
          </a:p>
        </p:txBody>
      </p:sp>
      <p:sp>
        <p:nvSpPr>
          <p:cNvPr id="15" name="Rounded Rectangle 14"/>
          <p:cNvSpPr/>
          <p:nvPr/>
        </p:nvSpPr>
        <p:spPr>
          <a:xfrm>
            <a:off x="8869449" y="2806637"/>
            <a:ext cx="2499283" cy="1680788"/>
          </a:xfrm>
          <a:prstGeom prst="roundRect">
            <a:avLst>
              <a:gd name="adj" fmla="val 6000"/>
            </a:avLst>
          </a:prstGeom>
          <a:solidFill>
            <a:srgbClr val="FFFFFF"/>
          </a:solidFill>
          <a:ln w="19050">
            <a:solidFill>
              <a:srgbClr val="D9D9DE"/>
            </a:solidFill>
          </a:ln>
          <a:effectLst/>
        </p:spPr>
        <p:txBody>
          <a:bodyPr rtlCol="0" anchor="ctr"/>
          <a:lstStyle/>
          <a:p/>
        </p:txBody>
      </p:sp>
      <p:sp>
        <p:nvSpPr>
          <p:cNvPr id="16" name="TextBox 15"/>
          <p:cNvSpPr txBox="1"/>
          <p:nvPr/>
        </p:nvSpPr>
        <p:spPr>
          <a:xfrm>
            <a:off x="9052329" y="2943797"/>
            <a:ext cx="2133523" cy="567964"/>
          </a:xfrm>
          <a:prstGeom prst="rect">
            <a:avLst/>
          </a:prstGeom>
          <a:noFill/>
        </p:spPr>
        <p:txBody>
          <a:bodyPr wrap="square" anchor="t" lIns="0" rIns="0" tIns="0" bIns="0"/>
          <a:lstStyle/>
          <a:p>
            <a:pPr algn="l">
              <a:lnSpc>
                <a:spcPct val="110000"/>
              </a:lnSpc>
            </a:pPr>
            <a:r>
              <a:rPr sz="1100" b="1">
                <a:solidFill>
                  <a:srgbClr val="707078"/>
                </a:solidFill>
                <a:latin typeface="Inter"/>
              </a:rPr>
              <a:t>HOW WOULD YOU GET THE DATA: WATCH PEOPLE, LOG REAL USE, OR ASK THEM?</a:t>
            </a:r>
          </a:p>
        </p:txBody>
      </p:sp>
      <p:sp>
        <p:nvSpPr>
          <p:cNvPr id="17" name="TextBox 16"/>
          <p:cNvSpPr txBox="1"/>
          <p:nvPr/>
        </p:nvSpPr>
        <p:spPr>
          <a:xfrm>
            <a:off x="9052329" y="3530049"/>
            <a:ext cx="2133523" cy="481909"/>
          </a:xfrm>
          <a:prstGeom prst="rect">
            <a:avLst/>
          </a:prstGeom>
          <a:noFill/>
        </p:spPr>
        <p:txBody>
          <a:bodyPr wrap="square" anchor="t" lIns="0" rIns="0" tIns="0" bIns="0"/>
          <a:lstStyle/>
          <a:p>
            <a:pPr algn="l">
              <a:lnSpc>
                <a:spcPct val="112000"/>
              </a:lnSpc>
              <a:spcBef>
                <a:spcPts val="0"/>
              </a:spcBef>
            </a:pPr>
            <a:r>
              <a:rPr sz="1400" b="0" i="0">
                <a:solidFill>
                  <a:srgbClr val="111111"/>
                </a:solidFill>
                <a:latin typeface="Inter"/>
              </a:rPr>
              <a:t>For example: screen recordings of the task.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4 · DESIGN</a:t>
            </a:r>
          </a:p>
        </p:txBody>
      </p:sp>
      <p:sp>
        <p:nvSpPr>
          <p:cNvPr id="3" name="TextBox 2"/>
          <p:cNvSpPr txBox="1"/>
          <p:nvPr/>
        </p:nvSpPr>
        <p:spPr>
          <a:xfrm>
            <a:off x="822960" y="868680"/>
            <a:ext cx="1054577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Your designs</a:t>
            </a:r>
          </a:p>
        </p:txBody>
      </p:sp>
      <p:sp>
        <p:nvSpPr>
          <p:cNvPr id="4" name="TextBox 3"/>
          <p:cNvSpPr txBox="1"/>
          <p:nvPr/>
        </p:nvSpPr>
        <p:spPr>
          <a:xfrm>
            <a:off x="822960" y="1831441"/>
            <a:ext cx="8647535" cy="757285"/>
          </a:xfrm>
          <a:prstGeom prst="rect">
            <a:avLst/>
          </a:prstGeom>
          <a:noFill/>
        </p:spPr>
        <p:txBody>
          <a:bodyPr wrap="square" anchor="t" lIns="0" rIns="0" tIns="0" bIns="0"/>
          <a:lstStyle/>
          <a:p>
            <a:pPr algn="l">
              <a:lnSpc>
                <a:spcPct val="112000"/>
              </a:lnSpc>
              <a:spcBef>
                <a:spcPts val="0"/>
              </a:spcBef>
            </a:pPr>
            <a:r>
              <a:rPr sz="2200" b="0" i="0">
                <a:solidFill>
                  <a:srgbClr val="707078"/>
                </a:solidFill>
                <a:latin typeface="Inter"/>
              </a:rPr>
              <a:t>Each group reads its change, its test, its measure and risk, and its data. The app shows all of them.</a:t>
            </a:r>
          </a:p>
        </p:txBody>
      </p:sp>
      <p:sp>
        <p:nvSpPr>
          <p:cNvPr id="5" name="TextBox 4"/>
          <p:cNvSpPr txBox="1"/>
          <p:nvPr/>
        </p:nvSpPr>
        <p:spPr>
          <a:xfrm>
            <a:off x="822960" y="6022158"/>
            <a:ext cx="10545775" cy="378642"/>
          </a:xfrm>
          <a:prstGeom prst="rect">
            <a:avLst/>
          </a:prstGeom>
          <a:noFill/>
        </p:spPr>
        <p:txBody>
          <a:bodyPr wrap="square" anchor="t" lIns="0" rIns="0" tIns="0" bIns="0"/>
          <a:lstStyle/>
          <a:p>
            <a:pPr algn="l">
              <a:lnSpc>
                <a:spcPct val="112000"/>
              </a:lnSpc>
              <a:spcBef>
                <a:spcPts val="0"/>
              </a:spcBef>
            </a:pPr>
            <a:r>
              <a:rPr sz="2200" b="0" i="1">
                <a:solidFill>
                  <a:srgbClr val="707078"/>
                </a:solidFill>
                <a:latin typeface="Inter"/>
              </a:rPr>
              <a:t>Which of these could you test by watching people?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TextBox 2"/>
          <p:cNvSpPr txBox="1"/>
          <p:nvPr/>
        </p:nvSpPr>
        <p:spPr>
          <a:xfrm>
            <a:off x="822960" y="868680"/>
            <a:ext cx="10545775" cy="1376883"/>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What holds in the paper, and what does not</a:t>
            </a:r>
          </a:p>
        </p:txBody>
      </p:sp>
      <p:sp>
        <p:nvSpPr>
          <p:cNvPr id="4" name="TextBox 3"/>
          <p:cNvSpPr txBox="1"/>
          <p:nvPr/>
        </p:nvSpPr>
        <p:spPr>
          <a:xfrm>
            <a:off x="822960" y="2519883"/>
            <a:ext cx="5044287" cy="365760"/>
          </a:xfrm>
          <a:prstGeom prst="rect">
            <a:avLst/>
          </a:prstGeom>
          <a:noFill/>
        </p:spPr>
        <p:txBody>
          <a:bodyPr wrap="square" anchor="t" lIns="0" rIns="0" tIns="0" bIns="0"/>
          <a:lstStyle/>
          <a:p>
            <a:pPr algn="l">
              <a:lnSpc>
                <a:spcPct val="110000"/>
              </a:lnSpc>
            </a:pPr>
            <a:r>
              <a:rPr sz="2000" b="1">
                <a:solidFill>
                  <a:srgbClr val="16A34A"/>
                </a:solidFill>
                <a:latin typeface="Inter"/>
              </a:rPr>
              <a:t>Holds</a:t>
            </a:r>
          </a:p>
        </p:txBody>
      </p:sp>
      <p:sp>
        <p:nvSpPr>
          <p:cNvPr id="5" name="Rectangle 4"/>
          <p:cNvSpPr/>
          <p:nvPr/>
        </p:nvSpPr>
        <p:spPr>
          <a:xfrm>
            <a:off x="822960" y="2931363"/>
            <a:ext cx="5044287" cy="45720"/>
          </a:xfrm>
          <a:prstGeom prst="rect">
            <a:avLst/>
          </a:prstGeom>
          <a:solidFill>
            <a:srgbClr val="16A34A"/>
          </a:solidFill>
          <a:ln>
            <a:noFill/>
          </a:ln>
        </p:spPr>
        <p:txBody>
          <a:bodyPr rtlCol="0" anchor="ctr"/>
          <a:lstStyle/>
          <a:p>
            <a:pPr algn="ctr"/>
          </a:p>
        </p:txBody>
      </p:sp>
      <p:sp>
        <p:nvSpPr>
          <p:cNvPr id="6" name="TextBox 5"/>
          <p:cNvSpPr txBox="1"/>
          <p:nvPr/>
        </p:nvSpPr>
        <p:spPr>
          <a:xfrm>
            <a:off x="822960" y="3068523"/>
            <a:ext cx="5044287" cy="223243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There are many Git questions, and their share is steady.</a:t>
            </a:r>
          </a:p>
          <a:p>
            <a:pPr algn="l">
              <a:lnSpc>
                <a:spcPct val="112000"/>
              </a:lnSpc>
              <a:spcBef>
                <a:spcPts val="800"/>
              </a:spcBef>
            </a:pPr>
            <a:r>
              <a:rPr sz="1600" b="0" i="0">
                <a:solidFill>
                  <a:srgbClr val="111111"/>
                </a:solidFill>
                <a:latin typeface="Inter"/>
              </a:rPr>
              <a:t>✓ Undoing work is a real need.</a:t>
            </a:r>
          </a:p>
          <a:p>
            <a:pPr algn="l">
              <a:lnSpc>
                <a:spcPct val="112000"/>
              </a:lnSpc>
              <a:spcBef>
                <a:spcPts val="800"/>
              </a:spcBef>
            </a:pPr>
            <a:r>
              <a:rPr sz="1600" b="0" i="0">
                <a:solidFill>
                  <a:srgbClr val="111111"/>
                </a:solidFill>
                <a:latin typeface="Inter"/>
              </a:rPr>
              <a:t>✓ Long-time Stack Overflow users can still get stuck.</a:t>
            </a:r>
          </a:p>
          <a:p>
            <a:pPr algn="l">
              <a:lnSpc>
                <a:spcPct val="112000"/>
              </a:lnSpc>
              <a:spcBef>
                <a:spcPts val="800"/>
              </a:spcBef>
            </a:pPr>
            <a:r>
              <a:rPr sz="1600" b="0" i="0">
                <a:solidFill>
                  <a:srgbClr val="111111"/>
                </a:solidFill>
                <a:latin typeface="Inter"/>
              </a:rPr>
              <a:t>✓ The data is public, and we could check it ourselves.</a:t>
            </a:r>
          </a:p>
        </p:txBody>
      </p:sp>
      <p:sp>
        <p:nvSpPr>
          <p:cNvPr id="7" name="TextBox 6"/>
          <p:cNvSpPr txBox="1"/>
          <p:nvPr/>
        </p:nvSpPr>
        <p:spPr>
          <a:xfrm>
            <a:off x="6324447" y="2519883"/>
            <a:ext cx="5044287" cy="365760"/>
          </a:xfrm>
          <a:prstGeom prst="rect">
            <a:avLst/>
          </a:prstGeom>
          <a:noFill/>
        </p:spPr>
        <p:txBody>
          <a:bodyPr wrap="square" anchor="t" lIns="0" rIns="0" tIns="0" bIns="0"/>
          <a:lstStyle/>
          <a:p>
            <a:pPr algn="l">
              <a:lnSpc>
                <a:spcPct val="110000"/>
              </a:lnSpc>
            </a:pPr>
            <a:r>
              <a:rPr sz="2000" b="1">
                <a:solidFill>
                  <a:srgbClr val="DC2626"/>
                </a:solidFill>
                <a:latin typeface="Inter"/>
              </a:rPr>
              <a:t>Does not hold as written</a:t>
            </a:r>
          </a:p>
        </p:txBody>
      </p:sp>
      <p:sp>
        <p:nvSpPr>
          <p:cNvPr id="8" name="Rectangle 7"/>
          <p:cNvSpPr/>
          <p:nvPr/>
        </p:nvSpPr>
        <p:spPr>
          <a:xfrm>
            <a:off x="6324447" y="2931363"/>
            <a:ext cx="5044287" cy="45720"/>
          </a:xfrm>
          <a:prstGeom prst="rect">
            <a:avLst/>
          </a:prstGeom>
          <a:solidFill>
            <a:srgbClr val="DC2626"/>
          </a:solidFill>
          <a:ln>
            <a:noFill/>
          </a:ln>
        </p:spPr>
        <p:txBody>
          <a:bodyPr rtlCol="0" anchor="ctr"/>
          <a:lstStyle/>
          <a:p>
            <a:pPr algn="ctr"/>
          </a:p>
        </p:txBody>
      </p:sp>
      <p:sp>
        <p:nvSpPr>
          <p:cNvPr id="9" name="TextBox 8"/>
          <p:cNvSpPr txBox="1"/>
          <p:nvPr/>
        </p:nvSpPr>
        <p:spPr>
          <a:xfrm>
            <a:off x="6324447" y="3068523"/>
            <a:ext cx="5044287" cy="3160165"/>
          </a:xfrm>
          <a:prstGeom prst="rect">
            <a:avLst/>
          </a:prstGeom>
          <a:noFill/>
        </p:spPr>
        <p:txBody>
          <a:bodyPr wrap="square" anchor="t" lIns="0" rIns="0" tIns="0" bIns="0"/>
          <a:lstStyle/>
          <a:p>
            <a:pPr algn="l">
              <a:lnSpc>
                <a:spcPct val="112000"/>
              </a:lnSpc>
              <a:spcBef>
                <a:spcPts val="0"/>
              </a:spcBef>
            </a:pPr>
            <a:r>
              <a:rPr sz="1600" b="0" i="0">
                <a:solidFill>
                  <a:srgbClr val="111111"/>
                </a:solidFill>
                <a:latin typeface="Inter"/>
              </a:rPr>
              <a:t>✗ The hardness ranking counts a command in the fix as the problem.</a:t>
            </a:r>
          </a:p>
          <a:p>
            <a:pPr algn="l">
              <a:lnSpc>
                <a:spcPct val="112000"/>
              </a:lnSpc>
              <a:spcBef>
                <a:spcPts val="800"/>
              </a:spcBef>
            </a:pPr>
            <a:r>
              <a:rPr sz="1600" b="0" i="0">
                <a:solidFill>
                  <a:srgbClr val="111111"/>
                </a:solidFill>
                <a:latin typeface="Inter"/>
              </a:rPr>
              <a:t>✗ The most-viewed ranking rests on a few posts; one post lifts </a:t>
            </a:r>
            <a:r>
              <a:rPr sz="1600" b="0" i="0">
                <a:solidFill>
                  <a:srgbClr val="111111"/>
                </a:solidFill>
                <a:latin typeface="Noto Sans Mono"/>
              </a:rPr>
              <a:t>reflog</a:t>
            </a:r>
            <a:r>
              <a:rPr sz="1600" b="0" i="0">
                <a:solidFill>
                  <a:srgbClr val="111111"/>
                </a:solidFill>
                <a:latin typeface="Inter"/>
              </a:rPr>
              <a:t> from #8 to #2.</a:t>
            </a:r>
          </a:p>
          <a:p>
            <a:pPr algn="l">
              <a:lnSpc>
                <a:spcPct val="112000"/>
              </a:lnSpc>
              <a:spcBef>
                <a:spcPts val="800"/>
              </a:spcBef>
            </a:pPr>
            <a:r>
              <a:rPr sz="1600" b="0" i="0">
                <a:solidFill>
                  <a:srgbClr val="111111"/>
                </a:solidFill>
                <a:latin typeface="Inter"/>
              </a:rPr>
              <a:t>✗ That developers learn on their own was asked of people found on Stack Overflow.</a:t>
            </a:r>
          </a:p>
          <a:p>
            <a:pPr algn="l">
              <a:lnSpc>
                <a:spcPct val="112000"/>
              </a:lnSpc>
              <a:spcBef>
                <a:spcPts val="800"/>
              </a:spcBef>
            </a:pPr>
            <a:r>
              <a:rPr sz="1600" b="0" i="0">
                <a:solidFill>
                  <a:srgbClr val="111111"/>
                </a:solidFill>
                <a:latin typeface="Inter"/>
              </a:rPr>
              <a:t>✗ The comment categories have no stated method, and the “doubts” are self-ratings.</a:t>
            </a:r>
          </a:p>
          <a:p>
            <a:pPr algn="l">
              <a:lnSpc>
                <a:spcPct val="112000"/>
              </a:lnSpc>
              <a:spcBef>
                <a:spcPts val="800"/>
              </a:spcBef>
            </a:pPr>
            <a:r>
              <a:rPr sz="1600" b="0" i="0">
                <a:solidFill>
                  <a:srgbClr val="111111"/>
                </a:solidFill>
                <a:latin typeface="Inter"/>
              </a:rPr>
              <a:t>✗ The title’s question stays open, because nobody was watched.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ECFB"/>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SUMMARY</a:t>
            </a:r>
          </a:p>
        </p:txBody>
      </p:sp>
      <p:sp>
        <p:nvSpPr>
          <p:cNvPr id="3" name="Rounded Rectangle 2"/>
          <p:cNvSpPr/>
          <p:nvPr/>
        </p:nvSpPr>
        <p:spPr>
          <a:xfrm>
            <a:off x="9997135" y="457200"/>
            <a:ext cx="1371600" cy="457200"/>
          </a:xfrm>
          <a:prstGeom prst="roundRect">
            <a:avLst>
              <a:gd name="adj" fmla="val 50000"/>
            </a:avLst>
          </a:prstGeom>
          <a:solidFill>
            <a:srgbClr val="FFFFFF"/>
          </a:solidFill>
          <a:ln>
            <a:noFill/>
          </a:ln>
          <a:effectLst/>
        </p:spPr>
        <p:txBody>
          <a:bodyPr rtlCol="0" anchor="ctr" lIns="0" rIns="0" tIns="0" bIns="0"/>
          <a:lstStyle/>
          <a:p>
            <a:pPr algn="ctr"/>
            <a:r>
              <a:rPr sz="1600" b="1">
                <a:solidFill>
                  <a:srgbClr val="111111"/>
                </a:solidFill>
                <a:latin typeface="Inter"/>
              </a:rPr>
              <a:t>2 min</a:t>
            </a:r>
          </a:p>
        </p:txBody>
      </p:sp>
      <p:sp>
        <p:nvSpPr>
          <p:cNvPr id="4" name="TextBox 3"/>
          <p:cNvSpPr txBox="1"/>
          <p:nvPr/>
        </p:nvSpPr>
        <p:spPr>
          <a:xfrm>
            <a:off x="822960" y="868680"/>
            <a:ext cx="8899855" cy="688441"/>
          </a:xfrm>
          <a:prstGeom prst="rect">
            <a:avLst/>
          </a:prstGeom>
          <a:noFill/>
        </p:spPr>
        <p:txBody>
          <a:bodyPr wrap="square" anchor="t" lIns="0" rIns="0" tIns="0" bIns="0"/>
          <a:lstStyle/>
          <a:p>
            <a:pPr algn="l">
              <a:lnSpc>
                <a:spcPct val="112000"/>
              </a:lnSpc>
              <a:spcBef>
                <a:spcPts val="0"/>
              </a:spcBef>
            </a:pPr>
            <a:r>
              <a:rPr sz="4000" b="1" i="0">
                <a:solidFill>
                  <a:srgbClr val="111111"/>
                </a:solidFill>
                <a:latin typeface="Inter"/>
              </a:rPr>
              <a:t>One idea to take home</a:t>
            </a:r>
          </a:p>
        </p:txBody>
      </p:sp>
      <p:sp>
        <p:nvSpPr>
          <p:cNvPr id="5" name="TextBox 4"/>
          <p:cNvSpPr txBox="1"/>
          <p:nvPr/>
        </p:nvSpPr>
        <p:spPr>
          <a:xfrm>
            <a:off x="822960" y="1831441"/>
            <a:ext cx="8647535" cy="884284"/>
          </a:xfrm>
          <a:prstGeom prst="rect">
            <a:avLst/>
          </a:prstGeom>
          <a:noFill/>
        </p:spPr>
        <p:txBody>
          <a:bodyPr wrap="square" anchor="t" lIns="0" rIns="0" tIns="0" bIns="0"/>
          <a:lstStyle/>
          <a:p>
            <a:pPr algn="l">
              <a:lnSpc>
                <a:spcPct val="112000"/>
              </a:lnSpc>
              <a:spcBef>
                <a:spcPts val="0"/>
              </a:spcBef>
            </a:pPr>
            <a:r>
              <a:rPr sz="2200" b="0" i="0">
                <a:solidFill>
                  <a:srgbClr val="111111"/>
                </a:solidFill>
                <a:latin typeface="Inter"/>
              </a:rPr>
              <a:t>On your laptop, finish this sentence in one line of your own.</a:t>
            </a:r>
          </a:p>
          <a:p>
            <a:pPr algn="l">
              <a:lnSpc>
                <a:spcPct val="112000"/>
              </a:lnSpc>
              <a:spcBef>
                <a:spcPts val="1000"/>
              </a:spcBef>
            </a:pPr>
            <a:r>
              <a:rPr sz="2200" b="0" i="0">
                <a:solidFill>
                  <a:srgbClr val="111111"/>
                </a:solidFill>
                <a:latin typeface="Inter"/>
              </a:rPr>
              <a:t>When you build a tool for people,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630"/>
        </a:solidFill>
        <a:effectLst/>
      </p:bgPr>
    </p:bg>
    <p:spTree>
      <p:nvGrpSpPr>
        <p:cNvPr id="1" name=""/>
        <p:cNvGrpSpPr/>
        <p:nvPr/>
      </p:nvGrpSpPr>
      <p:grpSpPr/>
      <p:sp>
        <p:nvSpPr>
          <p:cNvPr id="2" name="TextBox 1"/>
          <p:cNvSpPr txBox="1"/>
          <p:nvPr/>
        </p:nvSpPr>
        <p:spPr>
          <a:xfrm>
            <a:off x="822960" y="502920"/>
            <a:ext cx="10545775" cy="320040"/>
          </a:xfrm>
          <a:prstGeom prst="rect">
            <a:avLst/>
          </a:prstGeom>
          <a:noFill/>
        </p:spPr>
        <p:txBody>
          <a:bodyPr wrap="square" anchor="t" lIns="0" rIns="0" tIns="0" bIns="0"/>
          <a:lstStyle/>
          <a:p>
            <a:pPr algn="l">
              <a:lnSpc>
                <a:spcPct val="110000"/>
              </a:lnSpc>
            </a:pPr>
            <a:r>
              <a:rPr sz="1600" b="1">
                <a:solidFill>
                  <a:srgbClr val="8B3DFF"/>
                </a:solidFill>
                <a:latin typeface="Inter"/>
              </a:rPr>
              <a:t>THURSDAY</a:t>
            </a:r>
          </a:p>
        </p:txBody>
      </p:sp>
      <p:sp>
        <p:nvSpPr>
          <p:cNvPr id="3" name="TextBox 2"/>
          <p:cNvSpPr txBox="1"/>
          <p:nvPr/>
        </p:nvSpPr>
        <p:spPr>
          <a:xfrm>
            <a:off x="822960" y="2103120"/>
            <a:ext cx="10545775" cy="1135928"/>
          </a:xfrm>
          <a:prstGeom prst="rect">
            <a:avLst/>
          </a:prstGeom>
          <a:noFill/>
        </p:spPr>
        <p:txBody>
          <a:bodyPr wrap="square" anchor="t" lIns="0" rIns="0" tIns="0" bIns="0"/>
          <a:lstStyle/>
          <a:p>
            <a:pPr algn="l">
              <a:lnSpc>
                <a:spcPct val="112000"/>
              </a:lnSpc>
              <a:spcBef>
                <a:spcPts val="0"/>
              </a:spcBef>
            </a:pPr>
            <a:r>
              <a:rPr sz="6600" b="1" i="0">
                <a:solidFill>
                  <a:srgbClr val="FFFFFF"/>
                </a:solidFill>
                <a:latin typeface="Inter"/>
              </a:rPr>
              <a:t>Thank you</a:t>
            </a:r>
          </a:p>
        </p:txBody>
      </p:sp>
      <p:sp>
        <p:nvSpPr>
          <p:cNvPr id="4" name="TextBox 3"/>
          <p:cNvSpPr txBox="1"/>
          <p:nvPr/>
        </p:nvSpPr>
        <p:spPr>
          <a:xfrm>
            <a:off x="822960" y="3559088"/>
            <a:ext cx="8647535" cy="894974"/>
          </a:xfrm>
          <a:prstGeom prst="rect">
            <a:avLst/>
          </a:prstGeom>
          <a:noFill/>
        </p:spPr>
        <p:txBody>
          <a:bodyPr wrap="square" anchor="t" lIns="0" rIns="0" tIns="0" bIns="0"/>
          <a:lstStyle/>
          <a:p>
            <a:pPr algn="l">
              <a:lnSpc>
                <a:spcPct val="112000"/>
              </a:lnSpc>
              <a:spcBef>
                <a:spcPts val="0"/>
              </a:spcBef>
            </a:pPr>
            <a:r>
              <a:rPr sz="2600" b="0" i="0">
                <a:solidFill>
                  <a:srgbClr val="FFFFFF"/>
                </a:solidFill>
                <a:latin typeface="Inter"/>
              </a:rPr>
              <a:t>What people ask shows where they get stuck, not what they can do.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