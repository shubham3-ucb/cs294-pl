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Yang, Zhang, Pan, Xu, Zhou, Huang. ACM TOSEM 2022. Data: github.com/gitcommandstudy/gitcommands.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Tuesday you used Git. Today we look at a study of people asking about Git: how it was done, whether its claims hold, and what a better tool would be.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These are the paper’s real survey questions. The projector shows totals only. We compare you with the 92 later.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No judging yet: this is what they did. Collect: all 198,626 questions tagged git; they kept those whose question or accepted answer names a Git command. Measure: also how long each asker had been on Stack Overflow. Ask: the invited were recent Stack Overflow askers and some researchers.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Vote on your laptop.</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In Sarah’s terms: need-finding, from traces of asking, plus self-report. Her ladder: watching beats traces, traces beat asking.</a:t>
            </a:r>
          </a:p>
          <a:p/>
          <a:p>
            <a:r>
              <a:t>Ask: What would watching show that asking can’t?</a:t>
            </a:r>
          </a:p>
          <a:p/>
          <a:p>
            <a:r>
              <a:t>Hope to hear: What people actually do, including mistakes they never ask about.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Vote. This one rule decides every ranking in the paper.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They did check, with two raters, that the questions are about Git commands at all (Cohen’s kappa 0.844), but not which command each one is about. In fifteen minutes the class checks the rule on real posts.</a:t>
            </a:r>
          </a:p>
          <a:p/>
          <a:p>
            <a:r>
              <a:t>Ask: What could go wrong?</a:t>
            </a:r>
          </a:p>
          <a:p/>
          <a:p>
            <a:r>
              <a:t>Hope to hear: The fix in the answer gets counted as the problem.</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Their five findings. Most viewed is an average over commands in 200+ questions. Hardest means most often without an accepted answer. Today we check whether the data supports them.</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81.7% is 161 of 197 ticked boxes; by people, 85 of 92 ticked the internet. Sarah: we can learn false things; questions shape answers; be nervous about self-ratings.</a:t>
            </a:r>
          </a:p>
          <a:p/>
          <a:p>
            <a:r>
              <a:t>Ask: Would you trust your own answers?</a:t>
            </a:r>
          </a:p>
          <a:p/>
          <a:p>
            <a:r>
              <a:t>Hope to hear: Not fully. A level is a judgment; “how I learned” is a memory, shaped by the options.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Real posts from the paper’s data, drawn at random from short, answered posts. Read the question, then the answer, then pick one label.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“Needs it, doesn’t know it” is real evidence too: it supports the paper’s idea of recommending commands (§4.1). Our re-run of their rule: the most-viewed question, “How do I undo the most recent local commits?” (9.1 million views), names no command; without it, git reflog falls from #2 to #8.</a:t>
            </a:r>
          </a:p>
          <a:p/>
          <a:p>
            <a:r>
              <a:t>Ask: Did they measure what’s hard?</a:t>
            </a:r>
          </a:p>
          <a:p/>
          <a:p>
            <a:r>
              <a:t>Hope to hear: No. They measured where a command’s name appears.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These are the example comments from the paper’s Table 8. Work alone, quickly.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Sarah: vibes are not an answer. The paper sorted 65 comments “for better delivery purposes”, with no method named. It did measure agreement elsewhere (Cohen’s kappa 0.844, §2.1).</a:t>
            </a:r>
          </a:p>
          <a:p/>
          <a:p>
            <a:r>
              <a:t>Ask: Would another team get the same groups?</a:t>
            </a:r>
          </a:p>
          <a:p/>
          <a:p>
            <a:r>
              <a:t>Hope to hear: Maybe not. That is why you name a method and report agreement.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Before you press Next: everyone opens the /thu tab again, and “here” on your console matches the room. Groups form when you press Next.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One claim per group. The paper is open on their laptops; the hint points to the section.</a:t>
            </a:r>
          </a:p>
          <a:p/>
          <a:p>
            <a:r>
              <a:t>The hint each group sees:</a:t>
            </a:r>
          </a:p>
          <a:p>
            <a:r>
              <a:t>- "This suggests that even developers with years of development experience can have trouble using Git commands." Look at: How did they measure experience? (§2.1 Step 4, §5)</a:t>
            </a:r>
          </a:p>
          <a:p>
            <a:r>
              <a:t>- "…for the more frequently-used commands, git credential and git submodule are among the most difficult ones." Look at: Hint: 36.5% of all Git questions have no accepted answer.</a:t>
            </a:r>
          </a:p>
          <a:p>
            <a:r>
              <a:t>- "Self-learning is the primary learning approach." Look at: Who was asked, and how were they found? (§2.2)</a:t>
            </a:r>
          </a:p>
          <a:p>
            <a:r>
              <a:t>- "This result, although surprising, is consistent with the conclusion we obtained in RQ2, indicating that even experienced developers still have doubts about Git usage." Look at: What is the evidence for “doubts”? (§3.5, Fig. 4)</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Read each group’s sentence, then the model answer. Students see the reasons on their laptops. Be fair: the authors flag the account-age proxy themselves (§5).</a:t>
            </a:r>
          </a:p>
          <a:p/>
          <a:p>
            <a:r>
              <a:t>Ask: Which claim holds up best?</a:t>
            </a:r>
          </a:p>
          <a:p/>
          <a:p>
            <a:r>
              <a:t>Hope to hear: The experience claim, because it is weak. The other three shrink to what was measured.</a:t>
            </a:r>
          </a:p>
          <a:p/>
          <a:p>
            <a:r>
              <a:t>Each claim: what they measured, and why it shrinks.</a:t>
            </a:r>
          </a:p>
          <a:p>
            <a:r>
              <a:t>- "This suggests that even developers with years of development experience can have trouble using Git commands." Measured: Years since the asker joined Stack Overflow. It holds because “can have trouble” is a weak claim. Account age is not Git experience: experienced programmers can be new to Git, like Paper 1’s Microsoft teams.</a:t>
            </a:r>
          </a:p>
          <a:p>
            <a:r>
              <a:t>- "…for the more frequently-used commands, git credential and git submodule are among the most difficult ones." Measured: The share of a command’s questions with no accepted answer. An accepted answer is one click by the asker, often forgotten (§5). And a post counted through its answer always has one, so commands that appear in fixes look easy.</a:t>
            </a:r>
          </a:p>
          <a:p>
            <a:r>
              <a:t>- "Self-learning is the primary learning approach." Measured: What 92 people ticked about how they learned. Most were found through Stack Overflow, so of course they use the internet. And “how I learned” is a memory.</a:t>
            </a:r>
          </a:p>
          <a:p>
            <a:r>
              <a:t>- "This result, although surprising, is consistent with the conclusion we obtained in RQ2, indicating that even experienced developers still have doubts about Git usage." Measured: People rating their own Git level, novice to expert. A self-rating is a judgment: modesty and the labels move it. It measures neither doubts nor skill.</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Read each group’s sentence, then the model answer. Students see the reasons on their laptops. Be fair: the authors flag the account-age proxy themselves (§5).</a:t>
            </a:r>
          </a:p>
          <a:p/>
          <a:p>
            <a:r>
              <a:t>Ask: Which claim holds up best?</a:t>
            </a:r>
          </a:p>
          <a:p/>
          <a:p>
            <a:r>
              <a:t>Hope to hear: The experience claim, because it is weak. The other three shrink to what was measured.</a:t>
            </a:r>
          </a:p>
          <a:p/>
          <a:p>
            <a:r>
              <a:t>Each claim: what they measured, and why it shrinks.</a:t>
            </a:r>
          </a:p>
          <a:p>
            <a:r>
              <a:t>- "This suggests that even developers with years of development experience can have trouble using Git commands." Measured: Years since the asker joined Stack Overflow. It holds because “can have trouble” is a weak claim. Account age is not Git experience: experienced programmers can be new to Git, like Paper 1’s Microsoft teams.</a:t>
            </a:r>
          </a:p>
          <a:p>
            <a:r>
              <a:t>- "…for the more frequently-used commands, git credential and git submodule are among the most difficult ones." Measured: The share of a command’s questions with no accepted answer. An accepted answer is one click by the asker, often forgotten (§5). And a post counted through its answer always has one, so commands that appear in fixes look easy.</a:t>
            </a:r>
          </a:p>
          <a:p>
            <a:r>
              <a:t>- "Self-learning is the primary learning approach." Measured: What 92 people ticked about how they learned. Most were found through Stack Overflow, so of course they use the internet. And “how I learned” is a memory.</a:t>
            </a:r>
          </a:p>
          <a:p>
            <a:r>
              <a:t>- "This result, although surprising, is consistent with the conclusion we obtained in RQ2, indicating that even experienced developers still have doubts about Git usage." Measured: People rating their own Git level, novice to expert. A self-rating is a judgment: modesty and the labels move it. It measures neither doubts nor skill.</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most-viewed question asks how to undo the last commit; its accepted answer’s fix is git reset HEAD~, and its further reading points to git reflog. Asking can find a need; only a test with real users shows a fix works. Tuesday’s Safety diary was the reflog on screen.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One group at a time: fix, test, measure and risk, data. Jujutsu (jj) has an operation log and jj undo. In 2020 a developer “working with Git for years” asked what git checkout [file] does next to git restore (the paper’s reference [41]): new commands make new questions.</a:t>
            </a:r>
          </a:p>
          <a:p/>
          <a:p>
            <a:r>
              <a:t>Ask: Which could you test by watching people?</a:t>
            </a:r>
          </a:p>
          <a:p/>
          <a:p>
            <a:r>
              <a:t>Hope to hear: The ones with a measure you can see: time to recover, recoveries that work.</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Fair to the authors: finding needs from public data is useful, and they published it. What breaks is turning counts of asking into claims about difficulty and skill.</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Sarah’s bar: nobody leaves without a new idea about designing tools for people.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Thank you. Export the answers from Details, then Reset.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2011680"/>
            <a:ext cx="10545775" cy="1280160"/>
          </a:xfrm>
          <a:prstGeom prst="rect">
            <a:avLst/>
          </a:prstGeom>
          <a:noFill/>
        </p:spPr>
        <p:txBody>
          <a:bodyPr wrap="square" anchor="b" lIns="0" rIns="0" tIns="0" bIns="0"/>
          <a:lstStyle/>
          <a:p>
            <a:pPr algn="l">
              <a:lnSpc>
                <a:spcPct val="110000"/>
              </a:lnSpc>
            </a:pPr>
            <a:r>
              <a:rPr sz="6400" b="1">
                <a:solidFill>
                  <a:srgbClr val="111111"/>
                </a:solidFill>
                <a:latin typeface="Inter"/>
              </a:rPr>
              <a:t>Git, Part 2: The Humans</a:t>
            </a:r>
          </a:p>
        </p:txBody>
      </p:sp>
      <p:sp>
        <p:nvSpPr>
          <p:cNvPr id="3" name="TextBox 2"/>
          <p:cNvSpPr txBox="1"/>
          <p:nvPr/>
        </p:nvSpPr>
        <p:spPr>
          <a:xfrm>
            <a:off x="822960" y="3520440"/>
            <a:ext cx="10545775" cy="1097280"/>
          </a:xfrm>
          <a:prstGeom prst="rect">
            <a:avLst/>
          </a:prstGeom>
          <a:noFill/>
        </p:spPr>
        <p:txBody>
          <a:bodyPr wrap="square" anchor="t" lIns="0" rIns="0" tIns="0" bIns="0"/>
          <a:lstStyle/>
          <a:p>
            <a:pPr algn="l">
              <a:lnSpc>
                <a:spcPct val="110000"/>
              </a:lnSpc>
            </a:pPr>
            <a:r>
              <a:rPr sz="2600" b="0">
                <a:solidFill>
                  <a:srgbClr val="707078"/>
                </a:solidFill>
                <a:latin typeface="Inter"/>
              </a:rPr>
              <a:t>User Study Day · Do Developers Really Know How to Use Git Commands? A Large-Scale Study Using Stack Overflow</a:t>
            </a:r>
          </a:p>
        </p:txBody>
      </p:sp>
      <p:sp>
        <p:nvSpPr>
          <p:cNvPr id="4" name="Rectangle 3"/>
          <p:cNvSpPr/>
          <p:nvPr/>
        </p:nvSpPr>
        <p:spPr>
          <a:xfrm>
            <a:off x="0" y="6309360"/>
            <a:ext cx="12191695" cy="548640"/>
          </a:xfrm>
          <a:prstGeom prst="rect">
            <a:avLst/>
          </a:prstGeom>
          <a:solidFill>
            <a:srgbClr val="8B3DFF"/>
          </a:solidFill>
          <a:ln>
            <a:noFill/>
          </a:ln>
        </p:spPr>
        <p:txBody>
          <a:bodyPr rtlCol="0" anchor="ctr"/>
          <a:lstStyle/>
          <a:p>
            <a:pPr algn="ctr"/>
          </a:p>
        </p:txBody>
      </p:sp>
      <p:sp>
        <p:nvSpPr>
          <p:cNvPr id="5" name="TextBox 4"/>
          <p:cNvSpPr txBox="1"/>
          <p:nvPr/>
        </p:nvSpPr>
        <p:spPr>
          <a:xfrm>
            <a:off x="822960" y="6309360"/>
            <a:ext cx="10545775" cy="548640"/>
          </a:xfrm>
          <a:prstGeom prst="rect">
            <a:avLst/>
          </a:prstGeom>
          <a:noFill/>
        </p:spPr>
        <p:txBody>
          <a:bodyPr wrap="square" anchor="ctr" lIns="0" rIns="0" tIns="0" bIns="0"/>
          <a:lstStyle/>
          <a:p>
            <a:pPr algn="l">
              <a:lnSpc>
                <a:spcPct val="110000"/>
              </a:lnSpc>
            </a:pPr>
            <a:r>
              <a:rPr sz="1800" b="0">
                <a:solidFill>
                  <a:srgbClr val="FFFFFF"/>
                </a:solidFill>
                <a:latin typeface="Inter"/>
              </a:rPr>
              <a:t>CS294 Modern Programming Tools · Thursday · 80 minutes (77 + 3 of buffer)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502920"/>
            <a:ext cx="10545775" cy="320040"/>
          </a:xfrm>
          <a:prstGeom prst="rect">
            <a:avLst/>
          </a:prstGeom>
          <a:noFill/>
        </p:spPr>
        <p:txBody>
          <a:bodyPr wrap="square" anchor="t" lIns="0" rIns="0" tIns="0" bIns="0"/>
          <a:lstStyle/>
          <a:p>
            <a:pPr algn="l">
              <a:lnSpc>
                <a:spcPct val="110000"/>
              </a:lnSpc>
            </a:pPr>
            <a:r>
              <a:rPr sz="1600" b="1">
                <a:solidFill>
                  <a:srgbClr val="8B3DFF"/>
                </a:solidFill>
                <a:latin typeface="Inter"/>
              </a:rPr>
              <a:t>THURSDAY · GIT, PART 2</a:t>
            </a:r>
          </a:p>
        </p:txBody>
      </p:sp>
      <p:sp>
        <p:nvSpPr>
          <p:cNvPr id="3" name="TextBox 2"/>
          <p:cNvSpPr txBox="1"/>
          <p:nvPr/>
        </p:nvSpPr>
        <p:spPr>
          <a:xfrm>
            <a:off x="822960" y="1097280"/>
            <a:ext cx="10545775" cy="1463040"/>
          </a:xfrm>
          <a:prstGeom prst="rect">
            <a:avLst/>
          </a:prstGeom>
          <a:noFill/>
        </p:spPr>
        <p:txBody>
          <a:bodyPr wrap="square" anchor="t" lIns="0" rIns="0" tIns="0" bIns="0"/>
          <a:lstStyle/>
          <a:p>
            <a:pPr algn="l">
              <a:lnSpc>
                <a:spcPct val="110000"/>
              </a:lnSpc>
            </a:pPr>
            <a:r>
              <a:rPr sz="8000" b="1">
                <a:solidFill>
                  <a:srgbClr val="111111"/>
                </a:solidFill>
                <a:latin typeface="Inter"/>
              </a:rPr>
              <a:t>The Humans</a:t>
            </a:r>
          </a:p>
        </p:txBody>
      </p:sp>
      <p:sp>
        <p:nvSpPr>
          <p:cNvPr id="4" name="TextBox 3"/>
          <p:cNvSpPr txBox="1"/>
          <p:nvPr/>
        </p:nvSpPr>
        <p:spPr>
          <a:xfrm>
            <a:off x="822960" y="3017520"/>
            <a:ext cx="8647535" cy="1032662"/>
          </a:xfrm>
          <a:prstGeom prst="rect">
            <a:avLst/>
          </a:prstGeom>
          <a:noFill/>
        </p:spPr>
        <p:txBody>
          <a:bodyPr wrap="square" anchor="t" lIns="0" rIns="0" tIns="0" bIns="0"/>
          <a:lstStyle/>
          <a:p>
            <a:pPr algn="l">
              <a:lnSpc>
                <a:spcPct val="112000"/>
              </a:lnSpc>
              <a:spcBef>
                <a:spcPts val="0"/>
              </a:spcBef>
            </a:pPr>
            <a:r>
              <a:rPr sz="3000" b="0" i="0">
                <a:solidFill>
                  <a:srgbClr val="111111"/>
                </a:solidFill>
                <a:latin typeface="Inter"/>
              </a:rPr>
              <a:t>Open the class link (it ends in /thu) and type your first name.</a:t>
            </a:r>
          </a:p>
        </p:txBody>
      </p:sp>
      <p:sp>
        <p:nvSpPr>
          <p:cNvPr id="5" name="TextBox 4"/>
          <p:cNvSpPr txBox="1"/>
          <p:nvPr/>
        </p:nvSpPr>
        <p:spPr>
          <a:xfrm>
            <a:off x="822960" y="4324502"/>
            <a:ext cx="8647535" cy="980195"/>
          </a:xfrm>
          <a:prstGeom prst="rect">
            <a:avLst/>
          </a:prstGeom>
          <a:noFill/>
        </p:spPr>
        <p:txBody>
          <a:bodyPr wrap="square" anchor="t" lIns="0" rIns="0" tIns="0" bIns="0"/>
          <a:lstStyle/>
          <a:p>
            <a:pPr algn="l">
              <a:lnSpc>
                <a:spcPct val="112000"/>
              </a:lnSpc>
              <a:spcBef>
                <a:spcPts val="0"/>
              </a:spcBef>
            </a:pPr>
            <a:r>
              <a:rPr sz="1800" b="0" i="0">
                <a:solidFill>
                  <a:srgbClr val="707078"/>
                </a:solidFill>
                <a:latin typeface="Inter"/>
              </a:rPr>
              <a:t>Do Developers Really Know How to Use Git Commands? A Large-Scale Study Using Stack Overflow</a:t>
            </a:r>
          </a:p>
          <a:p>
            <a:pPr algn="l">
              <a:lnSpc>
                <a:spcPct val="112000"/>
              </a:lnSpc>
              <a:spcBef>
                <a:spcPts val="400"/>
              </a:spcBef>
            </a:pPr>
            <a:r>
              <a:rPr sz="1800" b="0" i="0">
                <a:solidFill>
                  <a:srgbClr val="707078"/>
                </a:solidFill>
                <a:latin typeface="Inter"/>
              </a:rPr>
              <a:t>Yang, Zhang, Pan, Xu, Zhou, Huang · ACM TOSEM 2022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4ECFB"/>
        </a:solidFill>
        <a:effectLst/>
      </p:bgPr>
    </p:bg>
    <p:spTree>
      <p:nvGrpSpPr>
        <p:cNvPr id="1" name=""/>
        <p:cNvGrpSpPr/>
        <p:nvPr/>
      </p:nvGrpSpPr>
      <p:grpSpPr/>
      <p:sp>
        <p:nvSpPr>
          <p:cNvPr id="2" name="TextBox 1"/>
          <p:cNvSpPr txBox="1"/>
          <p:nvPr/>
        </p:nvSpPr>
        <p:spPr>
          <a:xfrm>
            <a:off x="822960" y="502920"/>
            <a:ext cx="10545775" cy="320040"/>
          </a:xfrm>
          <a:prstGeom prst="rect">
            <a:avLst/>
          </a:prstGeom>
          <a:noFill/>
        </p:spPr>
        <p:txBody>
          <a:bodyPr wrap="square" anchor="t" lIns="0" rIns="0" tIns="0" bIns="0"/>
          <a:lstStyle/>
          <a:p>
            <a:pPr algn="l">
              <a:lnSpc>
                <a:spcPct val="110000"/>
              </a:lnSpc>
            </a:pPr>
            <a:r>
              <a:rPr sz="1600" b="1">
                <a:solidFill>
                  <a:srgbClr val="8B3DFF"/>
                </a:solidFill>
                <a:latin typeface="Inter"/>
              </a:rPr>
              <a:t>WARM-UP</a:t>
            </a:r>
          </a:p>
        </p:txBody>
      </p:sp>
      <p:sp>
        <p:nvSpPr>
          <p:cNvPr id="3" name="Rounded Rectangle 2"/>
          <p:cNvSpPr/>
          <p:nvPr/>
        </p:nvSpPr>
        <p:spPr>
          <a:xfrm>
            <a:off x="9997135" y="457200"/>
            <a:ext cx="1371600" cy="457200"/>
          </a:xfrm>
          <a:prstGeom prst="roundRect">
            <a:avLst>
              <a:gd name="adj" fmla="val 50000"/>
            </a:avLst>
          </a:prstGeom>
          <a:solidFill>
            <a:srgbClr val="FFFFFF"/>
          </a:solidFill>
          <a:ln>
            <a:noFill/>
          </a:ln>
          <a:effectLst/>
        </p:spPr>
        <p:txBody>
          <a:bodyPr rtlCol="0" anchor="ctr" lIns="0" rIns="0" tIns="0" bIns="0"/>
          <a:lstStyle/>
          <a:p>
            <a:pPr algn="ctr"/>
            <a:r>
              <a:rPr sz="1600" b="1">
                <a:solidFill>
                  <a:srgbClr val="111111"/>
                </a:solidFill>
                <a:latin typeface="Inter"/>
              </a:rPr>
              <a:t>4 min</a:t>
            </a:r>
          </a:p>
        </p:txBody>
      </p:sp>
      <p:sp>
        <p:nvSpPr>
          <p:cNvPr id="4" name="TextBox 3"/>
          <p:cNvSpPr txBox="1"/>
          <p:nvPr/>
        </p:nvSpPr>
        <p:spPr>
          <a:xfrm>
            <a:off x="822960" y="868680"/>
            <a:ext cx="8899855" cy="688441"/>
          </a:xfrm>
          <a:prstGeom prst="rect">
            <a:avLst/>
          </a:prstGeom>
          <a:noFill/>
        </p:spPr>
        <p:txBody>
          <a:bodyPr wrap="square" anchor="t" lIns="0" rIns="0" tIns="0" bIns="0"/>
          <a:lstStyle/>
          <a:p>
            <a:pPr algn="l">
              <a:lnSpc>
                <a:spcPct val="112000"/>
              </a:lnSpc>
              <a:spcBef>
                <a:spcPts val="0"/>
              </a:spcBef>
            </a:pPr>
            <a:r>
              <a:rPr sz="4000" b="1" i="0">
                <a:solidFill>
                  <a:srgbClr val="111111"/>
                </a:solidFill>
                <a:latin typeface="Inter"/>
              </a:rPr>
              <a:t>Take the paper’s survey</a:t>
            </a:r>
          </a:p>
        </p:txBody>
      </p:sp>
      <p:sp>
        <p:nvSpPr>
          <p:cNvPr id="5" name="TextBox 4"/>
          <p:cNvSpPr txBox="1"/>
          <p:nvPr/>
        </p:nvSpPr>
        <p:spPr>
          <a:xfrm>
            <a:off x="822960" y="1831441"/>
            <a:ext cx="8647535" cy="884284"/>
          </a:xfrm>
          <a:prstGeom prst="rect">
            <a:avLst/>
          </a:prstGeom>
          <a:noFill/>
        </p:spPr>
        <p:txBody>
          <a:bodyPr wrap="square" anchor="t" lIns="0" rIns="0" tIns="0" bIns="0"/>
          <a:lstStyle/>
          <a:p>
            <a:pPr algn="l">
              <a:lnSpc>
                <a:spcPct val="112000"/>
              </a:lnSpc>
              <a:spcBef>
                <a:spcPts val="0"/>
              </a:spcBef>
            </a:pPr>
            <a:r>
              <a:rPr sz="2200" b="0" i="0">
                <a:solidFill>
                  <a:srgbClr val="111111"/>
                </a:solidFill>
                <a:latin typeface="Inter"/>
              </a:rPr>
              <a:t>The same questions it asked 92 developers.</a:t>
            </a:r>
          </a:p>
          <a:p>
            <a:pPr algn="l">
              <a:lnSpc>
                <a:spcPct val="112000"/>
              </a:lnSpc>
              <a:spcBef>
                <a:spcPts val="1000"/>
              </a:spcBef>
            </a:pPr>
            <a:r>
              <a:rPr sz="2200" b="0" i="0">
                <a:solidFill>
                  <a:srgbClr val="111111"/>
                </a:solidFill>
                <a:latin typeface="Inter"/>
              </a:rPr>
              <a:t>Answer for yourself.</a:t>
            </a:r>
          </a:p>
        </p:txBody>
      </p:sp>
      <p:sp>
        <p:nvSpPr>
          <p:cNvPr id="6" name="TextBox 5"/>
          <p:cNvSpPr txBox="1"/>
          <p:nvPr/>
        </p:nvSpPr>
        <p:spPr>
          <a:xfrm>
            <a:off x="822960" y="2944325"/>
            <a:ext cx="8647535" cy="1969756"/>
          </a:xfrm>
          <a:prstGeom prst="rect">
            <a:avLst/>
          </a:prstGeom>
          <a:noFill/>
        </p:spPr>
        <p:txBody>
          <a:bodyPr wrap="square" anchor="t" lIns="0" rIns="0" tIns="0" bIns="0"/>
          <a:lstStyle/>
          <a:p>
            <a:pPr algn="l">
              <a:lnSpc>
                <a:spcPct val="112000"/>
              </a:lnSpc>
              <a:spcBef>
                <a:spcPts val="0"/>
              </a:spcBef>
            </a:pPr>
            <a:r>
              <a:rPr sz="1600" b="0" i="0">
                <a:solidFill>
                  <a:srgbClr val="111111"/>
                </a:solidFill>
                <a:latin typeface="Inter"/>
              </a:rPr>
              <a:t>2. What is your professional area?</a:t>
            </a:r>
          </a:p>
          <a:p>
            <a:pPr algn="l">
              <a:lnSpc>
                <a:spcPct val="112000"/>
              </a:lnSpc>
              <a:spcBef>
                <a:spcPts val="500"/>
              </a:spcBef>
            </a:pPr>
            <a:r>
              <a:rPr sz="1600" b="0" i="0">
                <a:solidFill>
                  <a:srgbClr val="111111"/>
                </a:solidFill>
                <a:latin typeface="Inter"/>
              </a:rPr>
              <a:t>3. What is your highest degree?</a:t>
            </a:r>
          </a:p>
          <a:p>
            <a:pPr algn="l">
              <a:lnSpc>
                <a:spcPct val="112000"/>
              </a:lnSpc>
              <a:spcBef>
                <a:spcPts val="500"/>
              </a:spcBef>
            </a:pPr>
            <a:r>
              <a:rPr sz="1600" b="0" i="0">
                <a:solidFill>
                  <a:srgbClr val="111111"/>
                </a:solidFill>
                <a:latin typeface="Inter"/>
              </a:rPr>
              <a:t>4. How many years have you been using Git?</a:t>
            </a:r>
          </a:p>
          <a:p>
            <a:pPr algn="l">
              <a:lnSpc>
                <a:spcPct val="112000"/>
              </a:lnSpc>
              <a:spcBef>
                <a:spcPts val="500"/>
              </a:spcBef>
            </a:pPr>
            <a:r>
              <a:rPr sz="1600" b="0" i="0">
                <a:solidFill>
                  <a:srgbClr val="111111"/>
                </a:solidFill>
                <a:latin typeface="Inter"/>
              </a:rPr>
              <a:t>5. Which of the following levels do you consider your ability to use Git to be?</a:t>
            </a:r>
          </a:p>
          <a:p>
            <a:pPr algn="l">
              <a:lnSpc>
                <a:spcPct val="112000"/>
              </a:lnSpc>
              <a:spcBef>
                <a:spcPts val="500"/>
              </a:spcBef>
            </a:pPr>
            <a:r>
              <a:rPr sz="1600" b="0" i="0">
                <a:solidFill>
                  <a:srgbClr val="111111"/>
                </a:solidFill>
                <a:latin typeface="Inter"/>
              </a:rPr>
              <a:t>6. What are the main approaches you used to learn Git commands?</a:t>
            </a:r>
          </a:p>
          <a:p>
            <a:pPr algn="l">
              <a:lnSpc>
                <a:spcPct val="112000"/>
              </a:lnSpc>
              <a:spcBef>
                <a:spcPts val="500"/>
              </a:spcBef>
            </a:pPr>
            <a:r>
              <a:rPr sz="1600" b="0" i="0">
                <a:solidFill>
                  <a:srgbClr val="111111"/>
                </a:solidFill>
                <a:latin typeface="Inter"/>
              </a:rPr>
              <a:t>7. Do you have any suggestions for potential new developers on learning Git commands</a:t>
            </a:r>
          </a:p>
        </p:txBody>
      </p:sp>
      <p:sp>
        <p:nvSpPr>
          <p:cNvPr id="7" name="TextBox 6"/>
          <p:cNvSpPr txBox="1"/>
          <p:nvPr/>
        </p:nvSpPr>
        <p:spPr>
          <a:xfrm>
            <a:off x="822960" y="5051241"/>
            <a:ext cx="8647535" cy="223743"/>
          </a:xfrm>
          <a:prstGeom prst="rect">
            <a:avLst/>
          </a:prstGeom>
          <a:noFill/>
        </p:spPr>
        <p:txBody>
          <a:bodyPr wrap="square" anchor="t" lIns="0" rIns="0" tIns="0" bIns="0"/>
          <a:lstStyle/>
          <a:p>
            <a:pPr algn="l">
              <a:lnSpc>
                <a:spcPct val="112000"/>
              </a:lnSpc>
              <a:spcBef>
                <a:spcPts val="0"/>
              </a:spcBef>
            </a:pPr>
            <a:r>
              <a:rPr sz="1300" b="0" i="0">
                <a:solidFill>
                  <a:srgbClr val="707078"/>
                </a:solidFill>
                <a:latin typeface="Inter"/>
              </a:rPr>
              <a:t>Q1 of the form, the donation choice, is left out.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502920"/>
            <a:ext cx="10545775" cy="320040"/>
          </a:xfrm>
          <a:prstGeom prst="rect">
            <a:avLst/>
          </a:prstGeom>
          <a:noFill/>
        </p:spPr>
        <p:txBody>
          <a:bodyPr wrap="square" anchor="t" lIns="0" rIns="0" tIns="0" bIns="0"/>
          <a:lstStyle/>
          <a:p>
            <a:pPr algn="l">
              <a:lnSpc>
                <a:spcPct val="110000"/>
              </a:lnSpc>
            </a:pPr>
            <a:r>
              <a:rPr sz="1600" b="1">
                <a:solidFill>
                  <a:srgbClr val="8B3DFF"/>
                </a:solidFill>
                <a:latin typeface="Inter"/>
              </a:rPr>
              <a:t>1 · THE STUDY</a:t>
            </a:r>
          </a:p>
        </p:txBody>
      </p:sp>
      <p:sp>
        <p:nvSpPr>
          <p:cNvPr id="3" name="TextBox 2"/>
          <p:cNvSpPr txBox="1"/>
          <p:nvPr/>
        </p:nvSpPr>
        <p:spPr>
          <a:xfrm>
            <a:off x="822960" y="868680"/>
            <a:ext cx="10545775" cy="688441"/>
          </a:xfrm>
          <a:prstGeom prst="rect">
            <a:avLst/>
          </a:prstGeom>
          <a:noFill/>
        </p:spPr>
        <p:txBody>
          <a:bodyPr wrap="square" anchor="t" lIns="0" rIns="0" tIns="0" bIns="0"/>
          <a:lstStyle/>
          <a:p>
            <a:pPr algn="l">
              <a:lnSpc>
                <a:spcPct val="112000"/>
              </a:lnSpc>
              <a:spcBef>
                <a:spcPts val="0"/>
              </a:spcBef>
            </a:pPr>
            <a:r>
              <a:rPr sz="4000" b="1" i="0">
                <a:solidFill>
                  <a:srgbClr val="111111"/>
                </a:solidFill>
                <a:latin typeface="Inter"/>
              </a:rPr>
              <a:t>How the study was done</a:t>
            </a:r>
          </a:p>
        </p:txBody>
      </p:sp>
      <p:sp>
        <p:nvSpPr>
          <p:cNvPr id="4" name="Rectangle 3"/>
          <p:cNvSpPr/>
          <p:nvPr/>
        </p:nvSpPr>
        <p:spPr>
          <a:xfrm>
            <a:off x="822960" y="1831441"/>
            <a:ext cx="10545775" cy="9525"/>
          </a:xfrm>
          <a:prstGeom prst="rect">
            <a:avLst/>
          </a:prstGeom>
          <a:solidFill>
            <a:srgbClr val="D9D9DE"/>
          </a:solidFill>
          <a:ln>
            <a:noFill/>
          </a:ln>
        </p:spPr>
        <p:txBody>
          <a:bodyPr rtlCol="0" anchor="ctr"/>
          <a:lstStyle/>
          <a:p>
            <a:pPr algn="ctr"/>
          </a:p>
        </p:txBody>
      </p:sp>
      <p:sp>
        <p:nvSpPr>
          <p:cNvPr id="5" name="TextBox 4"/>
          <p:cNvSpPr txBox="1"/>
          <p:nvPr/>
        </p:nvSpPr>
        <p:spPr>
          <a:xfrm>
            <a:off x="914400" y="1922881"/>
            <a:ext cx="2377440" cy="344220"/>
          </a:xfrm>
          <a:prstGeom prst="rect">
            <a:avLst/>
          </a:prstGeom>
          <a:noFill/>
        </p:spPr>
        <p:txBody>
          <a:bodyPr wrap="square" anchor="t" lIns="0" rIns="0" tIns="0" bIns="0"/>
          <a:lstStyle/>
          <a:p>
            <a:pPr algn="l">
              <a:lnSpc>
                <a:spcPct val="112000"/>
              </a:lnSpc>
              <a:spcBef>
                <a:spcPts val="0"/>
              </a:spcBef>
            </a:pPr>
            <a:r>
              <a:rPr sz="2000" b="1" i="0">
                <a:solidFill>
                  <a:srgbClr val="111111"/>
                </a:solidFill>
                <a:latin typeface="Inter"/>
              </a:rPr>
              <a:t>Collect</a:t>
            </a:r>
          </a:p>
        </p:txBody>
      </p:sp>
      <p:sp>
        <p:nvSpPr>
          <p:cNvPr id="6" name="TextBox 5"/>
          <p:cNvSpPr txBox="1"/>
          <p:nvPr/>
        </p:nvSpPr>
        <p:spPr>
          <a:xfrm>
            <a:off x="3474720" y="1922881"/>
            <a:ext cx="7802575" cy="688441"/>
          </a:xfrm>
          <a:prstGeom prst="rect">
            <a:avLst/>
          </a:prstGeom>
          <a:noFill/>
        </p:spPr>
        <p:txBody>
          <a:bodyPr wrap="square" anchor="t" lIns="0" rIns="0" tIns="0" bIns="0"/>
          <a:lstStyle/>
          <a:p>
            <a:pPr algn="l">
              <a:lnSpc>
                <a:spcPct val="112000"/>
              </a:lnSpc>
              <a:spcBef>
                <a:spcPts val="0"/>
              </a:spcBef>
            </a:pPr>
            <a:r>
              <a:rPr sz="2000" b="0" i="0">
                <a:solidFill>
                  <a:srgbClr val="111111"/>
                </a:solidFill>
                <a:latin typeface="Inter"/>
              </a:rPr>
              <a:t>80,370 Stack Overflow questions about Git commands, 2008 to 2020.</a:t>
            </a:r>
          </a:p>
        </p:txBody>
      </p:sp>
      <p:sp>
        <p:nvSpPr>
          <p:cNvPr id="7" name="Rectangle 6"/>
          <p:cNvSpPr/>
          <p:nvPr/>
        </p:nvSpPr>
        <p:spPr>
          <a:xfrm>
            <a:off x="822960" y="2702762"/>
            <a:ext cx="10545775" cy="9525"/>
          </a:xfrm>
          <a:prstGeom prst="rect">
            <a:avLst/>
          </a:prstGeom>
          <a:solidFill>
            <a:srgbClr val="D9D9DE"/>
          </a:solidFill>
          <a:ln>
            <a:noFill/>
          </a:ln>
        </p:spPr>
        <p:txBody>
          <a:bodyPr rtlCol="0" anchor="ctr"/>
          <a:lstStyle/>
          <a:p>
            <a:pPr algn="ctr"/>
          </a:p>
        </p:txBody>
      </p:sp>
      <p:sp>
        <p:nvSpPr>
          <p:cNvPr id="8" name="TextBox 7"/>
          <p:cNvSpPr txBox="1"/>
          <p:nvPr/>
        </p:nvSpPr>
        <p:spPr>
          <a:xfrm>
            <a:off x="914400" y="2794202"/>
            <a:ext cx="2377440" cy="344220"/>
          </a:xfrm>
          <a:prstGeom prst="rect">
            <a:avLst/>
          </a:prstGeom>
          <a:noFill/>
        </p:spPr>
        <p:txBody>
          <a:bodyPr wrap="square" anchor="t" lIns="0" rIns="0" tIns="0" bIns="0"/>
          <a:lstStyle/>
          <a:p>
            <a:pPr algn="l">
              <a:lnSpc>
                <a:spcPct val="112000"/>
              </a:lnSpc>
              <a:spcBef>
                <a:spcPts val="0"/>
              </a:spcBef>
            </a:pPr>
            <a:r>
              <a:rPr sz="2000" b="1" i="0">
                <a:solidFill>
                  <a:srgbClr val="111111"/>
                </a:solidFill>
                <a:latin typeface="Inter"/>
              </a:rPr>
              <a:t>Measure</a:t>
            </a:r>
          </a:p>
        </p:txBody>
      </p:sp>
      <p:sp>
        <p:nvSpPr>
          <p:cNvPr id="9" name="TextBox 8"/>
          <p:cNvSpPr txBox="1"/>
          <p:nvPr/>
        </p:nvSpPr>
        <p:spPr>
          <a:xfrm>
            <a:off x="3474720" y="2794202"/>
            <a:ext cx="7802575" cy="688441"/>
          </a:xfrm>
          <a:prstGeom prst="rect">
            <a:avLst/>
          </a:prstGeom>
          <a:noFill/>
        </p:spPr>
        <p:txBody>
          <a:bodyPr wrap="square" anchor="t" lIns="0" rIns="0" tIns="0" bIns="0"/>
          <a:lstStyle/>
          <a:p>
            <a:pPr algn="l">
              <a:lnSpc>
                <a:spcPct val="112000"/>
              </a:lnSpc>
              <a:spcBef>
                <a:spcPts val="0"/>
              </a:spcBef>
            </a:pPr>
            <a:r>
              <a:rPr sz="2000" b="0" i="0">
                <a:solidFill>
                  <a:srgbClr val="111111"/>
                </a:solidFill>
                <a:latin typeface="Inter"/>
              </a:rPr>
              <a:t>Per command: how often viewed (popular), and how often no answer was accepted (hard).</a:t>
            </a:r>
          </a:p>
        </p:txBody>
      </p:sp>
      <p:sp>
        <p:nvSpPr>
          <p:cNvPr id="10" name="Rectangle 9"/>
          <p:cNvSpPr/>
          <p:nvPr/>
        </p:nvSpPr>
        <p:spPr>
          <a:xfrm>
            <a:off x="822960" y="3574083"/>
            <a:ext cx="10545775" cy="9525"/>
          </a:xfrm>
          <a:prstGeom prst="rect">
            <a:avLst/>
          </a:prstGeom>
          <a:solidFill>
            <a:srgbClr val="D9D9DE"/>
          </a:solidFill>
          <a:ln>
            <a:noFill/>
          </a:ln>
        </p:spPr>
        <p:txBody>
          <a:bodyPr rtlCol="0" anchor="ctr"/>
          <a:lstStyle/>
          <a:p>
            <a:pPr algn="ctr"/>
          </a:p>
        </p:txBody>
      </p:sp>
      <p:sp>
        <p:nvSpPr>
          <p:cNvPr id="11" name="TextBox 10"/>
          <p:cNvSpPr txBox="1"/>
          <p:nvPr/>
        </p:nvSpPr>
        <p:spPr>
          <a:xfrm>
            <a:off x="914400" y="3665523"/>
            <a:ext cx="2377440" cy="344220"/>
          </a:xfrm>
          <a:prstGeom prst="rect">
            <a:avLst/>
          </a:prstGeom>
          <a:noFill/>
        </p:spPr>
        <p:txBody>
          <a:bodyPr wrap="square" anchor="t" lIns="0" rIns="0" tIns="0" bIns="0"/>
          <a:lstStyle/>
          <a:p>
            <a:pPr algn="l">
              <a:lnSpc>
                <a:spcPct val="112000"/>
              </a:lnSpc>
              <a:spcBef>
                <a:spcPts val="0"/>
              </a:spcBef>
            </a:pPr>
            <a:r>
              <a:rPr sz="2000" b="1" i="0">
                <a:solidFill>
                  <a:srgbClr val="111111"/>
                </a:solidFill>
                <a:latin typeface="Inter"/>
              </a:rPr>
              <a:t>Ask</a:t>
            </a:r>
          </a:p>
        </p:txBody>
      </p:sp>
      <p:sp>
        <p:nvSpPr>
          <p:cNvPr id="12" name="TextBox 11"/>
          <p:cNvSpPr txBox="1"/>
          <p:nvPr/>
        </p:nvSpPr>
        <p:spPr>
          <a:xfrm>
            <a:off x="3474720" y="3665523"/>
            <a:ext cx="7802575" cy="344220"/>
          </a:xfrm>
          <a:prstGeom prst="rect">
            <a:avLst/>
          </a:prstGeom>
          <a:noFill/>
        </p:spPr>
        <p:txBody>
          <a:bodyPr wrap="square" anchor="t" lIns="0" rIns="0" tIns="0" bIns="0"/>
          <a:lstStyle/>
          <a:p>
            <a:pPr algn="l">
              <a:lnSpc>
                <a:spcPct val="112000"/>
              </a:lnSpc>
              <a:spcBef>
                <a:spcPts val="0"/>
              </a:spcBef>
            </a:pPr>
            <a:r>
              <a:rPr sz="2000" b="0" i="0">
                <a:solidFill>
                  <a:srgbClr val="111111"/>
                </a:solidFill>
                <a:latin typeface="Inter"/>
              </a:rPr>
              <a:t>A survey: 508 invited, 92 answered.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4ECFB"/>
        </a:solidFill>
        <a:effectLst/>
      </p:bgPr>
    </p:bg>
    <p:spTree>
      <p:nvGrpSpPr>
        <p:cNvPr id="1" name=""/>
        <p:cNvGrpSpPr/>
        <p:nvPr/>
      </p:nvGrpSpPr>
      <p:grpSpPr/>
      <p:sp>
        <p:nvSpPr>
          <p:cNvPr id="2" name="TextBox 1"/>
          <p:cNvSpPr txBox="1"/>
          <p:nvPr/>
        </p:nvSpPr>
        <p:spPr>
          <a:xfrm>
            <a:off x="822960" y="502920"/>
            <a:ext cx="10545775" cy="320040"/>
          </a:xfrm>
          <a:prstGeom prst="rect">
            <a:avLst/>
          </a:prstGeom>
          <a:noFill/>
        </p:spPr>
        <p:txBody>
          <a:bodyPr wrap="square" anchor="t" lIns="0" rIns="0" tIns="0" bIns="0"/>
          <a:lstStyle/>
          <a:p>
            <a:pPr algn="l">
              <a:lnSpc>
                <a:spcPct val="110000"/>
              </a:lnSpc>
            </a:pPr>
            <a:r>
              <a:rPr sz="1600" b="1">
                <a:solidFill>
                  <a:srgbClr val="8B3DFF"/>
                </a:solidFill>
                <a:latin typeface="Inter"/>
              </a:rPr>
              <a:t>1 · THE STUDY</a:t>
            </a:r>
          </a:p>
        </p:txBody>
      </p:sp>
      <p:sp>
        <p:nvSpPr>
          <p:cNvPr id="3" name="Rounded Rectangle 2"/>
          <p:cNvSpPr/>
          <p:nvPr/>
        </p:nvSpPr>
        <p:spPr>
          <a:xfrm>
            <a:off x="9997135" y="457200"/>
            <a:ext cx="1371600" cy="457200"/>
          </a:xfrm>
          <a:prstGeom prst="roundRect">
            <a:avLst>
              <a:gd name="adj" fmla="val 50000"/>
            </a:avLst>
          </a:prstGeom>
          <a:solidFill>
            <a:srgbClr val="FFFFFF"/>
          </a:solidFill>
          <a:ln>
            <a:noFill/>
          </a:ln>
          <a:effectLst/>
        </p:spPr>
        <p:txBody>
          <a:bodyPr rtlCol="0" anchor="ctr" lIns="0" rIns="0" tIns="0" bIns="0"/>
          <a:lstStyle/>
          <a:p>
            <a:pPr algn="ctr"/>
            <a:r>
              <a:rPr sz="1600" b="1">
                <a:solidFill>
                  <a:srgbClr val="111111"/>
                </a:solidFill>
                <a:latin typeface="Inter"/>
              </a:rPr>
              <a:t>2 min</a:t>
            </a:r>
          </a:p>
        </p:txBody>
      </p:sp>
      <p:sp>
        <p:nvSpPr>
          <p:cNvPr id="4" name="TextBox 3"/>
          <p:cNvSpPr txBox="1"/>
          <p:nvPr/>
        </p:nvSpPr>
        <p:spPr>
          <a:xfrm>
            <a:off x="822960" y="868680"/>
            <a:ext cx="8899855" cy="688441"/>
          </a:xfrm>
          <a:prstGeom prst="rect">
            <a:avLst/>
          </a:prstGeom>
          <a:noFill/>
        </p:spPr>
        <p:txBody>
          <a:bodyPr wrap="square" anchor="t" lIns="0" rIns="0" tIns="0" bIns="0"/>
          <a:lstStyle/>
          <a:p>
            <a:pPr algn="l">
              <a:lnSpc>
                <a:spcPct val="112000"/>
              </a:lnSpc>
              <a:spcBef>
                <a:spcPts val="0"/>
              </a:spcBef>
            </a:pPr>
            <a:r>
              <a:rPr sz="4000" b="1" i="0">
                <a:solidFill>
                  <a:srgbClr val="111111"/>
                </a:solidFill>
                <a:latin typeface="Inter"/>
              </a:rPr>
              <a:t>Who is in this study?</a:t>
            </a:r>
          </a:p>
        </p:txBody>
      </p:sp>
      <p:sp>
        <p:nvSpPr>
          <p:cNvPr id="5" name="Rounded Rectangle 4"/>
          <p:cNvSpPr/>
          <p:nvPr/>
        </p:nvSpPr>
        <p:spPr>
          <a:xfrm>
            <a:off x="822960" y="1922881"/>
            <a:ext cx="10545775" cy="566928"/>
          </a:xfrm>
          <a:prstGeom prst="roundRect">
            <a:avLst>
              <a:gd name="adj" fmla="val 12000"/>
            </a:avLst>
          </a:prstGeom>
          <a:solidFill>
            <a:srgbClr val="FFFFFF"/>
          </a:solidFill>
          <a:ln w="12700">
            <a:solidFill>
              <a:srgbClr val="D9D9DE"/>
            </a:solidFill>
          </a:ln>
          <a:effectLst/>
        </p:spPr>
        <p:txBody>
          <a:bodyPr rtlCol="0" anchor="ctr"/>
          <a:lstStyle/>
          <a:p/>
        </p:txBody>
      </p:sp>
      <p:sp>
        <p:nvSpPr>
          <p:cNvPr id="6" name="TextBox 5"/>
          <p:cNvSpPr txBox="1"/>
          <p:nvPr/>
        </p:nvSpPr>
        <p:spPr>
          <a:xfrm>
            <a:off x="1051560" y="2041753"/>
            <a:ext cx="10088575" cy="344220"/>
          </a:xfrm>
          <a:prstGeom prst="rect">
            <a:avLst/>
          </a:prstGeom>
          <a:noFill/>
        </p:spPr>
        <p:txBody>
          <a:bodyPr wrap="square" anchor="t" lIns="0" rIns="0" tIns="0" bIns="0"/>
          <a:lstStyle/>
          <a:p>
            <a:pPr algn="l">
              <a:lnSpc>
                <a:spcPct val="112000"/>
              </a:lnSpc>
              <a:spcBef>
                <a:spcPts val="0"/>
              </a:spcBef>
            </a:pPr>
            <a:r>
              <a:rPr sz="2000" b="0" i="0">
                <a:solidFill>
                  <a:srgbClr val="111111"/>
                </a:solidFill>
                <a:latin typeface="Inter"/>
              </a:rPr>
              <a:t>People watched while they used Git</a:t>
            </a:r>
          </a:p>
        </p:txBody>
      </p:sp>
      <p:sp>
        <p:nvSpPr>
          <p:cNvPr id="7" name="Rounded Rectangle 6"/>
          <p:cNvSpPr/>
          <p:nvPr/>
        </p:nvSpPr>
        <p:spPr>
          <a:xfrm>
            <a:off x="822960" y="2581249"/>
            <a:ext cx="10545775" cy="566928"/>
          </a:xfrm>
          <a:prstGeom prst="roundRect">
            <a:avLst>
              <a:gd name="adj" fmla="val 12000"/>
            </a:avLst>
          </a:prstGeom>
          <a:solidFill>
            <a:srgbClr val="FFFFFF"/>
          </a:solidFill>
          <a:ln w="12700">
            <a:solidFill>
              <a:srgbClr val="D9D9DE"/>
            </a:solidFill>
          </a:ln>
          <a:effectLst/>
        </p:spPr>
        <p:txBody>
          <a:bodyPr rtlCol="0" anchor="ctr"/>
          <a:lstStyle/>
          <a:p/>
        </p:txBody>
      </p:sp>
      <p:sp>
        <p:nvSpPr>
          <p:cNvPr id="8" name="TextBox 7"/>
          <p:cNvSpPr txBox="1"/>
          <p:nvPr/>
        </p:nvSpPr>
        <p:spPr>
          <a:xfrm>
            <a:off x="1051560" y="2700121"/>
            <a:ext cx="10088575" cy="344220"/>
          </a:xfrm>
          <a:prstGeom prst="rect">
            <a:avLst/>
          </a:prstGeom>
          <a:noFill/>
        </p:spPr>
        <p:txBody>
          <a:bodyPr wrap="square" anchor="t" lIns="0" rIns="0" tIns="0" bIns="0"/>
          <a:lstStyle/>
          <a:p>
            <a:pPr algn="l">
              <a:lnSpc>
                <a:spcPct val="112000"/>
              </a:lnSpc>
              <a:spcBef>
                <a:spcPts val="0"/>
              </a:spcBef>
            </a:pPr>
            <a:r>
              <a:rPr sz="2000" b="0" i="0">
                <a:solidFill>
                  <a:srgbClr val="111111"/>
                </a:solidFill>
                <a:latin typeface="Inter"/>
              </a:rPr>
              <a:t>People who asked on Stack Overflow, plus 92 surveyed</a:t>
            </a:r>
          </a:p>
        </p:txBody>
      </p:sp>
      <p:sp>
        <p:nvSpPr>
          <p:cNvPr id="9" name="Rounded Rectangle 8"/>
          <p:cNvSpPr/>
          <p:nvPr/>
        </p:nvSpPr>
        <p:spPr>
          <a:xfrm>
            <a:off x="822960" y="3239617"/>
            <a:ext cx="10545775" cy="566928"/>
          </a:xfrm>
          <a:prstGeom prst="roundRect">
            <a:avLst>
              <a:gd name="adj" fmla="val 12000"/>
            </a:avLst>
          </a:prstGeom>
          <a:solidFill>
            <a:srgbClr val="FFFFFF"/>
          </a:solidFill>
          <a:ln w="12700">
            <a:solidFill>
              <a:srgbClr val="D9D9DE"/>
            </a:solidFill>
          </a:ln>
          <a:effectLst/>
        </p:spPr>
        <p:txBody>
          <a:bodyPr rtlCol="0" anchor="ctr"/>
          <a:lstStyle/>
          <a:p/>
        </p:txBody>
      </p:sp>
      <p:sp>
        <p:nvSpPr>
          <p:cNvPr id="10" name="TextBox 9"/>
          <p:cNvSpPr txBox="1"/>
          <p:nvPr/>
        </p:nvSpPr>
        <p:spPr>
          <a:xfrm>
            <a:off x="1051560" y="3358489"/>
            <a:ext cx="10088575" cy="344220"/>
          </a:xfrm>
          <a:prstGeom prst="rect">
            <a:avLst/>
          </a:prstGeom>
          <a:noFill/>
        </p:spPr>
        <p:txBody>
          <a:bodyPr wrap="square" anchor="t" lIns="0" rIns="0" tIns="0" bIns="0"/>
          <a:lstStyle/>
          <a:p>
            <a:pPr algn="l">
              <a:lnSpc>
                <a:spcPct val="112000"/>
              </a:lnSpc>
              <a:spcBef>
                <a:spcPts val="0"/>
              </a:spcBef>
            </a:pPr>
            <a:r>
              <a:rPr sz="2000" b="0" i="0">
                <a:solidFill>
                  <a:srgbClr val="111111"/>
                </a:solidFill>
                <a:latin typeface="Inter"/>
              </a:rPr>
              <a:t>Git’s own usage logs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502920"/>
            <a:ext cx="10545775" cy="320040"/>
          </a:xfrm>
          <a:prstGeom prst="rect">
            <a:avLst/>
          </a:prstGeom>
          <a:noFill/>
        </p:spPr>
        <p:txBody>
          <a:bodyPr wrap="square" anchor="t" lIns="0" rIns="0" tIns="0" bIns="0"/>
          <a:lstStyle/>
          <a:p>
            <a:pPr algn="l">
              <a:lnSpc>
                <a:spcPct val="110000"/>
              </a:lnSpc>
            </a:pPr>
            <a:r>
              <a:rPr sz="1600" b="1">
                <a:solidFill>
                  <a:srgbClr val="8B3DFF"/>
                </a:solidFill>
                <a:latin typeface="Inter"/>
              </a:rPr>
              <a:t>1 · THE STUDY</a:t>
            </a:r>
          </a:p>
        </p:txBody>
      </p:sp>
      <p:sp>
        <p:nvSpPr>
          <p:cNvPr id="3" name="TextBox 2"/>
          <p:cNvSpPr txBox="1"/>
          <p:nvPr/>
        </p:nvSpPr>
        <p:spPr>
          <a:xfrm>
            <a:off x="822960" y="868680"/>
            <a:ext cx="10545775" cy="688441"/>
          </a:xfrm>
          <a:prstGeom prst="rect">
            <a:avLst/>
          </a:prstGeom>
          <a:noFill/>
        </p:spPr>
        <p:txBody>
          <a:bodyPr wrap="square" anchor="t" lIns="0" rIns="0" tIns="0" bIns="0"/>
          <a:lstStyle/>
          <a:p>
            <a:pPr algn="l">
              <a:lnSpc>
                <a:spcPct val="112000"/>
              </a:lnSpc>
              <a:spcBef>
                <a:spcPts val="0"/>
              </a:spcBef>
            </a:pPr>
            <a:r>
              <a:rPr sz="4000" b="1" i="0">
                <a:solidFill>
                  <a:srgbClr val="111111"/>
                </a:solidFill>
                <a:latin typeface="Inter"/>
              </a:rPr>
              <a:t>People who asked. Nobody was watched.</a:t>
            </a:r>
          </a:p>
        </p:txBody>
      </p:sp>
      <p:sp>
        <p:nvSpPr>
          <p:cNvPr id="4" name="Rounded Rectangle 3"/>
          <p:cNvSpPr/>
          <p:nvPr/>
        </p:nvSpPr>
        <p:spPr>
          <a:xfrm>
            <a:off x="822960" y="1877161"/>
            <a:ext cx="10545775" cy="420624"/>
          </a:xfrm>
          <a:prstGeom prst="roundRect">
            <a:avLst>
              <a:gd name="adj" fmla="val 12000"/>
            </a:avLst>
          </a:prstGeom>
          <a:solidFill>
            <a:srgbClr val="FFFFFF"/>
          </a:solidFill>
          <a:ln w="12700">
            <a:solidFill>
              <a:srgbClr val="D9D9DE"/>
            </a:solidFill>
          </a:ln>
          <a:effectLst/>
        </p:spPr>
        <p:txBody>
          <a:bodyPr rtlCol="0" anchor="ctr"/>
          <a:lstStyle/>
          <a:p/>
        </p:txBody>
      </p:sp>
      <p:sp>
        <p:nvSpPr>
          <p:cNvPr id="5" name="TextBox 4"/>
          <p:cNvSpPr txBox="1"/>
          <p:nvPr/>
        </p:nvSpPr>
        <p:spPr>
          <a:xfrm>
            <a:off x="1051560" y="1959457"/>
            <a:ext cx="10088575" cy="292587"/>
          </a:xfrm>
          <a:prstGeom prst="rect">
            <a:avLst/>
          </a:prstGeom>
          <a:noFill/>
        </p:spPr>
        <p:txBody>
          <a:bodyPr wrap="square" anchor="t" lIns="0" rIns="0" tIns="0" bIns="0"/>
          <a:lstStyle/>
          <a:p>
            <a:pPr algn="l">
              <a:lnSpc>
                <a:spcPct val="112000"/>
              </a:lnSpc>
              <a:spcBef>
                <a:spcPts val="0"/>
              </a:spcBef>
            </a:pPr>
            <a:r>
              <a:rPr sz="1700" b="0" i="0">
                <a:solidFill>
                  <a:srgbClr val="111111"/>
                </a:solidFill>
                <a:latin typeface="Inter"/>
              </a:rPr>
              <a:t>People watched while they used Git</a:t>
            </a:r>
          </a:p>
        </p:txBody>
      </p:sp>
      <p:sp>
        <p:nvSpPr>
          <p:cNvPr id="6" name="Rounded Rectangle 5"/>
          <p:cNvSpPr/>
          <p:nvPr/>
        </p:nvSpPr>
        <p:spPr>
          <a:xfrm>
            <a:off x="822960" y="2389225"/>
            <a:ext cx="10545775" cy="420624"/>
          </a:xfrm>
          <a:prstGeom prst="roundRect">
            <a:avLst>
              <a:gd name="adj" fmla="val 12000"/>
            </a:avLst>
          </a:prstGeom>
          <a:solidFill>
            <a:srgbClr val="FFFFFF"/>
          </a:solidFill>
          <a:ln w="25400">
            <a:solidFill>
              <a:srgbClr val="16A34A"/>
            </a:solidFill>
          </a:ln>
          <a:effectLst/>
        </p:spPr>
        <p:txBody>
          <a:bodyPr rtlCol="0" anchor="ctr"/>
          <a:lstStyle/>
          <a:p/>
        </p:txBody>
      </p:sp>
      <p:sp>
        <p:nvSpPr>
          <p:cNvPr id="7" name="TextBox 6"/>
          <p:cNvSpPr txBox="1"/>
          <p:nvPr/>
        </p:nvSpPr>
        <p:spPr>
          <a:xfrm>
            <a:off x="1051560" y="2471521"/>
            <a:ext cx="10088575" cy="292587"/>
          </a:xfrm>
          <a:prstGeom prst="rect">
            <a:avLst/>
          </a:prstGeom>
          <a:noFill/>
        </p:spPr>
        <p:txBody>
          <a:bodyPr wrap="square" anchor="t" lIns="0" rIns="0" tIns="0" bIns="0"/>
          <a:lstStyle/>
          <a:p>
            <a:pPr algn="l">
              <a:lnSpc>
                <a:spcPct val="112000"/>
              </a:lnSpc>
              <a:spcBef>
                <a:spcPts val="0"/>
              </a:spcBef>
            </a:pPr>
            <a:r>
              <a:rPr sz="1700" b="1" i="0">
                <a:solidFill>
                  <a:srgbClr val="16A34A"/>
                </a:solidFill>
                <a:latin typeface="Inter"/>
              </a:rPr>
              <a:t>People who asked on Stack Overflow, plus 92 surveyed  ✓</a:t>
            </a:r>
          </a:p>
        </p:txBody>
      </p:sp>
      <p:sp>
        <p:nvSpPr>
          <p:cNvPr id="8" name="Rounded Rectangle 7"/>
          <p:cNvSpPr/>
          <p:nvPr/>
        </p:nvSpPr>
        <p:spPr>
          <a:xfrm>
            <a:off x="822960" y="2901289"/>
            <a:ext cx="10545775" cy="420624"/>
          </a:xfrm>
          <a:prstGeom prst="roundRect">
            <a:avLst>
              <a:gd name="adj" fmla="val 12000"/>
            </a:avLst>
          </a:prstGeom>
          <a:solidFill>
            <a:srgbClr val="FFFFFF"/>
          </a:solidFill>
          <a:ln w="12700">
            <a:solidFill>
              <a:srgbClr val="D9D9DE"/>
            </a:solidFill>
          </a:ln>
          <a:effectLst/>
        </p:spPr>
        <p:txBody>
          <a:bodyPr rtlCol="0" anchor="ctr"/>
          <a:lstStyle/>
          <a:p/>
        </p:txBody>
      </p:sp>
      <p:sp>
        <p:nvSpPr>
          <p:cNvPr id="9" name="TextBox 8"/>
          <p:cNvSpPr txBox="1"/>
          <p:nvPr/>
        </p:nvSpPr>
        <p:spPr>
          <a:xfrm>
            <a:off x="1051560" y="2983585"/>
            <a:ext cx="10088575" cy="292587"/>
          </a:xfrm>
          <a:prstGeom prst="rect">
            <a:avLst/>
          </a:prstGeom>
          <a:noFill/>
        </p:spPr>
        <p:txBody>
          <a:bodyPr wrap="square" anchor="t" lIns="0" rIns="0" tIns="0" bIns="0"/>
          <a:lstStyle/>
          <a:p>
            <a:pPr algn="l">
              <a:lnSpc>
                <a:spcPct val="112000"/>
              </a:lnSpc>
              <a:spcBef>
                <a:spcPts val="0"/>
              </a:spcBef>
            </a:pPr>
            <a:r>
              <a:rPr sz="1700" b="0" i="0">
                <a:solidFill>
                  <a:srgbClr val="111111"/>
                </a:solidFill>
                <a:latin typeface="Inter"/>
              </a:rPr>
              <a:t>Git’s own usage logs</a:t>
            </a:r>
          </a:p>
        </p:txBody>
      </p:sp>
      <p:sp>
        <p:nvSpPr>
          <p:cNvPr id="10" name="TextBox 9"/>
          <p:cNvSpPr txBox="1"/>
          <p:nvPr/>
        </p:nvSpPr>
        <p:spPr>
          <a:xfrm>
            <a:off x="822960" y="3504793"/>
            <a:ext cx="8647535" cy="781018"/>
          </a:xfrm>
          <a:prstGeom prst="rect">
            <a:avLst/>
          </a:prstGeom>
          <a:noFill/>
        </p:spPr>
        <p:txBody>
          <a:bodyPr wrap="square" anchor="t" lIns="0" rIns="0" tIns="0" bIns="0"/>
          <a:lstStyle/>
          <a:p>
            <a:pPr algn="l">
              <a:lnSpc>
                <a:spcPct val="112000"/>
              </a:lnSpc>
              <a:spcBef>
                <a:spcPts val="0"/>
              </a:spcBef>
            </a:pPr>
            <a:r>
              <a:rPr sz="1900" b="0" i="0">
                <a:solidFill>
                  <a:srgbClr val="111111"/>
                </a:solidFill>
                <a:latin typeface="Inter"/>
              </a:rPr>
              <a:t>Questions people asked, plus a survey.</a:t>
            </a:r>
          </a:p>
          <a:p>
            <a:pPr algn="l">
              <a:lnSpc>
                <a:spcPct val="112000"/>
              </a:lnSpc>
              <a:spcBef>
                <a:spcPts val="1000"/>
              </a:spcBef>
            </a:pPr>
            <a:r>
              <a:rPr sz="1900" b="0" i="0">
                <a:solidFill>
                  <a:srgbClr val="111111"/>
                </a:solidFill>
                <a:latin typeface="Inter"/>
              </a:rPr>
              <a:t>Asking shows where people got stuck, not what they do.</a:t>
            </a:r>
          </a:p>
        </p:txBody>
      </p:sp>
      <p:sp>
        <p:nvSpPr>
          <p:cNvPr id="11" name="TextBox 10"/>
          <p:cNvSpPr txBox="1"/>
          <p:nvPr/>
        </p:nvSpPr>
        <p:spPr>
          <a:xfrm>
            <a:off x="822960" y="6022158"/>
            <a:ext cx="10545775" cy="378642"/>
          </a:xfrm>
          <a:prstGeom prst="rect">
            <a:avLst/>
          </a:prstGeom>
          <a:noFill/>
        </p:spPr>
        <p:txBody>
          <a:bodyPr wrap="square" anchor="t" lIns="0" rIns="0" tIns="0" bIns="0"/>
          <a:lstStyle/>
          <a:p>
            <a:pPr algn="l">
              <a:lnSpc>
                <a:spcPct val="112000"/>
              </a:lnSpc>
              <a:spcBef>
                <a:spcPts val="0"/>
              </a:spcBef>
            </a:pPr>
            <a:r>
              <a:rPr sz="2200" b="0" i="1">
                <a:solidFill>
                  <a:srgbClr val="707078"/>
                </a:solidFill>
                <a:latin typeface="Inter"/>
              </a:rPr>
              <a:t>What would watching show that asking can’t?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4ECFB"/>
        </a:solidFill>
        <a:effectLst/>
      </p:bgPr>
    </p:bg>
    <p:spTree>
      <p:nvGrpSpPr>
        <p:cNvPr id="1" name=""/>
        <p:cNvGrpSpPr/>
        <p:nvPr/>
      </p:nvGrpSpPr>
      <p:grpSpPr/>
      <p:sp>
        <p:nvSpPr>
          <p:cNvPr id="2" name="TextBox 1"/>
          <p:cNvSpPr txBox="1"/>
          <p:nvPr/>
        </p:nvSpPr>
        <p:spPr>
          <a:xfrm>
            <a:off x="822960" y="502920"/>
            <a:ext cx="10545775" cy="320040"/>
          </a:xfrm>
          <a:prstGeom prst="rect">
            <a:avLst/>
          </a:prstGeom>
          <a:noFill/>
        </p:spPr>
        <p:txBody>
          <a:bodyPr wrap="square" anchor="t" lIns="0" rIns="0" tIns="0" bIns="0"/>
          <a:lstStyle/>
          <a:p>
            <a:pPr algn="l">
              <a:lnSpc>
                <a:spcPct val="110000"/>
              </a:lnSpc>
            </a:pPr>
            <a:r>
              <a:rPr sz="1600" b="1">
                <a:solidFill>
                  <a:srgbClr val="8B3DFF"/>
                </a:solidFill>
                <a:latin typeface="Inter"/>
              </a:rPr>
              <a:t>1 · THE STUDY</a:t>
            </a:r>
          </a:p>
        </p:txBody>
      </p:sp>
      <p:sp>
        <p:nvSpPr>
          <p:cNvPr id="3" name="Rounded Rectangle 2"/>
          <p:cNvSpPr/>
          <p:nvPr/>
        </p:nvSpPr>
        <p:spPr>
          <a:xfrm>
            <a:off x="9997135" y="457200"/>
            <a:ext cx="1371600" cy="457200"/>
          </a:xfrm>
          <a:prstGeom prst="roundRect">
            <a:avLst>
              <a:gd name="adj" fmla="val 50000"/>
            </a:avLst>
          </a:prstGeom>
          <a:solidFill>
            <a:srgbClr val="FFFFFF"/>
          </a:solidFill>
          <a:ln>
            <a:noFill/>
          </a:ln>
          <a:effectLst/>
        </p:spPr>
        <p:txBody>
          <a:bodyPr rtlCol="0" anchor="ctr" lIns="0" rIns="0" tIns="0" bIns="0"/>
          <a:lstStyle/>
          <a:p>
            <a:pPr algn="ctr"/>
            <a:r>
              <a:rPr sz="1600" b="1">
                <a:solidFill>
                  <a:srgbClr val="111111"/>
                </a:solidFill>
                <a:latin typeface="Inter"/>
              </a:rPr>
              <a:t>2 min</a:t>
            </a:r>
          </a:p>
        </p:txBody>
      </p:sp>
      <p:sp>
        <p:nvSpPr>
          <p:cNvPr id="4" name="TextBox 3"/>
          <p:cNvSpPr txBox="1"/>
          <p:nvPr/>
        </p:nvSpPr>
        <p:spPr>
          <a:xfrm>
            <a:off x="822960" y="868680"/>
            <a:ext cx="8899855" cy="1376883"/>
          </a:xfrm>
          <a:prstGeom prst="rect">
            <a:avLst/>
          </a:prstGeom>
          <a:noFill/>
        </p:spPr>
        <p:txBody>
          <a:bodyPr wrap="square" anchor="t" lIns="0" rIns="0" tIns="0" bIns="0"/>
          <a:lstStyle/>
          <a:p>
            <a:pPr algn="l">
              <a:lnSpc>
                <a:spcPct val="112000"/>
              </a:lnSpc>
              <a:spcBef>
                <a:spcPts val="0"/>
              </a:spcBef>
            </a:pPr>
            <a:r>
              <a:rPr sz="4000" b="1" i="0">
                <a:solidFill>
                  <a:srgbClr val="111111"/>
                </a:solidFill>
                <a:latin typeface="Inter"/>
              </a:rPr>
              <a:t>When does a question count for </a:t>
            </a:r>
            <a:r>
              <a:rPr sz="4000" b="1" i="0">
                <a:solidFill>
                  <a:srgbClr val="111111"/>
                </a:solidFill>
                <a:latin typeface="Noto Sans Mono"/>
              </a:rPr>
              <a:t>git reset</a:t>
            </a:r>
            <a:r>
              <a:rPr sz="4000" b="1" i="0">
                <a:solidFill>
                  <a:srgbClr val="111111"/>
                </a:solidFill>
                <a:latin typeface="Inter"/>
              </a:rPr>
              <a:t>?</a:t>
            </a:r>
          </a:p>
        </p:txBody>
      </p:sp>
      <p:sp>
        <p:nvSpPr>
          <p:cNvPr id="5" name="Rounded Rectangle 4"/>
          <p:cNvSpPr/>
          <p:nvPr/>
        </p:nvSpPr>
        <p:spPr>
          <a:xfrm>
            <a:off x="822960" y="2611323"/>
            <a:ext cx="10545775" cy="566928"/>
          </a:xfrm>
          <a:prstGeom prst="roundRect">
            <a:avLst>
              <a:gd name="adj" fmla="val 12000"/>
            </a:avLst>
          </a:prstGeom>
          <a:solidFill>
            <a:srgbClr val="FFFFFF"/>
          </a:solidFill>
          <a:ln w="12700">
            <a:solidFill>
              <a:srgbClr val="D9D9DE"/>
            </a:solidFill>
          </a:ln>
          <a:effectLst/>
        </p:spPr>
        <p:txBody>
          <a:bodyPr rtlCol="0" anchor="ctr"/>
          <a:lstStyle/>
          <a:p/>
        </p:txBody>
      </p:sp>
      <p:sp>
        <p:nvSpPr>
          <p:cNvPr id="6" name="TextBox 5"/>
          <p:cNvSpPr txBox="1"/>
          <p:nvPr/>
        </p:nvSpPr>
        <p:spPr>
          <a:xfrm>
            <a:off x="1051560" y="2730195"/>
            <a:ext cx="10088575" cy="344220"/>
          </a:xfrm>
          <a:prstGeom prst="rect">
            <a:avLst/>
          </a:prstGeom>
          <a:noFill/>
        </p:spPr>
        <p:txBody>
          <a:bodyPr wrap="square" anchor="t" lIns="0" rIns="0" tIns="0" bIns="0"/>
          <a:lstStyle/>
          <a:p>
            <a:pPr algn="l">
              <a:lnSpc>
                <a:spcPct val="112000"/>
              </a:lnSpc>
              <a:spcBef>
                <a:spcPts val="0"/>
              </a:spcBef>
            </a:pPr>
            <a:r>
              <a:rPr sz="2000" b="0" i="0">
                <a:solidFill>
                  <a:srgbClr val="111111"/>
                </a:solidFill>
                <a:latin typeface="Inter"/>
              </a:rPr>
              <a:t>Someone reads it and decides</a:t>
            </a:r>
          </a:p>
        </p:txBody>
      </p:sp>
      <p:sp>
        <p:nvSpPr>
          <p:cNvPr id="7" name="Rounded Rectangle 6"/>
          <p:cNvSpPr/>
          <p:nvPr/>
        </p:nvSpPr>
        <p:spPr>
          <a:xfrm>
            <a:off x="822960" y="3269691"/>
            <a:ext cx="10545775" cy="566928"/>
          </a:xfrm>
          <a:prstGeom prst="roundRect">
            <a:avLst>
              <a:gd name="adj" fmla="val 12000"/>
            </a:avLst>
          </a:prstGeom>
          <a:solidFill>
            <a:srgbClr val="FFFFFF"/>
          </a:solidFill>
          <a:ln w="12700">
            <a:solidFill>
              <a:srgbClr val="D9D9DE"/>
            </a:solidFill>
          </a:ln>
          <a:effectLst/>
        </p:spPr>
        <p:txBody>
          <a:bodyPr rtlCol="0" anchor="ctr"/>
          <a:lstStyle/>
          <a:p/>
        </p:txBody>
      </p:sp>
      <p:sp>
        <p:nvSpPr>
          <p:cNvPr id="8" name="TextBox 7"/>
          <p:cNvSpPr txBox="1"/>
          <p:nvPr/>
        </p:nvSpPr>
        <p:spPr>
          <a:xfrm>
            <a:off x="1051560" y="3388563"/>
            <a:ext cx="10088575" cy="344220"/>
          </a:xfrm>
          <a:prstGeom prst="rect">
            <a:avLst/>
          </a:prstGeom>
          <a:noFill/>
        </p:spPr>
        <p:txBody>
          <a:bodyPr wrap="square" anchor="t" lIns="0" rIns="0" tIns="0" bIns="0"/>
          <a:lstStyle/>
          <a:p>
            <a:pPr algn="l">
              <a:lnSpc>
                <a:spcPct val="112000"/>
              </a:lnSpc>
              <a:spcBef>
                <a:spcPts val="0"/>
              </a:spcBef>
            </a:pPr>
            <a:r>
              <a:rPr sz="2000" b="0" i="0">
                <a:solidFill>
                  <a:srgbClr val="111111"/>
                </a:solidFill>
                <a:latin typeface="Noto Sans Mono"/>
              </a:rPr>
              <a:t>git reset</a:t>
            </a:r>
            <a:r>
              <a:rPr sz="2000" b="0" i="0">
                <a:solidFill>
                  <a:srgbClr val="111111"/>
                </a:solidFill>
                <a:latin typeface="Inter"/>
              </a:rPr>
              <a:t> appears in the question or its accepted answer</a:t>
            </a:r>
          </a:p>
        </p:txBody>
      </p:sp>
      <p:sp>
        <p:nvSpPr>
          <p:cNvPr id="9" name="Rounded Rectangle 8"/>
          <p:cNvSpPr/>
          <p:nvPr/>
        </p:nvSpPr>
        <p:spPr>
          <a:xfrm>
            <a:off x="822960" y="3928059"/>
            <a:ext cx="10545775" cy="566928"/>
          </a:xfrm>
          <a:prstGeom prst="roundRect">
            <a:avLst>
              <a:gd name="adj" fmla="val 12000"/>
            </a:avLst>
          </a:prstGeom>
          <a:solidFill>
            <a:srgbClr val="FFFFFF"/>
          </a:solidFill>
          <a:ln w="12700">
            <a:solidFill>
              <a:srgbClr val="D9D9DE"/>
            </a:solidFill>
          </a:ln>
          <a:effectLst/>
        </p:spPr>
        <p:txBody>
          <a:bodyPr rtlCol="0" anchor="ctr"/>
          <a:lstStyle/>
          <a:p/>
        </p:txBody>
      </p:sp>
      <p:sp>
        <p:nvSpPr>
          <p:cNvPr id="10" name="TextBox 9"/>
          <p:cNvSpPr txBox="1"/>
          <p:nvPr/>
        </p:nvSpPr>
        <p:spPr>
          <a:xfrm>
            <a:off x="1051560" y="4046931"/>
            <a:ext cx="10088575" cy="344220"/>
          </a:xfrm>
          <a:prstGeom prst="rect">
            <a:avLst/>
          </a:prstGeom>
          <a:noFill/>
        </p:spPr>
        <p:txBody>
          <a:bodyPr wrap="square" anchor="t" lIns="0" rIns="0" tIns="0" bIns="0"/>
          <a:lstStyle/>
          <a:p>
            <a:pPr algn="l">
              <a:lnSpc>
                <a:spcPct val="112000"/>
              </a:lnSpc>
              <a:spcBef>
                <a:spcPts val="0"/>
              </a:spcBef>
            </a:pPr>
            <a:r>
              <a:rPr sz="2000" b="0" i="0">
                <a:solidFill>
                  <a:srgbClr val="111111"/>
                </a:solidFill>
                <a:latin typeface="Inter"/>
              </a:rPr>
              <a:t>The asker tags it “reset”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502920"/>
            <a:ext cx="10545775" cy="320040"/>
          </a:xfrm>
          <a:prstGeom prst="rect">
            <a:avLst/>
          </a:prstGeom>
          <a:noFill/>
        </p:spPr>
        <p:txBody>
          <a:bodyPr wrap="square" anchor="t" lIns="0" rIns="0" tIns="0" bIns="0"/>
          <a:lstStyle/>
          <a:p>
            <a:pPr algn="l">
              <a:lnSpc>
                <a:spcPct val="110000"/>
              </a:lnSpc>
            </a:pPr>
            <a:r>
              <a:rPr sz="1600" b="1">
                <a:solidFill>
                  <a:srgbClr val="8B3DFF"/>
                </a:solidFill>
                <a:latin typeface="Inter"/>
              </a:rPr>
              <a:t>1 · THE STUDY</a:t>
            </a:r>
          </a:p>
        </p:txBody>
      </p:sp>
      <p:sp>
        <p:nvSpPr>
          <p:cNvPr id="3" name="TextBox 2"/>
          <p:cNvSpPr txBox="1"/>
          <p:nvPr/>
        </p:nvSpPr>
        <p:spPr>
          <a:xfrm>
            <a:off x="822960" y="868680"/>
            <a:ext cx="10545775" cy="688441"/>
          </a:xfrm>
          <a:prstGeom prst="rect">
            <a:avLst/>
          </a:prstGeom>
          <a:noFill/>
        </p:spPr>
        <p:txBody>
          <a:bodyPr wrap="square" anchor="t" lIns="0" rIns="0" tIns="0" bIns="0"/>
          <a:lstStyle/>
          <a:p>
            <a:pPr algn="l">
              <a:lnSpc>
                <a:spcPct val="112000"/>
              </a:lnSpc>
              <a:spcBef>
                <a:spcPts val="0"/>
              </a:spcBef>
            </a:pPr>
            <a:r>
              <a:rPr sz="4000" b="1" i="0">
                <a:solidFill>
                  <a:srgbClr val="111111"/>
                </a:solidFill>
                <a:latin typeface="Inter"/>
              </a:rPr>
              <a:t>A word search</a:t>
            </a:r>
          </a:p>
        </p:txBody>
      </p:sp>
      <p:sp>
        <p:nvSpPr>
          <p:cNvPr id="4" name="Rounded Rectangle 3"/>
          <p:cNvSpPr/>
          <p:nvPr/>
        </p:nvSpPr>
        <p:spPr>
          <a:xfrm>
            <a:off x="822960" y="1877161"/>
            <a:ext cx="10545775" cy="420624"/>
          </a:xfrm>
          <a:prstGeom prst="roundRect">
            <a:avLst>
              <a:gd name="adj" fmla="val 12000"/>
            </a:avLst>
          </a:prstGeom>
          <a:solidFill>
            <a:srgbClr val="FFFFFF"/>
          </a:solidFill>
          <a:ln w="12700">
            <a:solidFill>
              <a:srgbClr val="D9D9DE"/>
            </a:solidFill>
          </a:ln>
          <a:effectLst/>
        </p:spPr>
        <p:txBody>
          <a:bodyPr rtlCol="0" anchor="ctr"/>
          <a:lstStyle/>
          <a:p/>
        </p:txBody>
      </p:sp>
      <p:sp>
        <p:nvSpPr>
          <p:cNvPr id="5" name="TextBox 4"/>
          <p:cNvSpPr txBox="1"/>
          <p:nvPr/>
        </p:nvSpPr>
        <p:spPr>
          <a:xfrm>
            <a:off x="1051560" y="1959457"/>
            <a:ext cx="10088575" cy="292587"/>
          </a:xfrm>
          <a:prstGeom prst="rect">
            <a:avLst/>
          </a:prstGeom>
          <a:noFill/>
        </p:spPr>
        <p:txBody>
          <a:bodyPr wrap="square" anchor="t" lIns="0" rIns="0" tIns="0" bIns="0"/>
          <a:lstStyle/>
          <a:p>
            <a:pPr algn="l">
              <a:lnSpc>
                <a:spcPct val="112000"/>
              </a:lnSpc>
              <a:spcBef>
                <a:spcPts val="0"/>
              </a:spcBef>
            </a:pPr>
            <a:r>
              <a:rPr sz="1700" b="0" i="0">
                <a:solidFill>
                  <a:srgbClr val="111111"/>
                </a:solidFill>
                <a:latin typeface="Inter"/>
              </a:rPr>
              <a:t>Someone reads it and decides</a:t>
            </a:r>
          </a:p>
        </p:txBody>
      </p:sp>
      <p:sp>
        <p:nvSpPr>
          <p:cNvPr id="6" name="Rounded Rectangle 5"/>
          <p:cNvSpPr/>
          <p:nvPr/>
        </p:nvSpPr>
        <p:spPr>
          <a:xfrm>
            <a:off x="822960" y="2389225"/>
            <a:ext cx="10545775" cy="420624"/>
          </a:xfrm>
          <a:prstGeom prst="roundRect">
            <a:avLst>
              <a:gd name="adj" fmla="val 12000"/>
            </a:avLst>
          </a:prstGeom>
          <a:solidFill>
            <a:srgbClr val="FFFFFF"/>
          </a:solidFill>
          <a:ln w="25400">
            <a:solidFill>
              <a:srgbClr val="16A34A"/>
            </a:solidFill>
          </a:ln>
          <a:effectLst/>
        </p:spPr>
        <p:txBody>
          <a:bodyPr rtlCol="0" anchor="ctr"/>
          <a:lstStyle/>
          <a:p/>
        </p:txBody>
      </p:sp>
      <p:sp>
        <p:nvSpPr>
          <p:cNvPr id="7" name="TextBox 6"/>
          <p:cNvSpPr txBox="1"/>
          <p:nvPr/>
        </p:nvSpPr>
        <p:spPr>
          <a:xfrm>
            <a:off x="1051560" y="2471521"/>
            <a:ext cx="10088575" cy="292587"/>
          </a:xfrm>
          <a:prstGeom prst="rect">
            <a:avLst/>
          </a:prstGeom>
          <a:noFill/>
        </p:spPr>
        <p:txBody>
          <a:bodyPr wrap="square" anchor="t" lIns="0" rIns="0" tIns="0" bIns="0"/>
          <a:lstStyle/>
          <a:p>
            <a:pPr algn="l">
              <a:lnSpc>
                <a:spcPct val="112000"/>
              </a:lnSpc>
              <a:spcBef>
                <a:spcPts val="0"/>
              </a:spcBef>
            </a:pPr>
            <a:r>
              <a:rPr sz="1700" b="1" i="0">
                <a:solidFill>
                  <a:srgbClr val="16A34A"/>
                </a:solidFill>
                <a:latin typeface="Noto Sans Mono"/>
              </a:rPr>
              <a:t>git reset</a:t>
            </a:r>
            <a:r>
              <a:rPr sz="1700" b="1" i="0">
                <a:solidFill>
                  <a:srgbClr val="16A34A"/>
                </a:solidFill>
                <a:latin typeface="Inter"/>
              </a:rPr>
              <a:t> appears in the question or its accepted answer  ✓</a:t>
            </a:r>
          </a:p>
        </p:txBody>
      </p:sp>
      <p:sp>
        <p:nvSpPr>
          <p:cNvPr id="8" name="Rounded Rectangle 7"/>
          <p:cNvSpPr/>
          <p:nvPr/>
        </p:nvSpPr>
        <p:spPr>
          <a:xfrm>
            <a:off x="822960" y="2901289"/>
            <a:ext cx="10545775" cy="420624"/>
          </a:xfrm>
          <a:prstGeom prst="roundRect">
            <a:avLst>
              <a:gd name="adj" fmla="val 12000"/>
            </a:avLst>
          </a:prstGeom>
          <a:solidFill>
            <a:srgbClr val="FFFFFF"/>
          </a:solidFill>
          <a:ln w="12700">
            <a:solidFill>
              <a:srgbClr val="D9D9DE"/>
            </a:solidFill>
          </a:ln>
          <a:effectLst/>
        </p:spPr>
        <p:txBody>
          <a:bodyPr rtlCol="0" anchor="ctr"/>
          <a:lstStyle/>
          <a:p/>
        </p:txBody>
      </p:sp>
      <p:sp>
        <p:nvSpPr>
          <p:cNvPr id="9" name="TextBox 8"/>
          <p:cNvSpPr txBox="1"/>
          <p:nvPr/>
        </p:nvSpPr>
        <p:spPr>
          <a:xfrm>
            <a:off x="1051560" y="2983585"/>
            <a:ext cx="10088575" cy="292587"/>
          </a:xfrm>
          <a:prstGeom prst="rect">
            <a:avLst/>
          </a:prstGeom>
          <a:noFill/>
        </p:spPr>
        <p:txBody>
          <a:bodyPr wrap="square" anchor="t" lIns="0" rIns="0" tIns="0" bIns="0"/>
          <a:lstStyle/>
          <a:p>
            <a:pPr algn="l">
              <a:lnSpc>
                <a:spcPct val="112000"/>
              </a:lnSpc>
              <a:spcBef>
                <a:spcPts val="0"/>
              </a:spcBef>
            </a:pPr>
            <a:r>
              <a:rPr sz="1700" b="0" i="0">
                <a:solidFill>
                  <a:srgbClr val="111111"/>
                </a:solidFill>
                <a:latin typeface="Inter"/>
              </a:rPr>
              <a:t>The asker tags it “reset”</a:t>
            </a:r>
          </a:p>
        </p:txBody>
      </p:sp>
      <p:sp>
        <p:nvSpPr>
          <p:cNvPr id="10" name="TextBox 9"/>
          <p:cNvSpPr txBox="1"/>
          <p:nvPr/>
        </p:nvSpPr>
        <p:spPr>
          <a:xfrm>
            <a:off x="822960" y="3504793"/>
            <a:ext cx="8647535" cy="781018"/>
          </a:xfrm>
          <a:prstGeom prst="rect">
            <a:avLst/>
          </a:prstGeom>
          <a:noFill/>
        </p:spPr>
        <p:txBody>
          <a:bodyPr wrap="square" anchor="t" lIns="0" rIns="0" tIns="0" bIns="0"/>
          <a:lstStyle/>
          <a:p>
            <a:pPr algn="l">
              <a:lnSpc>
                <a:spcPct val="112000"/>
              </a:lnSpc>
              <a:spcBef>
                <a:spcPts val="0"/>
              </a:spcBef>
            </a:pPr>
            <a:r>
              <a:rPr sz="1900" b="0" i="0">
                <a:solidFill>
                  <a:srgbClr val="111111"/>
                </a:solidFill>
                <a:latin typeface="Inter"/>
              </a:rPr>
              <a:t>Even if </a:t>
            </a:r>
            <a:r>
              <a:rPr sz="1900" b="0" i="0">
                <a:solidFill>
                  <a:srgbClr val="111111"/>
                </a:solidFill>
                <a:latin typeface="Noto Sans Mono"/>
              </a:rPr>
              <a:t>git reset</a:t>
            </a:r>
            <a:r>
              <a:rPr sz="1900" b="0" i="0">
                <a:solidFill>
                  <a:srgbClr val="111111"/>
                </a:solidFill>
                <a:latin typeface="Inter"/>
              </a:rPr>
              <a:t> appears only in the accepted answer, it counts.</a:t>
            </a:r>
          </a:p>
          <a:p>
            <a:pPr algn="l">
              <a:lnSpc>
                <a:spcPct val="112000"/>
              </a:lnSpc>
              <a:spcBef>
                <a:spcPts val="1000"/>
              </a:spcBef>
            </a:pPr>
            <a:r>
              <a:rPr sz="1900" b="0" i="0">
                <a:solidFill>
                  <a:srgbClr val="111111"/>
                </a:solidFill>
                <a:latin typeface="Inter"/>
              </a:rPr>
              <a:t>Nobody reads the question to decide.</a:t>
            </a:r>
          </a:p>
        </p:txBody>
      </p:sp>
      <p:sp>
        <p:nvSpPr>
          <p:cNvPr id="11" name="TextBox 10"/>
          <p:cNvSpPr txBox="1"/>
          <p:nvPr/>
        </p:nvSpPr>
        <p:spPr>
          <a:xfrm>
            <a:off x="822960" y="6022158"/>
            <a:ext cx="10545775" cy="378642"/>
          </a:xfrm>
          <a:prstGeom prst="rect">
            <a:avLst/>
          </a:prstGeom>
          <a:noFill/>
        </p:spPr>
        <p:txBody>
          <a:bodyPr wrap="square" anchor="t" lIns="0" rIns="0" tIns="0" bIns="0"/>
          <a:lstStyle/>
          <a:p>
            <a:pPr algn="l">
              <a:lnSpc>
                <a:spcPct val="112000"/>
              </a:lnSpc>
              <a:spcBef>
                <a:spcPts val="0"/>
              </a:spcBef>
            </a:pPr>
            <a:r>
              <a:rPr sz="2200" b="0" i="1">
                <a:solidFill>
                  <a:srgbClr val="707078"/>
                </a:solidFill>
                <a:latin typeface="Inter"/>
              </a:rPr>
              <a:t>What could go wrong?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502920"/>
            <a:ext cx="10545775" cy="320040"/>
          </a:xfrm>
          <a:prstGeom prst="rect">
            <a:avLst/>
          </a:prstGeom>
          <a:noFill/>
        </p:spPr>
        <p:txBody>
          <a:bodyPr wrap="square" anchor="t" lIns="0" rIns="0" tIns="0" bIns="0"/>
          <a:lstStyle/>
          <a:p>
            <a:pPr algn="l">
              <a:lnSpc>
                <a:spcPct val="110000"/>
              </a:lnSpc>
            </a:pPr>
            <a:r>
              <a:rPr sz="1600" b="1">
                <a:solidFill>
                  <a:srgbClr val="8B3DFF"/>
                </a:solidFill>
                <a:latin typeface="Inter"/>
              </a:rPr>
              <a:t>1 · THE STUDY</a:t>
            </a:r>
          </a:p>
        </p:txBody>
      </p:sp>
      <p:sp>
        <p:nvSpPr>
          <p:cNvPr id="3" name="TextBox 2"/>
          <p:cNvSpPr txBox="1"/>
          <p:nvPr/>
        </p:nvSpPr>
        <p:spPr>
          <a:xfrm>
            <a:off x="822960" y="868680"/>
            <a:ext cx="10545775" cy="688441"/>
          </a:xfrm>
          <a:prstGeom prst="rect">
            <a:avLst/>
          </a:prstGeom>
          <a:noFill/>
        </p:spPr>
        <p:txBody>
          <a:bodyPr wrap="square" anchor="t" lIns="0" rIns="0" tIns="0" bIns="0"/>
          <a:lstStyle/>
          <a:p>
            <a:pPr algn="l">
              <a:lnSpc>
                <a:spcPct val="112000"/>
              </a:lnSpc>
              <a:spcBef>
                <a:spcPts val="0"/>
              </a:spcBef>
            </a:pPr>
            <a:r>
              <a:rPr sz="4000" b="1" i="0">
                <a:solidFill>
                  <a:srgbClr val="111111"/>
                </a:solidFill>
                <a:latin typeface="Inter"/>
              </a:rPr>
              <a:t>What they found</a:t>
            </a:r>
          </a:p>
        </p:txBody>
      </p:sp>
      <p:sp>
        <p:nvSpPr>
          <p:cNvPr id="4" name="Rectangle 3"/>
          <p:cNvSpPr/>
          <p:nvPr/>
        </p:nvSpPr>
        <p:spPr>
          <a:xfrm>
            <a:off x="822960" y="1831441"/>
            <a:ext cx="10545775" cy="9525"/>
          </a:xfrm>
          <a:prstGeom prst="rect">
            <a:avLst/>
          </a:prstGeom>
          <a:solidFill>
            <a:srgbClr val="D9D9DE"/>
          </a:solidFill>
          <a:ln>
            <a:noFill/>
          </a:ln>
        </p:spPr>
        <p:txBody>
          <a:bodyPr rtlCol="0" anchor="ctr"/>
          <a:lstStyle/>
          <a:p>
            <a:pPr algn="ctr"/>
          </a:p>
        </p:txBody>
      </p:sp>
      <p:sp>
        <p:nvSpPr>
          <p:cNvPr id="5" name="TextBox 4"/>
          <p:cNvSpPr txBox="1"/>
          <p:nvPr/>
        </p:nvSpPr>
        <p:spPr>
          <a:xfrm>
            <a:off x="914400" y="1922881"/>
            <a:ext cx="2377440" cy="344220"/>
          </a:xfrm>
          <a:prstGeom prst="rect">
            <a:avLst/>
          </a:prstGeom>
          <a:noFill/>
        </p:spPr>
        <p:txBody>
          <a:bodyPr wrap="square" anchor="t" lIns="0" rIns="0" tIns="0" bIns="0"/>
          <a:lstStyle/>
          <a:p>
            <a:pPr algn="l">
              <a:lnSpc>
                <a:spcPct val="112000"/>
              </a:lnSpc>
              <a:spcBef>
                <a:spcPts val="0"/>
              </a:spcBef>
            </a:pPr>
            <a:r>
              <a:rPr sz="2000" b="1" i="0">
                <a:solidFill>
                  <a:srgbClr val="111111"/>
                </a:solidFill>
                <a:latin typeface="Inter"/>
              </a:rPr>
              <a:t>How many</a:t>
            </a:r>
          </a:p>
        </p:txBody>
      </p:sp>
      <p:sp>
        <p:nvSpPr>
          <p:cNvPr id="6" name="TextBox 5"/>
          <p:cNvSpPr txBox="1"/>
          <p:nvPr/>
        </p:nvSpPr>
        <p:spPr>
          <a:xfrm>
            <a:off x="3474720" y="1922881"/>
            <a:ext cx="7802575" cy="344220"/>
          </a:xfrm>
          <a:prstGeom prst="rect">
            <a:avLst/>
          </a:prstGeom>
          <a:noFill/>
        </p:spPr>
        <p:txBody>
          <a:bodyPr wrap="square" anchor="t" lIns="0" rIns="0" tIns="0" bIns="0"/>
          <a:lstStyle/>
          <a:p>
            <a:pPr algn="l">
              <a:lnSpc>
                <a:spcPct val="112000"/>
              </a:lnSpc>
              <a:spcBef>
                <a:spcPts val="0"/>
              </a:spcBef>
            </a:pPr>
            <a:r>
              <a:rPr sz="2000" b="0" i="0">
                <a:solidFill>
                  <a:srgbClr val="111111"/>
                </a:solidFill>
                <a:latin typeface="Inter"/>
              </a:rPr>
              <a:t>80,370 questions: a steady 0.4% of Stack Overflow since 2010.</a:t>
            </a:r>
          </a:p>
        </p:txBody>
      </p:sp>
      <p:sp>
        <p:nvSpPr>
          <p:cNvPr id="7" name="Rectangle 6"/>
          <p:cNvSpPr/>
          <p:nvPr/>
        </p:nvSpPr>
        <p:spPr>
          <a:xfrm>
            <a:off x="822960" y="2358541"/>
            <a:ext cx="10545775" cy="9525"/>
          </a:xfrm>
          <a:prstGeom prst="rect">
            <a:avLst/>
          </a:prstGeom>
          <a:solidFill>
            <a:srgbClr val="D9D9DE"/>
          </a:solidFill>
          <a:ln>
            <a:noFill/>
          </a:ln>
        </p:spPr>
        <p:txBody>
          <a:bodyPr rtlCol="0" anchor="ctr"/>
          <a:lstStyle/>
          <a:p>
            <a:pPr algn="ctr"/>
          </a:p>
        </p:txBody>
      </p:sp>
      <p:sp>
        <p:nvSpPr>
          <p:cNvPr id="8" name="TextBox 7"/>
          <p:cNvSpPr txBox="1"/>
          <p:nvPr/>
        </p:nvSpPr>
        <p:spPr>
          <a:xfrm>
            <a:off x="914400" y="2449981"/>
            <a:ext cx="2377440" cy="344220"/>
          </a:xfrm>
          <a:prstGeom prst="rect">
            <a:avLst/>
          </a:prstGeom>
          <a:noFill/>
        </p:spPr>
        <p:txBody>
          <a:bodyPr wrap="square" anchor="t" lIns="0" rIns="0" tIns="0" bIns="0"/>
          <a:lstStyle/>
          <a:p>
            <a:pPr algn="l">
              <a:lnSpc>
                <a:spcPct val="112000"/>
              </a:lnSpc>
              <a:spcBef>
                <a:spcPts val="0"/>
              </a:spcBef>
            </a:pPr>
            <a:r>
              <a:rPr sz="2000" b="1" i="0">
                <a:solidFill>
                  <a:srgbClr val="111111"/>
                </a:solidFill>
                <a:latin typeface="Inter"/>
              </a:rPr>
              <a:t>Who asks</a:t>
            </a:r>
          </a:p>
        </p:txBody>
      </p:sp>
      <p:sp>
        <p:nvSpPr>
          <p:cNvPr id="9" name="TextBox 8"/>
          <p:cNvSpPr txBox="1"/>
          <p:nvPr/>
        </p:nvSpPr>
        <p:spPr>
          <a:xfrm>
            <a:off x="3474720" y="2449981"/>
            <a:ext cx="7802575" cy="688441"/>
          </a:xfrm>
          <a:prstGeom prst="rect">
            <a:avLst/>
          </a:prstGeom>
          <a:noFill/>
        </p:spPr>
        <p:txBody>
          <a:bodyPr wrap="square" anchor="t" lIns="0" rIns="0" tIns="0" bIns="0"/>
          <a:lstStyle/>
          <a:p>
            <a:pPr algn="l">
              <a:lnSpc>
                <a:spcPct val="112000"/>
              </a:lnSpc>
              <a:spcBef>
                <a:spcPts val="0"/>
              </a:spcBef>
            </a:pPr>
            <a:r>
              <a:rPr sz="2000" b="0" i="0">
                <a:solidFill>
                  <a:srgbClr val="111111"/>
                </a:solidFill>
                <a:latin typeface="Inter"/>
              </a:rPr>
              <a:t>Many long-time users: in 2020, 40% had joined Stack Overflow more than 5 years earlier.</a:t>
            </a:r>
          </a:p>
        </p:txBody>
      </p:sp>
      <p:sp>
        <p:nvSpPr>
          <p:cNvPr id="10" name="Rectangle 9"/>
          <p:cNvSpPr/>
          <p:nvPr/>
        </p:nvSpPr>
        <p:spPr>
          <a:xfrm>
            <a:off x="822960" y="3229862"/>
            <a:ext cx="10545775" cy="9525"/>
          </a:xfrm>
          <a:prstGeom prst="rect">
            <a:avLst/>
          </a:prstGeom>
          <a:solidFill>
            <a:srgbClr val="D9D9DE"/>
          </a:solidFill>
          <a:ln>
            <a:noFill/>
          </a:ln>
        </p:spPr>
        <p:txBody>
          <a:bodyPr rtlCol="0" anchor="ctr"/>
          <a:lstStyle/>
          <a:p>
            <a:pPr algn="ctr"/>
          </a:p>
        </p:txBody>
      </p:sp>
      <p:sp>
        <p:nvSpPr>
          <p:cNvPr id="11" name="TextBox 10"/>
          <p:cNvSpPr txBox="1"/>
          <p:nvPr/>
        </p:nvSpPr>
        <p:spPr>
          <a:xfrm>
            <a:off x="914400" y="3321302"/>
            <a:ext cx="2377440" cy="344220"/>
          </a:xfrm>
          <a:prstGeom prst="rect">
            <a:avLst/>
          </a:prstGeom>
          <a:noFill/>
        </p:spPr>
        <p:txBody>
          <a:bodyPr wrap="square" anchor="t" lIns="0" rIns="0" tIns="0" bIns="0"/>
          <a:lstStyle/>
          <a:p>
            <a:pPr algn="l">
              <a:lnSpc>
                <a:spcPct val="112000"/>
              </a:lnSpc>
              <a:spcBef>
                <a:spcPts val="0"/>
              </a:spcBef>
            </a:pPr>
            <a:r>
              <a:rPr sz="2000" b="1" i="0">
                <a:solidFill>
                  <a:srgbClr val="111111"/>
                </a:solidFill>
                <a:latin typeface="Inter"/>
              </a:rPr>
              <a:t>Most viewed</a:t>
            </a:r>
          </a:p>
        </p:txBody>
      </p:sp>
      <p:sp>
        <p:nvSpPr>
          <p:cNvPr id="12" name="TextBox 11"/>
          <p:cNvSpPr txBox="1"/>
          <p:nvPr/>
        </p:nvSpPr>
        <p:spPr>
          <a:xfrm>
            <a:off x="3474720" y="3321302"/>
            <a:ext cx="7802575" cy="344220"/>
          </a:xfrm>
          <a:prstGeom prst="rect">
            <a:avLst/>
          </a:prstGeom>
          <a:noFill/>
        </p:spPr>
        <p:txBody>
          <a:bodyPr wrap="square" anchor="t" lIns="0" rIns="0" tIns="0" bIns="0"/>
          <a:lstStyle/>
          <a:p>
            <a:pPr algn="l">
              <a:lnSpc>
                <a:spcPct val="112000"/>
              </a:lnSpc>
              <a:spcBef>
                <a:spcPts val="0"/>
              </a:spcBef>
            </a:pPr>
            <a:r>
              <a:rPr sz="2000" b="0" i="0">
                <a:solidFill>
                  <a:srgbClr val="111111"/>
                </a:solidFill>
                <a:latin typeface="Inter"/>
              </a:rPr>
              <a:t>Mostly undo: </a:t>
            </a:r>
            <a:r>
              <a:rPr sz="2000" b="0" i="0">
                <a:solidFill>
                  <a:srgbClr val="111111"/>
                </a:solidFill>
                <a:latin typeface="Noto Sans Mono"/>
              </a:rPr>
              <a:t>revert</a:t>
            </a:r>
            <a:r>
              <a:rPr sz="2000" b="0" i="0">
                <a:solidFill>
                  <a:srgbClr val="111111"/>
                </a:solidFill>
                <a:latin typeface="Inter"/>
              </a:rPr>
              <a:t>, </a:t>
            </a:r>
            <a:r>
              <a:rPr sz="2000" b="0" i="0">
                <a:solidFill>
                  <a:srgbClr val="111111"/>
                </a:solidFill>
                <a:latin typeface="Noto Sans Mono"/>
              </a:rPr>
              <a:t>reflog</a:t>
            </a:r>
            <a:r>
              <a:rPr sz="2000" b="0" i="0">
                <a:solidFill>
                  <a:srgbClr val="111111"/>
                </a:solidFill>
                <a:latin typeface="Inter"/>
              </a:rPr>
              <a:t>, </a:t>
            </a:r>
            <a:r>
              <a:rPr sz="2000" b="0" i="0">
                <a:solidFill>
                  <a:srgbClr val="111111"/>
                </a:solidFill>
                <a:latin typeface="Noto Sans Mono"/>
              </a:rPr>
              <a:t>stash</a:t>
            </a:r>
            <a:r>
              <a:rPr sz="2000" b="0" i="0">
                <a:solidFill>
                  <a:srgbClr val="111111"/>
                </a:solidFill>
                <a:latin typeface="Inter"/>
              </a:rPr>
              <a:t>, </a:t>
            </a:r>
            <a:r>
              <a:rPr sz="2000" b="0" i="0">
                <a:solidFill>
                  <a:srgbClr val="111111"/>
                </a:solidFill>
                <a:latin typeface="Noto Sans Mono"/>
              </a:rPr>
              <a:t>clean</a:t>
            </a:r>
            <a:r>
              <a:rPr sz="2000" b="0" i="0">
                <a:solidFill>
                  <a:srgbClr val="111111"/>
                </a:solidFill>
                <a:latin typeface="Inter"/>
              </a:rPr>
              <a:t>, </a:t>
            </a:r>
            <a:r>
              <a:rPr sz="2000" b="0" i="0">
                <a:solidFill>
                  <a:srgbClr val="111111"/>
                </a:solidFill>
                <a:latin typeface="Noto Sans Mono"/>
              </a:rPr>
              <a:t>reset</a:t>
            </a:r>
            <a:r>
              <a:rPr sz="2000" b="0" i="0">
                <a:solidFill>
                  <a:srgbClr val="111111"/>
                </a:solidFill>
                <a:latin typeface="Inter"/>
              </a:rPr>
              <a:t>.</a:t>
            </a:r>
          </a:p>
        </p:txBody>
      </p:sp>
      <p:sp>
        <p:nvSpPr>
          <p:cNvPr id="13" name="Rectangle 12"/>
          <p:cNvSpPr/>
          <p:nvPr/>
        </p:nvSpPr>
        <p:spPr>
          <a:xfrm>
            <a:off x="822960" y="3756962"/>
            <a:ext cx="10545775" cy="9525"/>
          </a:xfrm>
          <a:prstGeom prst="rect">
            <a:avLst/>
          </a:prstGeom>
          <a:solidFill>
            <a:srgbClr val="D9D9DE"/>
          </a:solidFill>
          <a:ln>
            <a:noFill/>
          </a:ln>
        </p:spPr>
        <p:txBody>
          <a:bodyPr rtlCol="0" anchor="ctr"/>
          <a:lstStyle/>
          <a:p>
            <a:pPr algn="ctr"/>
          </a:p>
        </p:txBody>
      </p:sp>
      <p:sp>
        <p:nvSpPr>
          <p:cNvPr id="14" name="TextBox 13"/>
          <p:cNvSpPr txBox="1"/>
          <p:nvPr/>
        </p:nvSpPr>
        <p:spPr>
          <a:xfrm>
            <a:off x="914400" y="3848402"/>
            <a:ext cx="2377440" cy="344220"/>
          </a:xfrm>
          <a:prstGeom prst="rect">
            <a:avLst/>
          </a:prstGeom>
          <a:noFill/>
        </p:spPr>
        <p:txBody>
          <a:bodyPr wrap="square" anchor="t" lIns="0" rIns="0" tIns="0" bIns="0"/>
          <a:lstStyle/>
          <a:p>
            <a:pPr algn="l">
              <a:lnSpc>
                <a:spcPct val="112000"/>
              </a:lnSpc>
              <a:spcBef>
                <a:spcPts val="0"/>
              </a:spcBef>
            </a:pPr>
            <a:r>
              <a:rPr sz="2000" b="1" i="0">
                <a:solidFill>
                  <a:srgbClr val="111111"/>
                </a:solidFill>
                <a:latin typeface="Inter"/>
              </a:rPr>
              <a:t>Hardest</a:t>
            </a:r>
          </a:p>
        </p:txBody>
      </p:sp>
      <p:sp>
        <p:nvSpPr>
          <p:cNvPr id="15" name="TextBox 14"/>
          <p:cNvSpPr txBox="1"/>
          <p:nvPr/>
        </p:nvSpPr>
        <p:spPr>
          <a:xfrm>
            <a:off x="3474720" y="3848402"/>
            <a:ext cx="7802575" cy="344220"/>
          </a:xfrm>
          <a:prstGeom prst="rect">
            <a:avLst/>
          </a:prstGeom>
          <a:noFill/>
        </p:spPr>
        <p:txBody>
          <a:bodyPr wrap="square" anchor="t" lIns="0" rIns="0" tIns="0" bIns="0"/>
          <a:lstStyle/>
          <a:p>
            <a:pPr algn="l">
              <a:lnSpc>
                <a:spcPct val="112000"/>
              </a:lnSpc>
              <a:spcBef>
                <a:spcPts val="0"/>
              </a:spcBef>
            </a:pPr>
            <a:r>
              <a:rPr sz="2000" b="0" i="0">
                <a:solidFill>
                  <a:srgbClr val="111111"/>
                </a:solidFill>
                <a:latin typeface="Inter"/>
              </a:rPr>
              <a:t>Rare commands; then </a:t>
            </a:r>
            <a:r>
              <a:rPr sz="2000" b="0" i="0">
                <a:solidFill>
                  <a:srgbClr val="111111"/>
                </a:solidFill>
                <a:latin typeface="Noto Sans Mono"/>
              </a:rPr>
              <a:t>credential</a:t>
            </a:r>
            <a:r>
              <a:rPr sz="2000" b="0" i="0">
                <a:solidFill>
                  <a:srgbClr val="111111"/>
                </a:solidFill>
                <a:latin typeface="Inter"/>
              </a:rPr>
              <a:t> and </a:t>
            </a:r>
            <a:r>
              <a:rPr sz="2000" b="0" i="0">
                <a:solidFill>
                  <a:srgbClr val="111111"/>
                </a:solidFill>
                <a:latin typeface="Noto Sans Mono"/>
              </a:rPr>
              <a:t>submodule</a:t>
            </a:r>
            <a:r>
              <a:rPr sz="2000" b="0" i="0">
                <a:solidFill>
                  <a:srgbClr val="111111"/>
                </a:solidFill>
                <a:latin typeface="Inter"/>
              </a:rPr>
              <a:t>.</a:t>
            </a:r>
          </a:p>
        </p:txBody>
      </p:sp>
      <p:sp>
        <p:nvSpPr>
          <p:cNvPr id="16" name="Rectangle 15"/>
          <p:cNvSpPr/>
          <p:nvPr/>
        </p:nvSpPr>
        <p:spPr>
          <a:xfrm>
            <a:off x="822960" y="4284062"/>
            <a:ext cx="10545775" cy="9525"/>
          </a:xfrm>
          <a:prstGeom prst="rect">
            <a:avLst/>
          </a:prstGeom>
          <a:solidFill>
            <a:srgbClr val="D9D9DE"/>
          </a:solidFill>
          <a:ln>
            <a:noFill/>
          </a:ln>
        </p:spPr>
        <p:txBody>
          <a:bodyPr rtlCol="0" anchor="ctr"/>
          <a:lstStyle/>
          <a:p>
            <a:pPr algn="ctr"/>
          </a:p>
        </p:txBody>
      </p:sp>
      <p:sp>
        <p:nvSpPr>
          <p:cNvPr id="17" name="TextBox 16"/>
          <p:cNvSpPr txBox="1"/>
          <p:nvPr/>
        </p:nvSpPr>
        <p:spPr>
          <a:xfrm>
            <a:off x="914400" y="4375502"/>
            <a:ext cx="2377440" cy="344220"/>
          </a:xfrm>
          <a:prstGeom prst="rect">
            <a:avLst/>
          </a:prstGeom>
          <a:noFill/>
        </p:spPr>
        <p:txBody>
          <a:bodyPr wrap="square" anchor="t" lIns="0" rIns="0" tIns="0" bIns="0"/>
          <a:lstStyle/>
          <a:p>
            <a:pPr algn="l">
              <a:lnSpc>
                <a:spcPct val="112000"/>
              </a:lnSpc>
              <a:spcBef>
                <a:spcPts val="0"/>
              </a:spcBef>
            </a:pPr>
            <a:r>
              <a:rPr sz="2000" b="1" i="0">
                <a:solidFill>
                  <a:srgbClr val="111111"/>
                </a:solidFill>
                <a:latin typeface="Inter"/>
              </a:rPr>
              <a:t>How people learn</a:t>
            </a:r>
          </a:p>
        </p:txBody>
      </p:sp>
      <p:sp>
        <p:nvSpPr>
          <p:cNvPr id="18" name="TextBox 17"/>
          <p:cNvSpPr txBox="1"/>
          <p:nvPr/>
        </p:nvSpPr>
        <p:spPr>
          <a:xfrm>
            <a:off x="3474720" y="4375502"/>
            <a:ext cx="7802575" cy="344220"/>
          </a:xfrm>
          <a:prstGeom prst="rect">
            <a:avLst/>
          </a:prstGeom>
          <a:noFill/>
        </p:spPr>
        <p:txBody>
          <a:bodyPr wrap="square" anchor="t" lIns="0" rIns="0" tIns="0" bIns="0"/>
          <a:lstStyle/>
          <a:p>
            <a:pPr algn="l">
              <a:lnSpc>
                <a:spcPct val="112000"/>
              </a:lnSpc>
              <a:spcBef>
                <a:spcPts val="0"/>
              </a:spcBef>
            </a:pPr>
            <a:r>
              <a:rPr sz="2000" b="0" i="0">
                <a:solidFill>
                  <a:srgbClr val="111111"/>
                </a:solidFill>
                <a:latin typeface="Inter"/>
              </a:rPr>
              <a:t>Mostly on their own: 81.7% of ticked answers.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502920"/>
            <a:ext cx="10545775" cy="320040"/>
          </a:xfrm>
          <a:prstGeom prst="rect">
            <a:avLst/>
          </a:prstGeom>
          <a:noFill/>
        </p:spPr>
        <p:txBody>
          <a:bodyPr wrap="square" anchor="t" lIns="0" rIns="0" tIns="0" bIns="0"/>
          <a:lstStyle/>
          <a:p>
            <a:pPr algn="l">
              <a:lnSpc>
                <a:spcPct val="110000"/>
              </a:lnSpc>
            </a:pPr>
            <a:r>
              <a:rPr sz="1600" b="1">
                <a:solidFill>
                  <a:srgbClr val="8B3DFF"/>
                </a:solidFill>
                <a:latin typeface="Inter"/>
              </a:rPr>
              <a:t>1 · THE STUDY</a:t>
            </a:r>
          </a:p>
        </p:txBody>
      </p:sp>
      <p:sp>
        <p:nvSpPr>
          <p:cNvPr id="3" name="TextBox 2"/>
          <p:cNvSpPr txBox="1"/>
          <p:nvPr/>
        </p:nvSpPr>
        <p:spPr>
          <a:xfrm>
            <a:off x="822960" y="868680"/>
            <a:ext cx="10545775" cy="688441"/>
          </a:xfrm>
          <a:prstGeom prst="rect">
            <a:avLst/>
          </a:prstGeom>
          <a:noFill/>
        </p:spPr>
        <p:txBody>
          <a:bodyPr wrap="square" anchor="t" lIns="0" rIns="0" tIns="0" bIns="0"/>
          <a:lstStyle/>
          <a:p>
            <a:pPr algn="l">
              <a:lnSpc>
                <a:spcPct val="112000"/>
              </a:lnSpc>
              <a:spcBef>
                <a:spcPts val="0"/>
              </a:spcBef>
            </a:pPr>
            <a:r>
              <a:rPr sz="4000" b="1" i="0">
                <a:solidFill>
                  <a:srgbClr val="111111"/>
                </a:solidFill>
                <a:latin typeface="Inter"/>
              </a:rPr>
              <a:t>You and the paper’s 92</a:t>
            </a:r>
          </a:p>
        </p:txBody>
      </p:sp>
      <p:sp>
        <p:nvSpPr>
          <p:cNvPr id="4" name="TextBox 3"/>
          <p:cNvSpPr txBox="1"/>
          <p:nvPr/>
        </p:nvSpPr>
        <p:spPr>
          <a:xfrm>
            <a:off x="822960" y="1831441"/>
            <a:ext cx="8647535" cy="746596"/>
          </a:xfrm>
          <a:prstGeom prst="rect">
            <a:avLst/>
          </a:prstGeom>
          <a:noFill/>
        </p:spPr>
        <p:txBody>
          <a:bodyPr wrap="square" anchor="t" lIns="0" rIns="0" tIns="0" bIns="0"/>
          <a:lstStyle/>
          <a:p>
            <a:pPr algn="l">
              <a:lnSpc>
                <a:spcPct val="112000"/>
              </a:lnSpc>
              <a:spcBef>
                <a:spcPts val="0"/>
              </a:spcBef>
            </a:pPr>
            <a:r>
              <a:rPr sz="1800" b="0" i="0">
                <a:solidFill>
                  <a:srgbClr val="111111"/>
                </a:solidFill>
                <a:latin typeface="Inter"/>
              </a:rPr>
              <a:t>The 92 were found mostly through Stack Overflow.</a:t>
            </a:r>
          </a:p>
          <a:p>
            <a:pPr algn="l">
              <a:lnSpc>
                <a:spcPct val="112000"/>
              </a:lnSpc>
              <a:spcBef>
                <a:spcPts val="1000"/>
              </a:spcBef>
            </a:pPr>
            <a:r>
              <a:rPr sz="1800" b="0" i="0">
                <a:solidFill>
                  <a:srgbClr val="111111"/>
                </a:solidFill>
                <a:latin typeface="Inter"/>
              </a:rPr>
              <a:t>Self-ratings and memories are shaky data.</a:t>
            </a:r>
          </a:p>
        </p:txBody>
      </p:sp>
      <p:sp>
        <p:nvSpPr>
          <p:cNvPr id="5" name="TextBox 4"/>
          <p:cNvSpPr txBox="1"/>
          <p:nvPr/>
        </p:nvSpPr>
        <p:spPr>
          <a:xfrm>
            <a:off x="822960" y="2806637"/>
            <a:ext cx="4998567" cy="274320"/>
          </a:xfrm>
          <a:prstGeom prst="rect">
            <a:avLst/>
          </a:prstGeom>
          <a:noFill/>
        </p:spPr>
        <p:txBody>
          <a:bodyPr wrap="square" anchor="t" lIns="0" rIns="0" tIns="0" bIns="0"/>
          <a:lstStyle/>
          <a:p>
            <a:pPr algn="l">
              <a:lnSpc>
                <a:spcPct val="110000"/>
              </a:lnSpc>
            </a:pPr>
            <a:r>
              <a:rPr sz="1200" b="1">
                <a:solidFill>
                  <a:srgbClr val="707078"/>
                </a:solidFill>
                <a:latin typeface="Inter"/>
              </a:rPr>
              <a:t>THE PAPER’S 92: HOW THEY LEARNED (SHARE OF PEOPLE)</a:t>
            </a:r>
          </a:p>
        </p:txBody>
      </p:sp>
      <p:sp>
        <p:nvSpPr>
          <p:cNvPr id="6" name="TextBox 5"/>
          <p:cNvSpPr txBox="1"/>
          <p:nvPr/>
        </p:nvSpPr>
        <p:spPr>
          <a:xfrm>
            <a:off x="822960" y="3154109"/>
            <a:ext cx="1920240" cy="258165"/>
          </a:xfrm>
          <a:prstGeom prst="rect">
            <a:avLst/>
          </a:prstGeom>
          <a:noFill/>
        </p:spPr>
        <p:txBody>
          <a:bodyPr wrap="square" anchor="t" lIns="0" rIns="0" tIns="0" bIns="0"/>
          <a:lstStyle/>
          <a:p>
            <a:pPr algn="l">
              <a:lnSpc>
                <a:spcPct val="112000"/>
              </a:lnSpc>
              <a:spcBef>
                <a:spcPts val="0"/>
              </a:spcBef>
            </a:pPr>
            <a:r>
              <a:rPr sz="1500" b="0" i="0">
                <a:solidFill>
                  <a:srgbClr val="111111"/>
                </a:solidFill>
                <a:latin typeface="Inter"/>
              </a:rPr>
              <a:t>In class</a:t>
            </a:r>
          </a:p>
        </p:txBody>
      </p:sp>
      <p:sp>
        <p:nvSpPr>
          <p:cNvPr id="7" name="Rounded Rectangle 6"/>
          <p:cNvSpPr/>
          <p:nvPr/>
        </p:nvSpPr>
        <p:spPr>
          <a:xfrm>
            <a:off x="2743200" y="3227261"/>
            <a:ext cx="2255367" cy="182880"/>
          </a:xfrm>
          <a:prstGeom prst="roundRect">
            <a:avLst>
              <a:gd name="adj" fmla="val 50000"/>
            </a:avLst>
          </a:prstGeom>
          <a:solidFill>
            <a:srgbClr val="F6F6F8"/>
          </a:solidFill>
          <a:ln>
            <a:noFill/>
          </a:ln>
          <a:effectLst/>
        </p:spPr>
        <p:txBody>
          <a:bodyPr rtlCol="0" anchor="ctr"/>
          <a:lstStyle/>
          <a:p/>
        </p:txBody>
      </p:sp>
      <p:sp>
        <p:nvSpPr>
          <p:cNvPr id="8" name="Rounded Rectangle 7"/>
          <p:cNvSpPr/>
          <p:nvPr/>
        </p:nvSpPr>
        <p:spPr>
          <a:xfrm>
            <a:off x="2743200" y="3227261"/>
            <a:ext cx="196118" cy="182880"/>
          </a:xfrm>
          <a:prstGeom prst="roundRect">
            <a:avLst>
              <a:gd name="adj" fmla="val 50000"/>
            </a:avLst>
          </a:prstGeom>
          <a:solidFill>
            <a:srgbClr val="B9B9C2"/>
          </a:solidFill>
          <a:ln>
            <a:noFill/>
          </a:ln>
          <a:effectLst/>
        </p:spPr>
        <p:txBody>
          <a:bodyPr rtlCol="0" anchor="ctr"/>
          <a:lstStyle/>
          <a:p/>
        </p:txBody>
      </p:sp>
      <p:sp>
        <p:nvSpPr>
          <p:cNvPr id="9" name="TextBox 8"/>
          <p:cNvSpPr txBox="1"/>
          <p:nvPr/>
        </p:nvSpPr>
        <p:spPr>
          <a:xfrm>
            <a:off x="5090007" y="3154109"/>
            <a:ext cx="640080" cy="258165"/>
          </a:xfrm>
          <a:prstGeom prst="rect">
            <a:avLst/>
          </a:prstGeom>
          <a:noFill/>
        </p:spPr>
        <p:txBody>
          <a:bodyPr wrap="square" anchor="t" lIns="0" rIns="0" tIns="0" bIns="0"/>
          <a:lstStyle/>
          <a:p>
            <a:pPr algn="r">
              <a:lnSpc>
                <a:spcPct val="112000"/>
              </a:lnSpc>
              <a:spcBef>
                <a:spcPts val="0"/>
              </a:spcBef>
            </a:pPr>
            <a:r>
              <a:rPr sz="1500" b="0" i="0">
                <a:solidFill>
                  <a:srgbClr val="111111"/>
                </a:solidFill>
                <a:latin typeface="Inter"/>
              </a:rPr>
              <a:t>9%</a:t>
            </a:r>
          </a:p>
        </p:txBody>
      </p:sp>
      <p:sp>
        <p:nvSpPr>
          <p:cNvPr id="10" name="TextBox 9"/>
          <p:cNvSpPr txBox="1"/>
          <p:nvPr/>
        </p:nvSpPr>
        <p:spPr>
          <a:xfrm>
            <a:off x="822960" y="3483293"/>
            <a:ext cx="1920240" cy="258165"/>
          </a:xfrm>
          <a:prstGeom prst="rect">
            <a:avLst/>
          </a:prstGeom>
          <a:noFill/>
        </p:spPr>
        <p:txBody>
          <a:bodyPr wrap="square" anchor="t" lIns="0" rIns="0" tIns="0" bIns="0"/>
          <a:lstStyle/>
          <a:p>
            <a:pPr algn="l">
              <a:lnSpc>
                <a:spcPct val="112000"/>
              </a:lnSpc>
              <a:spcBef>
                <a:spcPts val="0"/>
              </a:spcBef>
            </a:pPr>
            <a:r>
              <a:rPr sz="1500" b="0" i="0">
                <a:solidFill>
                  <a:srgbClr val="111111"/>
                </a:solidFill>
                <a:latin typeface="Inter"/>
              </a:rPr>
              <a:t>Online courses</a:t>
            </a:r>
          </a:p>
        </p:txBody>
      </p:sp>
      <p:sp>
        <p:nvSpPr>
          <p:cNvPr id="11" name="Rounded Rectangle 10"/>
          <p:cNvSpPr/>
          <p:nvPr/>
        </p:nvSpPr>
        <p:spPr>
          <a:xfrm>
            <a:off x="2743200" y="3556445"/>
            <a:ext cx="2255367" cy="182880"/>
          </a:xfrm>
          <a:prstGeom prst="roundRect">
            <a:avLst>
              <a:gd name="adj" fmla="val 50000"/>
            </a:avLst>
          </a:prstGeom>
          <a:solidFill>
            <a:srgbClr val="F6F6F8"/>
          </a:solidFill>
          <a:ln>
            <a:noFill/>
          </a:ln>
          <a:effectLst/>
        </p:spPr>
        <p:txBody>
          <a:bodyPr rtlCol="0" anchor="ctr"/>
          <a:lstStyle/>
          <a:p/>
        </p:txBody>
      </p:sp>
      <p:sp>
        <p:nvSpPr>
          <p:cNvPr id="12" name="Rounded Rectangle 11"/>
          <p:cNvSpPr/>
          <p:nvPr/>
        </p:nvSpPr>
        <p:spPr>
          <a:xfrm>
            <a:off x="2743200" y="3556445"/>
            <a:ext cx="245148" cy="182880"/>
          </a:xfrm>
          <a:prstGeom prst="roundRect">
            <a:avLst>
              <a:gd name="adj" fmla="val 50000"/>
            </a:avLst>
          </a:prstGeom>
          <a:solidFill>
            <a:srgbClr val="B9B9C2"/>
          </a:solidFill>
          <a:ln>
            <a:noFill/>
          </a:ln>
          <a:effectLst/>
        </p:spPr>
        <p:txBody>
          <a:bodyPr rtlCol="0" anchor="ctr"/>
          <a:lstStyle/>
          <a:p/>
        </p:txBody>
      </p:sp>
      <p:sp>
        <p:nvSpPr>
          <p:cNvPr id="13" name="TextBox 12"/>
          <p:cNvSpPr txBox="1"/>
          <p:nvPr/>
        </p:nvSpPr>
        <p:spPr>
          <a:xfrm>
            <a:off x="5090007" y="3483293"/>
            <a:ext cx="640080" cy="258165"/>
          </a:xfrm>
          <a:prstGeom prst="rect">
            <a:avLst/>
          </a:prstGeom>
          <a:noFill/>
        </p:spPr>
        <p:txBody>
          <a:bodyPr wrap="square" anchor="t" lIns="0" rIns="0" tIns="0" bIns="0"/>
          <a:lstStyle/>
          <a:p>
            <a:pPr algn="r">
              <a:lnSpc>
                <a:spcPct val="112000"/>
              </a:lnSpc>
              <a:spcBef>
                <a:spcPts val="0"/>
              </a:spcBef>
            </a:pPr>
            <a:r>
              <a:rPr sz="1500" b="0" i="0">
                <a:solidFill>
                  <a:srgbClr val="111111"/>
                </a:solidFill>
                <a:latin typeface="Inter"/>
              </a:rPr>
              <a:t>11%</a:t>
            </a:r>
          </a:p>
        </p:txBody>
      </p:sp>
      <p:sp>
        <p:nvSpPr>
          <p:cNvPr id="14" name="TextBox 13"/>
          <p:cNvSpPr txBox="1"/>
          <p:nvPr/>
        </p:nvSpPr>
        <p:spPr>
          <a:xfrm>
            <a:off x="822960" y="3812477"/>
            <a:ext cx="1920240" cy="258165"/>
          </a:xfrm>
          <a:prstGeom prst="rect">
            <a:avLst/>
          </a:prstGeom>
          <a:noFill/>
        </p:spPr>
        <p:txBody>
          <a:bodyPr wrap="square" anchor="t" lIns="0" rIns="0" tIns="0" bIns="0"/>
          <a:lstStyle/>
          <a:p>
            <a:pPr algn="l">
              <a:lnSpc>
                <a:spcPct val="112000"/>
              </a:lnSpc>
              <a:spcBef>
                <a:spcPts val="0"/>
              </a:spcBef>
            </a:pPr>
            <a:r>
              <a:rPr sz="1500" b="0" i="0">
                <a:solidFill>
                  <a:srgbClr val="111111"/>
                </a:solidFill>
                <a:latin typeface="Inter"/>
              </a:rPr>
              <a:t>Peers or seniors</a:t>
            </a:r>
          </a:p>
        </p:txBody>
      </p:sp>
      <p:sp>
        <p:nvSpPr>
          <p:cNvPr id="15" name="Rounded Rectangle 14"/>
          <p:cNvSpPr/>
          <p:nvPr/>
        </p:nvSpPr>
        <p:spPr>
          <a:xfrm>
            <a:off x="2743200" y="3885629"/>
            <a:ext cx="2255367" cy="182880"/>
          </a:xfrm>
          <a:prstGeom prst="roundRect">
            <a:avLst>
              <a:gd name="adj" fmla="val 50000"/>
            </a:avLst>
          </a:prstGeom>
          <a:solidFill>
            <a:srgbClr val="F6F6F8"/>
          </a:solidFill>
          <a:ln>
            <a:noFill/>
          </a:ln>
          <a:effectLst/>
        </p:spPr>
        <p:txBody>
          <a:bodyPr rtlCol="0" anchor="ctr"/>
          <a:lstStyle/>
          <a:p/>
        </p:txBody>
      </p:sp>
      <p:sp>
        <p:nvSpPr>
          <p:cNvPr id="16" name="Rounded Rectangle 15"/>
          <p:cNvSpPr/>
          <p:nvPr/>
        </p:nvSpPr>
        <p:spPr>
          <a:xfrm>
            <a:off x="2743200" y="3885629"/>
            <a:ext cx="367722" cy="182880"/>
          </a:xfrm>
          <a:prstGeom prst="roundRect">
            <a:avLst>
              <a:gd name="adj" fmla="val 50000"/>
            </a:avLst>
          </a:prstGeom>
          <a:solidFill>
            <a:srgbClr val="B9B9C2"/>
          </a:solidFill>
          <a:ln>
            <a:noFill/>
          </a:ln>
          <a:effectLst/>
        </p:spPr>
        <p:txBody>
          <a:bodyPr rtlCol="0" anchor="ctr"/>
          <a:lstStyle/>
          <a:p/>
        </p:txBody>
      </p:sp>
      <p:sp>
        <p:nvSpPr>
          <p:cNvPr id="17" name="TextBox 16"/>
          <p:cNvSpPr txBox="1"/>
          <p:nvPr/>
        </p:nvSpPr>
        <p:spPr>
          <a:xfrm>
            <a:off x="5090007" y="3812477"/>
            <a:ext cx="640080" cy="258165"/>
          </a:xfrm>
          <a:prstGeom prst="rect">
            <a:avLst/>
          </a:prstGeom>
          <a:noFill/>
        </p:spPr>
        <p:txBody>
          <a:bodyPr wrap="square" anchor="t" lIns="0" rIns="0" tIns="0" bIns="0"/>
          <a:lstStyle/>
          <a:p>
            <a:pPr algn="r">
              <a:lnSpc>
                <a:spcPct val="112000"/>
              </a:lnSpc>
              <a:spcBef>
                <a:spcPts val="0"/>
              </a:spcBef>
            </a:pPr>
            <a:r>
              <a:rPr sz="1500" b="0" i="0">
                <a:solidFill>
                  <a:srgbClr val="111111"/>
                </a:solidFill>
                <a:latin typeface="Inter"/>
              </a:rPr>
              <a:t>16%</a:t>
            </a:r>
          </a:p>
        </p:txBody>
      </p:sp>
      <p:sp>
        <p:nvSpPr>
          <p:cNvPr id="18" name="TextBox 17"/>
          <p:cNvSpPr txBox="1"/>
          <p:nvPr/>
        </p:nvSpPr>
        <p:spPr>
          <a:xfrm>
            <a:off x="822960" y="4141661"/>
            <a:ext cx="1920240" cy="258165"/>
          </a:xfrm>
          <a:prstGeom prst="rect">
            <a:avLst/>
          </a:prstGeom>
          <a:noFill/>
        </p:spPr>
        <p:txBody>
          <a:bodyPr wrap="square" anchor="t" lIns="0" rIns="0" tIns="0" bIns="0"/>
          <a:lstStyle/>
          <a:p>
            <a:pPr algn="l">
              <a:lnSpc>
                <a:spcPct val="112000"/>
              </a:lnSpc>
              <a:spcBef>
                <a:spcPts val="0"/>
              </a:spcBef>
            </a:pPr>
            <a:r>
              <a:rPr sz="1500" b="0" i="0">
                <a:solidFill>
                  <a:srgbClr val="111111"/>
                </a:solidFill>
                <a:latin typeface="Inter"/>
              </a:rPr>
              <a:t>Documentation</a:t>
            </a:r>
          </a:p>
        </p:txBody>
      </p:sp>
      <p:sp>
        <p:nvSpPr>
          <p:cNvPr id="19" name="Rounded Rectangle 18"/>
          <p:cNvSpPr/>
          <p:nvPr/>
        </p:nvSpPr>
        <p:spPr>
          <a:xfrm>
            <a:off x="2743200" y="4214813"/>
            <a:ext cx="2255367" cy="182880"/>
          </a:xfrm>
          <a:prstGeom prst="roundRect">
            <a:avLst>
              <a:gd name="adj" fmla="val 50000"/>
            </a:avLst>
          </a:prstGeom>
          <a:solidFill>
            <a:srgbClr val="F6F6F8"/>
          </a:solidFill>
          <a:ln>
            <a:noFill/>
          </a:ln>
          <a:effectLst/>
        </p:spPr>
        <p:txBody>
          <a:bodyPr rtlCol="0" anchor="ctr"/>
          <a:lstStyle/>
          <a:p/>
        </p:txBody>
      </p:sp>
      <p:sp>
        <p:nvSpPr>
          <p:cNvPr id="20" name="Rounded Rectangle 19"/>
          <p:cNvSpPr/>
          <p:nvPr/>
        </p:nvSpPr>
        <p:spPr>
          <a:xfrm>
            <a:off x="2743200" y="4214813"/>
            <a:ext cx="1863129" cy="182880"/>
          </a:xfrm>
          <a:prstGeom prst="roundRect">
            <a:avLst>
              <a:gd name="adj" fmla="val 50000"/>
            </a:avLst>
          </a:prstGeom>
          <a:solidFill>
            <a:srgbClr val="B9B9C2"/>
          </a:solidFill>
          <a:ln>
            <a:noFill/>
          </a:ln>
          <a:effectLst/>
        </p:spPr>
        <p:txBody>
          <a:bodyPr rtlCol="0" anchor="ctr"/>
          <a:lstStyle/>
          <a:p/>
        </p:txBody>
      </p:sp>
      <p:sp>
        <p:nvSpPr>
          <p:cNvPr id="21" name="TextBox 20"/>
          <p:cNvSpPr txBox="1"/>
          <p:nvPr/>
        </p:nvSpPr>
        <p:spPr>
          <a:xfrm>
            <a:off x="5090007" y="4141661"/>
            <a:ext cx="640080" cy="258165"/>
          </a:xfrm>
          <a:prstGeom prst="rect">
            <a:avLst/>
          </a:prstGeom>
          <a:noFill/>
        </p:spPr>
        <p:txBody>
          <a:bodyPr wrap="square" anchor="t" lIns="0" rIns="0" tIns="0" bIns="0"/>
          <a:lstStyle/>
          <a:p>
            <a:pPr algn="r">
              <a:lnSpc>
                <a:spcPct val="112000"/>
              </a:lnSpc>
              <a:spcBef>
                <a:spcPts val="0"/>
              </a:spcBef>
            </a:pPr>
            <a:r>
              <a:rPr sz="1500" b="0" i="0">
                <a:solidFill>
                  <a:srgbClr val="111111"/>
                </a:solidFill>
                <a:latin typeface="Inter"/>
              </a:rPr>
              <a:t>83%</a:t>
            </a:r>
          </a:p>
        </p:txBody>
      </p:sp>
      <p:sp>
        <p:nvSpPr>
          <p:cNvPr id="22" name="TextBox 21"/>
          <p:cNvSpPr txBox="1"/>
          <p:nvPr/>
        </p:nvSpPr>
        <p:spPr>
          <a:xfrm>
            <a:off x="822960" y="4470845"/>
            <a:ext cx="1920240" cy="258165"/>
          </a:xfrm>
          <a:prstGeom prst="rect">
            <a:avLst/>
          </a:prstGeom>
          <a:noFill/>
        </p:spPr>
        <p:txBody>
          <a:bodyPr wrap="square" anchor="t" lIns="0" rIns="0" tIns="0" bIns="0"/>
          <a:lstStyle/>
          <a:p>
            <a:pPr algn="l">
              <a:lnSpc>
                <a:spcPct val="112000"/>
              </a:lnSpc>
              <a:spcBef>
                <a:spcPts val="0"/>
              </a:spcBef>
            </a:pPr>
            <a:r>
              <a:rPr sz="1500" b="0" i="0">
                <a:solidFill>
                  <a:srgbClr val="111111"/>
                </a:solidFill>
                <a:latin typeface="Inter"/>
              </a:rPr>
              <a:t>Internet</a:t>
            </a:r>
          </a:p>
        </p:txBody>
      </p:sp>
      <p:sp>
        <p:nvSpPr>
          <p:cNvPr id="23" name="Rounded Rectangle 22"/>
          <p:cNvSpPr/>
          <p:nvPr/>
        </p:nvSpPr>
        <p:spPr>
          <a:xfrm>
            <a:off x="2743200" y="4543997"/>
            <a:ext cx="2255367" cy="182880"/>
          </a:xfrm>
          <a:prstGeom prst="roundRect">
            <a:avLst>
              <a:gd name="adj" fmla="val 50000"/>
            </a:avLst>
          </a:prstGeom>
          <a:solidFill>
            <a:srgbClr val="F6F6F8"/>
          </a:solidFill>
          <a:ln>
            <a:noFill/>
          </a:ln>
          <a:effectLst/>
        </p:spPr>
        <p:txBody>
          <a:bodyPr rtlCol="0" anchor="ctr"/>
          <a:lstStyle/>
          <a:p/>
        </p:txBody>
      </p:sp>
      <p:sp>
        <p:nvSpPr>
          <p:cNvPr id="24" name="Rounded Rectangle 23"/>
          <p:cNvSpPr/>
          <p:nvPr/>
        </p:nvSpPr>
        <p:spPr>
          <a:xfrm>
            <a:off x="2743200" y="4543997"/>
            <a:ext cx="2083762" cy="182880"/>
          </a:xfrm>
          <a:prstGeom prst="roundRect">
            <a:avLst>
              <a:gd name="adj" fmla="val 50000"/>
            </a:avLst>
          </a:prstGeom>
          <a:solidFill>
            <a:srgbClr val="B9B9C2"/>
          </a:solidFill>
          <a:ln>
            <a:noFill/>
          </a:ln>
          <a:effectLst/>
        </p:spPr>
        <p:txBody>
          <a:bodyPr rtlCol="0" anchor="ctr"/>
          <a:lstStyle/>
          <a:p/>
        </p:txBody>
      </p:sp>
      <p:sp>
        <p:nvSpPr>
          <p:cNvPr id="25" name="TextBox 24"/>
          <p:cNvSpPr txBox="1"/>
          <p:nvPr/>
        </p:nvSpPr>
        <p:spPr>
          <a:xfrm>
            <a:off x="5090007" y="4470845"/>
            <a:ext cx="640080" cy="258165"/>
          </a:xfrm>
          <a:prstGeom prst="rect">
            <a:avLst/>
          </a:prstGeom>
          <a:noFill/>
        </p:spPr>
        <p:txBody>
          <a:bodyPr wrap="square" anchor="t" lIns="0" rIns="0" tIns="0" bIns="0"/>
          <a:lstStyle/>
          <a:p>
            <a:pPr algn="r">
              <a:lnSpc>
                <a:spcPct val="112000"/>
              </a:lnSpc>
              <a:spcBef>
                <a:spcPts val="0"/>
              </a:spcBef>
            </a:pPr>
            <a:r>
              <a:rPr sz="1500" b="0" i="0">
                <a:solidFill>
                  <a:srgbClr val="111111"/>
                </a:solidFill>
                <a:latin typeface="Inter"/>
              </a:rPr>
              <a:t>92%</a:t>
            </a:r>
          </a:p>
        </p:txBody>
      </p:sp>
      <p:sp>
        <p:nvSpPr>
          <p:cNvPr id="26" name="TextBox 25"/>
          <p:cNvSpPr txBox="1"/>
          <p:nvPr/>
        </p:nvSpPr>
        <p:spPr>
          <a:xfrm>
            <a:off x="822960" y="4800029"/>
            <a:ext cx="1920240" cy="258165"/>
          </a:xfrm>
          <a:prstGeom prst="rect">
            <a:avLst/>
          </a:prstGeom>
          <a:noFill/>
        </p:spPr>
        <p:txBody>
          <a:bodyPr wrap="square" anchor="t" lIns="0" rIns="0" tIns="0" bIns="0"/>
          <a:lstStyle/>
          <a:p>
            <a:pPr algn="l">
              <a:lnSpc>
                <a:spcPct val="112000"/>
              </a:lnSpc>
              <a:spcBef>
                <a:spcPts val="0"/>
              </a:spcBef>
            </a:pPr>
            <a:r>
              <a:rPr sz="1500" b="0" i="0">
                <a:solidFill>
                  <a:srgbClr val="111111"/>
                </a:solidFill>
                <a:latin typeface="Inter"/>
              </a:rPr>
              <a:t>Other</a:t>
            </a:r>
          </a:p>
        </p:txBody>
      </p:sp>
      <p:sp>
        <p:nvSpPr>
          <p:cNvPr id="27" name="Rounded Rectangle 26"/>
          <p:cNvSpPr/>
          <p:nvPr/>
        </p:nvSpPr>
        <p:spPr>
          <a:xfrm>
            <a:off x="2743200" y="4873181"/>
            <a:ext cx="2255367" cy="182880"/>
          </a:xfrm>
          <a:prstGeom prst="roundRect">
            <a:avLst>
              <a:gd name="adj" fmla="val 50000"/>
            </a:avLst>
          </a:prstGeom>
          <a:solidFill>
            <a:srgbClr val="F6F6F8"/>
          </a:solidFill>
          <a:ln>
            <a:noFill/>
          </a:ln>
          <a:effectLst/>
        </p:spPr>
        <p:txBody>
          <a:bodyPr rtlCol="0" anchor="ctr"/>
          <a:lstStyle/>
          <a:p/>
        </p:txBody>
      </p:sp>
      <p:sp>
        <p:nvSpPr>
          <p:cNvPr id="28" name="Rounded Rectangle 27"/>
          <p:cNvSpPr/>
          <p:nvPr/>
        </p:nvSpPr>
        <p:spPr>
          <a:xfrm>
            <a:off x="2743200" y="4873181"/>
            <a:ext cx="182880" cy="182880"/>
          </a:xfrm>
          <a:prstGeom prst="roundRect">
            <a:avLst>
              <a:gd name="adj" fmla="val 50000"/>
            </a:avLst>
          </a:prstGeom>
          <a:solidFill>
            <a:srgbClr val="B9B9C2"/>
          </a:solidFill>
          <a:ln>
            <a:noFill/>
          </a:ln>
          <a:effectLst/>
        </p:spPr>
        <p:txBody>
          <a:bodyPr rtlCol="0" anchor="ctr"/>
          <a:lstStyle/>
          <a:p/>
        </p:txBody>
      </p:sp>
      <p:sp>
        <p:nvSpPr>
          <p:cNvPr id="29" name="TextBox 28"/>
          <p:cNvSpPr txBox="1"/>
          <p:nvPr/>
        </p:nvSpPr>
        <p:spPr>
          <a:xfrm>
            <a:off x="5090007" y="4800029"/>
            <a:ext cx="640080" cy="258165"/>
          </a:xfrm>
          <a:prstGeom prst="rect">
            <a:avLst/>
          </a:prstGeom>
          <a:noFill/>
        </p:spPr>
        <p:txBody>
          <a:bodyPr wrap="square" anchor="t" lIns="0" rIns="0" tIns="0" bIns="0"/>
          <a:lstStyle/>
          <a:p>
            <a:pPr algn="r">
              <a:lnSpc>
                <a:spcPct val="112000"/>
              </a:lnSpc>
              <a:spcBef>
                <a:spcPts val="0"/>
              </a:spcBef>
            </a:pPr>
            <a:r>
              <a:rPr sz="1500" b="0" i="0">
                <a:solidFill>
                  <a:srgbClr val="111111"/>
                </a:solidFill>
                <a:latin typeface="Inter"/>
              </a:rPr>
              <a:t>3%</a:t>
            </a:r>
          </a:p>
        </p:txBody>
      </p:sp>
      <p:sp>
        <p:nvSpPr>
          <p:cNvPr id="30" name="TextBox 29"/>
          <p:cNvSpPr txBox="1"/>
          <p:nvPr/>
        </p:nvSpPr>
        <p:spPr>
          <a:xfrm>
            <a:off x="6370167" y="2806637"/>
            <a:ext cx="4998567" cy="274320"/>
          </a:xfrm>
          <a:prstGeom prst="rect">
            <a:avLst/>
          </a:prstGeom>
          <a:noFill/>
        </p:spPr>
        <p:txBody>
          <a:bodyPr wrap="square" anchor="t" lIns="0" rIns="0" tIns="0" bIns="0"/>
          <a:lstStyle/>
          <a:p>
            <a:pPr algn="l">
              <a:lnSpc>
                <a:spcPct val="110000"/>
              </a:lnSpc>
            </a:pPr>
            <a:r>
              <a:rPr sz="1200" b="1">
                <a:solidFill>
                  <a:srgbClr val="707078"/>
                </a:solidFill>
                <a:latin typeface="Inter"/>
              </a:rPr>
              <a:t>THE PAPER’S 92: GIT LEVEL, SELF-RATED</a:t>
            </a:r>
          </a:p>
        </p:txBody>
      </p:sp>
      <p:sp>
        <p:nvSpPr>
          <p:cNvPr id="31" name="TextBox 30"/>
          <p:cNvSpPr txBox="1"/>
          <p:nvPr/>
        </p:nvSpPr>
        <p:spPr>
          <a:xfrm>
            <a:off x="6370167" y="3154109"/>
            <a:ext cx="1920240" cy="258165"/>
          </a:xfrm>
          <a:prstGeom prst="rect">
            <a:avLst/>
          </a:prstGeom>
          <a:noFill/>
        </p:spPr>
        <p:txBody>
          <a:bodyPr wrap="square" anchor="t" lIns="0" rIns="0" tIns="0" bIns="0"/>
          <a:lstStyle/>
          <a:p>
            <a:pPr algn="l">
              <a:lnSpc>
                <a:spcPct val="112000"/>
              </a:lnSpc>
              <a:spcBef>
                <a:spcPts val="0"/>
              </a:spcBef>
            </a:pPr>
            <a:r>
              <a:rPr sz="1500" b="0" i="0">
                <a:solidFill>
                  <a:srgbClr val="111111"/>
                </a:solidFill>
                <a:latin typeface="Inter"/>
              </a:rPr>
              <a:t>Novice</a:t>
            </a:r>
          </a:p>
        </p:txBody>
      </p:sp>
      <p:sp>
        <p:nvSpPr>
          <p:cNvPr id="32" name="Rounded Rectangle 31"/>
          <p:cNvSpPr/>
          <p:nvPr/>
        </p:nvSpPr>
        <p:spPr>
          <a:xfrm>
            <a:off x="8290407" y="3227261"/>
            <a:ext cx="2255367" cy="182880"/>
          </a:xfrm>
          <a:prstGeom prst="roundRect">
            <a:avLst>
              <a:gd name="adj" fmla="val 50000"/>
            </a:avLst>
          </a:prstGeom>
          <a:solidFill>
            <a:srgbClr val="F6F6F8"/>
          </a:solidFill>
          <a:ln>
            <a:noFill/>
          </a:ln>
          <a:effectLst/>
        </p:spPr>
        <p:txBody>
          <a:bodyPr rtlCol="0" anchor="ctr"/>
          <a:lstStyle/>
          <a:p/>
        </p:txBody>
      </p:sp>
      <p:sp>
        <p:nvSpPr>
          <p:cNvPr id="33" name="Rounded Rectangle 32"/>
          <p:cNvSpPr/>
          <p:nvPr/>
        </p:nvSpPr>
        <p:spPr>
          <a:xfrm>
            <a:off x="8290407" y="3227261"/>
            <a:ext cx="182880" cy="182880"/>
          </a:xfrm>
          <a:prstGeom prst="roundRect">
            <a:avLst>
              <a:gd name="adj" fmla="val 50000"/>
            </a:avLst>
          </a:prstGeom>
          <a:solidFill>
            <a:srgbClr val="B9B9C2"/>
          </a:solidFill>
          <a:ln>
            <a:noFill/>
          </a:ln>
          <a:effectLst/>
        </p:spPr>
        <p:txBody>
          <a:bodyPr rtlCol="0" anchor="ctr"/>
          <a:lstStyle/>
          <a:p/>
        </p:txBody>
      </p:sp>
      <p:sp>
        <p:nvSpPr>
          <p:cNvPr id="34" name="TextBox 33"/>
          <p:cNvSpPr txBox="1"/>
          <p:nvPr/>
        </p:nvSpPr>
        <p:spPr>
          <a:xfrm>
            <a:off x="10637214" y="3154109"/>
            <a:ext cx="640080" cy="258165"/>
          </a:xfrm>
          <a:prstGeom prst="rect">
            <a:avLst/>
          </a:prstGeom>
          <a:noFill/>
        </p:spPr>
        <p:txBody>
          <a:bodyPr wrap="square" anchor="t" lIns="0" rIns="0" tIns="0" bIns="0"/>
          <a:lstStyle/>
          <a:p>
            <a:pPr algn="r">
              <a:lnSpc>
                <a:spcPct val="112000"/>
              </a:lnSpc>
              <a:spcBef>
                <a:spcPts val="0"/>
              </a:spcBef>
            </a:pPr>
            <a:r>
              <a:rPr sz="1500" b="0" i="0">
                <a:solidFill>
                  <a:srgbClr val="111111"/>
                </a:solidFill>
                <a:latin typeface="Inter"/>
              </a:rPr>
              <a:t>1%</a:t>
            </a:r>
          </a:p>
        </p:txBody>
      </p:sp>
      <p:sp>
        <p:nvSpPr>
          <p:cNvPr id="35" name="TextBox 34"/>
          <p:cNvSpPr txBox="1"/>
          <p:nvPr/>
        </p:nvSpPr>
        <p:spPr>
          <a:xfrm>
            <a:off x="6370167" y="3483293"/>
            <a:ext cx="1920240" cy="258165"/>
          </a:xfrm>
          <a:prstGeom prst="rect">
            <a:avLst/>
          </a:prstGeom>
          <a:noFill/>
        </p:spPr>
        <p:txBody>
          <a:bodyPr wrap="square" anchor="t" lIns="0" rIns="0" tIns="0" bIns="0"/>
          <a:lstStyle/>
          <a:p>
            <a:pPr algn="l">
              <a:lnSpc>
                <a:spcPct val="112000"/>
              </a:lnSpc>
              <a:spcBef>
                <a:spcPts val="0"/>
              </a:spcBef>
            </a:pPr>
            <a:r>
              <a:rPr sz="1500" b="0" i="0">
                <a:solidFill>
                  <a:srgbClr val="111111"/>
                </a:solidFill>
                <a:latin typeface="Inter"/>
              </a:rPr>
              <a:t>Advanced beginner</a:t>
            </a:r>
          </a:p>
        </p:txBody>
      </p:sp>
      <p:sp>
        <p:nvSpPr>
          <p:cNvPr id="36" name="Rounded Rectangle 35"/>
          <p:cNvSpPr/>
          <p:nvPr/>
        </p:nvSpPr>
        <p:spPr>
          <a:xfrm>
            <a:off x="8290407" y="3556445"/>
            <a:ext cx="2255367" cy="182880"/>
          </a:xfrm>
          <a:prstGeom prst="roundRect">
            <a:avLst>
              <a:gd name="adj" fmla="val 50000"/>
            </a:avLst>
          </a:prstGeom>
          <a:solidFill>
            <a:srgbClr val="F6F6F8"/>
          </a:solidFill>
          <a:ln>
            <a:noFill/>
          </a:ln>
          <a:effectLst/>
        </p:spPr>
        <p:txBody>
          <a:bodyPr rtlCol="0" anchor="ctr"/>
          <a:lstStyle/>
          <a:p/>
        </p:txBody>
      </p:sp>
      <p:sp>
        <p:nvSpPr>
          <p:cNvPr id="37" name="Rounded Rectangle 36"/>
          <p:cNvSpPr/>
          <p:nvPr/>
        </p:nvSpPr>
        <p:spPr>
          <a:xfrm>
            <a:off x="8290407" y="3556445"/>
            <a:ext cx="637386" cy="182880"/>
          </a:xfrm>
          <a:prstGeom prst="roundRect">
            <a:avLst>
              <a:gd name="adj" fmla="val 50000"/>
            </a:avLst>
          </a:prstGeom>
          <a:solidFill>
            <a:srgbClr val="B9B9C2"/>
          </a:solidFill>
          <a:ln>
            <a:noFill/>
          </a:ln>
          <a:effectLst/>
        </p:spPr>
        <p:txBody>
          <a:bodyPr rtlCol="0" anchor="ctr"/>
          <a:lstStyle/>
          <a:p/>
        </p:txBody>
      </p:sp>
      <p:sp>
        <p:nvSpPr>
          <p:cNvPr id="38" name="TextBox 37"/>
          <p:cNvSpPr txBox="1"/>
          <p:nvPr/>
        </p:nvSpPr>
        <p:spPr>
          <a:xfrm>
            <a:off x="10637214" y="3483293"/>
            <a:ext cx="640080" cy="258165"/>
          </a:xfrm>
          <a:prstGeom prst="rect">
            <a:avLst/>
          </a:prstGeom>
          <a:noFill/>
        </p:spPr>
        <p:txBody>
          <a:bodyPr wrap="square" anchor="t" lIns="0" rIns="0" tIns="0" bIns="0"/>
          <a:lstStyle/>
          <a:p>
            <a:pPr algn="r">
              <a:lnSpc>
                <a:spcPct val="112000"/>
              </a:lnSpc>
              <a:spcBef>
                <a:spcPts val="0"/>
              </a:spcBef>
            </a:pPr>
            <a:r>
              <a:rPr sz="1500" b="0" i="0">
                <a:solidFill>
                  <a:srgbClr val="111111"/>
                </a:solidFill>
                <a:latin typeface="Inter"/>
              </a:rPr>
              <a:t>28%</a:t>
            </a:r>
          </a:p>
        </p:txBody>
      </p:sp>
      <p:sp>
        <p:nvSpPr>
          <p:cNvPr id="39" name="TextBox 38"/>
          <p:cNvSpPr txBox="1"/>
          <p:nvPr/>
        </p:nvSpPr>
        <p:spPr>
          <a:xfrm>
            <a:off x="6370167" y="3812477"/>
            <a:ext cx="1920240" cy="258165"/>
          </a:xfrm>
          <a:prstGeom prst="rect">
            <a:avLst/>
          </a:prstGeom>
          <a:noFill/>
        </p:spPr>
        <p:txBody>
          <a:bodyPr wrap="square" anchor="t" lIns="0" rIns="0" tIns="0" bIns="0"/>
          <a:lstStyle/>
          <a:p>
            <a:pPr algn="l">
              <a:lnSpc>
                <a:spcPct val="112000"/>
              </a:lnSpc>
              <a:spcBef>
                <a:spcPts val="0"/>
              </a:spcBef>
            </a:pPr>
            <a:r>
              <a:rPr sz="1500" b="0" i="0">
                <a:solidFill>
                  <a:srgbClr val="111111"/>
                </a:solidFill>
                <a:latin typeface="Inter"/>
              </a:rPr>
              <a:t>Competent</a:t>
            </a:r>
          </a:p>
        </p:txBody>
      </p:sp>
      <p:sp>
        <p:nvSpPr>
          <p:cNvPr id="40" name="Rounded Rectangle 39"/>
          <p:cNvSpPr/>
          <p:nvPr/>
        </p:nvSpPr>
        <p:spPr>
          <a:xfrm>
            <a:off x="8290407" y="3885629"/>
            <a:ext cx="2255367" cy="182880"/>
          </a:xfrm>
          <a:prstGeom prst="roundRect">
            <a:avLst>
              <a:gd name="adj" fmla="val 50000"/>
            </a:avLst>
          </a:prstGeom>
          <a:solidFill>
            <a:srgbClr val="F6F6F8"/>
          </a:solidFill>
          <a:ln>
            <a:noFill/>
          </a:ln>
          <a:effectLst/>
        </p:spPr>
        <p:txBody>
          <a:bodyPr rtlCol="0" anchor="ctr"/>
          <a:lstStyle/>
          <a:p/>
        </p:txBody>
      </p:sp>
      <p:sp>
        <p:nvSpPr>
          <p:cNvPr id="41" name="Rounded Rectangle 40"/>
          <p:cNvSpPr/>
          <p:nvPr/>
        </p:nvSpPr>
        <p:spPr>
          <a:xfrm>
            <a:off x="8290407" y="3885629"/>
            <a:ext cx="1274772" cy="182880"/>
          </a:xfrm>
          <a:prstGeom prst="roundRect">
            <a:avLst>
              <a:gd name="adj" fmla="val 50000"/>
            </a:avLst>
          </a:prstGeom>
          <a:solidFill>
            <a:srgbClr val="B9B9C2"/>
          </a:solidFill>
          <a:ln>
            <a:noFill/>
          </a:ln>
          <a:effectLst/>
        </p:spPr>
        <p:txBody>
          <a:bodyPr rtlCol="0" anchor="ctr"/>
          <a:lstStyle/>
          <a:p/>
        </p:txBody>
      </p:sp>
      <p:sp>
        <p:nvSpPr>
          <p:cNvPr id="42" name="TextBox 41"/>
          <p:cNvSpPr txBox="1"/>
          <p:nvPr/>
        </p:nvSpPr>
        <p:spPr>
          <a:xfrm>
            <a:off x="10637214" y="3812477"/>
            <a:ext cx="640080" cy="258165"/>
          </a:xfrm>
          <a:prstGeom prst="rect">
            <a:avLst/>
          </a:prstGeom>
          <a:noFill/>
        </p:spPr>
        <p:txBody>
          <a:bodyPr wrap="square" anchor="t" lIns="0" rIns="0" tIns="0" bIns="0"/>
          <a:lstStyle/>
          <a:p>
            <a:pPr algn="r">
              <a:lnSpc>
                <a:spcPct val="112000"/>
              </a:lnSpc>
              <a:spcBef>
                <a:spcPts val="0"/>
              </a:spcBef>
            </a:pPr>
            <a:r>
              <a:rPr sz="1500" b="0" i="0">
                <a:solidFill>
                  <a:srgbClr val="111111"/>
                </a:solidFill>
                <a:latin typeface="Inter"/>
              </a:rPr>
              <a:t>57%</a:t>
            </a:r>
          </a:p>
        </p:txBody>
      </p:sp>
      <p:sp>
        <p:nvSpPr>
          <p:cNvPr id="43" name="TextBox 42"/>
          <p:cNvSpPr txBox="1"/>
          <p:nvPr/>
        </p:nvSpPr>
        <p:spPr>
          <a:xfrm>
            <a:off x="6370167" y="4141661"/>
            <a:ext cx="1920240" cy="258165"/>
          </a:xfrm>
          <a:prstGeom prst="rect">
            <a:avLst/>
          </a:prstGeom>
          <a:noFill/>
        </p:spPr>
        <p:txBody>
          <a:bodyPr wrap="square" anchor="t" lIns="0" rIns="0" tIns="0" bIns="0"/>
          <a:lstStyle/>
          <a:p>
            <a:pPr algn="l">
              <a:lnSpc>
                <a:spcPct val="112000"/>
              </a:lnSpc>
              <a:spcBef>
                <a:spcPts val="0"/>
              </a:spcBef>
            </a:pPr>
            <a:r>
              <a:rPr sz="1500" b="0" i="0">
                <a:solidFill>
                  <a:srgbClr val="111111"/>
                </a:solidFill>
                <a:latin typeface="Inter"/>
              </a:rPr>
              <a:t>Proficient</a:t>
            </a:r>
          </a:p>
        </p:txBody>
      </p:sp>
      <p:sp>
        <p:nvSpPr>
          <p:cNvPr id="44" name="Rounded Rectangle 43"/>
          <p:cNvSpPr/>
          <p:nvPr/>
        </p:nvSpPr>
        <p:spPr>
          <a:xfrm>
            <a:off x="8290407" y="4214813"/>
            <a:ext cx="2255367" cy="182880"/>
          </a:xfrm>
          <a:prstGeom prst="roundRect">
            <a:avLst>
              <a:gd name="adj" fmla="val 50000"/>
            </a:avLst>
          </a:prstGeom>
          <a:solidFill>
            <a:srgbClr val="F6F6F8"/>
          </a:solidFill>
          <a:ln>
            <a:noFill/>
          </a:ln>
          <a:effectLst/>
        </p:spPr>
        <p:txBody>
          <a:bodyPr rtlCol="0" anchor="ctr"/>
          <a:lstStyle/>
          <a:p/>
        </p:txBody>
      </p:sp>
      <p:sp>
        <p:nvSpPr>
          <p:cNvPr id="45" name="Rounded Rectangle 44"/>
          <p:cNvSpPr/>
          <p:nvPr/>
        </p:nvSpPr>
        <p:spPr>
          <a:xfrm>
            <a:off x="8290407" y="4214813"/>
            <a:ext cx="269663" cy="182880"/>
          </a:xfrm>
          <a:prstGeom prst="roundRect">
            <a:avLst>
              <a:gd name="adj" fmla="val 50000"/>
            </a:avLst>
          </a:prstGeom>
          <a:solidFill>
            <a:srgbClr val="B9B9C2"/>
          </a:solidFill>
          <a:ln>
            <a:noFill/>
          </a:ln>
          <a:effectLst/>
        </p:spPr>
        <p:txBody>
          <a:bodyPr rtlCol="0" anchor="ctr"/>
          <a:lstStyle/>
          <a:p/>
        </p:txBody>
      </p:sp>
      <p:sp>
        <p:nvSpPr>
          <p:cNvPr id="46" name="TextBox 45"/>
          <p:cNvSpPr txBox="1"/>
          <p:nvPr/>
        </p:nvSpPr>
        <p:spPr>
          <a:xfrm>
            <a:off x="10637214" y="4141661"/>
            <a:ext cx="640080" cy="258165"/>
          </a:xfrm>
          <a:prstGeom prst="rect">
            <a:avLst/>
          </a:prstGeom>
          <a:noFill/>
        </p:spPr>
        <p:txBody>
          <a:bodyPr wrap="square" anchor="t" lIns="0" rIns="0" tIns="0" bIns="0"/>
          <a:lstStyle/>
          <a:p>
            <a:pPr algn="r">
              <a:lnSpc>
                <a:spcPct val="112000"/>
              </a:lnSpc>
              <a:spcBef>
                <a:spcPts val="0"/>
              </a:spcBef>
            </a:pPr>
            <a:r>
              <a:rPr sz="1500" b="0" i="0">
                <a:solidFill>
                  <a:srgbClr val="111111"/>
                </a:solidFill>
                <a:latin typeface="Inter"/>
              </a:rPr>
              <a:t>12%</a:t>
            </a:r>
          </a:p>
        </p:txBody>
      </p:sp>
      <p:sp>
        <p:nvSpPr>
          <p:cNvPr id="47" name="TextBox 46"/>
          <p:cNvSpPr txBox="1"/>
          <p:nvPr/>
        </p:nvSpPr>
        <p:spPr>
          <a:xfrm>
            <a:off x="6370167" y="4470845"/>
            <a:ext cx="1920240" cy="258165"/>
          </a:xfrm>
          <a:prstGeom prst="rect">
            <a:avLst/>
          </a:prstGeom>
          <a:noFill/>
        </p:spPr>
        <p:txBody>
          <a:bodyPr wrap="square" anchor="t" lIns="0" rIns="0" tIns="0" bIns="0"/>
          <a:lstStyle/>
          <a:p>
            <a:pPr algn="l">
              <a:lnSpc>
                <a:spcPct val="112000"/>
              </a:lnSpc>
              <a:spcBef>
                <a:spcPts val="0"/>
              </a:spcBef>
            </a:pPr>
            <a:r>
              <a:rPr sz="1500" b="0" i="0">
                <a:solidFill>
                  <a:srgbClr val="111111"/>
                </a:solidFill>
                <a:latin typeface="Inter"/>
              </a:rPr>
              <a:t>Expert</a:t>
            </a:r>
          </a:p>
        </p:txBody>
      </p:sp>
      <p:sp>
        <p:nvSpPr>
          <p:cNvPr id="48" name="Rounded Rectangle 47"/>
          <p:cNvSpPr/>
          <p:nvPr/>
        </p:nvSpPr>
        <p:spPr>
          <a:xfrm>
            <a:off x="8290407" y="4543997"/>
            <a:ext cx="2255367" cy="182880"/>
          </a:xfrm>
          <a:prstGeom prst="roundRect">
            <a:avLst>
              <a:gd name="adj" fmla="val 50000"/>
            </a:avLst>
          </a:prstGeom>
          <a:solidFill>
            <a:srgbClr val="F6F6F8"/>
          </a:solidFill>
          <a:ln>
            <a:noFill/>
          </a:ln>
          <a:effectLst/>
        </p:spPr>
        <p:txBody>
          <a:bodyPr rtlCol="0" anchor="ctr"/>
          <a:lstStyle/>
          <a:p/>
        </p:txBody>
      </p:sp>
      <p:sp>
        <p:nvSpPr>
          <p:cNvPr id="49" name="Rounded Rectangle 48"/>
          <p:cNvSpPr/>
          <p:nvPr/>
        </p:nvSpPr>
        <p:spPr>
          <a:xfrm>
            <a:off x="8290407" y="4543997"/>
            <a:ext cx="182880" cy="182880"/>
          </a:xfrm>
          <a:prstGeom prst="roundRect">
            <a:avLst>
              <a:gd name="adj" fmla="val 50000"/>
            </a:avLst>
          </a:prstGeom>
          <a:solidFill>
            <a:srgbClr val="B9B9C2"/>
          </a:solidFill>
          <a:ln>
            <a:noFill/>
          </a:ln>
          <a:effectLst/>
        </p:spPr>
        <p:txBody>
          <a:bodyPr rtlCol="0" anchor="ctr"/>
          <a:lstStyle/>
          <a:p/>
        </p:txBody>
      </p:sp>
      <p:sp>
        <p:nvSpPr>
          <p:cNvPr id="50" name="TextBox 49"/>
          <p:cNvSpPr txBox="1"/>
          <p:nvPr/>
        </p:nvSpPr>
        <p:spPr>
          <a:xfrm>
            <a:off x="10637214" y="4470845"/>
            <a:ext cx="640080" cy="258165"/>
          </a:xfrm>
          <a:prstGeom prst="rect">
            <a:avLst/>
          </a:prstGeom>
          <a:noFill/>
        </p:spPr>
        <p:txBody>
          <a:bodyPr wrap="square" anchor="t" lIns="0" rIns="0" tIns="0" bIns="0"/>
          <a:lstStyle/>
          <a:p>
            <a:pPr algn="r">
              <a:lnSpc>
                <a:spcPct val="112000"/>
              </a:lnSpc>
              <a:spcBef>
                <a:spcPts val="0"/>
              </a:spcBef>
            </a:pPr>
            <a:r>
              <a:rPr sz="1500" b="0" i="0">
                <a:solidFill>
                  <a:srgbClr val="111111"/>
                </a:solidFill>
                <a:latin typeface="Inter"/>
              </a:rPr>
              <a:t>2%</a:t>
            </a:r>
          </a:p>
        </p:txBody>
      </p:sp>
      <p:sp>
        <p:nvSpPr>
          <p:cNvPr id="51" name="TextBox 50"/>
          <p:cNvSpPr txBox="1"/>
          <p:nvPr/>
        </p:nvSpPr>
        <p:spPr>
          <a:xfrm>
            <a:off x="822960" y="5193221"/>
            <a:ext cx="10545775" cy="223743"/>
          </a:xfrm>
          <a:prstGeom prst="rect">
            <a:avLst/>
          </a:prstGeom>
          <a:noFill/>
        </p:spPr>
        <p:txBody>
          <a:bodyPr wrap="square" anchor="t" lIns="0" rIns="0" tIns="0" bIns="0"/>
          <a:lstStyle/>
          <a:p>
            <a:pPr algn="l">
              <a:lnSpc>
                <a:spcPct val="112000"/>
              </a:lnSpc>
              <a:spcBef>
                <a:spcPts val="0"/>
              </a:spcBef>
            </a:pPr>
            <a:r>
              <a:rPr sz="1300" b="0" i="0">
                <a:solidFill>
                  <a:srgbClr val="707078"/>
                </a:solidFill>
                <a:latin typeface="Inter"/>
              </a:rPr>
              <a:t>Median years using Git: 8. In class, the app shows your answers next to these.</a:t>
            </a:r>
          </a:p>
        </p:txBody>
      </p:sp>
      <p:sp>
        <p:nvSpPr>
          <p:cNvPr id="52" name="TextBox 51"/>
          <p:cNvSpPr txBox="1"/>
          <p:nvPr/>
        </p:nvSpPr>
        <p:spPr>
          <a:xfrm>
            <a:off x="822960" y="6022158"/>
            <a:ext cx="10545775" cy="378642"/>
          </a:xfrm>
          <a:prstGeom prst="rect">
            <a:avLst/>
          </a:prstGeom>
          <a:noFill/>
        </p:spPr>
        <p:txBody>
          <a:bodyPr wrap="square" anchor="t" lIns="0" rIns="0" tIns="0" bIns="0"/>
          <a:lstStyle/>
          <a:p>
            <a:pPr algn="l">
              <a:lnSpc>
                <a:spcPct val="112000"/>
              </a:lnSpc>
              <a:spcBef>
                <a:spcPts val="0"/>
              </a:spcBef>
            </a:pPr>
            <a:r>
              <a:rPr sz="2200" b="0" i="1">
                <a:solidFill>
                  <a:srgbClr val="707078"/>
                </a:solidFill>
                <a:latin typeface="Inter"/>
              </a:rPr>
              <a:t>Would you trust your own answers?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4ECFB"/>
        </a:solidFill>
        <a:effectLst/>
      </p:bgPr>
    </p:bg>
    <p:spTree>
      <p:nvGrpSpPr>
        <p:cNvPr id="1" name=""/>
        <p:cNvGrpSpPr/>
        <p:nvPr/>
      </p:nvGrpSpPr>
      <p:grpSpPr/>
      <p:sp>
        <p:nvSpPr>
          <p:cNvPr id="2" name="TextBox 1"/>
          <p:cNvSpPr txBox="1"/>
          <p:nvPr/>
        </p:nvSpPr>
        <p:spPr>
          <a:xfrm>
            <a:off x="822960" y="502920"/>
            <a:ext cx="10545775" cy="320040"/>
          </a:xfrm>
          <a:prstGeom prst="rect">
            <a:avLst/>
          </a:prstGeom>
          <a:noFill/>
        </p:spPr>
        <p:txBody>
          <a:bodyPr wrap="square" anchor="t" lIns="0" rIns="0" tIns="0" bIns="0"/>
          <a:lstStyle/>
          <a:p>
            <a:pPr algn="l">
              <a:lnSpc>
                <a:spcPct val="110000"/>
              </a:lnSpc>
            </a:pPr>
            <a:r>
              <a:rPr sz="1600" b="1">
                <a:solidFill>
                  <a:srgbClr val="8B3DFF"/>
                </a:solidFill>
                <a:latin typeface="Inter"/>
              </a:rPr>
              <a:t>2 · CHECK IT YOURSELF</a:t>
            </a:r>
          </a:p>
        </p:txBody>
      </p:sp>
      <p:sp>
        <p:nvSpPr>
          <p:cNvPr id="3" name="Rounded Rectangle 2"/>
          <p:cNvSpPr/>
          <p:nvPr/>
        </p:nvSpPr>
        <p:spPr>
          <a:xfrm>
            <a:off x="9997135" y="457200"/>
            <a:ext cx="1371600" cy="457200"/>
          </a:xfrm>
          <a:prstGeom prst="roundRect">
            <a:avLst>
              <a:gd name="adj" fmla="val 50000"/>
            </a:avLst>
          </a:prstGeom>
          <a:solidFill>
            <a:srgbClr val="FFFFFF"/>
          </a:solidFill>
          <a:ln>
            <a:noFill/>
          </a:ln>
          <a:effectLst/>
        </p:spPr>
        <p:txBody>
          <a:bodyPr rtlCol="0" anchor="ctr" lIns="0" rIns="0" tIns="0" bIns="0"/>
          <a:lstStyle/>
          <a:p>
            <a:pPr algn="ctr"/>
            <a:r>
              <a:rPr sz="1600" b="1">
                <a:solidFill>
                  <a:srgbClr val="111111"/>
                </a:solidFill>
                <a:latin typeface="Inter"/>
              </a:rPr>
              <a:t>8 min</a:t>
            </a:r>
          </a:p>
        </p:txBody>
      </p:sp>
      <p:sp>
        <p:nvSpPr>
          <p:cNvPr id="4" name="TextBox 3"/>
          <p:cNvSpPr txBox="1"/>
          <p:nvPr/>
        </p:nvSpPr>
        <p:spPr>
          <a:xfrm>
            <a:off x="822960" y="868680"/>
            <a:ext cx="8899855" cy="688441"/>
          </a:xfrm>
          <a:prstGeom prst="rect">
            <a:avLst/>
          </a:prstGeom>
          <a:noFill/>
        </p:spPr>
        <p:txBody>
          <a:bodyPr wrap="square" anchor="t" lIns="0" rIns="0" tIns="0" bIns="0"/>
          <a:lstStyle/>
          <a:p>
            <a:pPr algn="l">
              <a:lnSpc>
                <a:spcPct val="112000"/>
              </a:lnSpc>
              <a:spcBef>
                <a:spcPts val="0"/>
              </a:spcBef>
            </a:pPr>
            <a:r>
              <a:rPr sz="4000" b="1" i="0">
                <a:solidFill>
                  <a:srgbClr val="111111"/>
                </a:solidFill>
                <a:latin typeface="Inter"/>
              </a:rPr>
              <a:t>Read 8 real posts</a:t>
            </a:r>
          </a:p>
        </p:txBody>
      </p:sp>
      <p:sp>
        <p:nvSpPr>
          <p:cNvPr id="5" name="TextBox 4"/>
          <p:cNvSpPr txBox="1"/>
          <p:nvPr/>
        </p:nvSpPr>
        <p:spPr>
          <a:xfrm>
            <a:off x="822960" y="1831441"/>
            <a:ext cx="8647535" cy="884284"/>
          </a:xfrm>
          <a:prstGeom prst="rect">
            <a:avLst/>
          </a:prstGeom>
          <a:noFill/>
        </p:spPr>
        <p:txBody>
          <a:bodyPr wrap="square" anchor="t" lIns="0" rIns="0" tIns="0" bIns="0"/>
          <a:lstStyle/>
          <a:p>
            <a:pPr algn="l">
              <a:lnSpc>
                <a:spcPct val="112000"/>
              </a:lnSpc>
              <a:spcBef>
                <a:spcPts val="0"/>
              </a:spcBef>
            </a:pPr>
            <a:r>
              <a:rPr sz="2200" b="0" i="0">
                <a:solidFill>
                  <a:srgbClr val="111111"/>
                </a:solidFill>
                <a:latin typeface="Inter"/>
              </a:rPr>
              <a:t>Each was counted for one command.</a:t>
            </a:r>
          </a:p>
          <a:p>
            <a:pPr algn="l">
              <a:lnSpc>
                <a:spcPct val="112000"/>
              </a:lnSpc>
              <a:spcBef>
                <a:spcPts val="1000"/>
              </a:spcBef>
            </a:pPr>
            <a:r>
              <a:rPr sz="2200" b="0" i="0">
                <a:solidFill>
                  <a:srgbClr val="111111"/>
                </a:solidFill>
                <a:latin typeface="Inter"/>
              </a:rPr>
              <a:t>Is the asker stuck on it?</a:t>
            </a:r>
          </a:p>
        </p:txBody>
      </p:sp>
      <p:sp>
        <p:nvSpPr>
          <p:cNvPr id="6" name="Rounded Rectangle 5"/>
          <p:cNvSpPr/>
          <p:nvPr/>
        </p:nvSpPr>
        <p:spPr>
          <a:xfrm>
            <a:off x="822960" y="2944325"/>
            <a:ext cx="3393338" cy="1021405"/>
          </a:xfrm>
          <a:prstGeom prst="roundRect">
            <a:avLst>
              <a:gd name="adj" fmla="val 6000"/>
            </a:avLst>
          </a:prstGeom>
          <a:solidFill>
            <a:srgbClr val="FFFFFF"/>
          </a:solidFill>
          <a:ln w="19050">
            <a:solidFill>
              <a:srgbClr val="D9D9DE"/>
            </a:solidFill>
          </a:ln>
          <a:effectLst/>
        </p:spPr>
        <p:txBody>
          <a:bodyPr rtlCol="0" anchor="ctr"/>
          <a:lstStyle/>
          <a:p/>
        </p:txBody>
      </p:sp>
      <p:sp>
        <p:nvSpPr>
          <p:cNvPr id="7" name="TextBox 6"/>
          <p:cNvSpPr txBox="1"/>
          <p:nvPr/>
        </p:nvSpPr>
        <p:spPr>
          <a:xfrm>
            <a:off x="1005840" y="3081485"/>
            <a:ext cx="3027578" cy="201168"/>
          </a:xfrm>
          <a:prstGeom prst="rect">
            <a:avLst/>
          </a:prstGeom>
          <a:noFill/>
        </p:spPr>
        <p:txBody>
          <a:bodyPr wrap="square" anchor="t" lIns="0" rIns="0" tIns="0" bIns="0"/>
          <a:lstStyle/>
          <a:p>
            <a:pPr algn="l">
              <a:lnSpc>
                <a:spcPct val="110000"/>
              </a:lnSpc>
            </a:pPr>
            <a:r>
              <a:rPr sz="1100" b="1">
                <a:solidFill>
                  <a:srgbClr val="707078"/>
                </a:solidFill>
                <a:latin typeface="Inter"/>
              </a:rPr>
              <a:t>STUCK ON IT</a:t>
            </a:r>
          </a:p>
        </p:txBody>
      </p:sp>
      <p:sp>
        <p:nvSpPr>
          <p:cNvPr id="8" name="TextBox 7"/>
          <p:cNvSpPr txBox="1"/>
          <p:nvPr/>
        </p:nvSpPr>
        <p:spPr>
          <a:xfrm>
            <a:off x="1005840" y="3300941"/>
            <a:ext cx="3027578" cy="240954"/>
          </a:xfrm>
          <a:prstGeom prst="rect">
            <a:avLst/>
          </a:prstGeom>
          <a:noFill/>
        </p:spPr>
        <p:txBody>
          <a:bodyPr wrap="square" anchor="t" lIns="0" rIns="0" tIns="0" bIns="0"/>
          <a:lstStyle/>
          <a:p>
            <a:pPr algn="l">
              <a:lnSpc>
                <a:spcPct val="112000"/>
              </a:lnSpc>
              <a:spcBef>
                <a:spcPts val="0"/>
              </a:spcBef>
            </a:pPr>
            <a:r>
              <a:rPr sz="1400" b="0" i="0">
                <a:solidFill>
                  <a:srgbClr val="111111"/>
                </a:solidFill>
                <a:latin typeface="Inter"/>
              </a:rPr>
              <a:t>They ask about this command.</a:t>
            </a:r>
          </a:p>
        </p:txBody>
      </p:sp>
      <p:sp>
        <p:nvSpPr>
          <p:cNvPr id="9" name="Rounded Rectangle 8"/>
          <p:cNvSpPr/>
          <p:nvPr/>
        </p:nvSpPr>
        <p:spPr>
          <a:xfrm>
            <a:off x="4399178" y="2944325"/>
            <a:ext cx="3393338" cy="1021405"/>
          </a:xfrm>
          <a:prstGeom prst="roundRect">
            <a:avLst>
              <a:gd name="adj" fmla="val 6000"/>
            </a:avLst>
          </a:prstGeom>
          <a:solidFill>
            <a:srgbClr val="FFFFFF"/>
          </a:solidFill>
          <a:ln w="19050">
            <a:solidFill>
              <a:srgbClr val="D9D9DE"/>
            </a:solidFill>
          </a:ln>
          <a:effectLst/>
        </p:spPr>
        <p:txBody>
          <a:bodyPr rtlCol="0" anchor="ctr"/>
          <a:lstStyle/>
          <a:p/>
        </p:txBody>
      </p:sp>
      <p:sp>
        <p:nvSpPr>
          <p:cNvPr id="10" name="TextBox 9"/>
          <p:cNvSpPr txBox="1"/>
          <p:nvPr/>
        </p:nvSpPr>
        <p:spPr>
          <a:xfrm>
            <a:off x="4582058" y="3081485"/>
            <a:ext cx="3027578" cy="201168"/>
          </a:xfrm>
          <a:prstGeom prst="rect">
            <a:avLst/>
          </a:prstGeom>
          <a:noFill/>
        </p:spPr>
        <p:txBody>
          <a:bodyPr wrap="square" anchor="t" lIns="0" rIns="0" tIns="0" bIns="0"/>
          <a:lstStyle/>
          <a:p>
            <a:pPr algn="l">
              <a:lnSpc>
                <a:spcPct val="110000"/>
              </a:lnSpc>
            </a:pPr>
            <a:r>
              <a:rPr sz="1100" b="1">
                <a:solidFill>
                  <a:srgbClr val="707078"/>
                </a:solidFill>
                <a:latin typeface="Inter"/>
              </a:rPr>
              <a:t>NEEDS IT, DOESN’T KNOW IT</a:t>
            </a:r>
          </a:p>
        </p:txBody>
      </p:sp>
      <p:sp>
        <p:nvSpPr>
          <p:cNvPr id="11" name="TextBox 10"/>
          <p:cNvSpPr txBox="1"/>
          <p:nvPr/>
        </p:nvSpPr>
        <p:spPr>
          <a:xfrm>
            <a:off x="4582058" y="3300941"/>
            <a:ext cx="3027578" cy="481909"/>
          </a:xfrm>
          <a:prstGeom prst="rect">
            <a:avLst/>
          </a:prstGeom>
          <a:noFill/>
        </p:spPr>
        <p:txBody>
          <a:bodyPr wrap="square" anchor="t" lIns="0" rIns="0" tIns="0" bIns="0"/>
          <a:lstStyle/>
          <a:p>
            <a:pPr algn="l">
              <a:lnSpc>
                <a:spcPct val="112000"/>
              </a:lnSpc>
              <a:spcBef>
                <a:spcPts val="0"/>
              </a:spcBef>
            </a:pPr>
            <a:r>
              <a:rPr sz="1400" b="0" i="0">
                <a:solidFill>
                  <a:srgbClr val="111111"/>
                </a:solidFill>
                <a:latin typeface="Inter"/>
              </a:rPr>
              <a:t>It would fix their problem; they don’t know it.</a:t>
            </a:r>
          </a:p>
        </p:txBody>
      </p:sp>
      <p:sp>
        <p:nvSpPr>
          <p:cNvPr id="12" name="Rounded Rectangle 11"/>
          <p:cNvSpPr/>
          <p:nvPr/>
        </p:nvSpPr>
        <p:spPr>
          <a:xfrm>
            <a:off x="7975396" y="2944325"/>
            <a:ext cx="3393338" cy="1021405"/>
          </a:xfrm>
          <a:prstGeom prst="roundRect">
            <a:avLst>
              <a:gd name="adj" fmla="val 6000"/>
            </a:avLst>
          </a:prstGeom>
          <a:solidFill>
            <a:srgbClr val="FFFFFF"/>
          </a:solidFill>
          <a:ln w="19050">
            <a:solidFill>
              <a:srgbClr val="D9D9DE"/>
            </a:solidFill>
          </a:ln>
          <a:effectLst/>
        </p:spPr>
        <p:txBody>
          <a:bodyPr rtlCol="0" anchor="ctr"/>
          <a:lstStyle/>
          <a:p/>
        </p:txBody>
      </p:sp>
      <p:sp>
        <p:nvSpPr>
          <p:cNvPr id="13" name="TextBox 12"/>
          <p:cNvSpPr txBox="1"/>
          <p:nvPr/>
        </p:nvSpPr>
        <p:spPr>
          <a:xfrm>
            <a:off x="8158276" y="3081485"/>
            <a:ext cx="3027578" cy="201168"/>
          </a:xfrm>
          <a:prstGeom prst="rect">
            <a:avLst/>
          </a:prstGeom>
          <a:noFill/>
        </p:spPr>
        <p:txBody>
          <a:bodyPr wrap="square" anchor="t" lIns="0" rIns="0" tIns="0" bIns="0"/>
          <a:lstStyle/>
          <a:p>
            <a:pPr algn="l">
              <a:lnSpc>
                <a:spcPct val="110000"/>
              </a:lnSpc>
            </a:pPr>
            <a:r>
              <a:rPr sz="1100" b="1">
                <a:solidFill>
                  <a:srgbClr val="707078"/>
                </a:solidFill>
                <a:latin typeface="Inter"/>
              </a:rPr>
              <a:t>NOT ABOUT IT</a:t>
            </a:r>
          </a:p>
        </p:txBody>
      </p:sp>
      <p:sp>
        <p:nvSpPr>
          <p:cNvPr id="14" name="TextBox 13"/>
          <p:cNvSpPr txBox="1"/>
          <p:nvPr/>
        </p:nvSpPr>
        <p:spPr>
          <a:xfrm>
            <a:off x="8158276" y="3300941"/>
            <a:ext cx="3027578" cy="240954"/>
          </a:xfrm>
          <a:prstGeom prst="rect">
            <a:avLst/>
          </a:prstGeom>
          <a:noFill/>
        </p:spPr>
        <p:txBody>
          <a:bodyPr wrap="square" anchor="t" lIns="0" rIns="0" tIns="0" bIns="0"/>
          <a:lstStyle/>
          <a:p>
            <a:pPr algn="l">
              <a:lnSpc>
                <a:spcPct val="112000"/>
              </a:lnSpc>
              <a:spcBef>
                <a:spcPts val="0"/>
              </a:spcBef>
            </a:pPr>
            <a:r>
              <a:rPr sz="1400" b="0" i="0">
                <a:solidFill>
                  <a:srgbClr val="111111"/>
                </a:solidFill>
                <a:latin typeface="Inter"/>
              </a:rPr>
              <a:t>It is only mentioned.</a:t>
            </a:r>
          </a:p>
        </p:txBody>
      </p:sp>
      <p:sp>
        <p:nvSpPr>
          <p:cNvPr id="15" name="TextBox 14"/>
          <p:cNvSpPr txBox="1"/>
          <p:nvPr/>
        </p:nvSpPr>
        <p:spPr>
          <a:xfrm>
            <a:off x="822960" y="4194330"/>
            <a:ext cx="8647535" cy="1152306"/>
          </a:xfrm>
          <a:prstGeom prst="rect">
            <a:avLst/>
          </a:prstGeom>
          <a:noFill/>
        </p:spPr>
        <p:txBody>
          <a:bodyPr wrap="square" anchor="t" lIns="0" rIns="0" tIns="0" bIns="0"/>
          <a:lstStyle/>
          <a:p>
            <a:pPr algn="l">
              <a:lnSpc>
                <a:spcPct val="112000"/>
              </a:lnSpc>
              <a:spcBef>
                <a:spcPts val="0"/>
              </a:spcBef>
            </a:pPr>
            <a:r>
              <a:rPr sz="1600" b="0" i="0">
                <a:solidFill>
                  <a:srgbClr val="707078"/>
                </a:solidFill>
                <a:latin typeface="Inter"/>
              </a:rPr>
              <a:t>On your laptop: 8 posts, each with the question, the accepted answer, and the command the paper counted it for.</a:t>
            </a:r>
          </a:p>
          <a:p>
            <a:pPr algn="l">
              <a:lnSpc>
                <a:spcPct val="112000"/>
              </a:lnSpc>
              <a:spcBef>
                <a:spcPts val="400"/>
              </a:spcBef>
            </a:pPr>
            <a:r>
              <a:rPr sz="1600" b="0" i="0">
                <a:solidFill>
                  <a:srgbClr val="707078"/>
                </a:solidFill>
                <a:latin typeface="Inter"/>
              </a:rPr>
              <a:t>Drawn at random from short, answered posts credited to the top-5 commands (analysis/thursday_numbers.py, seed 294).</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502920"/>
            <a:ext cx="10545775" cy="320040"/>
          </a:xfrm>
          <a:prstGeom prst="rect">
            <a:avLst/>
          </a:prstGeom>
          <a:noFill/>
        </p:spPr>
        <p:txBody>
          <a:bodyPr wrap="square" anchor="t" lIns="0" rIns="0" tIns="0" bIns="0"/>
          <a:lstStyle/>
          <a:p>
            <a:pPr algn="l">
              <a:lnSpc>
                <a:spcPct val="110000"/>
              </a:lnSpc>
            </a:pPr>
            <a:r>
              <a:rPr sz="1600" b="1">
                <a:solidFill>
                  <a:srgbClr val="8B3DFF"/>
                </a:solidFill>
                <a:latin typeface="Inter"/>
              </a:rPr>
              <a:t>2 · CHECK IT YOURSELF</a:t>
            </a:r>
          </a:p>
        </p:txBody>
      </p:sp>
      <p:sp>
        <p:nvSpPr>
          <p:cNvPr id="3" name="TextBox 2"/>
          <p:cNvSpPr txBox="1"/>
          <p:nvPr/>
        </p:nvSpPr>
        <p:spPr>
          <a:xfrm>
            <a:off x="822960" y="868680"/>
            <a:ext cx="10545775" cy="688441"/>
          </a:xfrm>
          <a:prstGeom prst="rect">
            <a:avLst/>
          </a:prstGeom>
          <a:noFill/>
        </p:spPr>
        <p:txBody>
          <a:bodyPr wrap="square" anchor="t" lIns="0" rIns="0" tIns="0" bIns="0"/>
          <a:lstStyle/>
          <a:p>
            <a:pPr algn="l">
              <a:lnSpc>
                <a:spcPct val="112000"/>
              </a:lnSpc>
              <a:spcBef>
                <a:spcPts val="0"/>
              </a:spcBef>
            </a:pPr>
            <a:r>
              <a:rPr sz="4000" b="1" i="0">
                <a:solidFill>
                  <a:srgbClr val="111111"/>
                </a:solidFill>
                <a:latin typeface="Inter"/>
              </a:rPr>
              <a:t>What the word search missed</a:t>
            </a:r>
          </a:p>
        </p:txBody>
      </p:sp>
      <p:sp>
        <p:nvSpPr>
          <p:cNvPr id="4" name="TextBox 3"/>
          <p:cNvSpPr txBox="1"/>
          <p:nvPr/>
        </p:nvSpPr>
        <p:spPr>
          <a:xfrm>
            <a:off x="822960" y="1831441"/>
            <a:ext cx="10545775" cy="643330"/>
          </a:xfrm>
          <a:prstGeom prst="rect">
            <a:avLst/>
          </a:prstGeom>
          <a:noFill/>
        </p:spPr>
        <p:txBody>
          <a:bodyPr wrap="square" anchor="t" lIns="0" rIns="0" tIns="0" bIns="0"/>
          <a:lstStyle/>
          <a:p>
            <a:pPr algn="l">
              <a:lnSpc>
                <a:spcPct val="112000"/>
              </a:lnSpc>
              <a:spcBef>
                <a:spcPts val="0"/>
              </a:spcBef>
            </a:pPr>
            <a:r>
              <a:rPr sz="1500" b="0" i="0">
                <a:solidFill>
                  <a:srgbClr val="111111"/>
                </a:solidFill>
                <a:latin typeface="Inter"/>
              </a:rPr>
              <a:t>In 5 of 8, the command is only in the answer.</a:t>
            </a:r>
          </a:p>
          <a:p>
            <a:pPr algn="l">
              <a:lnSpc>
                <a:spcPct val="112000"/>
              </a:lnSpc>
              <a:spcBef>
                <a:spcPts val="1000"/>
              </a:spcBef>
            </a:pPr>
            <a:r>
              <a:rPr sz="1500" b="0" i="0">
                <a:solidFill>
                  <a:srgbClr val="111111"/>
                </a:solidFill>
                <a:latin typeface="Inter"/>
              </a:rPr>
              <a:t>The rule still counts all 8 as questions about it.</a:t>
            </a:r>
          </a:p>
        </p:txBody>
      </p:sp>
      <p:sp>
        <p:nvSpPr>
          <p:cNvPr id="5" name="TextBox 4"/>
          <p:cNvSpPr txBox="1"/>
          <p:nvPr/>
        </p:nvSpPr>
        <p:spPr>
          <a:xfrm>
            <a:off x="868680" y="2639363"/>
            <a:ext cx="6613855" cy="206532"/>
          </a:xfrm>
          <a:prstGeom prst="rect">
            <a:avLst/>
          </a:prstGeom>
          <a:noFill/>
        </p:spPr>
        <p:txBody>
          <a:bodyPr wrap="square" anchor="t" lIns="0" rIns="0" tIns="0" bIns="0"/>
          <a:lstStyle/>
          <a:p>
            <a:pPr algn="l">
              <a:lnSpc>
                <a:spcPct val="112000"/>
              </a:lnSpc>
              <a:spcBef>
                <a:spcPts val="0"/>
              </a:spcBef>
            </a:pPr>
            <a:r>
              <a:rPr sz="1200" b="1" i="0">
                <a:solidFill>
                  <a:srgbClr val="707078"/>
                </a:solidFill>
                <a:latin typeface="Inter"/>
              </a:rPr>
              <a:t>POST</a:t>
            </a:r>
          </a:p>
        </p:txBody>
      </p:sp>
      <p:sp>
        <p:nvSpPr>
          <p:cNvPr id="6" name="TextBox 5"/>
          <p:cNvSpPr txBox="1"/>
          <p:nvPr/>
        </p:nvSpPr>
        <p:spPr>
          <a:xfrm>
            <a:off x="7573975" y="2639363"/>
            <a:ext cx="1920240" cy="206532"/>
          </a:xfrm>
          <a:prstGeom prst="rect">
            <a:avLst/>
          </a:prstGeom>
          <a:noFill/>
        </p:spPr>
        <p:txBody>
          <a:bodyPr wrap="square" anchor="t" lIns="0" rIns="0" tIns="0" bIns="0"/>
          <a:lstStyle/>
          <a:p>
            <a:pPr algn="l">
              <a:lnSpc>
                <a:spcPct val="112000"/>
              </a:lnSpc>
              <a:spcBef>
                <a:spcPts val="0"/>
              </a:spcBef>
            </a:pPr>
            <a:r>
              <a:rPr sz="1200" b="1" i="0">
                <a:solidFill>
                  <a:srgbClr val="707078"/>
                </a:solidFill>
                <a:latin typeface="Inter"/>
              </a:rPr>
              <a:t>COUNTED FOR</a:t>
            </a:r>
          </a:p>
        </p:txBody>
      </p:sp>
      <p:sp>
        <p:nvSpPr>
          <p:cNvPr id="7" name="TextBox 6"/>
          <p:cNvSpPr txBox="1"/>
          <p:nvPr/>
        </p:nvSpPr>
        <p:spPr>
          <a:xfrm>
            <a:off x="9585655" y="2639363"/>
            <a:ext cx="1737360" cy="206532"/>
          </a:xfrm>
          <a:prstGeom prst="rect">
            <a:avLst/>
          </a:prstGeom>
          <a:noFill/>
        </p:spPr>
        <p:txBody>
          <a:bodyPr wrap="square" anchor="t" lIns="0" rIns="0" tIns="0" bIns="0"/>
          <a:lstStyle/>
          <a:p>
            <a:pPr algn="l">
              <a:lnSpc>
                <a:spcPct val="112000"/>
              </a:lnSpc>
              <a:spcBef>
                <a:spcPts val="0"/>
              </a:spcBef>
            </a:pPr>
            <a:r>
              <a:rPr sz="1200" b="1" i="0">
                <a:solidFill>
                  <a:srgbClr val="707078"/>
                </a:solidFill>
                <a:latin typeface="Inter"/>
              </a:rPr>
              <a:t>ASKER NAMES IT</a:t>
            </a:r>
          </a:p>
        </p:txBody>
      </p:sp>
      <p:sp>
        <p:nvSpPr>
          <p:cNvPr id="8" name="Rectangle 7"/>
          <p:cNvSpPr/>
          <p:nvPr/>
        </p:nvSpPr>
        <p:spPr>
          <a:xfrm>
            <a:off x="822960" y="2891615"/>
            <a:ext cx="10545775" cy="9525"/>
          </a:xfrm>
          <a:prstGeom prst="rect">
            <a:avLst/>
          </a:prstGeom>
          <a:solidFill>
            <a:srgbClr val="D9D9DE"/>
          </a:solidFill>
          <a:ln>
            <a:noFill/>
          </a:ln>
        </p:spPr>
        <p:txBody>
          <a:bodyPr rtlCol="0" anchor="ctr"/>
          <a:lstStyle/>
          <a:p>
            <a:pPr algn="ctr"/>
          </a:p>
        </p:txBody>
      </p:sp>
      <p:sp>
        <p:nvSpPr>
          <p:cNvPr id="9" name="TextBox 8"/>
          <p:cNvSpPr txBox="1"/>
          <p:nvPr/>
        </p:nvSpPr>
        <p:spPr>
          <a:xfrm>
            <a:off x="868680" y="2937335"/>
            <a:ext cx="6613855" cy="206532"/>
          </a:xfrm>
          <a:prstGeom prst="rect">
            <a:avLst/>
          </a:prstGeom>
          <a:noFill/>
        </p:spPr>
        <p:txBody>
          <a:bodyPr wrap="square" anchor="t" lIns="0" rIns="0" tIns="0" bIns="0"/>
          <a:lstStyle/>
          <a:p>
            <a:pPr algn="l">
              <a:lnSpc>
                <a:spcPct val="112000"/>
              </a:lnSpc>
              <a:spcBef>
                <a:spcPts val="0"/>
              </a:spcBef>
            </a:pPr>
            <a:r>
              <a:rPr sz="1200" b="0" i="0">
                <a:solidFill>
                  <a:srgbClr val="111111"/>
                </a:solidFill>
                <a:latin typeface="Inter"/>
              </a:rPr>
              <a:t>git how to move back commit (6,163 views)</a:t>
            </a:r>
          </a:p>
        </p:txBody>
      </p:sp>
      <p:sp>
        <p:nvSpPr>
          <p:cNvPr id="10" name="TextBox 9"/>
          <p:cNvSpPr txBox="1"/>
          <p:nvPr/>
        </p:nvSpPr>
        <p:spPr>
          <a:xfrm>
            <a:off x="7573975" y="2937335"/>
            <a:ext cx="1920240" cy="206532"/>
          </a:xfrm>
          <a:prstGeom prst="rect">
            <a:avLst/>
          </a:prstGeom>
          <a:noFill/>
        </p:spPr>
        <p:txBody>
          <a:bodyPr wrap="square" anchor="t" lIns="0" rIns="0" tIns="0" bIns="0"/>
          <a:lstStyle/>
          <a:p>
            <a:pPr algn="l">
              <a:lnSpc>
                <a:spcPct val="112000"/>
              </a:lnSpc>
              <a:spcBef>
                <a:spcPts val="0"/>
              </a:spcBef>
            </a:pPr>
            <a:r>
              <a:rPr sz="1200" b="0" i="0">
                <a:solidFill>
                  <a:srgbClr val="111111"/>
                </a:solidFill>
                <a:latin typeface="Noto Sans Mono"/>
              </a:rPr>
              <a:t>git reflog</a:t>
            </a:r>
          </a:p>
        </p:txBody>
      </p:sp>
      <p:sp>
        <p:nvSpPr>
          <p:cNvPr id="11" name="TextBox 10"/>
          <p:cNvSpPr txBox="1"/>
          <p:nvPr/>
        </p:nvSpPr>
        <p:spPr>
          <a:xfrm>
            <a:off x="9585655" y="2937335"/>
            <a:ext cx="1737360" cy="206532"/>
          </a:xfrm>
          <a:prstGeom prst="rect">
            <a:avLst/>
          </a:prstGeom>
          <a:noFill/>
        </p:spPr>
        <p:txBody>
          <a:bodyPr wrap="square" anchor="t" lIns="0" rIns="0" tIns="0" bIns="0"/>
          <a:lstStyle/>
          <a:p>
            <a:pPr algn="l">
              <a:lnSpc>
                <a:spcPct val="112000"/>
              </a:lnSpc>
              <a:spcBef>
                <a:spcPts val="0"/>
              </a:spcBef>
            </a:pPr>
            <a:r>
              <a:rPr sz="1200" b="0" i="0">
                <a:solidFill>
                  <a:srgbClr val="111111"/>
                </a:solidFill>
                <a:latin typeface="Inter"/>
              </a:rPr>
              <a:t>Yes</a:t>
            </a:r>
          </a:p>
        </p:txBody>
      </p:sp>
      <p:sp>
        <p:nvSpPr>
          <p:cNvPr id="12" name="Rectangle 11"/>
          <p:cNvSpPr/>
          <p:nvPr/>
        </p:nvSpPr>
        <p:spPr>
          <a:xfrm>
            <a:off x="822960" y="3189587"/>
            <a:ext cx="10545775" cy="9525"/>
          </a:xfrm>
          <a:prstGeom prst="rect">
            <a:avLst/>
          </a:prstGeom>
          <a:solidFill>
            <a:srgbClr val="D9D9DE"/>
          </a:solidFill>
          <a:ln>
            <a:noFill/>
          </a:ln>
        </p:spPr>
        <p:txBody>
          <a:bodyPr rtlCol="0" anchor="ctr"/>
          <a:lstStyle/>
          <a:p>
            <a:pPr algn="ctr"/>
          </a:p>
        </p:txBody>
      </p:sp>
      <p:sp>
        <p:nvSpPr>
          <p:cNvPr id="13" name="TextBox 12"/>
          <p:cNvSpPr txBox="1"/>
          <p:nvPr/>
        </p:nvSpPr>
        <p:spPr>
          <a:xfrm>
            <a:off x="868680" y="3235307"/>
            <a:ext cx="6613855" cy="206532"/>
          </a:xfrm>
          <a:prstGeom prst="rect">
            <a:avLst/>
          </a:prstGeom>
          <a:noFill/>
        </p:spPr>
        <p:txBody>
          <a:bodyPr wrap="square" anchor="t" lIns="0" rIns="0" tIns="0" bIns="0"/>
          <a:lstStyle/>
          <a:p>
            <a:pPr algn="l">
              <a:lnSpc>
                <a:spcPct val="112000"/>
              </a:lnSpc>
              <a:spcBef>
                <a:spcPts val="0"/>
              </a:spcBef>
            </a:pPr>
            <a:r>
              <a:rPr sz="1200" b="0" i="0">
                <a:solidFill>
                  <a:srgbClr val="111111"/>
                </a:solidFill>
                <a:latin typeface="Inter"/>
              </a:rPr>
              <a:t>How do I remove a single file from the staging area (undo git add)? (656,913 views)</a:t>
            </a:r>
          </a:p>
        </p:txBody>
      </p:sp>
      <p:sp>
        <p:nvSpPr>
          <p:cNvPr id="14" name="TextBox 13"/>
          <p:cNvSpPr txBox="1"/>
          <p:nvPr/>
        </p:nvSpPr>
        <p:spPr>
          <a:xfrm>
            <a:off x="7573975" y="3235307"/>
            <a:ext cx="1920240" cy="206532"/>
          </a:xfrm>
          <a:prstGeom prst="rect">
            <a:avLst/>
          </a:prstGeom>
          <a:noFill/>
        </p:spPr>
        <p:txBody>
          <a:bodyPr wrap="square" anchor="t" lIns="0" rIns="0" tIns="0" bIns="0"/>
          <a:lstStyle/>
          <a:p>
            <a:pPr algn="l">
              <a:lnSpc>
                <a:spcPct val="112000"/>
              </a:lnSpc>
              <a:spcBef>
                <a:spcPts val="0"/>
              </a:spcBef>
            </a:pPr>
            <a:r>
              <a:rPr sz="1200" b="0" i="0">
                <a:solidFill>
                  <a:srgbClr val="111111"/>
                </a:solidFill>
                <a:latin typeface="Noto Sans Mono"/>
              </a:rPr>
              <a:t>git reset</a:t>
            </a:r>
          </a:p>
        </p:txBody>
      </p:sp>
      <p:sp>
        <p:nvSpPr>
          <p:cNvPr id="15" name="TextBox 14"/>
          <p:cNvSpPr txBox="1"/>
          <p:nvPr/>
        </p:nvSpPr>
        <p:spPr>
          <a:xfrm>
            <a:off x="9585655" y="3235307"/>
            <a:ext cx="1737360" cy="206532"/>
          </a:xfrm>
          <a:prstGeom prst="rect">
            <a:avLst/>
          </a:prstGeom>
          <a:noFill/>
        </p:spPr>
        <p:txBody>
          <a:bodyPr wrap="square" anchor="t" lIns="0" rIns="0" tIns="0" bIns="0"/>
          <a:lstStyle/>
          <a:p>
            <a:pPr algn="l">
              <a:lnSpc>
                <a:spcPct val="112000"/>
              </a:lnSpc>
              <a:spcBef>
                <a:spcPts val="0"/>
              </a:spcBef>
            </a:pPr>
            <a:r>
              <a:rPr sz="1200" b="0" i="0">
                <a:solidFill>
                  <a:srgbClr val="111111"/>
                </a:solidFill>
                <a:latin typeface="Inter"/>
              </a:rPr>
              <a:t>Answer only</a:t>
            </a:r>
          </a:p>
        </p:txBody>
      </p:sp>
      <p:sp>
        <p:nvSpPr>
          <p:cNvPr id="16" name="Rectangle 15"/>
          <p:cNvSpPr/>
          <p:nvPr/>
        </p:nvSpPr>
        <p:spPr>
          <a:xfrm>
            <a:off x="822960" y="3487559"/>
            <a:ext cx="10545775" cy="9525"/>
          </a:xfrm>
          <a:prstGeom prst="rect">
            <a:avLst/>
          </a:prstGeom>
          <a:solidFill>
            <a:srgbClr val="D9D9DE"/>
          </a:solidFill>
          <a:ln>
            <a:noFill/>
          </a:ln>
        </p:spPr>
        <p:txBody>
          <a:bodyPr rtlCol="0" anchor="ctr"/>
          <a:lstStyle/>
          <a:p>
            <a:pPr algn="ctr"/>
          </a:p>
        </p:txBody>
      </p:sp>
      <p:sp>
        <p:nvSpPr>
          <p:cNvPr id="17" name="TextBox 16"/>
          <p:cNvSpPr txBox="1"/>
          <p:nvPr/>
        </p:nvSpPr>
        <p:spPr>
          <a:xfrm>
            <a:off x="868680" y="3533279"/>
            <a:ext cx="6613855" cy="206532"/>
          </a:xfrm>
          <a:prstGeom prst="rect">
            <a:avLst/>
          </a:prstGeom>
          <a:noFill/>
        </p:spPr>
        <p:txBody>
          <a:bodyPr wrap="square" anchor="t" lIns="0" rIns="0" tIns="0" bIns="0"/>
          <a:lstStyle/>
          <a:p>
            <a:pPr algn="l">
              <a:lnSpc>
                <a:spcPct val="112000"/>
              </a:lnSpc>
              <a:spcBef>
                <a:spcPts val="0"/>
              </a:spcBef>
            </a:pPr>
            <a:r>
              <a:rPr sz="1200" b="0" i="0">
                <a:solidFill>
                  <a:srgbClr val="111111"/>
                </a:solidFill>
                <a:latin typeface="Inter"/>
              </a:rPr>
              <a:t>Undo a Git merge that hasn't been pushed yet (2,371,183 views)</a:t>
            </a:r>
          </a:p>
        </p:txBody>
      </p:sp>
      <p:sp>
        <p:nvSpPr>
          <p:cNvPr id="18" name="TextBox 17"/>
          <p:cNvSpPr txBox="1"/>
          <p:nvPr/>
        </p:nvSpPr>
        <p:spPr>
          <a:xfrm>
            <a:off x="7573975" y="3533279"/>
            <a:ext cx="1920240" cy="206532"/>
          </a:xfrm>
          <a:prstGeom prst="rect">
            <a:avLst/>
          </a:prstGeom>
          <a:noFill/>
        </p:spPr>
        <p:txBody>
          <a:bodyPr wrap="square" anchor="t" lIns="0" rIns="0" tIns="0" bIns="0"/>
          <a:lstStyle/>
          <a:p>
            <a:pPr algn="l">
              <a:lnSpc>
                <a:spcPct val="112000"/>
              </a:lnSpc>
              <a:spcBef>
                <a:spcPts val="0"/>
              </a:spcBef>
            </a:pPr>
            <a:r>
              <a:rPr sz="1200" b="0" i="0">
                <a:solidFill>
                  <a:srgbClr val="111111"/>
                </a:solidFill>
                <a:latin typeface="Noto Sans Mono"/>
              </a:rPr>
              <a:t>git reflog</a:t>
            </a:r>
          </a:p>
        </p:txBody>
      </p:sp>
      <p:sp>
        <p:nvSpPr>
          <p:cNvPr id="19" name="TextBox 18"/>
          <p:cNvSpPr txBox="1"/>
          <p:nvPr/>
        </p:nvSpPr>
        <p:spPr>
          <a:xfrm>
            <a:off x="9585655" y="3533279"/>
            <a:ext cx="1737360" cy="206532"/>
          </a:xfrm>
          <a:prstGeom prst="rect">
            <a:avLst/>
          </a:prstGeom>
          <a:noFill/>
        </p:spPr>
        <p:txBody>
          <a:bodyPr wrap="square" anchor="t" lIns="0" rIns="0" tIns="0" bIns="0"/>
          <a:lstStyle/>
          <a:p>
            <a:pPr algn="l">
              <a:lnSpc>
                <a:spcPct val="112000"/>
              </a:lnSpc>
              <a:spcBef>
                <a:spcPts val="0"/>
              </a:spcBef>
            </a:pPr>
            <a:r>
              <a:rPr sz="1200" b="0" i="0">
                <a:solidFill>
                  <a:srgbClr val="111111"/>
                </a:solidFill>
                <a:latin typeface="Inter"/>
              </a:rPr>
              <a:t>Answer only</a:t>
            </a:r>
          </a:p>
        </p:txBody>
      </p:sp>
      <p:sp>
        <p:nvSpPr>
          <p:cNvPr id="20" name="Rectangle 19"/>
          <p:cNvSpPr/>
          <p:nvPr/>
        </p:nvSpPr>
        <p:spPr>
          <a:xfrm>
            <a:off x="822960" y="3785531"/>
            <a:ext cx="10545775" cy="9525"/>
          </a:xfrm>
          <a:prstGeom prst="rect">
            <a:avLst/>
          </a:prstGeom>
          <a:solidFill>
            <a:srgbClr val="D9D9DE"/>
          </a:solidFill>
          <a:ln>
            <a:noFill/>
          </a:ln>
        </p:spPr>
        <p:txBody>
          <a:bodyPr rtlCol="0" anchor="ctr"/>
          <a:lstStyle/>
          <a:p>
            <a:pPr algn="ctr"/>
          </a:p>
        </p:txBody>
      </p:sp>
      <p:sp>
        <p:nvSpPr>
          <p:cNvPr id="21" name="TextBox 20"/>
          <p:cNvSpPr txBox="1"/>
          <p:nvPr/>
        </p:nvSpPr>
        <p:spPr>
          <a:xfrm>
            <a:off x="868680" y="3831251"/>
            <a:ext cx="6613855" cy="206532"/>
          </a:xfrm>
          <a:prstGeom prst="rect">
            <a:avLst/>
          </a:prstGeom>
          <a:noFill/>
        </p:spPr>
        <p:txBody>
          <a:bodyPr wrap="square" anchor="t" lIns="0" rIns="0" tIns="0" bIns="0"/>
          <a:lstStyle/>
          <a:p>
            <a:pPr algn="l">
              <a:lnSpc>
                <a:spcPct val="112000"/>
              </a:lnSpc>
              <a:spcBef>
                <a:spcPts val="0"/>
              </a:spcBef>
            </a:pPr>
            <a:r>
              <a:rPr sz="1200" b="0" i="0">
                <a:solidFill>
                  <a:srgbClr val="111111"/>
                </a:solidFill>
                <a:latin typeface="Inter"/>
              </a:rPr>
              <a:t>How can i undo changes between two commits? (24 views)</a:t>
            </a:r>
          </a:p>
        </p:txBody>
      </p:sp>
      <p:sp>
        <p:nvSpPr>
          <p:cNvPr id="22" name="TextBox 21"/>
          <p:cNvSpPr txBox="1"/>
          <p:nvPr/>
        </p:nvSpPr>
        <p:spPr>
          <a:xfrm>
            <a:off x="7573975" y="3831251"/>
            <a:ext cx="1920240" cy="206532"/>
          </a:xfrm>
          <a:prstGeom prst="rect">
            <a:avLst/>
          </a:prstGeom>
          <a:noFill/>
        </p:spPr>
        <p:txBody>
          <a:bodyPr wrap="square" anchor="t" lIns="0" rIns="0" tIns="0" bIns="0"/>
          <a:lstStyle/>
          <a:p>
            <a:pPr algn="l">
              <a:lnSpc>
                <a:spcPct val="112000"/>
              </a:lnSpc>
              <a:spcBef>
                <a:spcPts val="0"/>
              </a:spcBef>
            </a:pPr>
            <a:r>
              <a:rPr sz="1200" b="0" i="0">
                <a:solidFill>
                  <a:srgbClr val="111111"/>
                </a:solidFill>
                <a:latin typeface="Noto Sans Mono"/>
              </a:rPr>
              <a:t>git revert</a:t>
            </a:r>
          </a:p>
        </p:txBody>
      </p:sp>
      <p:sp>
        <p:nvSpPr>
          <p:cNvPr id="23" name="TextBox 22"/>
          <p:cNvSpPr txBox="1"/>
          <p:nvPr/>
        </p:nvSpPr>
        <p:spPr>
          <a:xfrm>
            <a:off x="9585655" y="3831251"/>
            <a:ext cx="1737360" cy="206532"/>
          </a:xfrm>
          <a:prstGeom prst="rect">
            <a:avLst/>
          </a:prstGeom>
          <a:noFill/>
        </p:spPr>
        <p:txBody>
          <a:bodyPr wrap="square" anchor="t" lIns="0" rIns="0" tIns="0" bIns="0"/>
          <a:lstStyle/>
          <a:p>
            <a:pPr algn="l">
              <a:lnSpc>
                <a:spcPct val="112000"/>
              </a:lnSpc>
              <a:spcBef>
                <a:spcPts val="0"/>
              </a:spcBef>
            </a:pPr>
            <a:r>
              <a:rPr sz="1200" b="0" i="0">
                <a:solidFill>
                  <a:srgbClr val="111111"/>
                </a:solidFill>
                <a:latin typeface="Inter"/>
              </a:rPr>
              <a:t>Answer only</a:t>
            </a:r>
          </a:p>
        </p:txBody>
      </p:sp>
      <p:sp>
        <p:nvSpPr>
          <p:cNvPr id="24" name="Rectangle 23"/>
          <p:cNvSpPr/>
          <p:nvPr/>
        </p:nvSpPr>
        <p:spPr>
          <a:xfrm>
            <a:off x="822960" y="4083503"/>
            <a:ext cx="10545775" cy="9525"/>
          </a:xfrm>
          <a:prstGeom prst="rect">
            <a:avLst/>
          </a:prstGeom>
          <a:solidFill>
            <a:srgbClr val="D9D9DE"/>
          </a:solidFill>
          <a:ln>
            <a:noFill/>
          </a:ln>
        </p:spPr>
        <p:txBody>
          <a:bodyPr rtlCol="0" anchor="ctr"/>
          <a:lstStyle/>
          <a:p>
            <a:pPr algn="ctr"/>
          </a:p>
        </p:txBody>
      </p:sp>
      <p:sp>
        <p:nvSpPr>
          <p:cNvPr id="25" name="TextBox 24"/>
          <p:cNvSpPr txBox="1"/>
          <p:nvPr/>
        </p:nvSpPr>
        <p:spPr>
          <a:xfrm>
            <a:off x="868680" y="4129223"/>
            <a:ext cx="6613855" cy="206532"/>
          </a:xfrm>
          <a:prstGeom prst="rect">
            <a:avLst/>
          </a:prstGeom>
          <a:noFill/>
        </p:spPr>
        <p:txBody>
          <a:bodyPr wrap="square" anchor="t" lIns="0" rIns="0" tIns="0" bIns="0"/>
          <a:lstStyle/>
          <a:p>
            <a:pPr algn="l">
              <a:lnSpc>
                <a:spcPct val="112000"/>
              </a:lnSpc>
              <a:spcBef>
                <a:spcPts val="0"/>
              </a:spcBef>
            </a:pPr>
            <a:r>
              <a:rPr sz="1200" b="0" i="0">
                <a:solidFill>
                  <a:srgbClr val="111111"/>
                </a:solidFill>
                <a:latin typeface="Inter"/>
              </a:rPr>
              <a:t>git 'merge' only existing files (1,378 views)</a:t>
            </a:r>
          </a:p>
        </p:txBody>
      </p:sp>
      <p:sp>
        <p:nvSpPr>
          <p:cNvPr id="26" name="TextBox 25"/>
          <p:cNvSpPr txBox="1"/>
          <p:nvPr/>
        </p:nvSpPr>
        <p:spPr>
          <a:xfrm>
            <a:off x="7573975" y="4129223"/>
            <a:ext cx="1920240" cy="206532"/>
          </a:xfrm>
          <a:prstGeom prst="rect">
            <a:avLst/>
          </a:prstGeom>
          <a:noFill/>
        </p:spPr>
        <p:txBody>
          <a:bodyPr wrap="square" anchor="t" lIns="0" rIns="0" tIns="0" bIns="0"/>
          <a:lstStyle/>
          <a:p>
            <a:pPr algn="l">
              <a:lnSpc>
                <a:spcPct val="112000"/>
              </a:lnSpc>
              <a:spcBef>
                <a:spcPts val="0"/>
              </a:spcBef>
            </a:pPr>
            <a:r>
              <a:rPr sz="1200" b="0" i="0">
                <a:solidFill>
                  <a:srgbClr val="111111"/>
                </a:solidFill>
                <a:latin typeface="Noto Sans Mono"/>
              </a:rPr>
              <a:t>git clean</a:t>
            </a:r>
          </a:p>
        </p:txBody>
      </p:sp>
      <p:sp>
        <p:nvSpPr>
          <p:cNvPr id="27" name="TextBox 26"/>
          <p:cNvSpPr txBox="1"/>
          <p:nvPr/>
        </p:nvSpPr>
        <p:spPr>
          <a:xfrm>
            <a:off x="9585655" y="4129223"/>
            <a:ext cx="1737360" cy="206532"/>
          </a:xfrm>
          <a:prstGeom prst="rect">
            <a:avLst/>
          </a:prstGeom>
          <a:noFill/>
        </p:spPr>
        <p:txBody>
          <a:bodyPr wrap="square" anchor="t" lIns="0" rIns="0" tIns="0" bIns="0"/>
          <a:lstStyle/>
          <a:p>
            <a:pPr algn="l">
              <a:lnSpc>
                <a:spcPct val="112000"/>
              </a:lnSpc>
              <a:spcBef>
                <a:spcPts val="0"/>
              </a:spcBef>
            </a:pPr>
            <a:r>
              <a:rPr sz="1200" b="0" i="0">
                <a:solidFill>
                  <a:srgbClr val="111111"/>
                </a:solidFill>
                <a:latin typeface="Inter"/>
              </a:rPr>
              <a:t>Yes</a:t>
            </a:r>
          </a:p>
        </p:txBody>
      </p:sp>
      <p:sp>
        <p:nvSpPr>
          <p:cNvPr id="28" name="Rectangle 27"/>
          <p:cNvSpPr/>
          <p:nvPr/>
        </p:nvSpPr>
        <p:spPr>
          <a:xfrm>
            <a:off x="822960" y="4381475"/>
            <a:ext cx="10545775" cy="9525"/>
          </a:xfrm>
          <a:prstGeom prst="rect">
            <a:avLst/>
          </a:prstGeom>
          <a:solidFill>
            <a:srgbClr val="D9D9DE"/>
          </a:solidFill>
          <a:ln>
            <a:noFill/>
          </a:ln>
        </p:spPr>
        <p:txBody>
          <a:bodyPr rtlCol="0" anchor="ctr"/>
          <a:lstStyle/>
          <a:p>
            <a:pPr algn="ctr"/>
          </a:p>
        </p:txBody>
      </p:sp>
      <p:sp>
        <p:nvSpPr>
          <p:cNvPr id="29" name="TextBox 28"/>
          <p:cNvSpPr txBox="1"/>
          <p:nvPr/>
        </p:nvSpPr>
        <p:spPr>
          <a:xfrm>
            <a:off x="868680" y="4427195"/>
            <a:ext cx="6613855" cy="206532"/>
          </a:xfrm>
          <a:prstGeom prst="rect">
            <a:avLst/>
          </a:prstGeom>
          <a:noFill/>
        </p:spPr>
        <p:txBody>
          <a:bodyPr wrap="square" anchor="t" lIns="0" rIns="0" tIns="0" bIns="0"/>
          <a:lstStyle/>
          <a:p>
            <a:pPr algn="l">
              <a:lnSpc>
                <a:spcPct val="112000"/>
              </a:lnSpc>
              <a:spcBef>
                <a:spcPts val="0"/>
              </a:spcBef>
            </a:pPr>
            <a:r>
              <a:rPr sz="1200" b="0" i="0">
                <a:solidFill>
                  <a:srgbClr val="111111"/>
                </a:solidFill>
                <a:latin typeface="Inter"/>
              </a:rPr>
              <a:t>Git branch not working the way I expected it to (2,989 views)</a:t>
            </a:r>
          </a:p>
        </p:txBody>
      </p:sp>
      <p:sp>
        <p:nvSpPr>
          <p:cNvPr id="30" name="TextBox 29"/>
          <p:cNvSpPr txBox="1"/>
          <p:nvPr/>
        </p:nvSpPr>
        <p:spPr>
          <a:xfrm>
            <a:off x="7573975" y="4427195"/>
            <a:ext cx="1920240" cy="206532"/>
          </a:xfrm>
          <a:prstGeom prst="rect">
            <a:avLst/>
          </a:prstGeom>
          <a:noFill/>
        </p:spPr>
        <p:txBody>
          <a:bodyPr wrap="square" anchor="t" lIns="0" rIns="0" tIns="0" bIns="0"/>
          <a:lstStyle/>
          <a:p>
            <a:pPr algn="l">
              <a:lnSpc>
                <a:spcPct val="112000"/>
              </a:lnSpc>
              <a:spcBef>
                <a:spcPts val="0"/>
              </a:spcBef>
            </a:pPr>
            <a:r>
              <a:rPr sz="1200" b="0" i="0">
                <a:solidFill>
                  <a:srgbClr val="111111"/>
                </a:solidFill>
                <a:latin typeface="Noto Sans Mono"/>
              </a:rPr>
              <a:t>git reset</a:t>
            </a:r>
          </a:p>
        </p:txBody>
      </p:sp>
      <p:sp>
        <p:nvSpPr>
          <p:cNvPr id="31" name="TextBox 30"/>
          <p:cNvSpPr txBox="1"/>
          <p:nvPr/>
        </p:nvSpPr>
        <p:spPr>
          <a:xfrm>
            <a:off x="9585655" y="4427195"/>
            <a:ext cx="1737360" cy="206532"/>
          </a:xfrm>
          <a:prstGeom prst="rect">
            <a:avLst/>
          </a:prstGeom>
          <a:noFill/>
        </p:spPr>
        <p:txBody>
          <a:bodyPr wrap="square" anchor="t" lIns="0" rIns="0" tIns="0" bIns="0"/>
          <a:lstStyle/>
          <a:p>
            <a:pPr algn="l">
              <a:lnSpc>
                <a:spcPct val="112000"/>
              </a:lnSpc>
              <a:spcBef>
                <a:spcPts val="0"/>
              </a:spcBef>
            </a:pPr>
            <a:r>
              <a:rPr sz="1200" b="0" i="0">
                <a:solidFill>
                  <a:srgbClr val="111111"/>
                </a:solidFill>
                <a:latin typeface="Inter"/>
              </a:rPr>
              <a:t>Yes</a:t>
            </a:r>
          </a:p>
        </p:txBody>
      </p:sp>
      <p:sp>
        <p:nvSpPr>
          <p:cNvPr id="32" name="Rectangle 31"/>
          <p:cNvSpPr/>
          <p:nvPr/>
        </p:nvSpPr>
        <p:spPr>
          <a:xfrm>
            <a:off x="822960" y="4679447"/>
            <a:ext cx="10545775" cy="9525"/>
          </a:xfrm>
          <a:prstGeom prst="rect">
            <a:avLst/>
          </a:prstGeom>
          <a:solidFill>
            <a:srgbClr val="D9D9DE"/>
          </a:solidFill>
          <a:ln>
            <a:noFill/>
          </a:ln>
        </p:spPr>
        <p:txBody>
          <a:bodyPr rtlCol="0" anchor="ctr"/>
          <a:lstStyle/>
          <a:p>
            <a:pPr algn="ctr"/>
          </a:p>
        </p:txBody>
      </p:sp>
      <p:sp>
        <p:nvSpPr>
          <p:cNvPr id="33" name="TextBox 32"/>
          <p:cNvSpPr txBox="1"/>
          <p:nvPr/>
        </p:nvSpPr>
        <p:spPr>
          <a:xfrm>
            <a:off x="868680" y="4725167"/>
            <a:ext cx="6613855" cy="206532"/>
          </a:xfrm>
          <a:prstGeom prst="rect">
            <a:avLst/>
          </a:prstGeom>
          <a:noFill/>
        </p:spPr>
        <p:txBody>
          <a:bodyPr wrap="square" anchor="t" lIns="0" rIns="0" tIns="0" bIns="0"/>
          <a:lstStyle/>
          <a:p>
            <a:pPr algn="l">
              <a:lnSpc>
                <a:spcPct val="112000"/>
              </a:lnSpc>
              <a:spcBef>
                <a:spcPts val="0"/>
              </a:spcBef>
            </a:pPr>
            <a:r>
              <a:rPr sz="1200" b="0" i="0">
                <a:solidFill>
                  <a:srgbClr val="111111"/>
                </a:solidFill>
                <a:latin typeface="Inter"/>
              </a:rPr>
              <a:t>revert a commit after push, checkout a commit behind and modification of files (46 views)</a:t>
            </a:r>
          </a:p>
        </p:txBody>
      </p:sp>
      <p:sp>
        <p:nvSpPr>
          <p:cNvPr id="34" name="TextBox 33"/>
          <p:cNvSpPr txBox="1"/>
          <p:nvPr/>
        </p:nvSpPr>
        <p:spPr>
          <a:xfrm>
            <a:off x="7573975" y="4725167"/>
            <a:ext cx="1920240" cy="206532"/>
          </a:xfrm>
          <a:prstGeom prst="rect">
            <a:avLst/>
          </a:prstGeom>
          <a:noFill/>
        </p:spPr>
        <p:txBody>
          <a:bodyPr wrap="square" anchor="t" lIns="0" rIns="0" tIns="0" bIns="0"/>
          <a:lstStyle/>
          <a:p>
            <a:pPr algn="l">
              <a:lnSpc>
                <a:spcPct val="112000"/>
              </a:lnSpc>
              <a:spcBef>
                <a:spcPts val="0"/>
              </a:spcBef>
            </a:pPr>
            <a:r>
              <a:rPr sz="1200" b="0" i="0">
                <a:solidFill>
                  <a:srgbClr val="111111"/>
                </a:solidFill>
                <a:latin typeface="Noto Sans Mono"/>
              </a:rPr>
              <a:t>git revert</a:t>
            </a:r>
          </a:p>
        </p:txBody>
      </p:sp>
      <p:sp>
        <p:nvSpPr>
          <p:cNvPr id="35" name="TextBox 34"/>
          <p:cNvSpPr txBox="1"/>
          <p:nvPr/>
        </p:nvSpPr>
        <p:spPr>
          <a:xfrm>
            <a:off x="9585655" y="4725167"/>
            <a:ext cx="1737360" cy="206532"/>
          </a:xfrm>
          <a:prstGeom prst="rect">
            <a:avLst/>
          </a:prstGeom>
          <a:noFill/>
        </p:spPr>
        <p:txBody>
          <a:bodyPr wrap="square" anchor="t" lIns="0" rIns="0" tIns="0" bIns="0"/>
          <a:lstStyle/>
          <a:p>
            <a:pPr algn="l">
              <a:lnSpc>
                <a:spcPct val="112000"/>
              </a:lnSpc>
              <a:spcBef>
                <a:spcPts val="0"/>
              </a:spcBef>
            </a:pPr>
            <a:r>
              <a:rPr sz="1200" b="0" i="0">
                <a:solidFill>
                  <a:srgbClr val="111111"/>
                </a:solidFill>
                <a:latin typeface="Inter"/>
              </a:rPr>
              <a:t>Answer only</a:t>
            </a:r>
          </a:p>
        </p:txBody>
      </p:sp>
      <p:sp>
        <p:nvSpPr>
          <p:cNvPr id="36" name="Rectangle 35"/>
          <p:cNvSpPr/>
          <p:nvPr/>
        </p:nvSpPr>
        <p:spPr>
          <a:xfrm>
            <a:off x="822960" y="4977419"/>
            <a:ext cx="10545775" cy="9525"/>
          </a:xfrm>
          <a:prstGeom prst="rect">
            <a:avLst/>
          </a:prstGeom>
          <a:solidFill>
            <a:srgbClr val="D9D9DE"/>
          </a:solidFill>
          <a:ln>
            <a:noFill/>
          </a:ln>
        </p:spPr>
        <p:txBody>
          <a:bodyPr rtlCol="0" anchor="ctr"/>
          <a:lstStyle/>
          <a:p>
            <a:pPr algn="ctr"/>
          </a:p>
        </p:txBody>
      </p:sp>
      <p:sp>
        <p:nvSpPr>
          <p:cNvPr id="37" name="TextBox 36"/>
          <p:cNvSpPr txBox="1"/>
          <p:nvPr/>
        </p:nvSpPr>
        <p:spPr>
          <a:xfrm>
            <a:off x="868680" y="5023139"/>
            <a:ext cx="6613855" cy="206532"/>
          </a:xfrm>
          <a:prstGeom prst="rect">
            <a:avLst/>
          </a:prstGeom>
          <a:noFill/>
        </p:spPr>
        <p:txBody>
          <a:bodyPr wrap="square" anchor="t" lIns="0" rIns="0" tIns="0" bIns="0"/>
          <a:lstStyle/>
          <a:p>
            <a:pPr algn="l">
              <a:lnSpc>
                <a:spcPct val="112000"/>
              </a:lnSpc>
              <a:spcBef>
                <a:spcPts val="0"/>
              </a:spcBef>
            </a:pPr>
            <a:r>
              <a:rPr sz="1200" b="0" i="0">
                <a:solidFill>
                  <a:srgbClr val="111111"/>
                </a:solidFill>
                <a:latin typeface="Inter"/>
              </a:rPr>
              <a:t>Revert erroneous git checkout (45 views)</a:t>
            </a:r>
          </a:p>
        </p:txBody>
      </p:sp>
      <p:sp>
        <p:nvSpPr>
          <p:cNvPr id="38" name="TextBox 37"/>
          <p:cNvSpPr txBox="1"/>
          <p:nvPr/>
        </p:nvSpPr>
        <p:spPr>
          <a:xfrm>
            <a:off x="7573975" y="5023139"/>
            <a:ext cx="1920240" cy="206532"/>
          </a:xfrm>
          <a:prstGeom prst="rect">
            <a:avLst/>
          </a:prstGeom>
          <a:noFill/>
        </p:spPr>
        <p:txBody>
          <a:bodyPr wrap="square" anchor="t" lIns="0" rIns="0" tIns="0" bIns="0"/>
          <a:lstStyle/>
          <a:p>
            <a:pPr algn="l">
              <a:lnSpc>
                <a:spcPct val="112000"/>
              </a:lnSpc>
              <a:spcBef>
                <a:spcPts val="0"/>
              </a:spcBef>
            </a:pPr>
            <a:r>
              <a:rPr sz="1200" b="0" i="0">
                <a:solidFill>
                  <a:srgbClr val="111111"/>
                </a:solidFill>
                <a:latin typeface="Noto Sans Mono"/>
              </a:rPr>
              <a:t>git stash</a:t>
            </a:r>
          </a:p>
        </p:txBody>
      </p:sp>
      <p:sp>
        <p:nvSpPr>
          <p:cNvPr id="39" name="TextBox 38"/>
          <p:cNvSpPr txBox="1"/>
          <p:nvPr/>
        </p:nvSpPr>
        <p:spPr>
          <a:xfrm>
            <a:off x="9585655" y="5023139"/>
            <a:ext cx="1737360" cy="206532"/>
          </a:xfrm>
          <a:prstGeom prst="rect">
            <a:avLst/>
          </a:prstGeom>
          <a:noFill/>
        </p:spPr>
        <p:txBody>
          <a:bodyPr wrap="square" anchor="t" lIns="0" rIns="0" tIns="0" bIns="0"/>
          <a:lstStyle/>
          <a:p>
            <a:pPr algn="l">
              <a:lnSpc>
                <a:spcPct val="112000"/>
              </a:lnSpc>
              <a:spcBef>
                <a:spcPts val="0"/>
              </a:spcBef>
            </a:pPr>
            <a:r>
              <a:rPr sz="1200" b="0" i="0">
                <a:solidFill>
                  <a:srgbClr val="111111"/>
                </a:solidFill>
                <a:latin typeface="Inter"/>
              </a:rPr>
              <a:t>Answer only</a:t>
            </a:r>
          </a:p>
        </p:txBody>
      </p:sp>
      <p:sp>
        <p:nvSpPr>
          <p:cNvPr id="40" name="TextBox 39"/>
          <p:cNvSpPr txBox="1"/>
          <p:nvPr/>
        </p:nvSpPr>
        <p:spPr>
          <a:xfrm>
            <a:off x="822960" y="6022158"/>
            <a:ext cx="10545775" cy="378642"/>
          </a:xfrm>
          <a:prstGeom prst="rect">
            <a:avLst/>
          </a:prstGeom>
          <a:noFill/>
        </p:spPr>
        <p:txBody>
          <a:bodyPr wrap="square" anchor="t" lIns="0" rIns="0" tIns="0" bIns="0"/>
          <a:lstStyle/>
          <a:p>
            <a:pPr algn="l">
              <a:lnSpc>
                <a:spcPct val="112000"/>
              </a:lnSpc>
              <a:spcBef>
                <a:spcPts val="0"/>
              </a:spcBef>
            </a:pPr>
            <a:r>
              <a:rPr sz="2200" b="0" i="1">
                <a:solidFill>
                  <a:srgbClr val="707078"/>
                </a:solidFill>
                <a:latin typeface="Inter"/>
              </a:rPr>
              <a:t>Did they measure what’s hard?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4ECFB"/>
        </a:solidFill>
        <a:effectLst/>
      </p:bgPr>
    </p:bg>
    <p:spTree>
      <p:nvGrpSpPr>
        <p:cNvPr id="1" name=""/>
        <p:cNvGrpSpPr/>
        <p:nvPr/>
      </p:nvGrpSpPr>
      <p:grpSpPr/>
      <p:sp>
        <p:nvSpPr>
          <p:cNvPr id="2" name="TextBox 1"/>
          <p:cNvSpPr txBox="1"/>
          <p:nvPr/>
        </p:nvSpPr>
        <p:spPr>
          <a:xfrm>
            <a:off x="822960" y="502920"/>
            <a:ext cx="10545775" cy="320040"/>
          </a:xfrm>
          <a:prstGeom prst="rect">
            <a:avLst/>
          </a:prstGeom>
          <a:noFill/>
        </p:spPr>
        <p:txBody>
          <a:bodyPr wrap="square" anchor="t" lIns="0" rIns="0" tIns="0" bIns="0"/>
          <a:lstStyle/>
          <a:p>
            <a:pPr algn="l">
              <a:lnSpc>
                <a:spcPct val="110000"/>
              </a:lnSpc>
            </a:pPr>
            <a:r>
              <a:rPr sz="1600" b="1">
                <a:solidFill>
                  <a:srgbClr val="8B3DFF"/>
                </a:solidFill>
                <a:latin typeface="Inter"/>
              </a:rPr>
              <a:t>2 · CHECK IT YOURSELF</a:t>
            </a:r>
          </a:p>
        </p:txBody>
      </p:sp>
      <p:sp>
        <p:nvSpPr>
          <p:cNvPr id="3" name="Rounded Rectangle 2"/>
          <p:cNvSpPr/>
          <p:nvPr/>
        </p:nvSpPr>
        <p:spPr>
          <a:xfrm>
            <a:off x="9997135" y="457200"/>
            <a:ext cx="1371600" cy="457200"/>
          </a:xfrm>
          <a:prstGeom prst="roundRect">
            <a:avLst>
              <a:gd name="adj" fmla="val 50000"/>
            </a:avLst>
          </a:prstGeom>
          <a:solidFill>
            <a:srgbClr val="FFFFFF"/>
          </a:solidFill>
          <a:ln>
            <a:noFill/>
          </a:ln>
          <a:effectLst/>
        </p:spPr>
        <p:txBody>
          <a:bodyPr rtlCol="0" anchor="ctr" lIns="0" rIns="0" tIns="0" bIns="0"/>
          <a:lstStyle/>
          <a:p>
            <a:pPr algn="ctr"/>
            <a:r>
              <a:rPr sz="1600" b="1">
                <a:solidFill>
                  <a:srgbClr val="111111"/>
                </a:solidFill>
                <a:latin typeface="Inter"/>
              </a:rPr>
              <a:t>5 min</a:t>
            </a:r>
          </a:p>
        </p:txBody>
      </p:sp>
      <p:sp>
        <p:nvSpPr>
          <p:cNvPr id="4" name="TextBox 3"/>
          <p:cNvSpPr txBox="1"/>
          <p:nvPr/>
        </p:nvSpPr>
        <p:spPr>
          <a:xfrm>
            <a:off x="822960" y="868680"/>
            <a:ext cx="8899855" cy="688441"/>
          </a:xfrm>
          <a:prstGeom prst="rect">
            <a:avLst/>
          </a:prstGeom>
          <a:noFill/>
        </p:spPr>
        <p:txBody>
          <a:bodyPr wrap="square" anchor="t" lIns="0" rIns="0" tIns="0" bIns="0"/>
          <a:lstStyle/>
          <a:p>
            <a:pPr algn="l">
              <a:lnSpc>
                <a:spcPct val="112000"/>
              </a:lnSpc>
              <a:spcBef>
                <a:spcPts val="0"/>
              </a:spcBef>
            </a:pPr>
            <a:r>
              <a:rPr sz="4000" b="1" i="0">
                <a:solidFill>
                  <a:srgbClr val="111111"/>
                </a:solidFill>
                <a:latin typeface="Inter"/>
              </a:rPr>
              <a:t>Sort 7 survey comments</a:t>
            </a:r>
          </a:p>
        </p:txBody>
      </p:sp>
      <p:sp>
        <p:nvSpPr>
          <p:cNvPr id="5" name="TextBox 4"/>
          <p:cNvSpPr txBox="1"/>
          <p:nvPr/>
        </p:nvSpPr>
        <p:spPr>
          <a:xfrm>
            <a:off x="822960" y="1831441"/>
            <a:ext cx="8647535" cy="884284"/>
          </a:xfrm>
          <a:prstGeom prst="rect">
            <a:avLst/>
          </a:prstGeom>
          <a:noFill/>
        </p:spPr>
        <p:txBody>
          <a:bodyPr wrap="square" anchor="t" lIns="0" rIns="0" tIns="0" bIns="0"/>
          <a:lstStyle/>
          <a:p>
            <a:pPr algn="l">
              <a:lnSpc>
                <a:spcPct val="112000"/>
              </a:lnSpc>
              <a:spcBef>
                <a:spcPts val="0"/>
              </a:spcBef>
            </a:pPr>
            <a:r>
              <a:rPr sz="2200" b="0" i="0">
                <a:solidFill>
                  <a:srgbClr val="111111"/>
                </a:solidFill>
                <a:latin typeface="Inter"/>
              </a:rPr>
              <a:t>The paper sorted comments into 6 groups.</a:t>
            </a:r>
          </a:p>
          <a:p>
            <a:pPr algn="l">
              <a:lnSpc>
                <a:spcPct val="112000"/>
              </a:lnSpc>
              <a:spcBef>
                <a:spcPts val="1000"/>
              </a:spcBef>
            </a:pPr>
            <a:r>
              <a:rPr sz="2200" b="0" i="0">
                <a:solidFill>
                  <a:srgbClr val="111111"/>
                </a:solidFill>
                <a:latin typeface="Inter"/>
              </a:rPr>
              <a:t>Sort them yourself. Then compare.</a:t>
            </a:r>
          </a:p>
        </p:txBody>
      </p:sp>
      <p:sp>
        <p:nvSpPr>
          <p:cNvPr id="6" name="TextBox 5"/>
          <p:cNvSpPr txBox="1"/>
          <p:nvPr/>
        </p:nvSpPr>
        <p:spPr>
          <a:xfrm>
            <a:off x="822960" y="2944325"/>
            <a:ext cx="8647535" cy="275376"/>
          </a:xfrm>
          <a:prstGeom prst="rect">
            <a:avLst/>
          </a:prstGeom>
          <a:noFill/>
        </p:spPr>
        <p:txBody>
          <a:bodyPr wrap="square" anchor="t" lIns="0" rIns="0" tIns="0" bIns="0"/>
          <a:lstStyle/>
          <a:p>
            <a:pPr algn="l">
              <a:lnSpc>
                <a:spcPct val="112000"/>
              </a:lnSpc>
              <a:spcBef>
                <a:spcPts val="0"/>
              </a:spcBef>
            </a:pPr>
            <a:r>
              <a:rPr sz="1600" b="0" i="0">
                <a:solidFill>
                  <a:srgbClr val="707078"/>
                </a:solidFill>
                <a:latin typeface="Inter"/>
              </a:rPr>
              <a:t>The paper’s six categories:</a:t>
            </a:r>
          </a:p>
        </p:txBody>
      </p:sp>
      <p:sp>
        <p:nvSpPr>
          <p:cNvPr id="7" name="TextBox 6"/>
          <p:cNvSpPr txBox="1"/>
          <p:nvPr/>
        </p:nvSpPr>
        <p:spPr>
          <a:xfrm>
            <a:off x="822960" y="3292853"/>
            <a:ext cx="8647535" cy="1842756"/>
          </a:xfrm>
          <a:prstGeom prst="rect">
            <a:avLst/>
          </a:prstGeom>
          <a:noFill/>
        </p:spPr>
        <p:txBody>
          <a:bodyPr wrap="square" anchor="t" lIns="0" rIns="0" tIns="0" bIns="0"/>
          <a:lstStyle/>
          <a:p>
            <a:pPr algn="l">
              <a:lnSpc>
                <a:spcPct val="112000"/>
              </a:lnSpc>
              <a:spcBef>
                <a:spcPts val="0"/>
              </a:spcBef>
            </a:pPr>
            <a:r>
              <a:rPr sz="1600" b="0" i="0">
                <a:solidFill>
                  <a:srgbClr val="111111"/>
                </a:solidFill>
                <a:latin typeface="Inter"/>
              </a:rPr>
              <a:t>Learning and improving from practice (18)</a:t>
            </a:r>
          </a:p>
          <a:p>
            <a:pPr algn="l">
              <a:lnSpc>
                <a:spcPct val="112000"/>
              </a:lnSpc>
              <a:spcBef>
                <a:spcPts val="300"/>
              </a:spcBef>
            </a:pPr>
            <a:r>
              <a:rPr sz="1600" b="0" i="0">
                <a:solidFill>
                  <a:srgbClr val="111111"/>
                </a:solidFill>
                <a:latin typeface="Inter"/>
              </a:rPr>
              <a:t>Making the best use of the internet (17)</a:t>
            </a:r>
          </a:p>
          <a:p>
            <a:pPr algn="l">
              <a:lnSpc>
                <a:spcPct val="112000"/>
              </a:lnSpc>
              <a:spcBef>
                <a:spcPts val="300"/>
              </a:spcBef>
            </a:pPr>
            <a:r>
              <a:rPr sz="1600" b="0" i="0">
                <a:solidFill>
                  <a:srgbClr val="111111"/>
                </a:solidFill>
                <a:latin typeface="Inter"/>
              </a:rPr>
              <a:t>Understanding basic concepts and principles first (14)</a:t>
            </a:r>
          </a:p>
          <a:p>
            <a:pPr algn="l">
              <a:lnSpc>
                <a:spcPct val="112000"/>
              </a:lnSpc>
              <a:spcBef>
                <a:spcPts val="300"/>
              </a:spcBef>
            </a:pPr>
            <a:r>
              <a:rPr sz="1600" b="0" i="0">
                <a:solidFill>
                  <a:srgbClr val="111111"/>
                </a:solidFill>
                <a:latin typeface="Inter"/>
              </a:rPr>
              <a:t>Emphasizing the importance of Git (9)</a:t>
            </a:r>
          </a:p>
          <a:p>
            <a:pPr algn="l">
              <a:lnSpc>
                <a:spcPct val="112000"/>
              </a:lnSpc>
              <a:spcBef>
                <a:spcPts val="300"/>
              </a:spcBef>
            </a:pPr>
            <a:r>
              <a:rPr sz="1600" b="0" i="0">
                <a:solidFill>
                  <a:srgbClr val="111111"/>
                </a:solidFill>
                <a:latin typeface="Inter"/>
              </a:rPr>
              <a:t>Mastering only the basic commands (5)</a:t>
            </a:r>
          </a:p>
          <a:p>
            <a:pPr algn="l">
              <a:lnSpc>
                <a:spcPct val="112000"/>
              </a:lnSpc>
              <a:spcBef>
                <a:spcPts val="300"/>
              </a:spcBef>
            </a:pPr>
            <a:r>
              <a:rPr sz="1600" b="0" i="0">
                <a:solidFill>
                  <a:srgbClr val="111111"/>
                </a:solidFill>
                <a:latin typeface="Inter"/>
              </a:rPr>
              <a:t>Having the basic needs satisfied by Git GUI tools (2)</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502920"/>
            <a:ext cx="10545775" cy="320040"/>
          </a:xfrm>
          <a:prstGeom prst="rect">
            <a:avLst/>
          </a:prstGeom>
          <a:noFill/>
        </p:spPr>
        <p:txBody>
          <a:bodyPr wrap="square" anchor="t" lIns="0" rIns="0" tIns="0" bIns="0"/>
          <a:lstStyle/>
          <a:p>
            <a:pPr algn="l">
              <a:lnSpc>
                <a:spcPct val="110000"/>
              </a:lnSpc>
            </a:pPr>
            <a:r>
              <a:rPr sz="1600" b="1">
                <a:solidFill>
                  <a:srgbClr val="8B3DFF"/>
                </a:solidFill>
                <a:latin typeface="Inter"/>
              </a:rPr>
              <a:t>2 · CHECK IT YOURSELF</a:t>
            </a:r>
          </a:p>
        </p:txBody>
      </p:sp>
      <p:sp>
        <p:nvSpPr>
          <p:cNvPr id="3" name="TextBox 2"/>
          <p:cNvSpPr txBox="1"/>
          <p:nvPr/>
        </p:nvSpPr>
        <p:spPr>
          <a:xfrm>
            <a:off x="822960" y="868680"/>
            <a:ext cx="10545775" cy="688441"/>
          </a:xfrm>
          <a:prstGeom prst="rect">
            <a:avLst/>
          </a:prstGeom>
          <a:noFill/>
        </p:spPr>
        <p:txBody>
          <a:bodyPr wrap="square" anchor="t" lIns="0" rIns="0" tIns="0" bIns="0"/>
          <a:lstStyle/>
          <a:p>
            <a:pPr algn="l">
              <a:lnSpc>
                <a:spcPct val="112000"/>
              </a:lnSpc>
              <a:spcBef>
                <a:spcPts val="0"/>
              </a:spcBef>
            </a:pPr>
            <a:r>
              <a:rPr sz="4000" b="1" i="0">
                <a:solidFill>
                  <a:srgbClr val="111111"/>
                </a:solidFill>
                <a:latin typeface="Inter"/>
              </a:rPr>
              <a:t>Did you agree?</a:t>
            </a:r>
          </a:p>
        </p:txBody>
      </p:sp>
      <p:sp>
        <p:nvSpPr>
          <p:cNvPr id="4" name="TextBox 3"/>
          <p:cNvSpPr txBox="1"/>
          <p:nvPr/>
        </p:nvSpPr>
        <p:spPr>
          <a:xfrm>
            <a:off x="822960" y="1831441"/>
            <a:ext cx="10545775" cy="712174"/>
          </a:xfrm>
          <a:prstGeom prst="rect">
            <a:avLst/>
          </a:prstGeom>
          <a:noFill/>
        </p:spPr>
        <p:txBody>
          <a:bodyPr wrap="square" anchor="t" lIns="0" rIns="0" tIns="0" bIns="0"/>
          <a:lstStyle/>
          <a:p>
            <a:pPr algn="l">
              <a:lnSpc>
                <a:spcPct val="112000"/>
              </a:lnSpc>
              <a:spcBef>
                <a:spcPts val="0"/>
              </a:spcBef>
            </a:pPr>
            <a:r>
              <a:rPr sz="1700" b="0" i="0">
                <a:solidFill>
                  <a:srgbClr val="111111"/>
                </a:solidFill>
                <a:latin typeface="Inter"/>
              </a:rPr>
              <a:t>The paper never says how it sorted, or if two people agreed.</a:t>
            </a:r>
          </a:p>
          <a:p>
            <a:pPr algn="l">
              <a:lnSpc>
                <a:spcPct val="112000"/>
              </a:lnSpc>
              <a:spcBef>
                <a:spcPts val="1000"/>
              </a:spcBef>
            </a:pPr>
            <a:r>
              <a:rPr sz="1700" b="0" i="0">
                <a:solidFill>
                  <a:srgbClr val="111111"/>
                </a:solidFill>
                <a:latin typeface="Inter"/>
              </a:rPr>
              <a:t>Good practice: two people sort, then report agreement.</a:t>
            </a:r>
          </a:p>
        </p:txBody>
      </p:sp>
      <p:sp>
        <p:nvSpPr>
          <p:cNvPr id="5" name="TextBox 4"/>
          <p:cNvSpPr txBox="1"/>
          <p:nvPr/>
        </p:nvSpPr>
        <p:spPr>
          <a:xfrm>
            <a:off x="868680" y="2744783"/>
            <a:ext cx="6248095" cy="206532"/>
          </a:xfrm>
          <a:prstGeom prst="rect">
            <a:avLst/>
          </a:prstGeom>
          <a:noFill/>
        </p:spPr>
        <p:txBody>
          <a:bodyPr wrap="square" anchor="t" lIns="0" rIns="0" tIns="0" bIns="0"/>
          <a:lstStyle/>
          <a:p>
            <a:pPr algn="l">
              <a:lnSpc>
                <a:spcPct val="112000"/>
              </a:lnSpc>
              <a:spcBef>
                <a:spcPts val="0"/>
              </a:spcBef>
            </a:pPr>
            <a:r>
              <a:rPr sz="1200" b="1" i="0">
                <a:solidFill>
                  <a:srgbClr val="707078"/>
                </a:solidFill>
                <a:latin typeface="Inter"/>
              </a:rPr>
              <a:t>COMMENT</a:t>
            </a:r>
          </a:p>
        </p:txBody>
      </p:sp>
      <p:sp>
        <p:nvSpPr>
          <p:cNvPr id="6" name="TextBox 5"/>
          <p:cNvSpPr txBox="1"/>
          <p:nvPr/>
        </p:nvSpPr>
        <p:spPr>
          <a:xfrm>
            <a:off x="7208215" y="2744783"/>
            <a:ext cx="4114800" cy="206532"/>
          </a:xfrm>
          <a:prstGeom prst="rect">
            <a:avLst/>
          </a:prstGeom>
          <a:noFill/>
        </p:spPr>
        <p:txBody>
          <a:bodyPr wrap="square" anchor="t" lIns="0" rIns="0" tIns="0" bIns="0"/>
          <a:lstStyle/>
          <a:p>
            <a:pPr algn="l">
              <a:lnSpc>
                <a:spcPct val="112000"/>
              </a:lnSpc>
              <a:spcBef>
                <a:spcPts val="0"/>
              </a:spcBef>
            </a:pPr>
            <a:r>
              <a:rPr sz="1200" b="1" i="0">
                <a:solidFill>
                  <a:srgbClr val="707078"/>
                </a:solidFill>
                <a:latin typeface="Inter"/>
              </a:rPr>
              <a:t>THE PAPER’S CATEGORY</a:t>
            </a:r>
          </a:p>
        </p:txBody>
      </p:sp>
      <p:sp>
        <p:nvSpPr>
          <p:cNvPr id="7" name="Rectangle 6"/>
          <p:cNvSpPr/>
          <p:nvPr/>
        </p:nvSpPr>
        <p:spPr>
          <a:xfrm>
            <a:off x="822960" y="2997035"/>
            <a:ext cx="10545775" cy="9525"/>
          </a:xfrm>
          <a:prstGeom prst="rect">
            <a:avLst/>
          </a:prstGeom>
          <a:solidFill>
            <a:srgbClr val="D9D9DE"/>
          </a:solidFill>
          <a:ln>
            <a:noFill/>
          </a:ln>
        </p:spPr>
        <p:txBody>
          <a:bodyPr rtlCol="0" anchor="ctr"/>
          <a:lstStyle/>
          <a:p>
            <a:pPr algn="ctr"/>
          </a:p>
        </p:txBody>
      </p:sp>
      <p:sp>
        <p:nvSpPr>
          <p:cNvPr id="8" name="TextBox 7"/>
          <p:cNvSpPr txBox="1"/>
          <p:nvPr/>
        </p:nvSpPr>
        <p:spPr>
          <a:xfrm>
            <a:off x="868680" y="3042755"/>
            <a:ext cx="6248095" cy="206532"/>
          </a:xfrm>
          <a:prstGeom prst="rect">
            <a:avLst/>
          </a:prstGeom>
          <a:noFill/>
        </p:spPr>
        <p:txBody>
          <a:bodyPr wrap="square" anchor="t" lIns="0" rIns="0" tIns="0" bIns="0"/>
          <a:lstStyle/>
          <a:p>
            <a:pPr algn="l">
              <a:lnSpc>
                <a:spcPct val="112000"/>
              </a:lnSpc>
              <a:spcBef>
                <a:spcPts val="0"/>
              </a:spcBef>
            </a:pPr>
            <a:r>
              <a:rPr sz="1200" b="0" i="0">
                <a:solidFill>
                  <a:srgbClr val="111111"/>
                </a:solidFill>
                <a:latin typeface="Inter"/>
              </a:rPr>
              <a:t>#56 “Git is an extremely important tool to our routine as software …”</a:t>
            </a:r>
          </a:p>
        </p:txBody>
      </p:sp>
      <p:sp>
        <p:nvSpPr>
          <p:cNvPr id="9" name="TextBox 8"/>
          <p:cNvSpPr txBox="1"/>
          <p:nvPr/>
        </p:nvSpPr>
        <p:spPr>
          <a:xfrm>
            <a:off x="7208215" y="3042755"/>
            <a:ext cx="4114800" cy="206532"/>
          </a:xfrm>
          <a:prstGeom prst="rect">
            <a:avLst/>
          </a:prstGeom>
          <a:noFill/>
        </p:spPr>
        <p:txBody>
          <a:bodyPr wrap="square" anchor="t" lIns="0" rIns="0" tIns="0" bIns="0"/>
          <a:lstStyle/>
          <a:p>
            <a:pPr algn="l">
              <a:lnSpc>
                <a:spcPct val="112000"/>
              </a:lnSpc>
              <a:spcBef>
                <a:spcPts val="0"/>
              </a:spcBef>
            </a:pPr>
            <a:r>
              <a:rPr sz="1200" b="0" i="0">
                <a:solidFill>
                  <a:srgbClr val="111111"/>
                </a:solidFill>
                <a:latin typeface="Inter"/>
              </a:rPr>
              <a:t>Emphasizing the importance of Git</a:t>
            </a:r>
          </a:p>
        </p:txBody>
      </p:sp>
      <p:sp>
        <p:nvSpPr>
          <p:cNvPr id="10" name="Rectangle 9"/>
          <p:cNvSpPr/>
          <p:nvPr/>
        </p:nvSpPr>
        <p:spPr>
          <a:xfrm>
            <a:off x="822960" y="3295007"/>
            <a:ext cx="10545775" cy="9525"/>
          </a:xfrm>
          <a:prstGeom prst="rect">
            <a:avLst/>
          </a:prstGeom>
          <a:solidFill>
            <a:srgbClr val="D9D9DE"/>
          </a:solidFill>
          <a:ln>
            <a:noFill/>
          </a:ln>
        </p:spPr>
        <p:txBody>
          <a:bodyPr rtlCol="0" anchor="ctr"/>
          <a:lstStyle/>
          <a:p>
            <a:pPr algn="ctr"/>
          </a:p>
        </p:txBody>
      </p:sp>
      <p:sp>
        <p:nvSpPr>
          <p:cNvPr id="11" name="TextBox 10"/>
          <p:cNvSpPr txBox="1"/>
          <p:nvPr/>
        </p:nvSpPr>
        <p:spPr>
          <a:xfrm>
            <a:off x="868680" y="3340727"/>
            <a:ext cx="6248095" cy="206532"/>
          </a:xfrm>
          <a:prstGeom prst="rect">
            <a:avLst/>
          </a:prstGeom>
          <a:noFill/>
        </p:spPr>
        <p:txBody>
          <a:bodyPr wrap="square" anchor="t" lIns="0" rIns="0" tIns="0" bIns="0"/>
          <a:lstStyle/>
          <a:p>
            <a:pPr algn="l">
              <a:lnSpc>
                <a:spcPct val="112000"/>
              </a:lnSpc>
              <a:spcBef>
                <a:spcPts val="0"/>
              </a:spcBef>
            </a:pPr>
            <a:r>
              <a:rPr sz="1200" b="0" i="0">
                <a:solidFill>
                  <a:srgbClr val="111111"/>
                </a:solidFill>
                <a:latin typeface="Inter"/>
              </a:rPr>
              <a:t>#32 “There are so many commands, I think it is better to learn them in …”</a:t>
            </a:r>
          </a:p>
        </p:txBody>
      </p:sp>
      <p:sp>
        <p:nvSpPr>
          <p:cNvPr id="12" name="TextBox 11"/>
          <p:cNvSpPr txBox="1"/>
          <p:nvPr/>
        </p:nvSpPr>
        <p:spPr>
          <a:xfrm>
            <a:off x="7208215" y="3340727"/>
            <a:ext cx="4114800" cy="206532"/>
          </a:xfrm>
          <a:prstGeom prst="rect">
            <a:avLst/>
          </a:prstGeom>
          <a:noFill/>
        </p:spPr>
        <p:txBody>
          <a:bodyPr wrap="square" anchor="t" lIns="0" rIns="0" tIns="0" bIns="0"/>
          <a:lstStyle/>
          <a:p>
            <a:pPr algn="l">
              <a:lnSpc>
                <a:spcPct val="112000"/>
              </a:lnSpc>
              <a:spcBef>
                <a:spcPts val="0"/>
              </a:spcBef>
            </a:pPr>
            <a:r>
              <a:rPr sz="1200" b="0" i="0">
                <a:solidFill>
                  <a:srgbClr val="111111"/>
                </a:solidFill>
                <a:latin typeface="Inter"/>
              </a:rPr>
              <a:t>Learning and improving from practice</a:t>
            </a:r>
          </a:p>
        </p:txBody>
      </p:sp>
      <p:sp>
        <p:nvSpPr>
          <p:cNvPr id="13" name="Rectangle 12"/>
          <p:cNvSpPr/>
          <p:nvPr/>
        </p:nvSpPr>
        <p:spPr>
          <a:xfrm>
            <a:off x="822960" y="3592979"/>
            <a:ext cx="10545775" cy="9525"/>
          </a:xfrm>
          <a:prstGeom prst="rect">
            <a:avLst/>
          </a:prstGeom>
          <a:solidFill>
            <a:srgbClr val="D9D9DE"/>
          </a:solidFill>
          <a:ln>
            <a:noFill/>
          </a:ln>
        </p:spPr>
        <p:txBody>
          <a:bodyPr rtlCol="0" anchor="ctr"/>
          <a:lstStyle/>
          <a:p>
            <a:pPr algn="ctr"/>
          </a:p>
        </p:txBody>
      </p:sp>
      <p:sp>
        <p:nvSpPr>
          <p:cNvPr id="14" name="TextBox 13"/>
          <p:cNvSpPr txBox="1"/>
          <p:nvPr/>
        </p:nvSpPr>
        <p:spPr>
          <a:xfrm>
            <a:off x="868680" y="3638699"/>
            <a:ext cx="6248095" cy="206532"/>
          </a:xfrm>
          <a:prstGeom prst="rect">
            <a:avLst/>
          </a:prstGeom>
          <a:noFill/>
        </p:spPr>
        <p:txBody>
          <a:bodyPr wrap="square" anchor="t" lIns="0" rIns="0" tIns="0" bIns="0"/>
          <a:lstStyle/>
          <a:p>
            <a:pPr algn="l">
              <a:lnSpc>
                <a:spcPct val="112000"/>
              </a:lnSpc>
              <a:spcBef>
                <a:spcPts val="0"/>
              </a:spcBef>
            </a:pPr>
            <a:r>
              <a:rPr sz="1200" b="0" i="0">
                <a:solidFill>
                  <a:srgbClr val="111111"/>
                </a:solidFill>
                <a:latin typeface="Inter"/>
              </a:rPr>
              <a:t>#89 “Git is not a tool you have to go pretty deep to learn. Since it is a …”</a:t>
            </a:r>
          </a:p>
        </p:txBody>
      </p:sp>
      <p:sp>
        <p:nvSpPr>
          <p:cNvPr id="15" name="TextBox 14"/>
          <p:cNvSpPr txBox="1"/>
          <p:nvPr/>
        </p:nvSpPr>
        <p:spPr>
          <a:xfrm>
            <a:off x="7208215" y="3638699"/>
            <a:ext cx="4114800" cy="206532"/>
          </a:xfrm>
          <a:prstGeom prst="rect">
            <a:avLst/>
          </a:prstGeom>
          <a:noFill/>
        </p:spPr>
        <p:txBody>
          <a:bodyPr wrap="square" anchor="t" lIns="0" rIns="0" tIns="0" bIns="0"/>
          <a:lstStyle/>
          <a:p>
            <a:pPr algn="l">
              <a:lnSpc>
                <a:spcPct val="112000"/>
              </a:lnSpc>
              <a:spcBef>
                <a:spcPts val="0"/>
              </a:spcBef>
            </a:pPr>
            <a:r>
              <a:rPr sz="1200" b="0" i="0">
                <a:solidFill>
                  <a:srgbClr val="111111"/>
                </a:solidFill>
                <a:latin typeface="Inter"/>
              </a:rPr>
              <a:t>Mastering only the basic commands</a:t>
            </a:r>
          </a:p>
        </p:txBody>
      </p:sp>
      <p:sp>
        <p:nvSpPr>
          <p:cNvPr id="16" name="Rectangle 15"/>
          <p:cNvSpPr/>
          <p:nvPr/>
        </p:nvSpPr>
        <p:spPr>
          <a:xfrm>
            <a:off x="822960" y="3890951"/>
            <a:ext cx="10545775" cy="9525"/>
          </a:xfrm>
          <a:prstGeom prst="rect">
            <a:avLst/>
          </a:prstGeom>
          <a:solidFill>
            <a:srgbClr val="D9D9DE"/>
          </a:solidFill>
          <a:ln>
            <a:noFill/>
          </a:ln>
        </p:spPr>
        <p:txBody>
          <a:bodyPr rtlCol="0" anchor="ctr"/>
          <a:lstStyle/>
          <a:p>
            <a:pPr algn="ctr"/>
          </a:p>
        </p:txBody>
      </p:sp>
      <p:sp>
        <p:nvSpPr>
          <p:cNvPr id="17" name="TextBox 16"/>
          <p:cNvSpPr txBox="1"/>
          <p:nvPr/>
        </p:nvSpPr>
        <p:spPr>
          <a:xfrm>
            <a:off x="868680" y="3936671"/>
            <a:ext cx="6248095" cy="206532"/>
          </a:xfrm>
          <a:prstGeom prst="rect">
            <a:avLst/>
          </a:prstGeom>
          <a:noFill/>
        </p:spPr>
        <p:txBody>
          <a:bodyPr wrap="square" anchor="t" lIns="0" rIns="0" tIns="0" bIns="0"/>
          <a:lstStyle/>
          <a:p>
            <a:pPr algn="l">
              <a:lnSpc>
                <a:spcPct val="112000"/>
              </a:lnSpc>
              <a:spcBef>
                <a:spcPts val="0"/>
              </a:spcBef>
            </a:pPr>
            <a:r>
              <a:rPr sz="1200" b="0" i="0">
                <a:solidFill>
                  <a:srgbClr val="111111"/>
                </a:solidFill>
                <a:latin typeface="Inter"/>
              </a:rPr>
              <a:t>#26 “The difficulty with git is that when problems arise, you have to dive …”</a:t>
            </a:r>
          </a:p>
        </p:txBody>
      </p:sp>
      <p:sp>
        <p:nvSpPr>
          <p:cNvPr id="18" name="TextBox 17"/>
          <p:cNvSpPr txBox="1"/>
          <p:nvPr/>
        </p:nvSpPr>
        <p:spPr>
          <a:xfrm>
            <a:off x="7208215" y="3936671"/>
            <a:ext cx="4114800" cy="206532"/>
          </a:xfrm>
          <a:prstGeom prst="rect">
            <a:avLst/>
          </a:prstGeom>
          <a:noFill/>
        </p:spPr>
        <p:txBody>
          <a:bodyPr wrap="square" anchor="t" lIns="0" rIns="0" tIns="0" bIns="0"/>
          <a:lstStyle/>
          <a:p>
            <a:pPr algn="l">
              <a:lnSpc>
                <a:spcPct val="112000"/>
              </a:lnSpc>
              <a:spcBef>
                <a:spcPts val="0"/>
              </a:spcBef>
            </a:pPr>
            <a:r>
              <a:rPr sz="1200" b="0" i="0">
                <a:solidFill>
                  <a:srgbClr val="111111"/>
                </a:solidFill>
                <a:latin typeface="Inter"/>
              </a:rPr>
              <a:t>Understanding basic concepts and principles first</a:t>
            </a:r>
          </a:p>
        </p:txBody>
      </p:sp>
      <p:sp>
        <p:nvSpPr>
          <p:cNvPr id="19" name="Rectangle 18"/>
          <p:cNvSpPr/>
          <p:nvPr/>
        </p:nvSpPr>
        <p:spPr>
          <a:xfrm>
            <a:off x="822960" y="4188923"/>
            <a:ext cx="10545775" cy="9525"/>
          </a:xfrm>
          <a:prstGeom prst="rect">
            <a:avLst/>
          </a:prstGeom>
          <a:solidFill>
            <a:srgbClr val="D9D9DE"/>
          </a:solidFill>
          <a:ln>
            <a:noFill/>
          </a:ln>
        </p:spPr>
        <p:txBody>
          <a:bodyPr rtlCol="0" anchor="ctr"/>
          <a:lstStyle/>
          <a:p>
            <a:pPr algn="ctr"/>
          </a:p>
        </p:txBody>
      </p:sp>
      <p:sp>
        <p:nvSpPr>
          <p:cNvPr id="20" name="TextBox 19"/>
          <p:cNvSpPr txBox="1"/>
          <p:nvPr/>
        </p:nvSpPr>
        <p:spPr>
          <a:xfrm>
            <a:off x="868680" y="4234643"/>
            <a:ext cx="6248095" cy="206532"/>
          </a:xfrm>
          <a:prstGeom prst="rect">
            <a:avLst/>
          </a:prstGeom>
          <a:noFill/>
        </p:spPr>
        <p:txBody>
          <a:bodyPr wrap="square" anchor="t" lIns="0" rIns="0" tIns="0" bIns="0"/>
          <a:lstStyle/>
          <a:p>
            <a:pPr algn="l">
              <a:lnSpc>
                <a:spcPct val="112000"/>
              </a:lnSpc>
              <a:spcBef>
                <a:spcPts val="0"/>
              </a:spcBef>
            </a:pPr>
            <a:r>
              <a:rPr sz="1200" b="0" i="0">
                <a:solidFill>
                  <a:srgbClr val="111111"/>
                </a:solidFill>
                <a:latin typeface="Inter"/>
              </a:rPr>
              <a:t>#21 “All I want is to concentrate on my development, and dump the code …”</a:t>
            </a:r>
          </a:p>
        </p:txBody>
      </p:sp>
      <p:sp>
        <p:nvSpPr>
          <p:cNvPr id="21" name="TextBox 20"/>
          <p:cNvSpPr txBox="1"/>
          <p:nvPr/>
        </p:nvSpPr>
        <p:spPr>
          <a:xfrm>
            <a:off x="7208215" y="4234643"/>
            <a:ext cx="4114800" cy="206532"/>
          </a:xfrm>
          <a:prstGeom prst="rect">
            <a:avLst/>
          </a:prstGeom>
          <a:noFill/>
        </p:spPr>
        <p:txBody>
          <a:bodyPr wrap="square" anchor="t" lIns="0" rIns="0" tIns="0" bIns="0"/>
          <a:lstStyle/>
          <a:p>
            <a:pPr algn="l">
              <a:lnSpc>
                <a:spcPct val="112000"/>
              </a:lnSpc>
              <a:spcBef>
                <a:spcPts val="0"/>
              </a:spcBef>
            </a:pPr>
            <a:r>
              <a:rPr sz="1200" b="0" i="0">
                <a:solidFill>
                  <a:srgbClr val="111111"/>
                </a:solidFill>
                <a:latin typeface="Inter"/>
              </a:rPr>
              <a:t>Having the basic needs satisfied by Git GUI tools</a:t>
            </a:r>
          </a:p>
        </p:txBody>
      </p:sp>
      <p:sp>
        <p:nvSpPr>
          <p:cNvPr id="22" name="Rectangle 21"/>
          <p:cNvSpPr/>
          <p:nvPr/>
        </p:nvSpPr>
        <p:spPr>
          <a:xfrm>
            <a:off x="822960" y="4486895"/>
            <a:ext cx="10545775" cy="9525"/>
          </a:xfrm>
          <a:prstGeom prst="rect">
            <a:avLst/>
          </a:prstGeom>
          <a:solidFill>
            <a:srgbClr val="D9D9DE"/>
          </a:solidFill>
          <a:ln>
            <a:noFill/>
          </a:ln>
        </p:spPr>
        <p:txBody>
          <a:bodyPr rtlCol="0" anchor="ctr"/>
          <a:lstStyle/>
          <a:p>
            <a:pPr algn="ctr"/>
          </a:p>
        </p:txBody>
      </p:sp>
      <p:sp>
        <p:nvSpPr>
          <p:cNvPr id="23" name="TextBox 22"/>
          <p:cNvSpPr txBox="1"/>
          <p:nvPr/>
        </p:nvSpPr>
        <p:spPr>
          <a:xfrm>
            <a:off x="868680" y="4532615"/>
            <a:ext cx="6248095" cy="206532"/>
          </a:xfrm>
          <a:prstGeom prst="rect">
            <a:avLst/>
          </a:prstGeom>
          <a:noFill/>
        </p:spPr>
        <p:txBody>
          <a:bodyPr wrap="square" anchor="t" lIns="0" rIns="0" tIns="0" bIns="0"/>
          <a:lstStyle/>
          <a:p>
            <a:pPr algn="l">
              <a:lnSpc>
                <a:spcPct val="112000"/>
              </a:lnSpc>
              <a:spcBef>
                <a:spcPts val="0"/>
              </a:spcBef>
            </a:pPr>
            <a:r>
              <a:rPr sz="1200" b="0" i="0">
                <a:solidFill>
                  <a:srgbClr val="111111"/>
                </a:solidFill>
                <a:latin typeface="Inter"/>
              </a:rPr>
              <a:t>#77 “Git is my VCS of choice, as I’ve learned how it works and have use …”</a:t>
            </a:r>
          </a:p>
        </p:txBody>
      </p:sp>
      <p:sp>
        <p:nvSpPr>
          <p:cNvPr id="24" name="TextBox 23"/>
          <p:cNvSpPr txBox="1"/>
          <p:nvPr/>
        </p:nvSpPr>
        <p:spPr>
          <a:xfrm>
            <a:off x="7208215" y="4532615"/>
            <a:ext cx="4114800" cy="206532"/>
          </a:xfrm>
          <a:prstGeom prst="rect">
            <a:avLst/>
          </a:prstGeom>
          <a:noFill/>
        </p:spPr>
        <p:txBody>
          <a:bodyPr wrap="square" anchor="t" lIns="0" rIns="0" tIns="0" bIns="0"/>
          <a:lstStyle/>
          <a:p>
            <a:pPr algn="l">
              <a:lnSpc>
                <a:spcPct val="112000"/>
              </a:lnSpc>
              <a:spcBef>
                <a:spcPts val="0"/>
              </a:spcBef>
            </a:pPr>
            <a:r>
              <a:rPr sz="1200" b="0" i="0">
                <a:solidFill>
                  <a:srgbClr val="111111"/>
                </a:solidFill>
                <a:latin typeface="Inter"/>
              </a:rPr>
              <a:t>Learning and improving from practice</a:t>
            </a:r>
          </a:p>
        </p:txBody>
      </p:sp>
      <p:sp>
        <p:nvSpPr>
          <p:cNvPr id="25" name="Rectangle 24"/>
          <p:cNvSpPr/>
          <p:nvPr/>
        </p:nvSpPr>
        <p:spPr>
          <a:xfrm>
            <a:off x="822960" y="4784867"/>
            <a:ext cx="10545775" cy="9525"/>
          </a:xfrm>
          <a:prstGeom prst="rect">
            <a:avLst/>
          </a:prstGeom>
          <a:solidFill>
            <a:srgbClr val="D9D9DE"/>
          </a:solidFill>
          <a:ln>
            <a:noFill/>
          </a:ln>
        </p:spPr>
        <p:txBody>
          <a:bodyPr rtlCol="0" anchor="ctr"/>
          <a:lstStyle/>
          <a:p>
            <a:pPr algn="ctr"/>
          </a:p>
        </p:txBody>
      </p:sp>
      <p:sp>
        <p:nvSpPr>
          <p:cNvPr id="26" name="TextBox 25"/>
          <p:cNvSpPr txBox="1"/>
          <p:nvPr/>
        </p:nvSpPr>
        <p:spPr>
          <a:xfrm>
            <a:off x="868680" y="4830587"/>
            <a:ext cx="6248095" cy="206532"/>
          </a:xfrm>
          <a:prstGeom prst="rect">
            <a:avLst/>
          </a:prstGeom>
          <a:noFill/>
        </p:spPr>
        <p:txBody>
          <a:bodyPr wrap="square" anchor="t" lIns="0" rIns="0" tIns="0" bIns="0"/>
          <a:lstStyle/>
          <a:p>
            <a:pPr algn="l">
              <a:lnSpc>
                <a:spcPct val="112000"/>
              </a:lnSpc>
              <a:spcBef>
                <a:spcPts val="0"/>
              </a:spcBef>
            </a:pPr>
            <a:r>
              <a:rPr sz="1200" b="0" i="0">
                <a:solidFill>
                  <a:srgbClr val="111111"/>
                </a:solidFill>
                <a:latin typeface="Inter"/>
              </a:rPr>
              <a:t>#42 “Years on, I still constantly have to search the internet for help …”</a:t>
            </a:r>
          </a:p>
        </p:txBody>
      </p:sp>
      <p:sp>
        <p:nvSpPr>
          <p:cNvPr id="27" name="TextBox 26"/>
          <p:cNvSpPr txBox="1"/>
          <p:nvPr/>
        </p:nvSpPr>
        <p:spPr>
          <a:xfrm>
            <a:off x="7208215" y="4830587"/>
            <a:ext cx="4114800" cy="206532"/>
          </a:xfrm>
          <a:prstGeom prst="rect">
            <a:avLst/>
          </a:prstGeom>
          <a:noFill/>
        </p:spPr>
        <p:txBody>
          <a:bodyPr wrap="square" anchor="t" lIns="0" rIns="0" tIns="0" bIns="0"/>
          <a:lstStyle/>
          <a:p>
            <a:pPr algn="l">
              <a:lnSpc>
                <a:spcPct val="112000"/>
              </a:lnSpc>
              <a:spcBef>
                <a:spcPts val="0"/>
              </a:spcBef>
            </a:pPr>
            <a:r>
              <a:rPr sz="1200" b="0" i="0">
                <a:solidFill>
                  <a:srgbClr val="111111"/>
                </a:solidFill>
                <a:latin typeface="Inter"/>
              </a:rPr>
              <a:t>Making the best use of the internet</a:t>
            </a:r>
          </a:p>
        </p:txBody>
      </p:sp>
      <p:sp>
        <p:nvSpPr>
          <p:cNvPr id="28" name="TextBox 27"/>
          <p:cNvSpPr txBox="1"/>
          <p:nvPr/>
        </p:nvSpPr>
        <p:spPr>
          <a:xfrm>
            <a:off x="822960" y="6022158"/>
            <a:ext cx="10545775" cy="378642"/>
          </a:xfrm>
          <a:prstGeom prst="rect">
            <a:avLst/>
          </a:prstGeom>
          <a:noFill/>
        </p:spPr>
        <p:txBody>
          <a:bodyPr wrap="square" anchor="t" lIns="0" rIns="0" tIns="0" bIns="0"/>
          <a:lstStyle/>
          <a:p>
            <a:pPr algn="l">
              <a:lnSpc>
                <a:spcPct val="112000"/>
              </a:lnSpc>
              <a:spcBef>
                <a:spcPts val="0"/>
              </a:spcBef>
            </a:pPr>
            <a:r>
              <a:rPr sz="2200" b="0" i="1">
                <a:solidFill>
                  <a:srgbClr val="707078"/>
                </a:solidFill>
                <a:latin typeface="Inter"/>
              </a:rPr>
              <a:t>Would another team get the same groups?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502920"/>
            <a:ext cx="10545775" cy="320040"/>
          </a:xfrm>
          <a:prstGeom prst="rect">
            <a:avLst/>
          </a:prstGeom>
          <a:noFill/>
        </p:spPr>
        <p:txBody>
          <a:bodyPr wrap="square" anchor="t" lIns="0" rIns="0" tIns="0" bIns="0"/>
          <a:lstStyle/>
          <a:p>
            <a:pPr algn="l">
              <a:lnSpc>
                <a:spcPct val="110000"/>
              </a:lnSpc>
            </a:pPr>
            <a:r>
              <a:rPr sz="1600" b="1">
                <a:solidFill>
                  <a:srgbClr val="8B3DFF"/>
                </a:solidFill>
                <a:latin typeface="Inter"/>
              </a:rPr>
              <a:t>BREAK</a:t>
            </a:r>
          </a:p>
        </p:txBody>
      </p:sp>
      <p:sp>
        <p:nvSpPr>
          <p:cNvPr id="3" name="TextBox 2"/>
          <p:cNvSpPr txBox="1"/>
          <p:nvPr/>
        </p:nvSpPr>
        <p:spPr>
          <a:xfrm>
            <a:off x="822960" y="2103120"/>
            <a:ext cx="10545775" cy="1135928"/>
          </a:xfrm>
          <a:prstGeom prst="rect">
            <a:avLst/>
          </a:prstGeom>
          <a:noFill/>
        </p:spPr>
        <p:txBody>
          <a:bodyPr wrap="square" anchor="t" lIns="0" rIns="0" tIns="0" bIns="0"/>
          <a:lstStyle/>
          <a:p>
            <a:pPr algn="l">
              <a:lnSpc>
                <a:spcPct val="112000"/>
              </a:lnSpc>
              <a:spcBef>
                <a:spcPts val="0"/>
              </a:spcBef>
            </a:pPr>
            <a:r>
              <a:rPr sz="6600" b="1" i="0">
                <a:solidFill>
                  <a:srgbClr val="111111"/>
                </a:solidFill>
                <a:latin typeface="Inter"/>
              </a:rPr>
              <a:t>Break</a:t>
            </a:r>
          </a:p>
        </p:txBody>
      </p:sp>
      <p:sp>
        <p:nvSpPr>
          <p:cNvPr id="4" name="TextBox 3"/>
          <p:cNvSpPr txBox="1"/>
          <p:nvPr/>
        </p:nvSpPr>
        <p:spPr>
          <a:xfrm>
            <a:off x="822960" y="3559088"/>
            <a:ext cx="8647535" cy="447487"/>
          </a:xfrm>
          <a:prstGeom prst="rect">
            <a:avLst/>
          </a:prstGeom>
          <a:noFill/>
        </p:spPr>
        <p:txBody>
          <a:bodyPr wrap="square" anchor="t" lIns="0" rIns="0" tIns="0" bIns="0"/>
          <a:lstStyle/>
          <a:p>
            <a:pPr algn="l">
              <a:lnSpc>
                <a:spcPct val="112000"/>
              </a:lnSpc>
              <a:spcBef>
                <a:spcPts val="0"/>
              </a:spcBef>
            </a:pPr>
            <a:r>
              <a:rPr sz="2600" b="0" i="0">
                <a:solidFill>
                  <a:srgbClr val="707078"/>
                </a:solidFill>
                <a:latin typeface="Inter"/>
              </a:rPr>
              <a:t>5 minutes. Then groups.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4ECFB"/>
        </a:solidFill>
        <a:effectLst/>
      </p:bgPr>
    </p:bg>
    <p:spTree>
      <p:nvGrpSpPr>
        <p:cNvPr id="1" name=""/>
        <p:cNvGrpSpPr/>
        <p:nvPr/>
      </p:nvGrpSpPr>
      <p:grpSpPr/>
      <p:sp>
        <p:nvSpPr>
          <p:cNvPr id="2" name="TextBox 1"/>
          <p:cNvSpPr txBox="1"/>
          <p:nvPr/>
        </p:nvSpPr>
        <p:spPr>
          <a:xfrm>
            <a:off x="822960" y="502920"/>
            <a:ext cx="10545775" cy="320040"/>
          </a:xfrm>
          <a:prstGeom prst="rect">
            <a:avLst/>
          </a:prstGeom>
          <a:noFill/>
        </p:spPr>
        <p:txBody>
          <a:bodyPr wrap="square" anchor="t" lIns="0" rIns="0" tIns="0" bIns="0"/>
          <a:lstStyle/>
          <a:p>
            <a:pPr algn="l">
              <a:lnSpc>
                <a:spcPct val="110000"/>
              </a:lnSpc>
            </a:pPr>
            <a:r>
              <a:rPr sz="1600" b="1">
                <a:solidFill>
                  <a:srgbClr val="8B3DFF"/>
                </a:solidFill>
                <a:latin typeface="Inter"/>
              </a:rPr>
              <a:t>3 · JUDGE IT</a:t>
            </a:r>
          </a:p>
        </p:txBody>
      </p:sp>
      <p:sp>
        <p:nvSpPr>
          <p:cNvPr id="3" name="Rounded Rectangle 2"/>
          <p:cNvSpPr/>
          <p:nvPr/>
        </p:nvSpPr>
        <p:spPr>
          <a:xfrm>
            <a:off x="9997135" y="457200"/>
            <a:ext cx="1371600" cy="457200"/>
          </a:xfrm>
          <a:prstGeom prst="roundRect">
            <a:avLst>
              <a:gd name="adj" fmla="val 50000"/>
            </a:avLst>
          </a:prstGeom>
          <a:solidFill>
            <a:srgbClr val="FFFFFF"/>
          </a:solidFill>
          <a:ln>
            <a:noFill/>
          </a:ln>
          <a:effectLst/>
        </p:spPr>
        <p:txBody>
          <a:bodyPr rtlCol="0" anchor="ctr" lIns="0" rIns="0" tIns="0" bIns="0"/>
          <a:lstStyle/>
          <a:p>
            <a:pPr algn="ctr"/>
            <a:r>
              <a:rPr sz="1600" b="1">
                <a:solidFill>
                  <a:srgbClr val="111111"/>
                </a:solidFill>
                <a:latin typeface="Inter"/>
              </a:rPr>
              <a:t>7 min</a:t>
            </a:r>
          </a:p>
        </p:txBody>
      </p:sp>
      <p:sp>
        <p:nvSpPr>
          <p:cNvPr id="4" name="TextBox 3"/>
          <p:cNvSpPr txBox="1"/>
          <p:nvPr/>
        </p:nvSpPr>
        <p:spPr>
          <a:xfrm>
            <a:off x="822960" y="868680"/>
            <a:ext cx="8899855" cy="688441"/>
          </a:xfrm>
          <a:prstGeom prst="rect">
            <a:avLst/>
          </a:prstGeom>
          <a:noFill/>
        </p:spPr>
        <p:txBody>
          <a:bodyPr wrap="square" anchor="t" lIns="0" rIns="0" tIns="0" bIns="0"/>
          <a:lstStyle/>
          <a:p>
            <a:pPr algn="l">
              <a:lnSpc>
                <a:spcPct val="112000"/>
              </a:lnSpc>
              <a:spcBef>
                <a:spcPts val="0"/>
              </a:spcBef>
            </a:pPr>
            <a:r>
              <a:rPr sz="4000" b="1" i="0">
                <a:solidFill>
                  <a:srgbClr val="111111"/>
                </a:solidFill>
                <a:latin typeface="Inter"/>
              </a:rPr>
              <a:t>Put one claim on trial</a:t>
            </a:r>
          </a:p>
        </p:txBody>
      </p:sp>
      <p:sp>
        <p:nvSpPr>
          <p:cNvPr id="5" name="TextBox 4"/>
          <p:cNvSpPr txBox="1"/>
          <p:nvPr/>
        </p:nvSpPr>
        <p:spPr>
          <a:xfrm>
            <a:off x="822960" y="1831441"/>
            <a:ext cx="8647535" cy="815440"/>
          </a:xfrm>
          <a:prstGeom prst="rect">
            <a:avLst/>
          </a:prstGeom>
          <a:noFill/>
        </p:spPr>
        <p:txBody>
          <a:bodyPr wrap="square" anchor="t" lIns="0" rIns="0" tIns="0" bIns="0"/>
          <a:lstStyle/>
          <a:p>
            <a:pPr algn="l">
              <a:lnSpc>
                <a:spcPct val="112000"/>
              </a:lnSpc>
              <a:spcBef>
                <a:spcPts val="0"/>
              </a:spcBef>
            </a:pPr>
            <a:r>
              <a:rPr sz="2000" b="0" i="0">
                <a:solidFill>
                  <a:srgbClr val="111111"/>
                </a:solidFill>
                <a:latin typeface="Inter"/>
              </a:rPr>
              <a:t>Your group gets one claim. One person types.</a:t>
            </a:r>
          </a:p>
          <a:p>
            <a:pPr algn="l">
              <a:lnSpc>
                <a:spcPct val="112000"/>
              </a:lnSpc>
              <a:spcBef>
                <a:spcPts val="1000"/>
              </a:spcBef>
            </a:pPr>
            <a:r>
              <a:rPr sz="2000" b="0" i="0">
                <a:solidFill>
                  <a:srgbClr val="111111"/>
                </a:solidFill>
                <a:latin typeface="Inter"/>
              </a:rPr>
              <a:t>Write what they measured. Then what it really shows.</a:t>
            </a:r>
          </a:p>
        </p:txBody>
      </p:sp>
      <p:sp>
        <p:nvSpPr>
          <p:cNvPr id="6" name="Rounded Rectangle 5"/>
          <p:cNvSpPr/>
          <p:nvPr/>
        </p:nvSpPr>
        <p:spPr>
          <a:xfrm>
            <a:off x="822960" y="2875481"/>
            <a:ext cx="5181447" cy="1313992"/>
          </a:xfrm>
          <a:prstGeom prst="roundRect">
            <a:avLst>
              <a:gd name="adj" fmla="val 6000"/>
            </a:avLst>
          </a:prstGeom>
          <a:solidFill>
            <a:srgbClr val="FFFFFF"/>
          </a:solidFill>
          <a:ln w="19050">
            <a:solidFill>
              <a:srgbClr val="D9D9DE"/>
            </a:solidFill>
          </a:ln>
          <a:effectLst/>
        </p:spPr>
        <p:txBody>
          <a:bodyPr rtlCol="0" anchor="ctr"/>
          <a:lstStyle/>
          <a:p/>
        </p:txBody>
      </p:sp>
      <p:sp>
        <p:nvSpPr>
          <p:cNvPr id="7" name="TextBox 6"/>
          <p:cNvSpPr txBox="1"/>
          <p:nvPr/>
        </p:nvSpPr>
        <p:spPr>
          <a:xfrm>
            <a:off x="1005840" y="3012641"/>
            <a:ext cx="4815687" cy="201168"/>
          </a:xfrm>
          <a:prstGeom prst="rect">
            <a:avLst/>
          </a:prstGeom>
          <a:noFill/>
        </p:spPr>
        <p:txBody>
          <a:bodyPr wrap="square" anchor="t" lIns="0" rIns="0" tIns="0" bIns="0"/>
          <a:lstStyle/>
          <a:p>
            <a:pPr algn="l">
              <a:lnSpc>
                <a:spcPct val="110000"/>
              </a:lnSpc>
            </a:pPr>
            <a:r>
              <a:rPr sz="1100" b="1">
                <a:solidFill>
                  <a:srgbClr val="707078"/>
                </a:solidFill>
                <a:latin typeface="Inter"/>
              </a:rPr>
              <a:t>RQ2, §3.2</a:t>
            </a:r>
          </a:p>
        </p:txBody>
      </p:sp>
      <p:sp>
        <p:nvSpPr>
          <p:cNvPr id="8" name="TextBox 7"/>
          <p:cNvSpPr txBox="1"/>
          <p:nvPr/>
        </p:nvSpPr>
        <p:spPr>
          <a:xfrm>
            <a:off x="1005840" y="3232097"/>
            <a:ext cx="4815687" cy="774496"/>
          </a:xfrm>
          <a:prstGeom prst="rect">
            <a:avLst/>
          </a:prstGeom>
          <a:noFill/>
        </p:spPr>
        <p:txBody>
          <a:bodyPr wrap="square" anchor="t" lIns="0" rIns="0" tIns="0" bIns="0"/>
          <a:lstStyle/>
          <a:p>
            <a:pPr algn="l">
              <a:lnSpc>
                <a:spcPct val="112000"/>
              </a:lnSpc>
              <a:spcBef>
                <a:spcPts val="0"/>
              </a:spcBef>
            </a:pPr>
            <a:r>
              <a:rPr sz="1500" b="0" i="1">
                <a:solidFill>
                  <a:srgbClr val="111111"/>
                </a:solidFill>
                <a:latin typeface="Inter"/>
              </a:rPr>
              <a:t>“This suggests that even developers with years of development experience can have trouble using Git commands.”</a:t>
            </a:r>
          </a:p>
        </p:txBody>
      </p:sp>
      <p:sp>
        <p:nvSpPr>
          <p:cNvPr id="9" name="Rounded Rectangle 8"/>
          <p:cNvSpPr/>
          <p:nvPr/>
        </p:nvSpPr>
        <p:spPr>
          <a:xfrm>
            <a:off x="6187287" y="2875481"/>
            <a:ext cx="5181447" cy="1313992"/>
          </a:xfrm>
          <a:prstGeom prst="roundRect">
            <a:avLst>
              <a:gd name="adj" fmla="val 6000"/>
            </a:avLst>
          </a:prstGeom>
          <a:solidFill>
            <a:srgbClr val="FFFFFF"/>
          </a:solidFill>
          <a:ln w="19050">
            <a:solidFill>
              <a:srgbClr val="D9D9DE"/>
            </a:solidFill>
          </a:ln>
          <a:effectLst/>
        </p:spPr>
        <p:txBody>
          <a:bodyPr rtlCol="0" anchor="ctr"/>
          <a:lstStyle/>
          <a:p/>
        </p:txBody>
      </p:sp>
      <p:sp>
        <p:nvSpPr>
          <p:cNvPr id="10" name="TextBox 9"/>
          <p:cNvSpPr txBox="1"/>
          <p:nvPr/>
        </p:nvSpPr>
        <p:spPr>
          <a:xfrm>
            <a:off x="6370167" y="3012641"/>
            <a:ext cx="4815687" cy="201168"/>
          </a:xfrm>
          <a:prstGeom prst="rect">
            <a:avLst/>
          </a:prstGeom>
          <a:noFill/>
        </p:spPr>
        <p:txBody>
          <a:bodyPr wrap="square" anchor="t" lIns="0" rIns="0" tIns="0" bIns="0"/>
          <a:lstStyle/>
          <a:p>
            <a:pPr algn="l">
              <a:lnSpc>
                <a:spcPct val="110000"/>
              </a:lnSpc>
            </a:pPr>
            <a:r>
              <a:rPr sz="1100" b="1">
                <a:solidFill>
                  <a:srgbClr val="707078"/>
                </a:solidFill>
                <a:latin typeface="Inter"/>
              </a:rPr>
              <a:t>§1, FINDING 4; §3.4</a:t>
            </a:r>
          </a:p>
        </p:txBody>
      </p:sp>
      <p:sp>
        <p:nvSpPr>
          <p:cNvPr id="11" name="TextBox 10"/>
          <p:cNvSpPr txBox="1"/>
          <p:nvPr/>
        </p:nvSpPr>
        <p:spPr>
          <a:xfrm>
            <a:off x="6370167" y="3232097"/>
            <a:ext cx="4815687" cy="774496"/>
          </a:xfrm>
          <a:prstGeom prst="rect">
            <a:avLst/>
          </a:prstGeom>
          <a:noFill/>
        </p:spPr>
        <p:txBody>
          <a:bodyPr wrap="square" anchor="t" lIns="0" rIns="0" tIns="0" bIns="0"/>
          <a:lstStyle/>
          <a:p>
            <a:pPr algn="l">
              <a:lnSpc>
                <a:spcPct val="112000"/>
              </a:lnSpc>
              <a:spcBef>
                <a:spcPts val="0"/>
              </a:spcBef>
            </a:pPr>
            <a:r>
              <a:rPr sz="1500" b="0" i="1">
                <a:solidFill>
                  <a:srgbClr val="111111"/>
                </a:solidFill>
                <a:latin typeface="Inter"/>
              </a:rPr>
              <a:t>“…for the more frequently-used commands, git credential and git submodule are among the most difficult ones.”</a:t>
            </a:r>
          </a:p>
        </p:txBody>
      </p:sp>
      <p:sp>
        <p:nvSpPr>
          <p:cNvPr id="12" name="Rounded Rectangle 11"/>
          <p:cNvSpPr/>
          <p:nvPr/>
        </p:nvSpPr>
        <p:spPr>
          <a:xfrm>
            <a:off x="822960" y="4372353"/>
            <a:ext cx="5181447" cy="1572158"/>
          </a:xfrm>
          <a:prstGeom prst="roundRect">
            <a:avLst>
              <a:gd name="adj" fmla="val 6000"/>
            </a:avLst>
          </a:prstGeom>
          <a:solidFill>
            <a:srgbClr val="FFFFFF"/>
          </a:solidFill>
          <a:ln w="19050">
            <a:solidFill>
              <a:srgbClr val="D9D9DE"/>
            </a:solidFill>
          </a:ln>
          <a:effectLst/>
        </p:spPr>
        <p:txBody>
          <a:bodyPr rtlCol="0" anchor="ctr"/>
          <a:lstStyle/>
          <a:p/>
        </p:txBody>
      </p:sp>
      <p:sp>
        <p:nvSpPr>
          <p:cNvPr id="13" name="TextBox 12"/>
          <p:cNvSpPr txBox="1"/>
          <p:nvPr/>
        </p:nvSpPr>
        <p:spPr>
          <a:xfrm>
            <a:off x="1005840" y="4509513"/>
            <a:ext cx="4815687" cy="201168"/>
          </a:xfrm>
          <a:prstGeom prst="rect">
            <a:avLst/>
          </a:prstGeom>
          <a:noFill/>
        </p:spPr>
        <p:txBody>
          <a:bodyPr wrap="square" anchor="t" lIns="0" rIns="0" tIns="0" bIns="0"/>
          <a:lstStyle/>
          <a:p>
            <a:pPr algn="l">
              <a:lnSpc>
                <a:spcPct val="110000"/>
              </a:lnSpc>
            </a:pPr>
            <a:r>
              <a:rPr sz="1100" b="1">
                <a:solidFill>
                  <a:srgbClr val="707078"/>
                </a:solidFill>
                <a:latin typeface="Inter"/>
              </a:rPr>
              <a:t>ABSTRACT; §3.5</a:t>
            </a:r>
          </a:p>
        </p:txBody>
      </p:sp>
      <p:sp>
        <p:nvSpPr>
          <p:cNvPr id="14" name="TextBox 13"/>
          <p:cNvSpPr txBox="1"/>
          <p:nvPr/>
        </p:nvSpPr>
        <p:spPr>
          <a:xfrm>
            <a:off x="1005840" y="4728969"/>
            <a:ext cx="4815687" cy="258165"/>
          </a:xfrm>
          <a:prstGeom prst="rect">
            <a:avLst/>
          </a:prstGeom>
          <a:noFill/>
        </p:spPr>
        <p:txBody>
          <a:bodyPr wrap="square" anchor="t" lIns="0" rIns="0" tIns="0" bIns="0"/>
          <a:lstStyle/>
          <a:p>
            <a:pPr algn="l">
              <a:lnSpc>
                <a:spcPct val="112000"/>
              </a:lnSpc>
              <a:spcBef>
                <a:spcPts val="0"/>
              </a:spcBef>
            </a:pPr>
            <a:r>
              <a:rPr sz="1500" b="0" i="1">
                <a:solidFill>
                  <a:srgbClr val="111111"/>
                </a:solidFill>
                <a:latin typeface="Inter"/>
              </a:rPr>
              <a:t>“Self-learning is the primary learning approach.”</a:t>
            </a:r>
          </a:p>
        </p:txBody>
      </p:sp>
      <p:sp>
        <p:nvSpPr>
          <p:cNvPr id="15" name="Rounded Rectangle 14"/>
          <p:cNvSpPr/>
          <p:nvPr/>
        </p:nvSpPr>
        <p:spPr>
          <a:xfrm>
            <a:off x="6187287" y="4372353"/>
            <a:ext cx="5181447" cy="1572158"/>
          </a:xfrm>
          <a:prstGeom prst="roundRect">
            <a:avLst>
              <a:gd name="adj" fmla="val 6000"/>
            </a:avLst>
          </a:prstGeom>
          <a:solidFill>
            <a:srgbClr val="FFFFFF"/>
          </a:solidFill>
          <a:ln w="19050">
            <a:solidFill>
              <a:srgbClr val="D9D9DE"/>
            </a:solidFill>
          </a:ln>
          <a:effectLst/>
        </p:spPr>
        <p:txBody>
          <a:bodyPr rtlCol="0" anchor="ctr"/>
          <a:lstStyle/>
          <a:p/>
        </p:txBody>
      </p:sp>
      <p:sp>
        <p:nvSpPr>
          <p:cNvPr id="16" name="TextBox 15"/>
          <p:cNvSpPr txBox="1"/>
          <p:nvPr/>
        </p:nvSpPr>
        <p:spPr>
          <a:xfrm>
            <a:off x="6370167" y="4509513"/>
            <a:ext cx="4815687" cy="201168"/>
          </a:xfrm>
          <a:prstGeom prst="rect">
            <a:avLst/>
          </a:prstGeom>
          <a:noFill/>
        </p:spPr>
        <p:txBody>
          <a:bodyPr wrap="square" anchor="t" lIns="0" rIns="0" tIns="0" bIns="0"/>
          <a:lstStyle/>
          <a:p>
            <a:pPr algn="l">
              <a:lnSpc>
                <a:spcPct val="110000"/>
              </a:lnSpc>
            </a:pPr>
            <a:r>
              <a:rPr sz="1100" b="1">
                <a:solidFill>
                  <a:srgbClr val="707078"/>
                </a:solidFill>
                <a:latin typeface="Inter"/>
              </a:rPr>
              <a:t>§3.5</a:t>
            </a:r>
          </a:p>
        </p:txBody>
      </p:sp>
      <p:sp>
        <p:nvSpPr>
          <p:cNvPr id="17" name="TextBox 16"/>
          <p:cNvSpPr txBox="1"/>
          <p:nvPr/>
        </p:nvSpPr>
        <p:spPr>
          <a:xfrm>
            <a:off x="6370167" y="4728969"/>
            <a:ext cx="4815687" cy="1032662"/>
          </a:xfrm>
          <a:prstGeom prst="rect">
            <a:avLst/>
          </a:prstGeom>
          <a:noFill/>
        </p:spPr>
        <p:txBody>
          <a:bodyPr wrap="square" anchor="t" lIns="0" rIns="0" tIns="0" bIns="0"/>
          <a:lstStyle/>
          <a:p>
            <a:pPr algn="l">
              <a:lnSpc>
                <a:spcPct val="112000"/>
              </a:lnSpc>
              <a:spcBef>
                <a:spcPts val="0"/>
              </a:spcBef>
            </a:pPr>
            <a:r>
              <a:rPr sz="1500" b="0" i="1">
                <a:solidFill>
                  <a:srgbClr val="111111"/>
                </a:solidFill>
                <a:latin typeface="Inter"/>
              </a:rPr>
              <a:t>“This result, although surprising, is consistent with the conclusion we obtained in RQ2, indicating that even experienced developers still have doubts about Git usage.”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502920"/>
            <a:ext cx="10545775" cy="320040"/>
          </a:xfrm>
          <a:prstGeom prst="rect">
            <a:avLst/>
          </a:prstGeom>
          <a:noFill/>
        </p:spPr>
        <p:txBody>
          <a:bodyPr wrap="square" anchor="t" lIns="0" rIns="0" tIns="0" bIns="0"/>
          <a:lstStyle/>
          <a:p>
            <a:pPr algn="l">
              <a:lnSpc>
                <a:spcPct val="110000"/>
              </a:lnSpc>
            </a:pPr>
            <a:r>
              <a:rPr sz="1600" b="1">
                <a:solidFill>
                  <a:srgbClr val="8B3DFF"/>
                </a:solidFill>
                <a:latin typeface="Inter"/>
              </a:rPr>
              <a:t>3 · JUDGE IT</a:t>
            </a:r>
          </a:p>
        </p:txBody>
      </p:sp>
      <p:sp>
        <p:nvSpPr>
          <p:cNvPr id="3" name="TextBox 2"/>
          <p:cNvSpPr txBox="1"/>
          <p:nvPr/>
        </p:nvSpPr>
        <p:spPr>
          <a:xfrm>
            <a:off x="822960" y="868680"/>
            <a:ext cx="10545775" cy="688441"/>
          </a:xfrm>
          <a:prstGeom prst="rect">
            <a:avLst/>
          </a:prstGeom>
          <a:noFill/>
        </p:spPr>
        <p:txBody>
          <a:bodyPr wrap="square" anchor="t" lIns="0" rIns="0" tIns="0" bIns="0"/>
          <a:lstStyle/>
          <a:p>
            <a:pPr algn="l">
              <a:lnSpc>
                <a:spcPct val="112000"/>
              </a:lnSpc>
              <a:spcBef>
                <a:spcPts val="0"/>
              </a:spcBef>
            </a:pPr>
            <a:r>
              <a:rPr sz="4000" b="1" i="0">
                <a:solidFill>
                  <a:srgbClr val="111111"/>
                </a:solidFill>
                <a:latin typeface="Inter"/>
              </a:rPr>
              <a:t>The verdicts (1/2)</a:t>
            </a:r>
          </a:p>
        </p:txBody>
      </p:sp>
      <p:sp>
        <p:nvSpPr>
          <p:cNvPr id="4" name="TextBox 3"/>
          <p:cNvSpPr txBox="1"/>
          <p:nvPr/>
        </p:nvSpPr>
        <p:spPr>
          <a:xfrm>
            <a:off x="822960" y="1831441"/>
            <a:ext cx="10545775" cy="309798"/>
          </a:xfrm>
          <a:prstGeom prst="rect">
            <a:avLst/>
          </a:prstGeom>
          <a:noFill/>
        </p:spPr>
        <p:txBody>
          <a:bodyPr wrap="square" anchor="t" lIns="0" rIns="0" tIns="0" bIns="0"/>
          <a:lstStyle/>
          <a:p>
            <a:pPr algn="l">
              <a:lnSpc>
                <a:spcPct val="112000"/>
              </a:lnSpc>
              <a:spcBef>
                <a:spcPts val="0"/>
              </a:spcBef>
            </a:pPr>
            <a:r>
              <a:rPr sz="1800" b="0" i="0">
                <a:solidFill>
                  <a:srgbClr val="111111"/>
                </a:solidFill>
                <a:latin typeface="Inter"/>
              </a:rPr>
              <a:t>The title asks if developers know how to use Git. Nobody was watched.</a:t>
            </a:r>
          </a:p>
        </p:txBody>
      </p:sp>
      <p:sp>
        <p:nvSpPr>
          <p:cNvPr id="5" name="Rounded Rectangle 4"/>
          <p:cNvSpPr/>
          <p:nvPr/>
        </p:nvSpPr>
        <p:spPr>
          <a:xfrm>
            <a:off x="822960" y="2369839"/>
            <a:ext cx="5181447" cy="2051933"/>
          </a:xfrm>
          <a:prstGeom prst="roundRect">
            <a:avLst>
              <a:gd name="adj" fmla="val 6000"/>
            </a:avLst>
          </a:prstGeom>
          <a:solidFill>
            <a:srgbClr val="FFFFFF"/>
          </a:solidFill>
          <a:ln w="19050">
            <a:solidFill>
              <a:srgbClr val="D9D9DE"/>
            </a:solidFill>
          </a:ln>
          <a:effectLst/>
        </p:spPr>
        <p:txBody>
          <a:bodyPr rtlCol="0" anchor="ctr"/>
          <a:lstStyle/>
          <a:p/>
        </p:txBody>
      </p:sp>
      <p:sp>
        <p:nvSpPr>
          <p:cNvPr id="6" name="TextBox 5"/>
          <p:cNvSpPr txBox="1"/>
          <p:nvPr/>
        </p:nvSpPr>
        <p:spPr>
          <a:xfrm>
            <a:off x="1005840" y="2506999"/>
            <a:ext cx="4815687" cy="774496"/>
          </a:xfrm>
          <a:prstGeom prst="rect">
            <a:avLst/>
          </a:prstGeom>
          <a:noFill/>
        </p:spPr>
        <p:txBody>
          <a:bodyPr wrap="square" anchor="t" lIns="0" rIns="0" tIns="0" bIns="0"/>
          <a:lstStyle/>
          <a:p>
            <a:pPr algn="l">
              <a:lnSpc>
                <a:spcPct val="112000"/>
              </a:lnSpc>
              <a:spcBef>
                <a:spcPts val="0"/>
              </a:spcBef>
            </a:pPr>
            <a:r>
              <a:rPr sz="1500" b="0" i="1">
                <a:solidFill>
                  <a:srgbClr val="111111"/>
                </a:solidFill>
                <a:latin typeface="Inter"/>
              </a:rPr>
              <a:t>“This suggests that even developers with years of development experience can have trouble using Git commands.”</a:t>
            </a:r>
          </a:p>
        </p:txBody>
      </p:sp>
      <p:sp>
        <p:nvSpPr>
          <p:cNvPr id="7" name="Rounded Rectangle 6"/>
          <p:cNvSpPr/>
          <p:nvPr/>
        </p:nvSpPr>
        <p:spPr>
          <a:xfrm>
            <a:off x="1005840" y="3372935"/>
            <a:ext cx="4815687" cy="625002"/>
          </a:xfrm>
          <a:prstGeom prst="roundRect">
            <a:avLst>
              <a:gd name="adj" fmla="val 10000"/>
            </a:avLst>
          </a:prstGeom>
          <a:solidFill>
            <a:srgbClr val="F4ECFB"/>
          </a:solidFill>
          <a:ln>
            <a:noFill/>
          </a:ln>
          <a:effectLst/>
        </p:spPr>
        <p:txBody>
          <a:bodyPr rtlCol="0" anchor="ctr"/>
          <a:lstStyle/>
          <a:p/>
        </p:txBody>
      </p:sp>
      <p:sp>
        <p:nvSpPr>
          <p:cNvPr id="8" name="TextBox 7"/>
          <p:cNvSpPr txBox="1"/>
          <p:nvPr/>
        </p:nvSpPr>
        <p:spPr>
          <a:xfrm>
            <a:off x="1097280" y="3427799"/>
            <a:ext cx="4815687" cy="228600"/>
          </a:xfrm>
          <a:prstGeom prst="rect">
            <a:avLst/>
          </a:prstGeom>
          <a:noFill/>
        </p:spPr>
        <p:txBody>
          <a:bodyPr wrap="square" anchor="t" lIns="0" rIns="0" tIns="0" bIns="0"/>
          <a:lstStyle/>
          <a:p>
            <a:pPr algn="l">
              <a:lnSpc>
                <a:spcPct val="110000"/>
              </a:lnSpc>
            </a:pPr>
            <a:r>
              <a:rPr sz="1100" b="1">
                <a:solidFill>
                  <a:srgbClr val="8B3DFF"/>
                </a:solidFill>
                <a:latin typeface="Inter"/>
              </a:rPr>
              <a:t>THE DATA SUPPORTS</a:t>
            </a:r>
          </a:p>
        </p:txBody>
      </p:sp>
      <p:sp>
        <p:nvSpPr>
          <p:cNvPr id="9" name="TextBox 8"/>
          <p:cNvSpPr txBox="1"/>
          <p:nvPr/>
        </p:nvSpPr>
        <p:spPr>
          <a:xfrm>
            <a:off x="1097280" y="3647255"/>
            <a:ext cx="4632807" cy="240954"/>
          </a:xfrm>
          <a:prstGeom prst="rect">
            <a:avLst/>
          </a:prstGeom>
          <a:noFill/>
        </p:spPr>
        <p:txBody>
          <a:bodyPr wrap="square" anchor="t" lIns="0" rIns="0" tIns="0" bIns="0"/>
          <a:lstStyle/>
          <a:p>
            <a:pPr algn="l">
              <a:lnSpc>
                <a:spcPct val="112000"/>
              </a:lnSpc>
              <a:spcBef>
                <a:spcPts val="0"/>
              </a:spcBef>
            </a:pPr>
            <a:r>
              <a:rPr sz="1400" b="0" i="0">
                <a:solidFill>
                  <a:srgbClr val="111111"/>
                </a:solidFill>
                <a:latin typeface="Inter"/>
              </a:rPr>
              <a:t>Some long-time users had trouble. True, as written.</a:t>
            </a:r>
          </a:p>
        </p:txBody>
      </p:sp>
      <p:sp>
        <p:nvSpPr>
          <p:cNvPr id="10" name="Rounded Rectangle 9"/>
          <p:cNvSpPr/>
          <p:nvPr/>
        </p:nvSpPr>
        <p:spPr>
          <a:xfrm>
            <a:off x="6187287" y="2369839"/>
            <a:ext cx="5181447" cy="2051933"/>
          </a:xfrm>
          <a:prstGeom prst="roundRect">
            <a:avLst>
              <a:gd name="adj" fmla="val 6000"/>
            </a:avLst>
          </a:prstGeom>
          <a:solidFill>
            <a:srgbClr val="FFFFFF"/>
          </a:solidFill>
          <a:ln w="19050">
            <a:solidFill>
              <a:srgbClr val="D9D9DE"/>
            </a:solidFill>
          </a:ln>
          <a:effectLst/>
        </p:spPr>
        <p:txBody>
          <a:bodyPr rtlCol="0" anchor="ctr"/>
          <a:lstStyle/>
          <a:p/>
        </p:txBody>
      </p:sp>
      <p:sp>
        <p:nvSpPr>
          <p:cNvPr id="11" name="TextBox 10"/>
          <p:cNvSpPr txBox="1"/>
          <p:nvPr/>
        </p:nvSpPr>
        <p:spPr>
          <a:xfrm>
            <a:off x="6370167" y="2506999"/>
            <a:ext cx="4815687" cy="774496"/>
          </a:xfrm>
          <a:prstGeom prst="rect">
            <a:avLst/>
          </a:prstGeom>
          <a:noFill/>
        </p:spPr>
        <p:txBody>
          <a:bodyPr wrap="square" anchor="t" lIns="0" rIns="0" tIns="0" bIns="0"/>
          <a:lstStyle/>
          <a:p>
            <a:pPr algn="l">
              <a:lnSpc>
                <a:spcPct val="112000"/>
              </a:lnSpc>
              <a:spcBef>
                <a:spcPts val="0"/>
              </a:spcBef>
            </a:pPr>
            <a:r>
              <a:rPr sz="1500" b="0" i="1">
                <a:solidFill>
                  <a:srgbClr val="111111"/>
                </a:solidFill>
                <a:latin typeface="Inter"/>
              </a:rPr>
              <a:t>“…for the more frequently-used commands, git credential and git submodule are among the most difficult ones.”</a:t>
            </a:r>
          </a:p>
        </p:txBody>
      </p:sp>
      <p:sp>
        <p:nvSpPr>
          <p:cNvPr id="12" name="Rounded Rectangle 11"/>
          <p:cNvSpPr/>
          <p:nvPr/>
        </p:nvSpPr>
        <p:spPr>
          <a:xfrm>
            <a:off x="6370167" y="3372935"/>
            <a:ext cx="4815687" cy="865957"/>
          </a:xfrm>
          <a:prstGeom prst="roundRect">
            <a:avLst>
              <a:gd name="adj" fmla="val 10000"/>
            </a:avLst>
          </a:prstGeom>
          <a:solidFill>
            <a:srgbClr val="F4ECFB"/>
          </a:solidFill>
          <a:ln>
            <a:noFill/>
          </a:ln>
          <a:effectLst/>
        </p:spPr>
        <p:txBody>
          <a:bodyPr rtlCol="0" anchor="ctr"/>
          <a:lstStyle/>
          <a:p/>
        </p:txBody>
      </p:sp>
      <p:sp>
        <p:nvSpPr>
          <p:cNvPr id="13" name="TextBox 12"/>
          <p:cNvSpPr txBox="1"/>
          <p:nvPr/>
        </p:nvSpPr>
        <p:spPr>
          <a:xfrm>
            <a:off x="6461607" y="3427799"/>
            <a:ext cx="4815687" cy="228600"/>
          </a:xfrm>
          <a:prstGeom prst="rect">
            <a:avLst/>
          </a:prstGeom>
          <a:noFill/>
        </p:spPr>
        <p:txBody>
          <a:bodyPr wrap="square" anchor="t" lIns="0" rIns="0" tIns="0" bIns="0"/>
          <a:lstStyle/>
          <a:p>
            <a:pPr algn="l">
              <a:lnSpc>
                <a:spcPct val="110000"/>
              </a:lnSpc>
            </a:pPr>
            <a:r>
              <a:rPr sz="1100" b="1">
                <a:solidFill>
                  <a:srgbClr val="8B3DFF"/>
                </a:solidFill>
                <a:latin typeface="Inter"/>
              </a:rPr>
              <a:t>THE DATA SUPPORTS</a:t>
            </a:r>
          </a:p>
        </p:txBody>
      </p:sp>
      <p:sp>
        <p:nvSpPr>
          <p:cNvPr id="14" name="TextBox 13"/>
          <p:cNvSpPr txBox="1"/>
          <p:nvPr/>
        </p:nvSpPr>
        <p:spPr>
          <a:xfrm>
            <a:off x="6461607" y="3647255"/>
            <a:ext cx="4632807" cy="481909"/>
          </a:xfrm>
          <a:prstGeom prst="rect">
            <a:avLst/>
          </a:prstGeom>
          <a:noFill/>
        </p:spPr>
        <p:txBody>
          <a:bodyPr wrap="square" anchor="t" lIns="0" rIns="0" tIns="0" bIns="0"/>
          <a:lstStyle/>
          <a:p>
            <a:pPr algn="l">
              <a:lnSpc>
                <a:spcPct val="112000"/>
              </a:lnSpc>
              <a:spcBef>
                <a:spcPts val="0"/>
              </a:spcBef>
            </a:pPr>
            <a:r>
              <a:rPr sz="1400" b="0" i="0">
                <a:solidFill>
                  <a:srgbClr val="111111"/>
                </a:solidFill>
                <a:latin typeface="Inter"/>
              </a:rPr>
              <a:t>credential is above average (43.0% vs 36.5%); submodule is about average (37.5%).</a:t>
            </a:r>
          </a:p>
        </p:txBody>
      </p:sp>
      <p:sp>
        <p:nvSpPr>
          <p:cNvPr id="15" name="TextBox 14"/>
          <p:cNvSpPr txBox="1"/>
          <p:nvPr/>
        </p:nvSpPr>
        <p:spPr>
          <a:xfrm>
            <a:off x="822960" y="6022158"/>
            <a:ext cx="10545775" cy="378642"/>
          </a:xfrm>
          <a:prstGeom prst="rect">
            <a:avLst/>
          </a:prstGeom>
          <a:noFill/>
        </p:spPr>
        <p:txBody>
          <a:bodyPr wrap="square" anchor="t" lIns="0" rIns="0" tIns="0" bIns="0"/>
          <a:lstStyle/>
          <a:p>
            <a:pPr algn="l">
              <a:lnSpc>
                <a:spcPct val="112000"/>
              </a:lnSpc>
              <a:spcBef>
                <a:spcPts val="0"/>
              </a:spcBef>
            </a:pPr>
            <a:r>
              <a:rPr sz="2200" b="0" i="1">
                <a:solidFill>
                  <a:srgbClr val="707078"/>
                </a:solidFill>
                <a:latin typeface="Inter"/>
              </a:rPr>
              <a:t>Which claim holds up best?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502920"/>
            <a:ext cx="10545775" cy="320040"/>
          </a:xfrm>
          <a:prstGeom prst="rect">
            <a:avLst/>
          </a:prstGeom>
          <a:noFill/>
        </p:spPr>
        <p:txBody>
          <a:bodyPr wrap="square" anchor="t" lIns="0" rIns="0" tIns="0" bIns="0"/>
          <a:lstStyle/>
          <a:p>
            <a:pPr algn="l">
              <a:lnSpc>
                <a:spcPct val="110000"/>
              </a:lnSpc>
            </a:pPr>
            <a:r>
              <a:rPr sz="1600" b="1">
                <a:solidFill>
                  <a:srgbClr val="8B3DFF"/>
                </a:solidFill>
                <a:latin typeface="Inter"/>
              </a:rPr>
              <a:t>3 · JUDGE IT</a:t>
            </a:r>
          </a:p>
        </p:txBody>
      </p:sp>
      <p:sp>
        <p:nvSpPr>
          <p:cNvPr id="3" name="TextBox 2"/>
          <p:cNvSpPr txBox="1"/>
          <p:nvPr/>
        </p:nvSpPr>
        <p:spPr>
          <a:xfrm>
            <a:off x="822960" y="868680"/>
            <a:ext cx="10545775" cy="688441"/>
          </a:xfrm>
          <a:prstGeom prst="rect">
            <a:avLst/>
          </a:prstGeom>
          <a:noFill/>
        </p:spPr>
        <p:txBody>
          <a:bodyPr wrap="square" anchor="t" lIns="0" rIns="0" tIns="0" bIns="0"/>
          <a:lstStyle/>
          <a:p>
            <a:pPr algn="l">
              <a:lnSpc>
                <a:spcPct val="112000"/>
              </a:lnSpc>
              <a:spcBef>
                <a:spcPts val="0"/>
              </a:spcBef>
            </a:pPr>
            <a:r>
              <a:rPr sz="4000" b="1" i="0">
                <a:solidFill>
                  <a:srgbClr val="111111"/>
                </a:solidFill>
                <a:latin typeface="Inter"/>
              </a:rPr>
              <a:t>The verdicts (2/2)</a:t>
            </a:r>
          </a:p>
        </p:txBody>
      </p:sp>
      <p:sp>
        <p:nvSpPr>
          <p:cNvPr id="4" name="TextBox 3"/>
          <p:cNvSpPr txBox="1"/>
          <p:nvPr/>
        </p:nvSpPr>
        <p:spPr>
          <a:xfrm>
            <a:off x="822960" y="1831441"/>
            <a:ext cx="10545775" cy="309798"/>
          </a:xfrm>
          <a:prstGeom prst="rect">
            <a:avLst/>
          </a:prstGeom>
          <a:noFill/>
        </p:spPr>
        <p:txBody>
          <a:bodyPr wrap="square" anchor="t" lIns="0" rIns="0" tIns="0" bIns="0"/>
          <a:lstStyle/>
          <a:p>
            <a:pPr algn="l">
              <a:lnSpc>
                <a:spcPct val="112000"/>
              </a:lnSpc>
              <a:spcBef>
                <a:spcPts val="0"/>
              </a:spcBef>
            </a:pPr>
            <a:r>
              <a:rPr sz="1800" b="0" i="0">
                <a:solidFill>
                  <a:srgbClr val="111111"/>
                </a:solidFill>
                <a:latin typeface="Inter"/>
              </a:rPr>
              <a:t>The title asks if developers know how to use Git. Nobody was watched.</a:t>
            </a:r>
          </a:p>
        </p:txBody>
      </p:sp>
      <p:sp>
        <p:nvSpPr>
          <p:cNvPr id="5" name="Rounded Rectangle 4"/>
          <p:cNvSpPr/>
          <p:nvPr/>
        </p:nvSpPr>
        <p:spPr>
          <a:xfrm>
            <a:off x="822960" y="2369839"/>
            <a:ext cx="5181447" cy="2310099"/>
          </a:xfrm>
          <a:prstGeom prst="roundRect">
            <a:avLst>
              <a:gd name="adj" fmla="val 6000"/>
            </a:avLst>
          </a:prstGeom>
          <a:solidFill>
            <a:srgbClr val="FFFFFF"/>
          </a:solidFill>
          <a:ln w="19050">
            <a:solidFill>
              <a:srgbClr val="D9D9DE"/>
            </a:solidFill>
          </a:ln>
          <a:effectLst/>
        </p:spPr>
        <p:txBody>
          <a:bodyPr rtlCol="0" anchor="ctr"/>
          <a:lstStyle/>
          <a:p/>
        </p:txBody>
      </p:sp>
      <p:sp>
        <p:nvSpPr>
          <p:cNvPr id="6" name="TextBox 5"/>
          <p:cNvSpPr txBox="1"/>
          <p:nvPr/>
        </p:nvSpPr>
        <p:spPr>
          <a:xfrm>
            <a:off x="1005840" y="2506999"/>
            <a:ext cx="4815687" cy="258165"/>
          </a:xfrm>
          <a:prstGeom prst="rect">
            <a:avLst/>
          </a:prstGeom>
          <a:noFill/>
        </p:spPr>
        <p:txBody>
          <a:bodyPr wrap="square" anchor="t" lIns="0" rIns="0" tIns="0" bIns="0"/>
          <a:lstStyle/>
          <a:p>
            <a:pPr algn="l">
              <a:lnSpc>
                <a:spcPct val="112000"/>
              </a:lnSpc>
              <a:spcBef>
                <a:spcPts val="0"/>
              </a:spcBef>
            </a:pPr>
            <a:r>
              <a:rPr sz="1500" b="0" i="1">
                <a:solidFill>
                  <a:srgbClr val="111111"/>
                </a:solidFill>
                <a:latin typeface="Inter"/>
              </a:rPr>
              <a:t>“Self-learning is the primary learning approach.”</a:t>
            </a:r>
          </a:p>
        </p:txBody>
      </p:sp>
      <p:sp>
        <p:nvSpPr>
          <p:cNvPr id="7" name="Rounded Rectangle 6"/>
          <p:cNvSpPr/>
          <p:nvPr/>
        </p:nvSpPr>
        <p:spPr>
          <a:xfrm>
            <a:off x="1005840" y="2856604"/>
            <a:ext cx="4815687" cy="865957"/>
          </a:xfrm>
          <a:prstGeom prst="roundRect">
            <a:avLst>
              <a:gd name="adj" fmla="val 10000"/>
            </a:avLst>
          </a:prstGeom>
          <a:solidFill>
            <a:srgbClr val="F4ECFB"/>
          </a:solidFill>
          <a:ln>
            <a:noFill/>
          </a:ln>
          <a:effectLst/>
        </p:spPr>
        <p:txBody>
          <a:bodyPr rtlCol="0" anchor="ctr"/>
          <a:lstStyle/>
          <a:p/>
        </p:txBody>
      </p:sp>
      <p:sp>
        <p:nvSpPr>
          <p:cNvPr id="8" name="TextBox 7"/>
          <p:cNvSpPr txBox="1"/>
          <p:nvPr/>
        </p:nvSpPr>
        <p:spPr>
          <a:xfrm>
            <a:off x="1097280" y="2911468"/>
            <a:ext cx="4815687" cy="228600"/>
          </a:xfrm>
          <a:prstGeom prst="rect">
            <a:avLst/>
          </a:prstGeom>
          <a:noFill/>
        </p:spPr>
        <p:txBody>
          <a:bodyPr wrap="square" anchor="t" lIns="0" rIns="0" tIns="0" bIns="0"/>
          <a:lstStyle/>
          <a:p>
            <a:pPr algn="l">
              <a:lnSpc>
                <a:spcPct val="110000"/>
              </a:lnSpc>
            </a:pPr>
            <a:r>
              <a:rPr sz="1100" b="1">
                <a:solidFill>
                  <a:srgbClr val="8B3DFF"/>
                </a:solidFill>
                <a:latin typeface="Inter"/>
              </a:rPr>
              <a:t>THE DATA SUPPORTS</a:t>
            </a:r>
          </a:p>
        </p:txBody>
      </p:sp>
      <p:sp>
        <p:nvSpPr>
          <p:cNvPr id="9" name="TextBox 8"/>
          <p:cNvSpPr txBox="1"/>
          <p:nvPr/>
        </p:nvSpPr>
        <p:spPr>
          <a:xfrm>
            <a:off x="1097280" y="3130924"/>
            <a:ext cx="4632807" cy="481909"/>
          </a:xfrm>
          <a:prstGeom prst="rect">
            <a:avLst/>
          </a:prstGeom>
          <a:noFill/>
        </p:spPr>
        <p:txBody>
          <a:bodyPr wrap="square" anchor="t" lIns="0" rIns="0" tIns="0" bIns="0"/>
          <a:lstStyle/>
          <a:p>
            <a:pPr algn="l">
              <a:lnSpc>
                <a:spcPct val="112000"/>
              </a:lnSpc>
              <a:spcBef>
                <a:spcPts val="0"/>
              </a:spcBef>
            </a:pPr>
            <a:r>
              <a:rPr sz="1400" b="0" i="0">
                <a:solidFill>
                  <a:srgbClr val="111111"/>
                </a:solidFill>
                <a:latin typeface="Inter"/>
              </a:rPr>
              <a:t>These 92 say they learned mostly from the internet and the docs.</a:t>
            </a:r>
          </a:p>
        </p:txBody>
      </p:sp>
      <p:sp>
        <p:nvSpPr>
          <p:cNvPr id="10" name="Rounded Rectangle 9"/>
          <p:cNvSpPr/>
          <p:nvPr/>
        </p:nvSpPr>
        <p:spPr>
          <a:xfrm>
            <a:off x="6187287" y="2369839"/>
            <a:ext cx="5181447" cy="2310099"/>
          </a:xfrm>
          <a:prstGeom prst="roundRect">
            <a:avLst>
              <a:gd name="adj" fmla="val 6000"/>
            </a:avLst>
          </a:prstGeom>
          <a:solidFill>
            <a:srgbClr val="FFFFFF"/>
          </a:solidFill>
          <a:ln w="19050">
            <a:solidFill>
              <a:srgbClr val="D9D9DE"/>
            </a:solidFill>
          </a:ln>
          <a:effectLst/>
        </p:spPr>
        <p:txBody>
          <a:bodyPr rtlCol="0" anchor="ctr"/>
          <a:lstStyle/>
          <a:p/>
        </p:txBody>
      </p:sp>
      <p:sp>
        <p:nvSpPr>
          <p:cNvPr id="11" name="TextBox 10"/>
          <p:cNvSpPr txBox="1"/>
          <p:nvPr/>
        </p:nvSpPr>
        <p:spPr>
          <a:xfrm>
            <a:off x="6370167" y="2506999"/>
            <a:ext cx="4815687" cy="1032662"/>
          </a:xfrm>
          <a:prstGeom prst="rect">
            <a:avLst/>
          </a:prstGeom>
          <a:noFill/>
        </p:spPr>
        <p:txBody>
          <a:bodyPr wrap="square" anchor="t" lIns="0" rIns="0" tIns="0" bIns="0"/>
          <a:lstStyle/>
          <a:p>
            <a:pPr algn="l">
              <a:lnSpc>
                <a:spcPct val="112000"/>
              </a:lnSpc>
              <a:spcBef>
                <a:spcPts val="0"/>
              </a:spcBef>
            </a:pPr>
            <a:r>
              <a:rPr sz="1500" b="0" i="1">
                <a:solidFill>
                  <a:srgbClr val="111111"/>
                </a:solidFill>
                <a:latin typeface="Inter"/>
              </a:rPr>
              <a:t>“This result, although surprising, is consistent with the conclusion we obtained in RQ2, indicating that even experienced developers still have doubts about Git usage.”</a:t>
            </a:r>
          </a:p>
        </p:txBody>
      </p:sp>
      <p:sp>
        <p:nvSpPr>
          <p:cNvPr id="12" name="Rounded Rectangle 11"/>
          <p:cNvSpPr/>
          <p:nvPr/>
        </p:nvSpPr>
        <p:spPr>
          <a:xfrm>
            <a:off x="6370167" y="3631101"/>
            <a:ext cx="4815687" cy="865957"/>
          </a:xfrm>
          <a:prstGeom prst="roundRect">
            <a:avLst>
              <a:gd name="adj" fmla="val 10000"/>
            </a:avLst>
          </a:prstGeom>
          <a:solidFill>
            <a:srgbClr val="F4ECFB"/>
          </a:solidFill>
          <a:ln>
            <a:noFill/>
          </a:ln>
          <a:effectLst/>
        </p:spPr>
        <p:txBody>
          <a:bodyPr rtlCol="0" anchor="ctr"/>
          <a:lstStyle/>
          <a:p/>
        </p:txBody>
      </p:sp>
      <p:sp>
        <p:nvSpPr>
          <p:cNvPr id="13" name="TextBox 12"/>
          <p:cNvSpPr txBox="1"/>
          <p:nvPr/>
        </p:nvSpPr>
        <p:spPr>
          <a:xfrm>
            <a:off x="6461607" y="3685965"/>
            <a:ext cx="4815687" cy="228600"/>
          </a:xfrm>
          <a:prstGeom prst="rect">
            <a:avLst/>
          </a:prstGeom>
          <a:noFill/>
        </p:spPr>
        <p:txBody>
          <a:bodyPr wrap="square" anchor="t" lIns="0" rIns="0" tIns="0" bIns="0"/>
          <a:lstStyle/>
          <a:p>
            <a:pPr algn="l">
              <a:lnSpc>
                <a:spcPct val="110000"/>
              </a:lnSpc>
            </a:pPr>
            <a:r>
              <a:rPr sz="1100" b="1">
                <a:solidFill>
                  <a:srgbClr val="8B3DFF"/>
                </a:solidFill>
                <a:latin typeface="Inter"/>
              </a:rPr>
              <a:t>THE DATA SUPPORTS</a:t>
            </a:r>
          </a:p>
        </p:txBody>
      </p:sp>
      <p:sp>
        <p:nvSpPr>
          <p:cNvPr id="14" name="TextBox 13"/>
          <p:cNvSpPr txBox="1"/>
          <p:nvPr/>
        </p:nvSpPr>
        <p:spPr>
          <a:xfrm>
            <a:off x="6461607" y="3905421"/>
            <a:ext cx="4632807" cy="481909"/>
          </a:xfrm>
          <a:prstGeom prst="rect">
            <a:avLst/>
          </a:prstGeom>
          <a:noFill/>
        </p:spPr>
        <p:txBody>
          <a:bodyPr wrap="square" anchor="t" lIns="0" rIns="0" tIns="0" bIns="0"/>
          <a:lstStyle/>
          <a:p>
            <a:pPr algn="l">
              <a:lnSpc>
                <a:spcPct val="112000"/>
              </a:lnSpc>
              <a:spcBef>
                <a:spcPts val="0"/>
              </a:spcBef>
            </a:pPr>
            <a:r>
              <a:rPr sz="1400" b="0" i="0">
                <a:solidFill>
                  <a:srgbClr val="111111"/>
                </a:solidFill>
                <a:latin typeface="Inter"/>
              </a:rPr>
              <a:t>Most of the 92 rate themselves competent or below (79 of 92).</a:t>
            </a:r>
          </a:p>
        </p:txBody>
      </p:sp>
      <p:sp>
        <p:nvSpPr>
          <p:cNvPr id="15" name="TextBox 14"/>
          <p:cNvSpPr txBox="1"/>
          <p:nvPr/>
        </p:nvSpPr>
        <p:spPr>
          <a:xfrm>
            <a:off x="822960" y="6022158"/>
            <a:ext cx="10545775" cy="378642"/>
          </a:xfrm>
          <a:prstGeom prst="rect">
            <a:avLst/>
          </a:prstGeom>
          <a:noFill/>
        </p:spPr>
        <p:txBody>
          <a:bodyPr wrap="square" anchor="t" lIns="0" rIns="0" tIns="0" bIns="0"/>
          <a:lstStyle/>
          <a:p>
            <a:pPr algn="l">
              <a:lnSpc>
                <a:spcPct val="112000"/>
              </a:lnSpc>
              <a:spcBef>
                <a:spcPts val="0"/>
              </a:spcBef>
            </a:pPr>
            <a:r>
              <a:rPr sz="2200" b="0" i="1">
                <a:solidFill>
                  <a:srgbClr val="707078"/>
                </a:solidFill>
                <a:latin typeface="Inter"/>
              </a:rPr>
              <a:t>Which claim holds up best?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4ECFB"/>
        </a:solidFill>
        <a:effectLst/>
      </p:bgPr>
    </p:bg>
    <p:spTree>
      <p:nvGrpSpPr>
        <p:cNvPr id="1" name=""/>
        <p:cNvGrpSpPr/>
        <p:nvPr/>
      </p:nvGrpSpPr>
      <p:grpSpPr/>
      <p:sp>
        <p:nvSpPr>
          <p:cNvPr id="2" name="TextBox 1"/>
          <p:cNvSpPr txBox="1"/>
          <p:nvPr/>
        </p:nvSpPr>
        <p:spPr>
          <a:xfrm>
            <a:off x="822960" y="502920"/>
            <a:ext cx="10545775" cy="320040"/>
          </a:xfrm>
          <a:prstGeom prst="rect">
            <a:avLst/>
          </a:prstGeom>
          <a:noFill/>
        </p:spPr>
        <p:txBody>
          <a:bodyPr wrap="square" anchor="t" lIns="0" rIns="0" tIns="0" bIns="0"/>
          <a:lstStyle/>
          <a:p>
            <a:pPr algn="l">
              <a:lnSpc>
                <a:spcPct val="110000"/>
              </a:lnSpc>
            </a:pPr>
            <a:r>
              <a:rPr sz="1600" b="1">
                <a:solidFill>
                  <a:srgbClr val="8B3DFF"/>
                </a:solidFill>
                <a:latin typeface="Inter"/>
              </a:rPr>
              <a:t>4 · DESIGN</a:t>
            </a:r>
          </a:p>
        </p:txBody>
      </p:sp>
      <p:sp>
        <p:nvSpPr>
          <p:cNvPr id="3" name="Rounded Rectangle 2"/>
          <p:cNvSpPr/>
          <p:nvPr/>
        </p:nvSpPr>
        <p:spPr>
          <a:xfrm>
            <a:off x="9997135" y="457200"/>
            <a:ext cx="1371600" cy="457200"/>
          </a:xfrm>
          <a:prstGeom prst="roundRect">
            <a:avLst>
              <a:gd name="adj" fmla="val 50000"/>
            </a:avLst>
          </a:prstGeom>
          <a:solidFill>
            <a:srgbClr val="FFFFFF"/>
          </a:solidFill>
          <a:ln>
            <a:noFill/>
          </a:ln>
          <a:effectLst/>
        </p:spPr>
        <p:txBody>
          <a:bodyPr rtlCol="0" anchor="ctr" lIns="0" rIns="0" tIns="0" bIns="0"/>
          <a:lstStyle/>
          <a:p>
            <a:pPr algn="ctr"/>
            <a:r>
              <a:rPr sz="1600" b="1">
                <a:solidFill>
                  <a:srgbClr val="111111"/>
                </a:solidFill>
                <a:latin typeface="Inter"/>
              </a:rPr>
              <a:t>9 min</a:t>
            </a:r>
          </a:p>
        </p:txBody>
      </p:sp>
      <p:sp>
        <p:nvSpPr>
          <p:cNvPr id="4" name="TextBox 3"/>
          <p:cNvSpPr txBox="1"/>
          <p:nvPr/>
        </p:nvSpPr>
        <p:spPr>
          <a:xfrm>
            <a:off x="822960" y="868680"/>
            <a:ext cx="8899855" cy="688441"/>
          </a:xfrm>
          <a:prstGeom prst="rect">
            <a:avLst/>
          </a:prstGeom>
          <a:noFill/>
        </p:spPr>
        <p:txBody>
          <a:bodyPr wrap="square" anchor="t" lIns="0" rIns="0" tIns="0" bIns="0"/>
          <a:lstStyle/>
          <a:p>
            <a:pPr algn="l">
              <a:lnSpc>
                <a:spcPct val="112000"/>
              </a:lnSpc>
              <a:spcBef>
                <a:spcPts val="0"/>
              </a:spcBef>
            </a:pPr>
            <a:r>
              <a:rPr sz="4000" b="1" i="0">
                <a:solidFill>
                  <a:srgbClr val="111111"/>
                </a:solidFill>
                <a:latin typeface="Inter"/>
              </a:rPr>
              <a:t>Design a better undo</a:t>
            </a:r>
          </a:p>
        </p:txBody>
      </p:sp>
      <p:sp>
        <p:nvSpPr>
          <p:cNvPr id="5" name="TextBox 4"/>
          <p:cNvSpPr txBox="1"/>
          <p:nvPr/>
        </p:nvSpPr>
        <p:spPr>
          <a:xfrm>
            <a:off x="822960" y="1831441"/>
            <a:ext cx="8647535" cy="746596"/>
          </a:xfrm>
          <a:prstGeom prst="rect">
            <a:avLst/>
          </a:prstGeom>
          <a:noFill/>
        </p:spPr>
        <p:txBody>
          <a:bodyPr wrap="square" anchor="t" lIns="0" rIns="0" tIns="0" bIns="0"/>
          <a:lstStyle/>
          <a:p>
            <a:pPr algn="l">
              <a:lnSpc>
                <a:spcPct val="112000"/>
              </a:lnSpc>
              <a:spcBef>
                <a:spcPts val="0"/>
              </a:spcBef>
            </a:pPr>
            <a:r>
              <a:rPr sz="1800" b="0" i="0">
                <a:solidFill>
                  <a:srgbClr val="111111"/>
                </a:solidFill>
                <a:latin typeface="Inter"/>
              </a:rPr>
              <a:t>Undo is the most-viewed Git question.</a:t>
            </a:r>
          </a:p>
          <a:p>
            <a:pPr algn="l">
              <a:lnSpc>
                <a:spcPct val="112000"/>
              </a:lnSpc>
              <a:spcBef>
                <a:spcPts val="1000"/>
              </a:spcBef>
            </a:pPr>
            <a:r>
              <a:rPr sz="1800" b="0" i="0">
                <a:solidFill>
                  <a:srgbClr val="111111"/>
                </a:solidFill>
                <a:latin typeface="Inter"/>
              </a:rPr>
              <a:t>Why do people have to ask? Design one fix, and a test.</a:t>
            </a:r>
          </a:p>
        </p:txBody>
      </p:sp>
      <p:sp>
        <p:nvSpPr>
          <p:cNvPr id="6" name="Rounded Rectangle 5"/>
          <p:cNvSpPr/>
          <p:nvPr/>
        </p:nvSpPr>
        <p:spPr>
          <a:xfrm>
            <a:off x="822960" y="2806637"/>
            <a:ext cx="2499283" cy="1262359"/>
          </a:xfrm>
          <a:prstGeom prst="roundRect">
            <a:avLst>
              <a:gd name="adj" fmla="val 6000"/>
            </a:avLst>
          </a:prstGeom>
          <a:solidFill>
            <a:srgbClr val="FFFFFF"/>
          </a:solidFill>
          <a:ln w="19050">
            <a:solidFill>
              <a:srgbClr val="D9D9DE"/>
            </a:solidFill>
          </a:ln>
          <a:effectLst/>
        </p:spPr>
        <p:txBody>
          <a:bodyPr rtlCol="0" anchor="ctr"/>
          <a:lstStyle/>
          <a:p/>
        </p:txBody>
      </p:sp>
      <p:sp>
        <p:nvSpPr>
          <p:cNvPr id="7" name="TextBox 6"/>
          <p:cNvSpPr txBox="1"/>
          <p:nvPr/>
        </p:nvSpPr>
        <p:spPr>
          <a:xfrm>
            <a:off x="1005840" y="2943797"/>
            <a:ext cx="2133523" cy="201168"/>
          </a:xfrm>
          <a:prstGeom prst="rect">
            <a:avLst/>
          </a:prstGeom>
          <a:noFill/>
        </p:spPr>
        <p:txBody>
          <a:bodyPr wrap="square" anchor="t" lIns="0" rIns="0" tIns="0" bIns="0"/>
          <a:lstStyle/>
          <a:p>
            <a:pPr algn="l">
              <a:lnSpc>
                <a:spcPct val="110000"/>
              </a:lnSpc>
            </a:pPr>
            <a:r>
              <a:rPr sz="1100" b="1">
                <a:solidFill>
                  <a:srgbClr val="707078"/>
                </a:solidFill>
                <a:latin typeface="Inter"/>
              </a:rPr>
              <a:t>YOUR FIX</a:t>
            </a:r>
          </a:p>
        </p:txBody>
      </p:sp>
      <p:sp>
        <p:nvSpPr>
          <p:cNvPr id="8" name="TextBox 7"/>
          <p:cNvSpPr txBox="1"/>
          <p:nvPr/>
        </p:nvSpPr>
        <p:spPr>
          <a:xfrm>
            <a:off x="1005840" y="3163253"/>
            <a:ext cx="2133523" cy="481909"/>
          </a:xfrm>
          <a:prstGeom prst="rect">
            <a:avLst/>
          </a:prstGeom>
          <a:noFill/>
        </p:spPr>
        <p:txBody>
          <a:bodyPr wrap="square" anchor="t" lIns="0" rIns="0" tIns="0" bIns="0"/>
          <a:lstStyle/>
          <a:p>
            <a:pPr algn="l">
              <a:lnSpc>
                <a:spcPct val="112000"/>
              </a:lnSpc>
              <a:spcBef>
                <a:spcPts val="0"/>
              </a:spcBef>
            </a:pPr>
            <a:r>
              <a:rPr sz="1400" b="0" i="0">
                <a:solidFill>
                  <a:srgbClr val="111111"/>
                </a:solidFill>
                <a:latin typeface="Inter"/>
              </a:rPr>
              <a:t>What the user sees or types</a:t>
            </a:r>
          </a:p>
        </p:txBody>
      </p:sp>
      <p:sp>
        <p:nvSpPr>
          <p:cNvPr id="9" name="Rounded Rectangle 8"/>
          <p:cNvSpPr/>
          <p:nvPr/>
        </p:nvSpPr>
        <p:spPr>
          <a:xfrm>
            <a:off x="3505123" y="2806637"/>
            <a:ext cx="2499283" cy="1262359"/>
          </a:xfrm>
          <a:prstGeom prst="roundRect">
            <a:avLst>
              <a:gd name="adj" fmla="val 6000"/>
            </a:avLst>
          </a:prstGeom>
          <a:solidFill>
            <a:srgbClr val="FFFFFF"/>
          </a:solidFill>
          <a:ln w="19050">
            <a:solidFill>
              <a:srgbClr val="D9D9DE"/>
            </a:solidFill>
          </a:ln>
          <a:effectLst/>
        </p:spPr>
        <p:txBody>
          <a:bodyPr rtlCol="0" anchor="ctr"/>
          <a:lstStyle/>
          <a:p/>
        </p:txBody>
      </p:sp>
      <p:sp>
        <p:nvSpPr>
          <p:cNvPr id="10" name="TextBox 9"/>
          <p:cNvSpPr txBox="1"/>
          <p:nvPr/>
        </p:nvSpPr>
        <p:spPr>
          <a:xfrm>
            <a:off x="3688003" y="2943797"/>
            <a:ext cx="2133523" cy="201168"/>
          </a:xfrm>
          <a:prstGeom prst="rect">
            <a:avLst/>
          </a:prstGeom>
          <a:noFill/>
        </p:spPr>
        <p:txBody>
          <a:bodyPr wrap="square" anchor="t" lIns="0" rIns="0" tIns="0" bIns="0"/>
          <a:lstStyle/>
          <a:p>
            <a:pPr algn="l">
              <a:lnSpc>
                <a:spcPct val="110000"/>
              </a:lnSpc>
            </a:pPr>
            <a:r>
              <a:rPr sz="1100" b="1">
                <a:solidFill>
                  <a:srgbClr val="707078"/>
                </a:solidFill>
                <a:latin typeface="Inter"/>
              </a:rPr>
              <a:t>HOW YOU WOULD TEST IT</a:t>
            </a:r>
          </a:p>
        </p:txBody>
      </p:sp>
      <p:sp>
        <p:nvSpPr>
          <p:cNvPr id="11" name="TextBox 10"/>
          <p:cNvSpPr txBox="1"/>
          <p:nvPr/>
        </p:nvSpPr>
        <p:spPr>
          <a:xfrm>
            <a:off x="3688003" y="3163253"/>
            <a:ext cx="2133523" cy="481909"/>
          </a:xfrm>
          <a:prstGeom prst="rect">
            <a:avLst/>
          </a:prstGeom>
          <a:noFill/>
        </p:spPr>
        <p:txBody>
          <a:bodyPr wrap="square" anchor="t" lIns="0" rIns="0" tIns="0" bIns="0"/>
          <a:lstStyle/>
          <a:p>
            <a:pPr algn="l">
              <a:lnSpc>
                <a:spcPct val="112000"/>
              </a:lnSpc>
              <a:spcBef>
                <a:spcPts val="0"/>
              </a:spcBef>
            </a:pPr>
            <a:r>
              <a:rPr sz="1400" b="0" i="0">
                <a:solidFill>
                  <a:srgbClr val="111111"/>
                </a:solidFill>
                <a:latin typeface="Inter"/>
              </a:rPr>
              <a:t>Does it cut the time to recover for …?</a:t>
            </a:r>
          </a:p>
        </p:txBody>
      </p:sp>
      <p:sp>
        <p:nvSpPr>
          <p:cNvPr id="12" name="Rounded Rectangle 11"/>
          <p:cNvSpPr/>
          <p:nvPr/>
        </p:nvSpPr>
        <p:spPr>
          <a:xfrm>
            <a:off x="6187286" y="2806637"/>
            <a:ext cx="2499283" cy="1262359"/>
          </a:xfrm>
          <a:prstGeom prst="roundRect">
            <a:avLst>
              <a:gd name="adj" fmla="val 6000"/>
            </a:avLst>
          </a:prstGeom>
          <a:solidFill>
            <a:srgbClr val="FFFFFF"/>
          </a:solidFill>
          <a:ln w="19050">
            <a:solidFill>
              <a:srgbClr val="D9D9DE"/>
            </a:solidFill>
          </a:ln>
          <a:effectLst/>
        </p:spPr>
        <p:txBody>
          <a:bodyPr rtlCol="0" anchor="ctr"/>
          <a:lstStyle/>
          <a:p/>
        </p:txBody>
      </p:sp>
      <p:sp>
        <p:nvSpPr>
          <p:cNvPr id="13" name="TextBox 12"/>
          <p:cNvSpPr txBox="1"/>
          <p:nvPr/>
        </p:nvSpPr>
        <p:spPr>
          <a:xfrm>
            <a:off x="6370166" y="2943797"/>
            <a:ext cx="2133523" cy="201168"/>
          </a:xfrm>
          <a:prstGeom prst="rect">
            <a:avLst/>
          </a:prstGeom>
          <a:noFill/>
        </p:spPr>
        <p:txBody>
          <a:bodyPr wrap="square" anchor="t" lIns="0" rIns="0" tIns="0" bIns="0"/>
          <a:lstStyle/>
          <a:p>
            <a:pPr algn="l">
              <a:lnSpc>
                <a:spcPct val="110000"/>
              </a:lnSpc>
            </a:pPr>
            <a:r>
              <a:rPr sz="1100" b="1">
                <a:solidFill>
                  <a:srgbClr val="707078"/>
                </a:solidFill>
                <a:latin typeface="Inter"/>
              </a:rPr>
              <a:t>WHAT YOU MEASURE, AND ONE RISK</a:t>
            </a:r>
          </a:p>
        </p:txBody>
      </p:sp>
      <p:sp>
        <p:nvSpPr>
          <p:cNvPr id="14" name="TextBox 13"/>
          <p:cNvSpPr txBox="1"/>
          <p:nvPr/>
        </p:nvSpPr>
        <p:spPr>
          <a:xfrm>
            <a:off x="6370166" y="3163253"/>
            <a:ext cx="2133523" cy="722863"/>
          </a:xfrm>
          <a:prstGeom prst="rect">
            <a:avLst/>
          </a:prstGeom>
          <a:noFill/>
        </p:spPr>
        <p:txBody>
          <a:bodyPr wrap="square" anchor="t" lIns="0" rIns="0" tIns="0" bIns="0"/>
          <a:lstStyle/>
          <a:p>
            <a:pPr algn="l">
              <a:lnSpc>
                <a:spcPct val="112000"/>
              </a:lnSpc>
              <a:spcBef>
                <a:spcPts val="0"/>
              </a:spcBef>
            </a:pPr>
            <a:r>
              <a:rPr sz="1400" b="0" i="0">
                <a:solidFill>
                  <a:srgbClr val="111111"/>
                </a:solidFill>
                <a:latin typeface="Inter"/>
              </a:rPr>
              <a:t>e.g. time to recover; risk: people learn from the first try</a:t>
            </a:r>
          </a:p>
        </p:txBody>
      </p:sp>
      <p:sp>
        <p:nvSpPr>
          <p:cNvPr id="15" name="Rounded Rectangle 14"/>
          <p:cNvSpPr/>
          <p:nvPr/>
        </p:nvSpPr>
        <p:spPr>
          <a:xfrm>
            <a:off x="8869449" y="2806637"/>
            <a:ext cx="2499283" cy="1262359"/>
          </a:xfrm>
          <a:prstGeom prst="roundRect">
            <a:avLst>
              <a:gd name="adj" fmla="val 6000"/>
            </a:avLst>
          </a:prstGeom>
          <a:solidFill>
            <a:srgbClr val="FFFFFF"/>
          </a:solidFill>
          <a:ln w="19050">
            <a:solidFill>
              <a:srgbClr val="D9D9DE"/>
            </a:solidFill>
          </a:ln>
          <a:effectLst/>
        </p:spPr>
        <p:txBody>
          <a:bodyPr rtlCol="0" anchor="ctr"/>
          <a:lstStyle/>
          <a:p/>
        </p:txBody>
      </p:sp>
      <p:sp>
        <p:nvSpPr>
          <p:cNvPr id="16" name="TextBox 15"/>
          <p:cNvSpPr txBox="1"/>
          <p:nvPr/>
        </p:nvSpPr>
        <p:spPr>
          <a:xfrm>
            <a:off x="9052329" y="2943797"/>
            <a:ext cx="2133523" cy="201168"/>
          </a:xfrm>
          <a:prstGeom prst="rect">
            <a:avLst/>
          </a:prstGeom>
          <a:noFill/>
        </p:spPr>
        <p:txBody>
          <a:bodyPr wrap="square" anchor="t" lIns="0" rIns="0" tIns="0" bIns="0"/>
          <a:lstStyle/>
          <a:p>
            <a:pPr algn="l">
              <a:lnSpc>
                <a:spcPct val="110000"/>
              </a:lnSpc>
            </a:pPr>
            <a:r>
              <a:rPr sz="1100" b="1">
                <a:solidFill>
                  <a:srgbClr val="707078"/>
                </a:solidFill>
                <a:latin typeface="Inter"/>
              </a:rPr>
              <a:t>HOW YOU COLLECT IT</a:t>
            </a:r>
          </a:p>
        </p:txBody>
      </p:sp>
      <p:sp>
        <p:nvSpPr>
          <p:cNvPr id="17" name="TextBox 16"/>
          <p:cNvSpPr txBox="1"/>
          <p:nvPr/>
        </p:nvSpPr>
        <p:spPr>
          <a:xfrm>
            <a:off x="9052329" y="3163253"/>
            <a:ext cx="2133523" cy="481909"/>
          </a:xfrm>
          <a:prstGeom prst="rect">
            <a:avLst/>
          </a:prstGeom>
          <a:noFill/>
        </p:spPr>
        <p:txBody>
          <a:bodyPr wrap="square" anchor="t" lIns="0" rIns="0" tIns="0" bIns="0"/>
          <a:lstStyle/>
          <a:p>
            <a:pPr algn="l">
              <a:lnSpc>
                <a:spcPct val="112000"/>
              </a:lnSpc>
              <a:spcBef>
                <a:spcPts val="0"/>
              </a:spcBef>
            </a:pPr>
            <a:r>
              <a:rPr sz="1400" b="0" i="0">
                <a:solidFill>
                  <a:srgbClr val="111111"/>
                </a:solidFill>
                <a:latin typeface="Inter"/>
              </a:rPr>
              <a:t>Watch people, log real use, or ask them?</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502920"/>
            <a:ext cx="10545775" cy="320040"/>
          </a:xfrm>
          <a:prstGeom prst="rect">
            <a:avLst/>
          </a:prstGeom>
          <a:noFill/>
        </p:spPr>
        <p:txBody>
          <a:bodyPr wrap="square" anchor="t" lIns="0" rIns="0" tIns="0" bIns="0"/>
          <a:lstStyle/>
          <a:p>
            <a:pPr algn="l">
              <a:lnSpc>
                <a:spcPct val="110000"/>
              </a:lnSpc>
            </a:pPr>
            <a:r>
              <a:rPr sz="1600" b="1">
                <a:solidFill>
                  <a:srgbClr val="8B3DFF"/>
                </a:solidFill>
                <a:latin typeface="Inter"/>
              </a:rPr>
              <a:t>4 · DESIGN</a:t>
            </a:r>
          </a:p>
        </p:txBody>
      </p:sp>
      <p:sp>
        <p:nvSpPr>
          <p:cNvPr id="3" name="TextBox 2"/>
          <p:cNvSpPr txBox="1"/>
          <p:nvPr/>
        </p:nvSpPr>
        <p:spPr>
          <a:xfrm>
            <a:off x="822960" y="868680"/>
            <a:ext cx="10545775" cy="688441"/>
          </a:xfrm>
          <a:prstGeom prst="rect">
            <a:avLst/>
          </a:prstGeom>
          <a:noFill/>
        </p:spPr>
        <p:txBody>
          <a:bodyPr wrap="square" anchor="t" lIns="0" rIns="0" tIns="0" bIns="0"/>
          <a:lstStyle/>
          <a:p>
            <a:pPr algn="l">
              <a:lnSpc>
                <a:spcPct val="112000"/>
              </a:lnSpc>
              <a:spcBef>
                <a:spcPts val="0"/>
              </a:spcBef>
            </a:pPr>
            <a:r>
              <a:rPr sz="4000" b="1" i="0">
                <a:solidFill>
                  <a:srgbClr val="111111"/>
                </a:solidFill>
                <a:latin typeface="Inter"/>
              </a:rPr>
              <a:t>Your designs</a:t>
            </a:r>
          </a:p>
        </p:txBody>
      </p:sp>
      <p:sp>
        <p:nvSpPr>
          <p:cNvPr id="4" name="TextBox 3"/>
          <p:cNvSpPr txBox="1"/>
          <p:nvPr/>
        </p:nvSpPr>
        <p:spPr>
          <a:xfrm>
            <a:off x="822960" y="1831441"/>
            <a:ext cx="8647535" cy="757285"/>
          </a:xfrm>
          <a:prstGeom prst="rect">
            <a:avLst/>
          </a:prstGeom>
          <a:noFill/>
        </p:spPr>
        <p:txBody>
          <a:bodyPr wrap="square" anchor="t" lIns="0" rIns="0" tIns="0" bIns="0"/>
          <a:lstStyle/>
          <a:p>
            <a:pPr algn="l">
              <a:lnSpc>
                <a:spcPct val="112000"/>
              </a:lnSpc>
              <a:spcBef>
                <a:spcPts val="0"/>
              </a:spcBef>
            </a:pPr>
            <a:r>
              <a:rPr sz="2200" b="0" i="0">
                <a:solidFill>
                  <a:srgbClr val="111111"/>
                </a:solidFill>
                <a:latin typeface="Inter"/>
              </a:rPr>
              <a:t>Git added </a:t>
            </a:r>
            <a:r>
              <a:rPr sz="2200" b="0" i="0">
                <a:solidFill>
                  <a:srgbClr val="111111"/>
                </a:solidFill>
                <a:latin typeface="Noto Sans Mono"/>
              </a:rPr>
              <a:t>switch</a:t>
            </a:r>
            <a:r>
              <a:rPr sz="2200" b="0" i="0">
                <a:solidFill>
                  <a:srgbClr val="111111"/>
                </a:solidFill>
                <a:latin typeface="Inter"/>
              </a:rPr>
              <a:t> and </a:t>
            </a:r>
            <a:r>
              <a:rPr sz="2200" b="0" i="0">
                <a:solidFill>
                  <a:srgbClr val="111111"/>
                </a:solidFill>
                <a:latin typeface="Noto Sans Mono"/>
              </a:rPr>
              <a:t>restore</a:t>
            </a:r>
            <a:r>
              <a:rPr sz="2200" b="0" i="0">
                <a:solidFill>
                  <a:srgbClr val="111111"/>
                </a:solidFill>
                <a:latin typeface="Inter"/>
              </a:rPr>
              <a:t> in 2019. Did they help? Only a test with users can say.</a:t>
            </a:r>
          </a:p>
        </p:txBody>
      </p:sp>
      <p:sp>
        <p:nvSpPr>
          <p:cNvPr id="5" name="TextBox 4"/>
          <p:cNvSpPr txBox="1"/>
          <p:nvPr/>
        </p:nvSpPr>
        <p:spPr>
          <a:xfrm>
            <a:off x="822960" y="2817326"/>
            <a:ext cx="8647535" cy="757285"/>
          </a:xfrm>
          <a:prstGeom prst="rect">
            <a:avLst/>
          </a:prstGeom>
          <a:noFill/>
        </p:spPr>
        <p:txBody>
          <a:bodyPr wrap="square" anchor="t" lIns="0" rIns="0" tIns="0" bIns="0"/>
          <a:lstStyle/>
          <a:p>
            <a:pPr algn="l">
              <a:lnSpc>
                <a:spcPct val="112000"/>
              </a:lnSpc>
              <a:spcBef>
                <a:spcPts val="0"/>
              </a:spcBef>
            </a:pPr>
            <a:r>
              <a:rPr sz="2200" b="0" i="0">
                <a:solidFill>
                  <a:srgbClr val="707078"/>
                </a:solidFill>
                <a:latin typeface="Inter"/>
              </a:rPr>
              <a:t>Each group reads its change, its study, its measure and threat, and its data. The app shows all of them.</a:t>
            </a:r>
          </a:p>
        </p:txBody>
      </p:sp>
      <p:sp>
        <p:nvSpPr>
          <p:cNvPr id="6" name="TextBox 5"/>
          <p:cNvSpPr txBox="1"/>
          <p:nvPr/>
        </p:nvSpPr>
        <p:spPr>
          <a:xfrm>
            <a:off x="822960" y="6022158"/>
            <a:ext cx="10545775" cy="378642"/>
          </a:xfrm>
          <a:prstGeom prst="rect">
            <a:avLst/>
          </a:prstGeom>
          <a:noFill/>
        </p:spPr>
        <p:txBody>
          <a:bodyPr wrap="square" anchor="t" lIns="0" rIns="0" tIns="0" bIns="0"/>
          <a:lstStyle/>
          <a:p>
            <a:pPr algn="l">
              <a:lnSpc>
                <a:spcPct val="112000"/>
              </a:lnSpc>
              <a:spcBef>
                <a:spcPts val="0"/>
              </a:spcBef>
            </a:pPr>
            <a:r>
              <a:rPr sz="2200" b="0" i="1">
                <a:solidFill>
                  <a:srgbClr val="707078"/>
                </a:solidFill>
                <a:latin typeface="Inter"/>
              </a:rPr>
              <a:t>Which could you test by watching people?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502920"/>
            <a:ext cx="10545775" cy="320040"/>
          </a:xfrm>
          <a:prstGeom prst="rect">
            <a:avLst/>
          </a:prstGeom>
          <a:noFill/>
        </p:spPr>
        <p:txBody>
          <a:bodyPr wrap="square" anchor="t" lIns="0" rIns="0" tIns="0" bIns="0"/>
          <a:lstStyle/>
          <a:p>
            <a:pPr algn="l">
              <a:lnSpc>
                <a:spcPct val="110000"/>
              </a:lnSpc>
            </a:pPr>
            <a:r>
              <a:rPr sz="1600" b="1">
                <a:solidFill>
                  <a:srgbClr val="8B3DFF"/>
                </a:solidFill>
                <a:latin typeface="Inter"/>
              </a:rPr>
              <a:t>END</a:t>
            </a:r>
          </a:p>
        </p:txBody>
      </p:sp>
      <p:sp>
        <p:nvSpPr>
          <p:cNvPr id="3" name="TextBox 2"/>
          <p:cNvSpPr txBox="1"/>
          <p:nvPr/>
        </p:nvSpPr>
        <p:spPr>
          <a:xfrm>
            <a:off x="822960" y="868680"/>
            <a:ext cx="10545775" cy="688441"/>
          </a:xfrm>
          <a:prstGeom prst="rect">
            <a:avLst/>
          </a:prstGeom>
          <a:noFill/>
        </p:spPr>
        <p:txBody>
          <a:bodyPr wrap="square" anchor="t" lIns="0" rIns="0" tIns="0" bIns="0"/>
          <a:lstStyle/>
          <a:p>
            <a:pPr algn="l">
              <a:lnSpc>
                <a:spcPct val="112000"/>
              </a:lnSpc>
              <a:spcBef>
                <a:spcPts val="0"/>
              </a:spcBef>
            </a:pPr>
            <a:r>
              <a:rPr sz="4000" b="1" i="0">
                <a:solidFill>
                  <a:srgbClr val="111111"/>
                </a:solidFill>
                <a:latin typeface="Inter"/>
              </a:rPr>
              <a:t>What holds, what doesn’t</a:t>
            </a:r>
          </a:p>
        </p:txBody>
      </p:sp>
      <p:sp>
        <p:nvSpPr>
          <p:cNvPr id="4" name="TextBox 3"/>
          <p:cNvSpPr txBox="1"/>
          <p:nvPr/>
        </p:nvSpPr>
        <p:spPr>
          <a:xfrm>
            <a:off x="822960" y="1831441"/>
            <a:ext cx="5044287" cy="365760"/>
          </a:xfrm>
          <a:prstGeom prst="rect">
            <a:avLst/>
          </a:prstGeom>
          <a:noFill/>
        </p:spPr>
        <p:txBody>
          <a:bodyPr wrap="square" anchor="t" lIns="0" rIns="0" tIns="0" bIns="0"/>
          <a:lstStyle/>
          <a:p>
            <a:pPr algn="l">
              <a:lnSpc>
                <a:spcPct val="110000"/>
              </a:lnSpc>
            </a:pPr>
            <a:r>
              <a:rPr sz="2000" b="1">
                <a:solidFill>
                  <a:srgbClr val="16A34A"/>
                </a:solidFill>
                <a:latin typeface="Inter"/>
              </a:rPr>
              <a:t>Holds</a:t>
            </a:r>
          </a:p>
        </p:txBody>
      </p:sp>
      <p:sp>
        <p:nvSpPr>
          <p:cNvPr id="5" name="Rectangle 4"/>
          <p:cNvSpPr/>
          <p:nvPr/>
        </p:nvSpPr>
        <p:spPr>
          <a:xfrm>
            <a:off x="822960" y="2242921"/>
            <a:ext cx="5044287" cy="45720"/>
          </a:xfrm>
          <a:prstGeom prst="rect">
            <a:avLst/>
          </a:prstGeom>
          <a:solidFill>
            <a:srgbClr val="16A34A"/>
          </a:solidFill>
          <a:ln>
            <a:noFill/>
          </a:ln>
        </p:spPr>
        <p:txBody>
          <a:bodyPr rtlCol="0" anchor="ctr"/>
          <a:lstStyle/>
          <a:p>
            <a:pPr algn="ctr"/>
          </a:p>
        </p:txBody>
      </p:sp>
      <p:sp>
        <p:nvSpPr>
          <p:cNvPr id="6" name="TextBox 5"/>
          <p:cNvSpPr txBox="1"/>
          <p:nvPr/>
        </p:nvSpPr>
        <p:spPr>
          <a:xfrm>
            <a:off x="822960" y="2380081"/>
            <a:ext cx="5044287" cy="1406304"/>
          </a:xfrm>
          <a:prstGeom prst="rect">
            <a:avLst/>
          </a:prstGeom>
          <a:noFill/>
        </p:spPr>
        <p:txBody>
          <a:bodyPr wrap="square" anchor="t" lIns="0" rIns="0" tIns="0" bIns="0"/>
          <a:lstStyle/>
          <a:p>
            <a:pPr algn="l">
              <a:lnSpc>
                <a:spcPct val="112000"/>
              </a:lnSpc>
              <a:spcBef>
                <a:spcPts val="0"/>
              </a:spcBef>
            </a:pPr>
            <a:r>
              <a:rPr sz="1600" b="0" i="0">
                <a:solidFill>
                  <a:srgbClr val="111111"/>
                </a:solidFill>
                <a:latin typeface="Inter"/>
              </a:rPr>
              <a:t>✓ Git questions are many, and steady.</a:t>
            </a:r>
          </a:p>
          <a:p>
            <a:pPr algn="l">
              <a:lnSpc>
                <a:spcPct val="112000"/>
              </a:lnSpc>
              <a:spcBef>
                <a:spcPts val="800"/>
              </a:spcBef>
            </a:pPr>
            <a:r>
              <a:rPr sz="1600" b="0" i="0">
                <a:solidFill>
                  <a:srgbClr val="111111"/>
                </a:solidFill>
                <a:latin typeface="Inter"/>
              </a:rPr>
              <a:t>✓ Undo is a real need.</a:t>
            </a:r>
          </a:p>
          <a:p>
            <a:pPr algn="l">
              <a:lnSpc>
                <a:spcPct val="112000"/>
              </a:lnSpc>
              <a:spcBef>
                <a:spcPts val="800"/>
              </a:spcBef>
            </a:pPr>
            <a:r>
              <a:rPr sz="1600" b="0" i="0">
                <a:solidFill>
                  <a:srgbClr val="111111"/>
                </a:solidFill>
                <a:latin typeface="Inter"/>
              </a:rPr>
              <a:t>✓ Long-time users can struggle.</a:t>
            </a:r>
          </a:p>
          <a:p>
            <a:pPr algn="l">
              <a:lnSpc>
                <a:spcPct val="112000"/>
              </a:lnSpc>
              <a:spcBef>
                <a:spcPts val="800"/>
              </a:spcBef>
            </a:pPr>
            <a:r>
              <a:rPr sz="1600" b="0" i="0">
                <a:solidFill>
                  <a:srgbClr val="111111"/>
                </a:solidFill>
                <a:latin typeface="Inter"/>
              </a:rPr>
              <a:t>✓ The data is public. We checked it.</a:t>
            </a:r>
          </a:p>
        </p:txBody>
      </p:sp>
      <p:sp>
        <p:nvSpPr>
          <p:cNvPr id="7" name="TextBox 6"/>
          <p:cNvSpPr txBox="1"/>
          <p:nvPr/>
        </p:nvSpPr>
        <p:spPr>
          <a:xfrm>
            <a:off x="6324447" y="1831441"/>
            <a:ext cx="5044287" cy="365760"/>
          </a:xfrm>
          <a:prstGeom prst="rect">
            <a:avLst/>
          </a:prstGeom>
          <a:noFill/>
        </p:spPr>
        <p:txBody>
          <a:bodyPr wrap="square" anchor="t" lIns="0" rIns="0" tIns="0" bIns="0"/>
          <a:lstStyle/>
          <a:p>
            <a:pPr algn="l">
              <a:lnSpc>
                <a:spcPct val="110000"/>
              </a:lnSpc>
            </a:pPr>
            <a:r>
              <a:rPr sz="2000" b="1">
                <a:solidFill>
                  <a:srgbClr val="DC2626"/>
                </a:solidFill>
                <a:latin typeface="Inter"/>
              </a:rPr>
              <a:t>Doesn’t hold, as written</a:t>
            </a:r>
          </a:p>
        </p:txBody>
      </p:sp>
      <p:sp>
        <p:nvSpPr>
          <p:cNvPr id="8" name="Rectangle 7"/>
          <p:cNvSpPr/>
          <p:nvPr/>
        </p:nvSpPr>
        <p:spPr>
          <a:xfrm>
            <a:off x="6324447" y="2242921"/>
            <a:ext cx="5044287" cy="45720"/>
          </a:xfrm>
          <a:prstGeom prst="rect">
            <a:avLst/>
          </a:prstGeom>
          <a:solidFill>
            <a:srgbClr val="DC2626"/>
          </a:solidFill>
          <a:ln>
            <a:noFill/>
          </a:ln>
        </p:spPr>
        <p:txBody>
          <a:bodyPr rtlCol="0" anchor="ctr"/>
          <a:lstStyle/>
          <a:p>
            <a:pPr algn="ctr"/>
          </a:p>
        </p:txBody>
      </p:sp>
      <p:sp>
        <p:nvSpPr>
          <p:cNvPr id="9" name="TextBox 8"/>
          <p:cNvSpPr txBox="1"/>
          <p:nvPr/>
        </p:nvSpPr>
        <p:spPr>
          <a:xfrm>
            <a:off x="6324447" y="2380081"/>
            <a:ext cx="5044287" cy="2609411"/>
          </a:xfrm>
          <a:prstGeom prst="rect">
            <a:avLst/>
          </a:prstGeom>
          <a:noFill/>
        </p:spPr>
        <p:txBody>
          <a:bodyPr wrap="square" anchor="t" lIns="0" rIns="0" tIns="0" bIns="0"/>
          <a:lstStyle/>
          <a:p>
            <a:pPr algn="l">
              <a:lnSpc>
                <a:spcPct val="112000"/>
              </a:lnSpc>
              <a:spcBef>
                <a:spcPts val="0"/>
              </a:spcBef>
            </a:pPr>
            <a:r>
              <a:rPr sz="1600" b="0" i="0">
                <a:solidFill>
                  <a:srgbClr val="111111"/>
                </a:solidFill>
                <a:latin typeface="Inter"/>
              </a:rPr>
              <a:t>✗ “Hardest commands”: fixes counted as problems.</a:t>
            </a:r>
          </a:p>
          <a:p>
            <a:pPr algn="l">
              <a:lnSpc>
                <a:spcPct val="112000"/>
              </a:lnSpc>
              <a:spcBef>
                <a:spcPts val="800"/>
              </a:spcBef>
            </a:pPr>
            <a:r>
              <a:rPr sz="1600" b="0" i="0">
                <a:solidFill>
                  <a:srgbClr val="111111"/>
                </a:solidFill>
                <a:latin typeface="Inter"/>
              </a:rPr>
              <a:t>✗ The ranking: one post moves </a:t>
            </a:r>
            <a:r>
              <a:rPr sz="1600" b="0" i="0">
                <a:solidFill>
                  <a:srgbClr val="111111"/>
                </a:solidFill>
                <a:latin typeface="Noto Sans Mono"/>
              </a:rPr>
              <a:t>reflog</a:t>
            </a:r>
            <a:r>
              <a:rPr sz="1600" b="0" i="0">
                <a:solidFill>
                  <a:srgbClr val="111111"/>
                </a:solidFill>
                <a:latin typeface="Inter"/>
              </a:rPr>
              <a:t> from #8 to #2.</a:t>
            </a:r>
          </a:p>
          <a:p>
            <a:pPr algn="l">
              <a:lnSpc>
                <a:spcPct val="112000"/>
              </a:lnSpc>
              <a:spcBef>
                <a:spcPts val="800"/>
              </a:spcBef>
            </a:pPr>
            <a:r>
              <a:rPr sz="1600" b="0" i="0">
                <a:solidFill>
                  <a:srgbClr val="111111"/>
                </a:solidFill>
                <a:latin typeface="Inter"/>
              </a:rPr>
              <a:t>✗ “Learn on their own”: asked of people found on Stack Overflow.</a:t>
            </a:r>
          </a:p>
          <a:p>
            <a:pPr algn="l">
              <a:lnSpc>
                <a:spcPct val="112000"/>
              </a:lnSpc>
              <a:spcBef>
                <a:spcPts val="800"/>
              </a:spcBef>
            </a:pPr>
            <a:r>
              <a:rPr sz="1600" b="0" i="0">
                <a:solidFill>
                  <a:srgbClr val="111111"/>
                </a:solidFill>
                <a:latin typeface="Inter"/>
              </a:rPr>
              <a:t>✗ The comment groups and “doubts”: no method, self-ratings.</a:t>
            </a:r>
          </a:p>
          <a:p>
            <a:pPr algn="l">
              <a:lnSpc>
                <a:spcPct val="112000"/>
              </a:lnSpc>
              <a:spcBef>
                <a:spcPts val="800"/>
              </a:spcBef>
            </a:pPr>
            <a:r>
              <a:rPr sz="1600" b="0" i="0">
                <a:solidFill>
                  <a:srgbClr val="111111"/>
                </a:solidFill>
                <a:latin typeface="Inter"/>
              </a:rPr>
              <a:t>✗ The title’s question: nobody was watched.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4ECFB"/>
        </a:solidFill>
        <a:effectLst/>
      </p:bgPr>
    </p:bg>
    <p:spTree>
      <p:nvGrpSpPr>
        <p:cNvPr id="1" name=""/>
        <p:cNvGrpSpPr/>
        <p:nvPr/>
      </p:nvGrpSpPr>
      <p:grpSpPr/>
      <p:sp>
        <p:nvSpPr>
          <p:cNvPr id="2" name="TextBox 1"/>
          <p:cNvSpPr txBox="1"/>
          <p:nvPr/>
        </p:nvSpPr>
        <p:spPr>
          <a:xfrm>
            <a:off x="822960" y="502920"/>
            <a:ext cx="10545775" cy="320040"/>
          </a:xfrm>
          <a:prstGeom prst="rect">
            <a:avLst/>
          </a:prstGeom>
          <a:noFill/>
        </p:spPr>
        <p:txBody>
          <a:bodyPr wrap="square" anchor="t" lIns="0" rIns="0" tIns="0" bIns="0"/>
          <a:lstStyle/>
          <a:p>
            <a:pPr algn="l">
              <a:lnSpc>
                <a:spcPct val="110000"/>
              </a:lnSpc>
            </a:pPr>
            <a:r>
              <a:rPr sz="1600" b="1">
                <a:solidFill>
                  <a:srgbClr val="8B3DFF"/>
                </a:solidFill>
                <a:latin typeface="Inter"/>
              </a:rPr>
              <a:t>END</a:t>
            </a:r>
          </a:p>
        </p:txBody>
      </p:sp>
      <p:sp>
        <p:nvSpPr>
          <p:cNvPr id="3" name="Rounded Rectangle 2"/>
          <p:cNvSpPr/>
          <p:nvPr/>
        </p:nvSpPr>
        <p:spPr>
          <a:xfrm>
            <a:off x="9997135" y="457200"/>
            <a:ext cx="1371600" cy="457200"/>
          </a:xfrm>
          <a:prstGeom prst="roundRect">
            <a:avLst>
              <a:gd name="adj" fmla="val 50000"/>
            </a:avLst>
          </a:prstGeom>
          <a:solidFill>
            <a:srgbClr val="FFFFFF"/>
          </a:solidFill>
          <a:ln>
            <a:noFill/>
          </a:ln>
          <a:effectLst/>
        </p:spPr>
        <p:txBody>
          <a:bodyPr rtlCol="0" anchor="ctr" lIns="0" rIns="0" tIns="0" bIns="0"/>
          <a:lstStyle/>
          <a:p>
            <a:pPr algn="ctr"/>
            <a:r>
              <a:rPr sz="1600" b="1">
                <a:solidFill>
                  <a:srgbClr val="111111"/>
                </a:solidFill>
                <a:latin typeface="Inter"/>
              </a:rPr>
              <a:t>2 min</a:t>
            </a:r>
          </a:p>
        </p:txBody>
      </p:sp>
      <p:sp>
        <p:nvSpPr>
          <p:cNvPr id="4" name="TextBox 3"/>
          <p:cNvSpPr txBox="1"/>
          <p:nvPr/>
        </p:nvSpPr>
        <p:spPr>
          <a:xfrm>
            <a:off x="822960" y="868680"/>
            <a:ext cx="8899855" cy="688441"/>
          </a:xfrm>
          <a:prstGeom prst="rect">
            <a:avLst/>
          </a:prstGeom>
          <a:noFill/>
        </p:spPr>
        <p:txBody>
          <a:bodyPr wrap="square" anchor="t" lIns="0" rIns="0" tIns="0" bIns="0"/>
          <a:lstStyle/>
          <a:p>
            <a:pPr algn="l">
              <a:lnSpc>
                <a:spcPct val="112000"/>
              </a:lnSpc>
              <a:spcBef>
                <a:spcPts val="0"/>
              </a:spcBef>
            </a:pPr>
            <a:r>
              <a:rPr sz="4000" b="1" i="0">
                <a:solidFill>
                  <a:srgbClr val="111111"/>
                </a:solidFill>
                <a:latin typeface="Inter"/>
              </a:rPr>
              <a:t>One idea to take home</a:t>
            </a:r>
          </a:p>
        </p:txBody>
      </p:sp>
      <p:sp>
        <p:nvSpPr>
          <p:cNvPr id="5" name="TextBox 4"/>
          <p:cNvSpPr txBox="1"/>
          <p:nvPr/>
        </p:nvSpPr>
        <p:spPr>
          <a:xfrm>
            <a:off x="822960" y="1831441"/>
            <a:ext cx="8647535" cy="884284"/>
          </a:xfrm>
          <a:prstGeom prst="rect">
            <a:avLst/>
          </a:prstGeom>
          <a:noFill/>
        </p:spPr>
        <p:txBody>
          <a:bodyPr wrap="square" anchor="t" lIns="0" rIns="0" tIns="0" bIns="0"/>
          <a:lstStyle/>
          <a:p>
            <a:pPr algn="l">
              <a:lnSpc>
                <a:spcPct val="112000"/>
              </a:lnSpc>
              <a:spcBef>
                <a:spcPts val="0"/>
              </a:spcBef>
            </a:pPr>
            <a:r>
              <a:rPr sz="2200" b="0" i="0">
                <a:solidFill>
                  <a:srgbClr val="111111"/>
                </a:solidFill>
                <a:latin typeface="Inter"/>
              </a:rPr>
              <a:t>When you build a tool for people, …</a:t>
            </a:r>
          </a:p>
          <a:p>
            <a:pPr algn="l">
              <a:lnSpc>
                <a:spcPct val="112000"/>
              </a:lnSpc>
              <a:spcBef>
                <a:spcPts val="1000"/>
              </a:spcBef>
            </a:pPr>
            <a:r>
              <a:rPr sz="2200" b="0" i="0">
                <a:solidFill>
                  <a:srgbClr val="111111"/>
                </a:solidFill>
                <a:latin typeface="Inter"/>
              </a:rPr>
              <a:t>One line, on your own.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0B1630"/>
        </a:solidFill>
        <a:effectLst/>
      </p:bgPr>
    </p:bg>
    <p:spTree>
      <p:nvGrpSpPr>
        <p:cNvPr id="1" name=""/>
        <p:cNvGrpSpPr/>
        <p:nvPr/>
      </p:nvGrpSpPr>
      <p:grpSpPr/>
      <p:sp>
        <p:nvSpPr>
          <p:cNvPr id="2" name="TextBox 1"/>
          <p:cNvSpPr txBox="1"/>
          <p:nvPr/>
        </p:nvSpPr>
        <p:spPr>
          <a:xfrm>
            <a:off x="822960" y="502920"/>
            <a:ext cx="10545775" cy="320040"/>
          </a:xfrm>
          <a:prstGeom prst="rect">
            <a:avLst/>
          </a:prstGeom>
          <a:noFill/>
        </p:spPr>
        <p:txBody>
          <a:bodyPr wrap="square" anchor="t" lIns="0" rIns="0" tIns="0" bIns="0"/>
          <a:lstStyle/>
          <a:p>
            <a:pPr algn="l">
              <a:lnSpc>
                <a:spcPct val="110000"/>
              </a:lnSpc>
            </a:pPr>
            <a:r>
              <a:rPr sz="1600" b="1">
                <a:solidFill>
                  <a:srgbClr val="8B3DFF"/>
                </a:solidFill>
                <a:latin typeface="Inter"/>
              </a:rPr>
              <a:t>THURSDAY</a:t>
            </a:r>
          </a:p>
        </p:txBody>
      </p:sp>
      <p:sp>
        <p:nvSpPr>
          <p:cNvPr id="3" name="TextBox 2"/>
          <p:cNvSpPr txBox="1"/>
          <p:nvPr/>
        </p:nvSpPr>
        <p:spPr>
          <a:xfrm>
            <a:off x="822960" y="2103120"/>
            <a:ext cx="10545775" cy="1135928"/>
          </a:xfrm>
          <a:prstGeom prst="rect">
            <a:avLst/>
          </a:prstGeom>
          <a:noFill/>
        </p:spPr>
        <p:txBody>
          <a:bodyPr wrap="square" anchor="t" lIns="0" rIns="0" tIns="0" bIns="0"/>
          <a:lstStyle/>
          <a:p>
            <a:pPr algn="l">
              <a:lnSpc>
                <a:spcPct val="112000"/>
              </a:lnSpc>
              <a:spcBef>
                <a:spcPts val="0"/>
              </a:spcBef>
            </a:pPr>
            <a:r>
              <a:rPr sz="6600" b="1" i="0">
                <a:solidFill>
                  <a:srgbClr val="FFFFFF"/>
                </a:solidFill>
                <a:latin typeface="Inter"/>
              </a:rPr>
              <a:t>Asking is not using.</a:t>
            </a:r>
          </a:p>
        </p:txBody>
      </p:sp>
      <p:sp>
        <p:nvSpPr>
          <p:cNvPr id="4" name="TextBox 3"/>
          <p:cNvSpPr txBox="1"/>
          <p:nvPr/>
        </p:nvSpPr>
        <p:spPr>
          <a:xfrm>
            <a:off x="822960" y="3559088"/>
            <a:ext cx="8647535" cy="447487"/>
          </a:xfrm>
          <a:prstGeom prst="rect">
            <a:avLst/>
          </a:prstGeom>
          <a:noFill/>
        </p:spPr>
        <p:txBody>
          <a:bodyPr wrap="square" anchor="t" lIns="0" rIns="0" tIns="0" bIns="0"/>
          <a:lstStyle/>
          <a:p>
            <a:pPr algn="l">
              <a:lnSpc>
                <a:spcPct val="112000"/>
              </a:lnSpc>
              <a:spcBef>
                <a:spcPts val="0"/>
              </a:spcBef>
            </a:pPr>
            <a:r>
              <a:rPr sz="2600" b="0" i="0">
                <a:solidFill>
                  <a:srgbClr val="FFFFFF"/>
                </a:solidFill>
                <a:latin typeface="Inter"/>
              </a:rPr>
              <a:t>Check what your data really records.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