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Sit in 3 teams of 3-4. Each team gets index cards, markers and sticky notes. Today we will not explain Git. You will invent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draws on ONE sheet at the same time (face, body, legs). After 2 min ask: What did it look like before? Who added the horns? Nobody knows. Ask: what rule would fix this? Wait for: never erase, new card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card is a full snapshot of the monster. Write your name and which card you came from. Following the arrows back = git log. Under the hood: each commit stores a snapshot plus a pointer to its parent.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 each team into two pairs. Both start from the same card. Each pair puts a sticky note with its name on its newest card and moves it forward as it draws. Secret: tell both pairs to change the BODY. Pair A also changes the face; pair B also changes the legs.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branch is just a movable label on a card. It is not a copy. HEAD is the pin that says where you are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team combines its two pairs into ONE new card with two arrows. Let them notice: the face and legs are easy, the body is a fight. They must agree and draw one body (a robot with a cape is fine).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each panel with the START card. Only one side changed it: keep that change. Both changed it: conflict, a human decides. This is exactly what git merge does, line by line. Ask: why does Git need the START card?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Stretch. Meanwhile put the starting card on the wall (the wall = GitHub).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wall is GitHub. Each team copies only its NEW cards to the wall and moves the wall's sticky note forward. The second team finds the wall changed: they must copy the wall's new card to their table, combine, then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clone = copy every card. pull = get the new cards and merge. push = add your cards to the wall. The wall refuses your card if it does not build on top of the newest one: that is a rejected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this step, post a card with a mustache on the wall and let every team copy it. Now: get rid of it. Ripping it off the wall breaks everyone's arrows. Wait for: draw a new card without the mustache.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revert = a new card that undoes a change. Safe when others have it. reset = move your sticky note back. Only safe if nobody else has the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the boss. Teams redraw one clean final card and bin the old ones. Then ask: who drew the tentacles first, and when? Nobody can answer. The history is in the bin.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Rebase and squash draw NEW cards. --force makes the wall forget the old ones. Clean, but the story of who did what is gone.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Tuesday paper. Microsoft teams moved to Git. Branches and local commits helped. But rebase, squash and force-push erased the history their analytics and audits needed. They had to rebuild how changes reached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in a terminal with monster.txt (one line per panel). Face and legs merge on their own. Only the body conflicts, exactly like on paper. Then show git log --graph and git reflog.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quick questions on Menti. Laptops for Menti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Thanks. Thursday: why do developers struggle with exactly these tools?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12801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111111"/>
                </a:solidFill>
                <a:latin typeface="Inter"/>
              </a:rPr>
              <a:t>Monster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2044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707078"/>
                </a:solidFill>
                <a:latin typeface="Inter"/>
              </a:rPr>
              <a:t>Build Git out of paper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8B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CS294 · Git Week · Tuesday · Shubham &amp; Ananya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STEP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5695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11111"/>
                </a:solidFill>
                <a:latin typeface="Inter"/>
              </a:rPr>
              <a:t>⏱ 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111111"/>
                </a:solidFill>
                <a:latin typeface="Inter"/>
              </a:rPr>
              <a:t>Draw one monster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707078"/>
                </a:solidFill>
                <a:latin typeface="Inter"/>
              </a:rPr>
              <a:t>One sheet. Everyone at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707078"/>
                </a:solidFill>
                <a:latin typeface="Inter"/>
              </a:rPr>
              <a:t>You just invented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13716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8800" b="1">
                <a:solidFill>
                  <a:srgbClr val="8B3DFF"/>
                </a:solidFill>
                <a:latin typeface="Noto Sans Mono"/>
              </a:rPr>
              <a:t>git 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111111"/>
                </a:solidFill>
                <a:latin typeface="Inter"/>
              </a:rPr>
              <a:t>Never erase. Every change = a new card.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STEP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5695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11111"/>
                </a:solidFill>
                <a:latin typeface="Inter"/>
              </a:rPr>
              <a:t>⏱ 4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111111"/>
                </a:solidFill>
                <a:latin typeface="Inter"/>
              </a:rPr>
              <a:t>Two ideas. Two pairs.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707078"/>
                </a:solidFill>
                <a:latin typeface="Inter"/>
              </a:rPr>
              <a:t>Keep the good monster safe.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707078"/>
                </a:solidFill>
                <a:latin typeface="Inter"/>
              </a:rPr>
              <a:t>You just invented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13716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8800" b="1">
                <a:solidFill>
                  <a:srgbClr val="8B3DFF"/>
                </a:solidFill>
                <a:latin typeface="Noto Sans Mono"/>
              </a:rPr>
              <a:t>git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111111"/>
                </a:solidFill>
                <a:latin typeface="Inter"/>
              </a:rPr>
              <a:t>A sticky note that says "my latest card".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STEP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5695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11111"/>
                </a:solidFill>
                <a:latin typeface="Inter"/>
              </a:rPr>
              <a:t>⏱ 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111111"/>
                </a:solidFill>
                <a:latin typeface="Inter"/>
              </a:rPr>
              <a:t>Make one monster from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707078"/>
                </a:solidFill>
                <a:latin typeface="Inter"/>
              </a:rPr>
              <a:t>One new card. It points back to both.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200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707078"/>
                </a:solidFill>
                <a:latin typeface="Inter"/>
              </a:rPr>
              <a:t>You just invented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5600" b="1">
                <a:solidFill>
                  <a:srgbClr val="8B3DFF"/>
                </a:solidFill>
                <a:latin typeface="Noto Sans Mono"/>
              </a:rPr>
              <a:t>git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2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707078"/>
                </a:solidFill>
                <a:latin typeface="Inter"/>
              </a:rP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173736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51560" y="2587752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F6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587752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3400" b="0">
                <a:solidFill>
                  <a:srgbClr val="111111"/>
                </a:solidFill>
                <a:latin typeface="Inter"/>
              </a:rPr>
              <a:t>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447288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F6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3447288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3400" b="0">
                <a:solidFill>
                  <a:srgbClr val="111111"/>
                </a:solidFill>
                <a:latin typeface="Inter"/>
              </a:rPr>
              <a:t>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306824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F6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4306824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3400" b="0">
                <a:solidFill>
                  <a:srgbClr val="111111"/>
                </a:solidFill>
                <a:latin typeface="Inter"/>
              </a:rPr>
              <a:t>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707078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7452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707078"/>
                </a:solidFill>
                <a:latin typeface="Inter"/>
              </a:rPr>
              <a:t>PAIR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423160"/>
            <a:ext cx="173736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794760" y="2587752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FFF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94760" y="2587752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3400" b="0">
                <a:solidFill>
                  <a:srgbClr val="111111"/>
                </a:solidFill>
                <a:latin typeface="Inter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3447288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FFF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794760" y="3447288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3400" b="0">
                <a:solidFill>
                  <a:srgbClr val="111111"/>
                </a:solidFill>
                <a:latin typeface="Inter"/>
              </a:rPr>
              <a:t>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4306824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F6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94760" y="4306824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3400" b="0">
                <a:solidFill>
                  <a:srgbClr val="111111"/>
                </a:solidFill>
                <a:latin typeface="Inter"/>
              </a:rPr>
              <a:t>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440680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707078"/>
                </a:solidFill>
                <a:latin typeface="Inter"/>
              </a:rPr>
              <a:t>←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87452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707078"/>
                </a:solidFill>
                <a:latin typeface="Inter"/>
              </a:rPr>
              <a:t>PAIR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423160"/>
            <a:ext cx="173736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263640" y="2587752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F6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63640" y="2587752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3400" b="0">
                <a:solidFill>
                  <a:srgbClr val="111111"/>
                </a:solidFill>
                <a:latin typeface="Inter"/>
              </a:rPr>
              <a:t>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447288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FFF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63640" y="3447288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3400" b="0">
                <a:solidFill>
                  <a:srgbClr val="111111"/>
                </a:solidFill>
                <a:latin typeface="Inter"/>
              </a:rPr>
              <a:t>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06824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FFF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63640" y="4306824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3400" b="0">
                <a:solidFill>
                  <a:srgbClr val="111111"/>
                </a:solidFill>
                <a:latin typeface="Inter"/>
              </a:rPr>
              <a:t>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440680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707078"/>
                </a:solidFill>
                <a:latin typeface="Inter"/>
              </a:rPr>
              <a:t>← 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187452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707078"/>
                </a:solidFill>
                <a:latin typeface="Inter"/>
              </a:rPr>
              <a:t>MERGED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2423160"/>
            <a:ext cx="173736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9189720" y="2587752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E8F7EE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189720" y="2587752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3400" b="0">
                <a:solidFill>
                  <a:srgbClr val="111111"/>
                </a:solidFill>
                <a:latin typeface="Inter"/>
              </a:rPr>
              <a:t>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3447288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25400">
            <a:solidFill>
              <a:srgbClr val="DC26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89720" y="3447288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3400" b="1">
                <a:solidFill>
                  <a:srgbClr val="DC2626"/>
                </a:solidFill>
                <a:latin typeface="Inter"/>
              </a:rPr>
              <a:t>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4306824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E8F7EE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89720" y="4306824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3400" b="0">
                <a:solidFill>
                  <a:srgbClr val="111111"/>
                </a:solidFill>
                <a:latin typeface="Inter"/>
              </a:rPr>
              <a:t>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5440680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707078"/>
                </a:solidFill>
                <a:latin typeface="Inter"/>
              </a:rPr>
              <a:t>← A + 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520440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707078"/>
                </a:solidFill>
                <a:latin typeface="Inter"/>
              </a:rPr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352044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707078"/>
                </a:solidFill>
                <a:latin typeface="Inter"/>
              </a:rPr>
              <a:t>=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111111"/>
                </a:solidFill>
                <a:latin typeface="Inter"/>
              </a:rPr>
              <a:t/>
            </a:r>
            <a:r>
              <a:rPr sz="2800" b="1">
                <a:solidFill>
                  <a:srgbClr val="16A34A"/>
                </a:solidFill>
                <a:latin typeface="Inter"/>
              </a:rPr>
              <a:t>One changed it → keep it</a:t>
            </a:r>
            <a:r>
              <a:rPr sz="2800" b="1">
                <a:solidFill>
                  <a:srgbClr val="707078"/>
                </a:solidFill>
                <a:latin typeface="Inter"/>
              </a:rPr>
              <a:t>      ·      </a:t>
            </a:r>
            <a:r>
              <a:rPr sz="2800" b="1">
                <a:solidFill>
                  <a:srgbClr val="DC2626"/>
                </a:solidFill>
                <a:latin typeface="Inter"/>
              </a:rPr>
              <a:t>Both changed it → you decide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6600" b="1">
                <a:solidFill>
                  <a:srgbClr val="111111"/>
                </a:solidFill>
                <a:latin typeface="Inter"/>
              </a:rPr>
              <a:t>☕  3-minute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3200" b="0">
                <a:solidFill>
                  <a:srgbClr val="111111"/>
                </a:solidFill>
                <a:latin typeface="Inter"/>
              </a:rPr>
              <a:t>Back at __:__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STEP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5695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11111"/>
                </a:solidFill>
                <a:latin typeface="Inter"/>
              </a:rPr>
              <a:t>⏱ 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111111"/>
                </a:solidFill>
                <a:latin typeface="Inter"/>
              </a:rPr>
              <a:t>Post your card on the wall.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707078"/>
                </a:solidFill>
                <a:latin typeface="Inter"/>
              </a:rPr>
              <a:t>Wall changed? Take the new cards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707078"/>
                </a:solidFill>
                <a:latin typeface="Inter"/>
              </a:rPr>
              <a:t>You just invented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13716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6500" b="1">
                <a:solidFill>
                  <a:srgbClr val="8B3DFF"/>
                </a:solidFill>
                <a:latin typeface="Noto Sans Mono"/>
              </a:rPr>
              <a:t>git pull · git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111111"/>
                </a:solidFill>
                <a:latin typeface="Inter"/>
              </a:rPr>
              <a:t>Take the new cards. Then add yours.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STEP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5695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11111"/>
                </a:solidFill>
                <a:latin typeface="Inter"/>
              </a:rPr>
              <a:t>⏱ 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111111"/>
                </a:solidFill>
                <a:latin typeface="Inter"/>
              </a:rPr>
              <a:t>Remove the mustache.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707078"/>
                </a:solidFill>
                <a:latin typeface="Inter"/>
              </a:rPr>
              <a:t>Everyone already has a copy.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707078"/>
                </a:solidFill>
                <a:latin typeface="Inter"/>
              </a:rPr>
              <a:t>You just invented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13716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8800" b="1">
                <a:solidFill>
                  <a:srgbClr val="8B3DFF"/>
                </a:solidFill>
                <a:latin typeface="Noto Sans Mono"/>
              </a:rPr>
              <a:t>git revert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111111"/>
                </a:solidFill>
                <a:latin typeface="Inter"/>
              </a:rPr>
              <a:t>Don't rip it out. Add a fix card.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STEP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5695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11111"/>
                </a:solidFill>
                <a:latin typeface="Inter"/>
              </a:rPr>
              <a:t>⏱ 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111111"/>
                </a:solidFill>
                <a:latin typeface="Inter"/>
              </a:rPr>
              <a:t>Boss: "Keep only the last card."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707078"/>
                </a:solidFill>
                <a:latin typeface="Inter"/>
              </a:rPr>
              <a:t>Throw the rest away. Then: who drew the tentacles?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707078"/>
                </a:solidFill>
                <a:latin typeface="Inter"/>
              </a:rPr>
              <a:t>You just invented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13716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</a:pPr>
            <a:r>
              <a:rPr sz="7700" b="1">
                <a:solidFill>
                  <a:srgbClr val="8B3DFF"/>
                </a:solidFill>
                <a:latin typeface="Noto Sans Mono"/>
              </a:rPr>
              <a:t>git push --force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111111"/>
                </a:solidFill>
                <a:latin typeface="Inter"/>
              </a:rPr>
              <a:t>Clean history. Lost history.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707078"/>
                </a:solidFill>
                <a:latin typeface="Inter"/>
              </a:rPr>
              <a:t>That's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111111"/>
                </a:solidFill>
                <a:latin typeface="Inter"/>
              </a:rPr>
              <a:t>Switching to Git: Good, Bad, Ugly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707078"/>
                </a:solidFill>
                <a:latin typeface="Inter"/>
              </a:rPr>
              <a:t>Microsoft Research · ISSRE 2016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108960"/>
            <a:ext cx="3271418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3271418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A34A"/>
                </a:solidFill>
                <a:latin typeface="Inter"/>
              </a:rPr>
              <a:t>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3271418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111111"/>
                </a:solidFill>
                <a:latin typeface="Inter"/>
              </a:rPr>
              <a:t>Cheap branches.</a:t>
            </a:r>
          </a:p>
          <a:p>
            <a:pPr algn="l">
              <a:lnSpc>
                <a:spcPct val="110000"/>
              </a:lnSpc>
            </a:pPr>
            <a:r>
              <a:rPr sz="3200" b="0">
                <a:solidFill>
                  <a:srgbClr val="111111"/>
                </a:solidFill>
                <a:latin typeface="Inter"/>
              </a:rPr>
              <a:t>Work offline.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0138" y="3108960"/>
            <a:ext cx="3271418" cy="73152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0138" y="3337560"/>
            <a:ext cx="3271418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E08A00"/>
                </a:solidFill>
                <a:latin typeface="Inter"/>
              </a:rPr>
              <a:t>BAD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0138" y="3977639"/>
            <a:ext cx="3271418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111111"/>
                </a:solidFill>
                <a:latin typeface="Inter"/>
              </a:rPr>
              <a:t>Many paths to main.</a:t>
            </a:r>
          </a:p>
          <a:p>
            <a:pPr algn="l">
              <a:lnSpc>
                <a:spcPct val="110000"/>
              </a:lnSpc>
            </a:pPr>
            <a:r>
              <a:rPr sz="3200" b="0">
                <a:solidFill>
                  <a:srgbClr val="111111"/>
                </a:solidFill>
                <a:latin typeface="Inter"/>
              </a:rPr>
              <a:t>Hard to trace.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3108960"/>
            <a:ext cx="3271418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7316" y="3337560"/>
            <a:ext cx="3271418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DC2626"/>
                </a:solidFill>
                <a:latin typeface="Inter"/>
              </a:rPr>
              <a:t>UGLY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7316" y="3977639"/>
            <a:ext cx="3271418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111111"/>
                </a:solidFill>
                <a:latin typeface="Inter"/>
              </a:rPr>
              <a:t>Rebase + force</a:t>
            </a:r>
          </a:p>
          <a:p>
            <a:pPr algn="l">
              <a:lnSpc>
                <a:spcPct val="110000"/>
              </a:lnSpc>
            </a:pPr>
            <a:r>
              <a:rPr sz="3200" b="0">
                <a:solidFill>
                  <a:srgbClr val="111111"/>
                </a:solidFill>
                <a:latin typeface="Inter"/>
              </a:rPr>
              <a:t>erase history.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111111"/>
                </a:solidFill>
                <a:latin typeface="Inter"/>
              </a:rPr>
              <a:t>Same story, real Git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10545775" cy="4023360"/>
          </a:xfrm>
          <a:prstGeom prst="roundRect">
            <a:avLst>
              <a:gd name="adj" fmla="val 5000"/>
            </a:avLst>
          </a:prstGeom>
          <a:solidFill>
            <a:srgbClr val="14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2240280"/>
            <a:ext cx="9631375" cy="3474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9EE69E"/>
                </a:solidFill>
                <a:latin typeface="Noto Sans Mono"/>
              </a:rPr>
              <a:t>$ git merge superhero</a:t>
            </a:r>
          </a:p>
          <a:p>
            <a:pPr algn="l">
              <a:lnSpc>
                <a:spcPct val="120000"/>
              </a:lnSpc>
            </a:pPr>
            <a:r>
              <a:rPr sz="2600" b="0">
                <a:solidFill>
                  <a:srgbClr val="FF6B6B"/>
                </a:solidFill>
                <a:latin typeface="Noto Sans Mono"/>
              </a:rPr>
              <a:t>CONFLICT (content) in monster.txt</a:t>
            </a:r>
          </a:p>
          <a:p>
            <a:pPr algn="l">
              <a:lnSpc>
                <a:spcPct val="120000"/>
              </a:lnSpc>
            </a:pPr>
            <a:r>
              <a:rPr sz="2600" b="0">
                <a:solidFill>
                  <a:srgbClr val="FF6B6B"/>
                </a:solidFill>
                <a:latin typeface="Noto Sans Mono"/>
              </a:rPr>
              <a:t>&lt;&lt;&lt;&lt;&lt;&lt;&lt; cat-robot</a:t>
            </a:r>
          </a:p>
          <a:p>
            <a:pPr algn="l">
              <a:lnSpc>
                <a:spcPct val="120000"/>
              </a:lnSpc>
            </a:pPr>
            <a:r>
              <a:rPr sz="2600" b="0">
                <a:solidFill>
                  <a:srgbClr val="E6E8F0"/>
                </a:solidFill>
                <a:latin typeface="Noto Sans Mono"/>
              </a:rPr>
              <a:t>body: robot</a:t>
            </a:r>
          </a:p>
          <a:p>
            <a:pPr algn="l">
              <a:lnSpc>
                <a:spcPct val="120000"/>
              </a:lnSpc>
            </a:pPr>
            <a:r>
              <a:rPr sz="2600" b="0">
                <a:solidFill>
                  <a:srgbClr val="FF6B6B"/>
                </a:solidFill>
                <a:latin typeface="Noto Sans Mono"/>
              </a:rPr>
              <a:t>=======</a:t>
            </a:r>
          </a:p>
          <a:p>
            <a:pPr algn="l">
              <a:lnSpc>
                <a:spcPct val="120000"/>
              </a:lnSpc>
            </a:pPr>
            <a:r>
              <a:rPr sz="2600" b="0">
                <a:solidFill>
                  <a:srgbClr val="E6E8F0"/>
                </a:solidFill>
                <a:latin typeface="Noto Sans Mono"/>
              </a:rPr>
              <a:t>body: superhero</a:t>
            </a:r>
          </a:p>
          <a:p>
            <a:pPr algn="l">
              <a:lnSpc>
                <a:spcPct val="120000"/>
              </a:lnSpc>
            </a:pPr>
            <a:r>
              <a:rPr sz="2600" b="0">
                <a:solidFill>
                  <a:srgbClr val="FF6B6B"/>
                </a:solidFill>
                <a:latin typeface="Noto Sans Mono"/>
              </a:rPr>
              <a:t>&gt;&gt;&gt;&gt;&gt;&gt;&gt; superhero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8B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📊 Live poll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86384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5200" b="1">
                <a:solidFill>
                  <a:srgbClr val="111111"/>
                </a:solidFill>
                <a:latin typeface="Inter"/>
              </a:rP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707078"/>
                </a:solidFill>
                <a:latin typeface="Inter"/>
              </a:rPr>
              <a:t>3 quick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91295" y="1645920"/>
            <a:ext cx="237744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D9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91295" y="1645920"/>
            <a:ext cx="2377440" cy="23774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707078"/>
                </a:solidFill>
                <a:latin typeface="Inter"/>
              </a:rPr>
              <a:t>QR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91295" y="42062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menti.com · ____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" y="7315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0" y="1463040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94960" y="54864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0" y="1188720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64008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737360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5852160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24160" y="557784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0" y="6126480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35661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38404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37160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0000"/>
              </a:lnSpc>
            </a:pPr>
            <a:r>
              <a:rPr sz="3000" b="0">
                <a:solidFill>
                  <a:srgbClr val="B8C0D8"/>
                </a:solidFill>
                <a:latin typeface="Inter"/>
              </a:rPr>
              <a:t>If you remember one thing…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10545775" cy="3200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Cards never change.</a:t>
            </a:r>
          </a:p>
          <a:p>
            <a:pPr algn="ctr">
              <a:lnSpc>
                <a:spcPct val="12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Sticky notes move.</a:t>
            </a:r>
          </a:p>
          <a:p>
            <a:pPr algn="ctr">
              <a:lnSpc>
                <a:spcPct val="12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That's Git.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